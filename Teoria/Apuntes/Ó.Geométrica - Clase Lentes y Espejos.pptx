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9" r:id="rId3"/>
    <p:sldId id="271" r:id="rId4"/>
    <p:sldId id="258" r:id="rId5"/>
    <p:sldId id="260" r:id="rId6"/>
    <p:sldId id="269" r:id="rId7"/>
    <p:sldId id="272" r:id="rId8"/>
    <p:sldId id="262" r:id="rId9"/>
    <p:sldId id="261" r:id="rId10"/>
    <p:sldId id="270" r:id="rId11"/>
    <p:sldId id="273" r:id="rId12"/>
    <p:sldId id="267" r:id="rId13"/>
    <p:sldId id="275" r:id="rId14"/>
    <p:sldId id="263" r:id="rId15"/>
    <p:sldId id="264" r:id="rId16"/>
    <p:sldId id="265" r:id="rId17"/>
    <p:sldId id="276" r:id="rId18"/>
    <p:sldId id="277" r:id="rId19"/>
    <p:sldId id="278" r:id="rId20"/>
    <p:sldId id="266" r:id="rId21"/>
    <p:sldId id="268" r:id="rId22"/>
  </p:sldIdLst>
  <p:sldSz cx="9144000" cy="6858000" type="screen4x3"/>
  <p:notesSz cx="6858000" cy="9144000"/>
  <p:defaultTextStyle>
    <a:defPPr>
      <a:defRPr lang="es-ES_trad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CCFF"/>
    <a:srgbClr val="0066FF"/>
    <a:srgbClr val="0099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-2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4.wmf"/><Relationship Id="rId12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3.wmf"/><Relationship Id="rId11" Type="http://schemas.openxmlformats.org/officeDocument/2006/relationships/image" Target="../media/image17.wmf"/><Relationship Id="rId5" Type="http://schemas.openxmlformats.org/officeDocument/2006/relationships/image" Target="../media/image2.wmf"/><Relationship Id="rId15" Type="http://schemas.openxmlformats.org/officeDocument/2006/relationships/image" Target="../media/image21.wmf"/><Relationship Id="rId10" Type="http://schemas.openxmlformats.org/officeDocument/2006/relationships/image" Target="../media/image16.wmf"/><Relationship Id="rId4" Type="http://schemas.openxmlformats.org/officeDocument/2006/relationships/image" Target="../media/image1.wmf"/><Relationship Id="rId9" Type="http://schemas.openxmlformats.org/officeDocument/2006/relationships/image" Target="../media/image7.wmf"/><Relationship Id="rId14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20.wmf"/><Relationship Id="rId1" Type="http://schemas.openxmlformats.org/officeDocument/2006/relationships/image" Target="../media/image22.wmf"/><Relationship Id="rId4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9D2C1-6BC8-4F2B-B0DA-84C1E6EA16C7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DDC9E-4B66-40A9-B9E7-0F05D728AD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814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DDC9E-4B66-40A9-B9E7-0F05D728AD3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575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DDC9E-4B66-40A9-B9E7-0F05D728AD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03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DDC9E-4B66-40A9-B9E7-0F05D728AD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71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9FF378-6D6B-479B-A181-D97379BAE7BE}" type="slidenum">
              <a:rPr lang="es-ES_tradnl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42CF69-E109-4C63-BC0A-2679DF689412}" type="slidenum">
              <a:rPr lang="es-ES_tradnl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AE1B97-6865-4349-8B03-9B90F5DE883D}" type="slidenum">
              <a:rPr lang="es-ES_tradnl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897385-D2CE-49A2-88AD-85E510CBAFAD}" type="slidenum">
              <a:rPr lang="es-ES_tradnl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B05566-857C-4500-A3EC-DB1E48B1F14B}" type="slidenum">
              <a:rPr lang="es-ES_tradnl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84D44-506A-47A6-A880-CDE94F42DAF4}" type="slidenum">
              <a:rPr lang="es-ES_tradnl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93DE01-67A2-4C55-9B0C-DBE922641F52}" type="slidenum">
              <a:rPr lang="es-ES_tradnl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6BEBCF-7DD6-4799-9A64-306AE287C3B0}" type="slidenum">
              <a:rPr lang="es-ES_tradnl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016516-43BC-4DCB-9386-328EC433E86B}" type="slidenum">
              <a:rPr lang="es-ES_tradnl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5F538A-DFF2-4228-9DB4-4F077B84D5E5}" type="slidenum">
              <a:rPr lang="es-ES_tradnl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57CCC-6D4B-4CE5-B586-9D191FD2B6D5}" type="slidenum">
              <a:rPr lang="es-ES_tradnl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_tradnl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_tradnl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2C8596C-E9CC-4764-8DD7-2C23694231C2}" type="slidenum">
              <a:rPr lang="es-ES_tradnl"/>
              <a:pPr/>
              <a:t>‹Nº›</a:t>
            </a:fld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15.wmf"/><Relationship Id="rId26" Type="http://schemas.openxmlformats.org/officeDocument/2006/relationships/image" Target="../media/image18.wmf"/><Relationship Id="rId3" Type="http://schemas.openxmlformats.org/officeDocument/2006/relationships/oleObject" Target="../embeddings/oleObject12.bin"/><Relationship Id="rId21" Type="http://schemas.openxmlformats.org/officeDocument/2006/relationships/oleObject" Target="../embeddings/oleObject21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.wmf"/><Relationship Id="rId17" Type="http://schemas.openxmlformats.org/officeDocument/2006/relationships/oleObject" Target="../embeddings/oleObject19.bin"/><Relationship Id="rId25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.wmf"/><Relationship Id="rId20" Type="http://schemas.openxmlformats.org/officeDocument/2006/relationships/image" Target="../media/image7.wmf"/><Relationship Id="rId29" Type="http://schemas.openxmlformats.org/officeDocument/2006/relationships/oleObject" Target="../embeddings/oleObject25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6.bin"/><Relationship Id="rId24" Type="http://schemas.openxmlformats.org/officeDocument/2006/relationships/image" Target="../media/image17.wmf"/><Relationship Id="rId32" Type="http://schemas.openxmlformats.org/officeDocument/2006/relationships/image" Target="../media/image21.wmf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23" Type="http://schemas.openxmlformats.org/officeDocument/2006/relationships/oleObject" Target="../embeddings/oleObject22.bin"/><Relationship Id="rId28" Type="http://schemas.openxmlformats.org/officeDocument/2006/relationships/image" Target="../media/image19.wmf"/><Relationship Id="rId10" Type="http://schemas.openxmlformats.org/officeDocument/2006/relationships/image" Target="../media/image1.wmf"/><Relationship Id="rId19" Type="http://schemas.openxmlformats.org/officeDocument/2006/relationships/oleObject" Target="../embeddings/oleObject20.bin"/><Relationship Id="rId31" Type="http://schemas.openxmlformats.org/officeDocument/2006/relationships/oleObject" Target="../embeddings/oleObject26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3.wmf"/><Relationship Id="rId22" Type="http://schemas.openxmlformats.org/officeDocument/2006/relationships/image" Target="../media/image16.wmf"/><Relationship Id="rId27" Type="http://schemas.openxmlformats.org/officeDocument/2006/relationships/oleObject" Target="../embeddings/oleObject24.bin"/><Relationship Id="rId30" Type="http://schemas.openxmlformats.org/officeDocument/2006/relationships/image" Target="../media/image20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wmf"/><Relationship Id="rId11" Type="http://schemas.openxmlformats.org/officeDocument/2006/relationships/image" Target="../media/image24.png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23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30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1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44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3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50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38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54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Freeform 4" descr="Onda"/>
          <p:cNvSpPr>
            <a:spLocks/>
          </p:cNvSpPr>
          <p:nvPr/>
        </p:nvSpPr>
        <p:spPr bwMode="auto">
          <a:xfrm>
            <a:off x="85725" y="1287463"/>
            <a:ext cx="4167188" cy="4389437"/>
          </a:xfrm>
          <a:custGeom>
            <a:avLst/>
            <a:gdLst/>
            <a:ahLst/>
            <a:cxnLst>
              <a:cxn ang="0">
                <a:pos x="0" y="32"/>
              </a:cxn>
              <a:cxn ang="0">
                <a:pos x="1504" y="0"/>
              </a:cxn>
              <a:cxn ang="0">
                <a:pos x="2406" y="0"/>
              </a:cxn>
              <a:cxn ang="0">
                <a:pos x="2304" y="54"/>
              </a:cxn>
              <a:cxn ang="0">
                <a:pos x="2236" y="183"/>
              </a:cxn>
              <a:cxn ang="0">
                <a:pos x="2220" y="1169"/>
              </a:cxn>
              <a:cxn ang="0">
                <a:pos x="2220" y="1396"/>
              </a:cxn>
              <a:cxn ang="0">
                <a:pos x="2228" y="1592"/>
              </a:cxn>
              <a:cxn ang="0">
                <a:pos x="2236" y="2548"/>
              </a:cxn>
              <a:cxn ang="0">
                <a:pos x="2263" y="2656"/>
              </a:cxn>
              <a:cxn ang="0">
                <a:pos x="2406" y="2737"/>
              </a:cxn>
              <a:cxn ang="0">
                <a:pos x="949" y="2765"/>
              </a:cxn>
              <a:cxn ang="0">
                <a:pos x="596" y="2744"/>
              </a:cxn>
              <a:cxn ang="0">
                <a:pos x="170" y="2397"/>
              </a:cxn>
              <a:cxn ang="0">
                <a:pos x="149" y="1543"/>
              </a:cxn>
              <a:cxn ang="0">
                <a:pos x="95" y="1184"/>
              </a:cxn>
              <a:cxn ang="0">
                <a:pos x="0" y="32"/>
              </a:cxn>
            </a:cxnLst>
            <a:rect l="0" t="0" r="r" b="b"/>
            <a:pathLst>
              <a:path w="2625" h="2765">
                <a:moveTo>
                  <a:pt x="0" y="32"/>
                </a:moveTo>
                <a:lnTo>
                  <a:pt x="1504" y="0"/>
                </a:lnTo>
                <a:lnTo>
                  <a:pt x="2406" y="0"/>
                </a:lnTo>
                <a:lnTo>
                  <a:pt x="2304" y="54"/>
                </a:lnTo>
                <a:lnTo>
                  <a:pt x="2236" y="183"/>
                </a:lnTo>
                <a:lnTo>
                  <a:pt x="2220" y="1169"/>
                </a:lnTo>
                <a:lnTo>
                  <a:pt x="2220" y="1396"/>
                </a:lnTo>
                <a:lnTo>
                  <a:pt x="2228" y="1592"/>
                </a:lnTo>
                <a:lnTo>
                  <a:pt x="2236" y="2548"/>
                </a:lnTo>
                <a:lnTo>
                  <a:pt x="2263" y="2656"/>
                </a:lnTo>
                <a:cubicBezTo>
                  <a:pt x="2291" y="2687"/>
                  <a:pt x="2625" y="2719"/>
                  <a:pt x="2406" y="2737"/>
                </a:cubicBezTo>
                <a:cubicBezTo>
                  <a:pt x="2532" y="2741"/>
                  <a:pt x="1248" y="2753"/>
                  <a:pt x="949" y="2765"/>
                </a:cubicBezTo>
                <a:lnTo>
                  <a:pt x="596" y="2744"/>
                </a:lnTo>
                <a:cubicBezTo>
                  <a:pt x="466" y="2683"/>
                  <a:pt x="244" y="2597"/>
                  <a:pt x="170" y="2397"/>
                </a:cubicBezTo>
                <a:cubicBezTo>
                  <a:pt x="83" y="2203"/>
                  <a:pt x="82" y="1757"/>
                  <a:pt x="149" y="1543"/>
                </a:cubicBezTo>
                <a:cubicBezTo>
                  <a:pt x="151" y="1448"/>
                  <a:pt x="66" y="1441"/>
                  <a:pt x="95" y="1184"/>
                </a:cubicBezTo>
                <a:cubicBezTo>
                  <a:pt x="70" y="932"/>
                  <a:pt x="0" y="32"/>
                  <a:pt x="0" y="32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077" name="Freeform 5" descr="Cuadrícula grande"/>
          <p:cNvSpPr>
            <a:spLocks/>
          </p:cNvSpPr>
          <p:nvPr/>
        </p:nvSpPr>
        <p:spPr bwMode="auto">
          <a:xfrm>
            <a:off x="3614738" y="1246188"/>
            <a:ext cx="5837237" cy="4484687"/>
          </a:xfrm>
          <a:custGeom>
            <a:avLst/>
            <a:gdLst/>
            <a:ahLst/>
            <a:cxnLst>
              <a:cxn ang="0">
                <a:pos x="3259" y="2584"/>
              </a:cxn>
              <a:cxn ang="0">
                <a:pos x="3381" y="2029"/>
              </a:cxn>
              <a:cxn ang="0">
                <a:pos x="3320" y="999"/>
              </a:cxn>
              <a:cxn ang="0">
                <a:pos x="3286" y="57"/>
              </a:cxn>
              <a:cxn ang="0">
                <a:pos x="976" y="6"/>
              </a:cxn>
              <a:cxn ang="0">
                <a:pos x="657" y="0"/>
              </a:cxn>
              <a:cxn ang="0">
                <a:pos x="169" y="20"/>
              </a:cxn>
              <a:cxn ang="0">
                <a:pos x="54" y="108"/>
              </a:cxn>
              <a:cxn ang="0">
                <a:pos x="0" y="271"/>
              </a:cxn>
              <a:cxn ang="0">
                <a:pos x="20" y="840"/>
              </a:cxn>
              <a:cxn ang="0">
                <a:pos x="3" y="1202"/>
              </a:cxn>
              <a:cxn ang="0">
                <a:pos x="3" y="1429"/>
              </a:cxn>
              <a:cxn ang="0">
                <a:pos x="11" y="1625"/>
              </a:cxn>
              <a:cxn ang="0">
                <a:pos x="20" y="1985"/>
              </a:cxn>
              <a:cxn ang="0">
                <a:pos x="27" y="2460"/>
              </a:cxn>
              <a:cxn ang="0">
                <a:pos x="101" y="2717"/>
              </a:cxn>
              <a:cxn ang="0">
                <a:pos x="237" y="2792"/>
              </a:cxn>
              <a:cxn ang="0">
                <a:pos x="894" y="2825"/>
              </a:cxn>
              <a:cxn ang="0">
                <a:pos x="1152" y="2825"/>
              </a:cxn>
              <a:cxn ang="0">
                <a:pos x="2934" y="2825"/>
              </a:cxn>
              <a:cxn ang="0">
                <a:pos x="3259" y="2584"/>
              </a:cxn>
            </a:cxnLst>
            <a:rect l="0" t="0" r="r" b="b"/>
            <a:pathLst>
              <a:path w="3677" h="2825">
                <a:moveTo>
                  <a:pt x="3259" y="2584"/>
                </a:moveTo>
                <a:cubicBezTo>
                  <a:pt x="3252" y="2524"/>
                  <a:pt x="3378" y="2229"/>
                  <a:pt x="3381" y="2029"/>
                </a:cubicBezTo>
                <a:cubicBezTo>
                  <a:pt x="3384" y="1829"/>
                  <a:pt x="3350" y="1199"/>
                  <a:pt x="3320" y="999"/>
                </a:cubicBezTo>
                <a:cubicBezTo>
                  <a:pt x="3166" y="758"/>
                  <a:pt x="3677" y="222"/>
                  <a:pt x="3286" y="57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259" y="2584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 dirty="0"/>
          </a:p>
        </p:txBody>
      </p:sp>
      <p:sp>
        <p:nvSpPr>
          <p:cNvPr id="3078" name="Line 6"/>
          <p:cNvSpPr>
            <a:spLocks noChangeShapeType="1"/>
          </p:cNvSpPr>
          <p:nvPr/>
        </p:nvSpPr>
        <p:spPr bwMode="auto">
          <a:xfrm>
            <a:off x="722313" y="3505200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079" name="AutoShape 7"/>
          <p:cNvSpPr>
            <a:spLocks/>
          </p:cNvSpPr>
          <p:nvPr/>
        </p:nvSpPr>
        <p:spPr bwMode="auto">
          <a:xfrm>
            <a:off x="3635375" y="1262063"/>
            <a:ext cx="360363" cy="4392612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3080" name="Line 8"/>
          <p:cNvSpPr>
            <a:spLocks noChangeShapeType="1"/>
          </p:cNvSpPr>
          <p:nvPr/>
        </p:nvSpPr>
        <p:spPr bwMode="auto">
          <a:xfrm flipV="1">
            <a:off x="827088" y="2486025"/>
            <a:ext cx="0" cy="10080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081" name="Oval 9"/>
          <p:cNvSpPr>
            <a:spLocks noChangeArrowheads="1"/>
          </p:cNvSpPr>
          <p:nvPr/>
        </p:nvSpPr>
        <p:spPr bwMode="auto">
          <a:xfrm>
            <a:off x="2317750" y="3467100"/>
            <a:ext cx="73025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3082" name="Oval 10"/>
          <p:cNvSpPr>
            <a:spLocks noChangeArrowheads="1"/>
          </p:cNvSpPr>
          <p:nvPr/>
        </p:nvSpPr>
        <p:spPr bwMode="auto">
          <a:xfrm>
            <a:off x="6154738" y="3467100"/>
            <a:ext cx="73025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3083" name="Text Box 11"/>
          <p:cNvSpPr txBox="1">
            <a:spLocks noChangeArrowheads="1"/>
          </p:cNvSpPr>
          <p:nvPr/>
        </p:nvSpPr>
        <p:spPr bwMode="auto">
          <a:xfrm>
            <a:off x="2160588" y="3522663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3084" name="Text Box 12"/>
          <p:cNvSpPr txBox="1">
            <a:spLocks noChangeArrowheads="1"/>
          </p:cNvSpPr>
          <p:nvPr/>
        </p:nvSpPr>
        <p:spPr bwMode="auto">
          <a:xfrm>
            <a:off x="6034088" y="3117850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F’</a:t>
            </a:r>
          </a:p>
        </p:txBody>
      </p:sp>
      <p:sp>
        <p:nvSpPr>
          <p:cNvPr id="3085" name="Text Box 13"/>
          <p:cNvSpPr txBox="1">
            <a:spLocks noChangeArrowheads="1"/>
          </p:cNvSpPr>
          <p:nvPr/>
        </p:nvSpPr>
        <p:spPr bwMode="auto">
          <a:xfrm>
            <a:off x="3059113" y="515143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3086" name="Text Box 14"/>
          <p:cNvSpPr txBox="1">
            <a:spLocks noChangeArrowheads="1"/>
          </p:cNvSpPr>
          <p:nvPr/>
        </p:nvSpPr>
        <p:spPr bwMode="auto">
          <a:xfrm>
            <a:off x="3851275" y="515143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3087" name="Line 15"/>
          <p:cNvSpPr>
            <a:spLocks noChangeShapeType="1"/>
          </p:cNvSpPr>
          <p:nvPr/>
        </p:nvSpPr>
        <p:spPr bwMode="auto">
          <a:xfrm>
            <a:off x="755650" y="2486025"/>
            <a:ext cx="2879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088" name="Freeform 16"/>
          <p:cNvSpPr>
            <a:spLocks/>
          </p:cNvSpPr>
          <p:nvPr/>
        </p:nvSpPr>
        <p:spPr bwMode="auto">
          <a:xfrm>
            <a:off x="3635375" y="2486025"/>
            <a:ext cx="5303838" cy="2089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341" y="1316"/>
              </a:cxn>
            </a:cxnLst>
            <a:rect l="0" t="0" r="r" b="b"/>
            <a:pathLst>
              <a:path w="3341" h="1316">
                <a:moveTo>
                  <a:pt x="0" y="0"/>
                </a:moveTo>
                <a:lnTo>
                  <a:pt x="3341" y="1316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089" name="Freeform 17"/>
          <p:cNvSpPr>
            <a:spLocks/>
          </p:cNvSpPr>
          <p:nvPr/>
        </p:nvSpPr>
        <p:spPr bwMode="auto">
          <a:xfrm>
            <a:off x="817563" y="2498725"/>
            <a:ext cx="2817812" cy="1828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75" y="1152"/>
              </a:cxn>
            </a:cxnLst>
            <a:rect l="0" t="0" r="r" b="b"/>
            <a:pathLst>
              <a:path w="1775" h="1152">
                <a:moveTo>
                  <a:pt x="0" y="0"/>
                </a:moveTo>
                <a:lnTo>
                  <a:pt x="1775" y="1152"/>
                </a:lnTo>
              </a:path>
            </a:pathLst>
          </a:custGeom>
          <a:noFill/>
          <a:ln w="25400">
            <a:solidFill>
              <a:srgbClr val="993366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090" name="Line 18"/>
          <p:cNvSpPr>
            <a:spLocks noChangeShapeType="1"/>
          </p:cNvSpPr>
          <p:nvPr/>
        </p:nvSpPr>
        <p:spPr bwMode="auto">
          <a:xfrm>
            <a:off x="3635375" y="4337050"/>
            <a:ext cx="52578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091" name="Freeform 19"/>
          <p:cNvSpPr>
            <a:spLocks/>
          </p:cNvSpPr>
          <p:nvPr/>
        </p:nvSpPr>
        <p:spPr bwMode="auto">
          <a:xfrm>
            <a:off x="827088" y="2486025"/>
            <a:ext cx="8220075" cy="2014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178" y="1269"/>
              </a:cxn>
            </a:cxnLst>
            <a:rect l="0" t="0" r="r" b="b"/>
            <a:pathLst>
              <a:path w="5178" h="1269">
                <a:moveTo>
                  <a:pt x="0" y="0"/>
                </a:moveTo>
                <a:lnTo>
                  <a:pt x="5178" y="1269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092" name="Line 20"/>
          <p:cNvSpPr>
            <a:spLocks noChangeShapeType="1"/>
          </p:cNvSpPr>
          <p:nvPr/>
        </p:nvSpPr>
        <p:spPr bwMode="auto">
          <a:xfrm>
            <a:off x="5003800" y="3351213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093" name="Freeform 21"/>
          <p:cNvSpPr>
            <a:spLocks/>
          </p:cNvSpPr>
          <p:nvPr/>
        </p:nvSpPr>
        <p:spPr bwMode="auto">
          <a:xfrm>
            <a:off x="8304213" y="3500438"/>
            <a:ext cx="1587" cy="8318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" y="570"/>
              </a:cxn>
            </a:cxnLst>
            <a:rect l="0" t="0" r="r" b="b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094" name="Text Box 22"/>
          <p:cNvSpPr txBox="1">
            <a:spLocks noChangeArrowheads="1"/>
          </p:cNvSpPr>
          <p:nvPr/>
        </p:nvSpPr>
        <p:spPr bwMode="auto">
          <a:xfrm>
            <a:off x="647700" y="3443288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</a:p>
        </p:txBody>
      </p:sp>
      <p:sp>
        <p:nvSpPr>
          <p:cNvPr id="3095" name="Text Box 23"/>
          <p:cNvSpPr txBox="1">
            <a:spLocks noChangeArrowheads="1"/>
          </p:cNvSpPr>
          <p:nvPr/>
        </p:nvSpPr>
        <p:spPr bwMode="auto">
          <a:xfrm>
            <a:off x="8101013" y="3135313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3096" name="Text Box 24"/>
          <p:cNvSpPr txBox="1">
            <a:spLocks noChangeArrowheads="1"/>
          </p:cNvSpPr>
          <p:nvPr/>
        </p:nvSpPr>
        <p:spPr bwMode="auto">
          <a:xfrm>
            <a:off x="684213" y="2127250"/>
            <a:ext cx="3762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3097" name="Text Box 25"/>
          <p:cNvSpPr txBox="1">
            <a:spLocks noChangeArrowheads="1"/>
          </p:cNvSpPr>
          <p:nvPr/>
        </p:nvSpPr>
        <p:spPr bwMode="auto">
          <a:xfrm>
            <a:off x="8135938" y="4430713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3100" name="Line 28"/>
          <p:cNvSpPr>
            <a:spLocks noChangeShapeType="1"/>
          </p:cNvSpPr>
          <p:nvPr/>
        </p:nvSpPr>
        <p:spPr bwMode="auto">
          <a:xfrm>
            <a:off x="827088" y="2486025"/>
            <a:ext cx="2808287" cy="1008063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101" name="Freeform 29"/>
          <p:cNvSpPr>
            <a:spLocks/>
          </p:cNvSpPr>
          <p:nvPr/>
        </p:nvSpPr>
        <p:spPr bwMode="auto">
          <a:xfrm>
            <a:off x="3635375" y="3494088"/>
            <a:ext cx="5143500" cy="9207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240" y="580"/>
              </a:cxn>
            </a:cxnLst>
            <a:rect l="0" t="0" r="r" b="b"/>
            <a:pathLst>
              <a:path w="3240" h="580">
                <a:moveTo>
                  <a:pt x="0" y="0"/>
                </a:moveTo>
                <a:lnTo>
                  <a:pt x="3240" y="580"/>
                </a:lnTo>
              </a:path>
            </a:pathLst>
          </a:custGeom>
          <a:noFill/>
          <a:ln w="25400">
            <a:solidFill>
              <a:srgbClr val="FF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102" name="Text Box 30"/>
          <p:cNvSpPr txBox="1">
            <a:spLocks noChangeArrowheads="1"/>
          </p:cNvSpPr>
          <p:nvPr/>
        </p:nvSpPr>
        <p:spPr bwMode="auto">
          <a:xfrm>
            <a:off x="3419475" y="5643578"/>
            <a:ext cx="14061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R </a:t>
            </a:r>
            <a:r>
              <a:rPr lang="es-ES_tradnl" dirty="0">
                <a:latin typeface="Times New Roman" pitchFamily="18" charset="0"/>
              </a:rPr>
              <a:t>&gt; 0</a:t>
            </a:r>
            <a:r>
              <a:rPr lang="es-ES_tradnl" i="1" dirty="0">
                <a:latin typeface="Times New Roman" pitchFamily="18" charset="0"/>
              </a:rPr>
              <a:t>, n &lt; n</a:t>
            </a:r>
            <a:r>
              <a:rPr lang="es-ES_tradnl" dirty="0">
                <a:latin typeface="Times New Roman" pitchFamily="18" charset="0"/>
              </a:rPr>
              <a:t>’</a:t>
            </a:r>
          </a:p>
        </p:txBody>
      </p:sp>
      <p:sp>
        <p:nvSpPr>
          <p:cNvPr id="3106" name="Text Box 34"/>
          <p:cNvSpPr txBox="1">
            <a:spLocks noChangeArrowheads="1"/>
          </p:cNvSpPr>
          <p:nvPr/>
        </p:nvSpPr>
        <p:spPr bwMode="auto">
          <a:xfrm>
            <a:off x="6659563" y="830263"/>
            <a:ext cx="43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2400" b="1" dirty="0"/>
              <a:t>?</a:t>
            </a:r>
          </a:p>
        </p:txBody>
      </p:sp>
      <p:grpSp>
        <p:nvGrpSpPr>
          <p:cNvPr id="3108" name="Group 36"/>
          <p:cNvGrpSpPr>
            <a:grpSpLocks/>
          </p:cNvGrpSpPr>
          <p:nvPr/>
        </p:nvGrpSpPr>
        <p:grpSpPr bwMode="auto">
          <a:xfrm>
            <a:off x="9164638" y="1306513"/>
            <a:ext cx="2463800" cy="4392612"/>
            <a:chOff x="5773" y="823"/>
            <a:chExt cx="1552" cy="2767"/>
          </a:xfrm>
        </p:grpSpPr>
        <p:sp>
          <p:nvSpPr>
            <p:cNvPr id="3103" name="AutoShape 31"/>
            <p:cNvSpPr>
              <a:spLocks/>
            </p:cNvSpPr>
            <p:nvPr/>
          </p:nvSpPr>
          <p:spPr bwMode="auto">
            <a:xfrm flipH="1">
              <a:off x="5806" y="823"/>
              <a:ext cx="227" cy="2767"/>
            </a:xfrm>
            <a:prstGeom prst="leftBracket">
              <a:avLst>
                <a:gd name="adj" fmla="val 101579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104" name="Freeform 32" descr="Ángulos"/>
            <p:cNvSpPr>
              <a:spLocks/>
            </p:cNvSpPr>
            <p:nvPr/>
          </p:nvSpPr>
          <p:spPr bwMode="auto">
            <a:xfrm>
              <a:off x="5773" y="841"/>
              <a:ext cx="1552" cy="2748"/>
            </a:xfrm>
            <a:custGeom>
              <a:avLst/>
              <a:gdLst/>
              <a:ahLst/>
              <a:cxnLst>
                <a:cxn ang="0">
                  <a:pos x="1471" y="15"/>
                </a:cxn>
                <a:cxn ang="0">
                  <a:pos x="1007" y="0"/>
                </a:cxn>
                <a:cxn ang="0">
                  <a:pos x="105" y="0"/>
                </a:cxn>
                <a:cxn ang="0">
                  <a:pos x="207" y="54"/>
                </a:cxn>
                <a:cxn ang="0">
                  <a:pos x="275" y="183"/>
                </a:cxn>
                <a:cxn ang="0">
                  <a:pos x="291" y="1169"/>
                </a:cxn>
                <a:cxn ang="0">
                  <a:pos x="278" y="1382"/>
                </a:cxn>
                <a:cxn ang="0">
                  <a:pos x="283" y="1592"/>
                </a:cxn>
                <a:cxn ang="0">
                  <a:pos x="275" y="2548"/>
                </a:cxn>
                <a:cxn ang="0">
                  <a:pos x="248" y="2656"/>
                </a:cxn>
                <a:cxn ang="0">
                  <a:pos x="184" y="2744"/>
                </a:cxn>
                <a:cxn ang="0">
                  <a:pos x="1350" y="2747"/>
                </a:cxn>
                <a:cxn ang="0">
                  <a:pos x="1044" y="2746"/>
                </a:cxn>
                <a:cxn ang="0">
                  <a:pos x="1369" y="2502"/>
                </a:cxn>
                <a:cxn ang="0">
                  <a:pos x="1457" y="1716"/>
                </a:cxn>
                <a:cxn ang="0">
                  <a:pos x="1437" y="1208"/>
                </a:cxn>
                <a:cxn ang="0">
                  <a:pos x="1349" y="794"/>
                </a:cxn>
                <a:cxn ang="0">
                  <a:pos x="1491" y="232"/>
                </a:cxn>
                <a:cxn ang="0">
                  <a:pos x="1471" y="15"/>
                </a:cxn>
              </a:cxnLst>
              <a:rect l="0" t="0" r="r" b="b"/>
              <a:pathLst>
                <a:path w="1552" h="2748">
                  <a:moveTo>
                    <a:pt x="1471" y="15"/>
                  </a:moveTo>
                  <a:lnTo>
                    <a:pt x="1007" y="0"/>
                  </a:lnTo>
                  <a:lnTo>
                    <a:pt x="105" y="0"/>
                  </a:lnTo>
                  <a:lnTo>
                    <a:pt x="207" y="54"/>
                  </a:lnTo>
                  <a:lnTo>
                    <a:pt x="275" y="183"/>
                  </a:lnTo>
                  <a:lnTo>
                    <a:pt x="291" y="1169"/>
                  </a:lnTo>
                  <a:lnTo>
                    <a:pt x="278" y="1382"/>
                  </a:lnTo>
                  <a:lnTo>
                    <a:pt x="283" y="1592"/>
                  </a:lnTo>
                  <a:lnTo>
                    <a:pt x="275" y="2548"/>
                  </a:lnTo>
                  <a:lnTo>
                    <a:pt x="248" y="2656"/>
                  </a:lnTo>
                  <a:cubicBezTo>
                    <a:pt x="233" y="2689"/>
                    <a:pt x="0" y="2729"/>
                    <a:pt x="184" y="2744"/>
                  </a:cubicBezTo>
                  <a:cubicBezTo>
                    <a:pt x="58" y="2748"/>
                    <a:pt x="1128" y="2747"/>
                    <a:pt x="1350" y="2747"/>
                  </a:cubicBezTo>
                  <a:lnTo>
                    <a:pt x="1044" y="2746"/>
                  </a:lnTo>
                  <a:cubicBezTo>
                    <a:pt x="1047" y="2705"/>
                    <a:pt x="1300" y="2674"/>
                    <a:pt x="1369" y="2502"/>
                  </a:cubicBezTo>
                  <a:cubicBezTo>
                    <a:pt x="1456" y="2308"/>
                    <a:pt x="1524" y="1930"/>
                    <a:pt x="1457" y="1716"/>
                  </a:cubicBezTo>
                  <a:cubicBezTo>
                    <a:pt x="1455" y="1621"/>
                    <a:pt x="1455" y="1362"/>
                    <a:pt x="1437" y="1208"/>
                  </a:cubicBezTo>
                  <a:cubicBezTo>
                    <a:pt x="1419" y="1054"/>
                    <a:pt x="1340" y="957"/>
                    <a:pt x="1349" y="794"/>
                  </a:cubicBezTo>
                  <a:cubicBezTo>
                    <a:pt x="1358" y="631"/>
                    <a:pt x="1471" y="362"/>
                    <a:pt x="1491" y="232"/>
                  </a:cubicBezTo>
                  <a:cubicBezTo>
                    <a:pt x="1511" y="102"/>
                    <a:pt x="1552" y="54"/>
                    <a:pt x="1471" y="15"/>
                  </a:cubicBezTo>
                  <a:close/>
                </a:path>
              </a:pathLst>
            </a:custGeom>
            <a:pattFill prst="divot">
              <a:fgClr>
                <a:srgbClr val="99CC00">
                  <a:alpha val="55000"/>
                </a:srgbClr>
              </a:fgClr>
              <a:bgClr>
                <a:schemeClr val="bg1">
                  <a:alpha val="55000"/>
                </a:schemeClr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3105" name="Text Box 33"/>
            <p:cNvSpPr txBox="1">
              <a:spLocks noChangeArrowheads="1"/>
            </p:cNvSpPr>
            <p:nvPr/>
          </p:nvSpPr>
          <p:spPr bwMode="auto">
            <a:xfrm>
              <a:off x="6237" y="3294"/>
              <a:ext cx="2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’’</a:t>
              </a:r>
            </a:p>
          </p:txBody>
        </p:sp>
      </p:grpSp>
      <p:sp>
        <p:nvSpPr>
          <p:cNvPr id="3109" name="Text Box 37"/>
          <p:cNvSpPr txBox="1">
            <a:spLocks noChangeArrowheads="1"/>
          </p:cNvSpPr>
          <p:nvPr/>
        </p:nvSpPr>
        <p:spPr bwMode="auto">
          <a:xfrm>
            <a:off x="8675688" y="6564313"/>
            <a:ext cx="2682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110" name="Text Box 38"/>
          <p:cNvSpPr txBox="1">
            <a:spLocks noChangeArrowheads="1"/>
          </p:cNvSpPr>
          <p:nvPr/>
        </p:nvSpPr>
        <p:spPr bwMode="auto">
          <a:xfrm>
            <a:off x="71406" y="71414"/>
            <a:ext cx="20377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000" dirty="0"/>
              <a:t>Sea una dioptra</a:t>
            </a:r>
          </a:p>
        </p:txBody>
      </p:sp>
      <p:sp>
        <p:nvSpPr>
          <p:cNvPr id="3111" name="Text Box 39"/>
          <p:cNvSpPr txBox="1">
            <a:spLocks noChangeArrowheads="1"/>
          </p:cNvSpPr>
          <p:nvPr/>
        </p:nvSpPr>
        <p:spPr bwMode="auto">
          <a:xfrm>
            <a:off x="1977394" y="92074"/>
            <a:ext cx="586570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000" dirty="0"/>
              <a:t>y a continuación otra dioptra formando un sistema</a:t>
            </a:r>
          </a:p>
        </p:txBody>
      </p:sp>
      <p:sp>
        <p:nvSpPr>
          <p:cNvPr id="3112" name="Line 40"/>
          <p:cNvSpPr>
            <a:spLocks noChangeShapeType="1"/>
          </p:cNvSpPr>
          <p:nvPr/>
        </p:nvSpPr>
        <p:spPr bwMode="auto">
          <a:xfrm flipH="1">
            <a:off x="827088" y="5013325"/>
            <a:ext cx="2808287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113" name="Text Box 41"/>
          <p:cNvSpPr txBox="1">
            <a:spLocks noChangeArrowheads="1"/>
          </p:cNvSpPr>
          <p:nvPr/>
        </p:nvSpPr>
        <p:spPr bwMode="auto">
          <a:xfrm>
            <a:off x="1958975" y="4675188"/>
            <a:ext cx="349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s</a:t>
            </a:r>
            <a:r>
              <a:rPr lang="es-ES_tradnl" baseline="-25000">
                <a:latin typeface="Times New Roman" pitchFamily="18" charset="0"/>
              </a:rPr>
              <a:t>1</a:t>
            </a:r>
            <a:endParaRPr lang="es-ES_tradnl">
              <a:latin typeface="Times New Roman" pitchFamily="18" charset="0"/>
            </a:endParaRPr>
          </a:p>
        </p:txBody>
      </p:sp>
      <p:sp>
        <p:nvSpPr>
          <p:cNvPr id="3114" name="Line 42"/>
          <p:cNvSpPr>
            <a:spLocks noChangeShapeType="1"/>
          </p:cNvSpPr>
          <p:nvPr/>
        </p:nvSpPr>
        <p:spPr bwMode="auto">
          <a:xfrm flipH="1">
            <a:off x="3635375" y="5013325"/>
            <a:ext cx="4681538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116" name="Line 44"/>
          <p:cNvSpPr>
            <a:spLocks noChangeShapeType="1"/>
          </p:cNvSpPr>
          <p:nvPr/>
        </p:nvSpPr>
        <p:spPr bwMode="auto">
          <a:xfrm flipH="1">
            <a:off x="7042150" y="4802188"/>
            <a:ext cx="1258888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 type="triangle" w="med" len="med"/>
            <a:tailEnd type="non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117" name="Text Box 45"/>
          <p:cNvSpPr txBox="1">
            <a:spLocks noChangeArrowheads="1"/>
          </p:cNvSpPr>
          <p:nvPr/>
        </p:nvSpPr>
        <p:spPr bwMode="auto">
          <a:xfrm>
            <a:off x="7451725" y="4459288"/>
            <a:ext cx="349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s</a:t>
            </a:r>
            <a:r>
              <a:rPr lang="es-ES_tradnl" baseline="-25000">
                <a:latin typeface="Times New Roman" pitchFamily="18" charset="0"/>
              </a:rPr>
              <a:t>2</a:t>
            </a:r>
            <a:endParaRPr lang="es-ES_tradnl">
              <a:latin typeface="Times New Roman" pitchFamily="18" charset="0"/>
            </a:endParaRPr>
          </a:p>
        </p:txBody>
      </p:sp>
      <p:sp>
        <p:nvSpPr>
          <p:cNvPr id="3118" name="Text Box 46"/>
          <p:cNvSpPr txBox="1">
            <a:spLocks noChangeArrowheads="1"/>
          </p:cNvSpPr>
          <p:nvPr/>
        </p:nvSpPr>
        <p:spPr bwMode="auto">
          <a:xfrm>
            <a:off x="7216775" y="5654675"/>
            <a:ext cx="1365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/>
              <a:t>y seguir </a:t>
            </a:r>
            <a:r>
              <a:rPr lang="es-ES_tradnl" b="1" dirty="0"/>
              <a:t>. . .</a:t>
            </a:r>
          </a:p>
        </p:txBody>
      </p:sp>
      <p:graphicFrame>
        <p:nvGraphicFramePr>
          <p:cNvPr id="3119" name="Object 2"/>
          <p:cNvGraphicFramePr>
            <a:graphicFrameLocks noChangeAspect="1"/>
          </p:cNvGraphicFramePr>
          <p:nvPr/>
        </p:nvGraphicFramePr>
        <p:xfrm>
          <a:off x="1212850" y="633413"/>
          <a:ext cx="187007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" name="Ecuación" r:id="rId3" imgW="1168200" imgH="431640" progId="Equation.3">
                  <p:embed/>
                </p:oleObj>
              </mc:Choice>
              <mc:Fallback>
                <p:oleObj name="Ecuación" r:id="rId3" imgW="1168200" imgH="431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0" y="633413"/>
                        <a:ext cx="1870075" cy="6905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0" name="Object 37"/>
          <p:cNvGraphicFramePr>
            <a:graphicFrameLocks noChangeAspect="1"/>
          </p:cNvGraphicFramePr>
          <p:nvPr/>
        </p:nvGraphicFramePr>
        <p:xfrm>
          <a:off x="1214414" y="1428736"/>
          <a:ext cx="14859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" name="Ecuación" r:id="rId5" imgW="927000" imgH="431640" progId="Equation.3">
                  <p:embed/>
                </p:oleObj>
              </mc:Choice>
              <mc:Fallback>
                <p:oleObj name="Ecuación" r:id="rId5" imgW="927000" imgH="43164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14" y="1428736"/>
                        <a:ext cx="1485900" cy="6921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1" name="Object 2"/>
          <p:cNvGraphicFramePr>
            <a:graphicFrameLocks noChangeAspect="1"/>
          </p:cNvGraphicFramePr>
          <p:nvPr/>
        </p:nvGraphicFramePr>
        <p:xfrm>
          <a:off x="7072330" y="655629"/>
          <a:ext cx="201295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" name="Ecuación" r:id="rId7" imgW="1257120" imgH="431640" progId="Equation.3">
                  <p:embed/>
                </p:oleObj>
              </mc:Choice>
              <mc:Fallback>
                <p:oleObj name="Ecuación" r:id="rId7" imgW="1257120" imgH="43164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30" y="655629"/>
                        <a:ext cx="2012950" cy="6905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2" name="Object 37"/>
          <p:cNvGraphicFramePr>
            <a:graphicFrameLocks noChangeAspect="1"/>
          </p:cNvGraphicFramePr>
          <p:nvPr/>
        </p:nvGraphicFramePr>
        <p:xfrm>
          <a:off x="7420310" y="1450966"/>
          <a:ext cx="160813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" name="Ecuación" r:id="rId9" imgW="1002960" imgH="431640" progId="Equation.3">
                  <p:embed/>
                </p:oleObj>
              </mc:Choice>
              <mc:Fallback>
                <p:oleObj name="Ecuación" r:id="rId9" imgW="1002960" imgH="431640" progId="Equation.3">
                  <p:embed/>
                  <p:pic>
                    <p:nvPicPr>
                      <p:cNvPr id="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0310" y="1450966"/>
                        <a:ext cx="1608138" cy="6921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49 CuadroTexto"/>
          <p:cNvSpPr txBox="1"/>
          <p:nvPr/>
        </p:nvSpPr>
        <p:spPr>
          <a:xfrm>
            <a:off x="0" y="6143644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Problemas conectados:</a:t>
            </a:r>
          </a:p>
        </p:txBody>
      </p:sp>
      <p:cxnSp>
        <p:nvCxnSpPr>
          <p:cNvPr id="52" name="51 Conector recto de flecha"/>
          <p:cNvCxnSpPr/>
          <p:nvPr/>
        </p:nvCxnSpPr>
        <p:spPr>
          <a:xfrm>
            <a:off x="3643306" y="1212834"/>
            <a:ext cx="3429024" cy="1588"/>
          </a:xfrm>
          <a:prstGeom prst="straightConnector1">
            <a:avLst/>
          </a:prstGeom>
          <a:ln w="254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52 CuadroTexto"/>
          <p:cNvSpPr txBox="1"/>
          <p:nvPr/>
        </p:nvSpPr>
        <p:spPr>
          <a:xfrm>
            <a:off x="5072066" y="78579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latin typeface="Times New Roman" pitchFamily="18" charset="0"/>
                <a:cs typeface="Times New Roman" pitchFamily="18" charset="0"/>
              </a:rPr>
              <a:t>L</a:t>
            </a:r>
          </a:p>
        </p:txBody>
      </p:sp>
      <p:graphicFrame>
        <p:nvGraphicFramePr>
          <p:cNvPr id="25665" name="Object 65"/>
          <p:cNvGraphicFramePr>
            <a:graphicFrameLocks noChangeAspect="1"/>
          </p:cNvGraphicFramePr>
          <p:nvPr/>
        </p:nvGraphicFramePr>
        <p:xfrm>
          <a:off x="2571736" y="6143625"/>
          <a:ext cx="1789112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" name="Ecuación" r:id="rId11" imgW="1117440" imgH="215640" progId="Equation.3">
                  <p:embed/>
                </p:oleObj>
              </mc:Choice>
              <mc:Fallback>
                <p:oleObj name="Ecuación" r:id="rId11" imgW="1117440" imgH="21564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36" y="6143625"/>
                        <a:ext cx="1789112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55 CuadroTexto"/>
          <p:cNvSpPr txBox="1"/>
          <p:nvPr/>
        </p:nvSpPr>
        <p:spPr>
          <a:xfrm>
            <a:off x="428596" y="6488668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Objeto: </a:t>
            </a:r>
          </a:p>
        </p:txBody>
      </p:sp>
      <p:graphicFrame>
        <p:nvGraphicFramePr>
          <p:cNvPr id="2" name="Object 65"/>
          <p:cNvGraphicFramePr>
            <a:graphicFrameLocks noChangeAspect="1"/>
          </p:cNvGraphicFramePr>
          <p:nvPr/>
        </p:nvGraphicFramePr>
        <p:xfrm>
          <a:off x="1285852" y="6500834"/>
          <a:ext cx="1220788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9" name="Ecuación" r:id="rId13" imgW="761760" imgH="215640" progId="Equation.3">
                  <p:embed/>
                </p:oleObj>
              </mc:Choice>
              <mc:Fallback>
                <p:oleObj name="Ecuación" r:id="rId13" imgW="761760" imgH="215640" progId="Equation.3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52" y="6500834"/>
                        <a:ext cx="1220788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5"/>
          <p:cNvGraphicFramePr>
            <a:graphicFrameLocks noChangeAspect="1"/>
          </p:cNvGraphicFramePr>
          <p:nvPr/>
        </p:nvGraphicFramePr>
        <p:xfrm>
          <a:off x="6311922" y="6513536"/>
          <a:ext cx="140335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" name="Ecuación" r:id="rId15" imgW="876240" imgH="215640" progId="Equation.3">
                  <p:embed/>
                </p:oleObj>
              </mc:Choice>
              <mc:Fallback>
                <p:oleObj name="Ecuación" r:id="rId15" imgW="876240" imgH="215640" progId="Equation.3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22" y="6513536"/>
                        <a:ext cx="1403350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58 CuadroTexto"/>
          <p:cNvSpPr txBox="1"/>
          <p:nvPr/>
        </p:nvSpPr>
        <p:spPr>
          <a:xfrm>
            <a:off x="2714612" y="6488668"/>
            <a:ext cx="3724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 Imagen Final dada por el sistema:</a:t>
            </a:r>
          </a:p>
        </p:txBody>
      </p:sp>
      <p:cxnSp>
        <p:nvCxnSpPr>
          <p:cNvPr id="61" name="60 Conector recto de flecha"/>
          <p:cNvCxnSpPr/>
          <p:nvPr/>
        </p:nvCxnSpPr>
        <p:spPr>
          <a:xfrm>
            <a:off x="7061852" y="2499988"/>
            <a:ext cx="1260000" cy="19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62 Objeto"/>
          <p:cNvGraphicFramePr>
            <a:graphicFrameLocks noChangeAspect="1"/>
          </p:cNvGraphicFramePr>
          <p:nvPr/>
        </p:nvGraphicFramePr>
        <p:xfrm>
          <a:off x="7705748" y="2643182"/>
          <a:ext cx="152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" name="Ecuación" r:id="rId17" imgW="152280" imgH="215640" progId="Equation.3">
                  <p:embed/>
                </p:oleObj>
              </mc:Choice>
              <mc:Fallback>
                <p:oleObj name="Ecuación" r:id="rId17" imgW="152280" imgH="215640" progId="Equation.3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5748" y="2643182"/>
                        <a:ext cx="152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64 Objeto"/>
          <p:cNvGraphicFramePr>
            <a:graphicFrameLocks noChangeAspect="1"/>
          </p:cNvGraphicFramePr>
          <p:nvPr/>
        </p:nvGraphicFramePr>
        <p:xfrm>
          <a:off x="571500" y="2857500"/>
          <a:ext cx="18415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" name="Ecuación" r:id="rId19" imgW="152280" imgH="215640" progId="Equation.3">
                  <p:embed/>
                </p:oleObj>
              </mc:Choice>
              <mc:Fallback>
                <p:oleObj name="Ecuación" r:id="rId19" imgW="152280" imgH="215640" progId="Equation.3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2857500"/>
                        <a:ext cx="184150" cy="26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65 Objeto"/>
          <p:cNvGraphicFramePr>
            <a:graphicFrameLocks noChangeAspect="1"/>
          </p:cNvGraphicFramePr>
          <p:nvPr/>
        </p:nvGraphicFramePr>
        <p:xfrm>
          <a:off x="8429625" y="3784600"/>
          <a:ext cx="198438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" name="Ecuación" r:id="rId21" imgW="164880" imgH="215640" progId="Equation.3">
                  <p:embed/>
                </p:oleObj>
              </mc:Choice>
              <mc:Fallback>
                <p:oleObj name="Ecuación" r:id="rId21" imgW="164880" imgH="215640" progId="Equation.3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25" y="3784600"/>
                        <a:ext cx="198438" cy="258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66 Objeto"/>
          <p:cNvGraphicFramePr>
            <a:graphicFrameLocks noChangeAspect="1"/>
          </p:cNvGraphicFramePr>
          <p:nvPr/>
        </p:nvGraphicFramePr>
        <p:xfrm>
          <a:off x="5348288" y="4713288"/>
          <a:ext cx="18415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" name="Ecuación" r:id="rId23" imgW="152280" imgH="215640" progId="Equation.3">
                  <p:embed/>
                </p:oleObj>
              </mc:Choice>
              <mc:Fallback>
                <p:oleObj name="Ecuación" r:id="rId23" imgW="152280" imgH="215640" progId="Equation.3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8288" y="4713288"/>
                        <a:ext cx="184150" cy="26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3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3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7747E-6 L -0.27465 -0.0002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2000"/>
                                        <p:tgtEl>
                                          <p:spTgt spid="3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3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6" grpId="0"/>
      <p:bldP spid="3106" grpId="1"/>
      <p:bldP spid="3109" grpId="0"/>
      <p:bldP spid="3111" grpId="0"/>
      <p:bldP spid="3116" grpId="0" animBg="1"/>
      <p:bldP spid="3117" grpId="0"/>
      <p:bldP spid="3118" grpId="0"/>
      <p:bldP spid="50" grpId="0"/>
      <p:bldP spid="53" grpId="0"/>
      <p:bldP spid="56" grpId="0"/>
      <p:bldP spid="5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9" name="Group 69"/>
          <p:cNvGrpSpPr>
            <a:grpSpLocks/>
          </p:cNvGrpSpPr>
          <p:nvPr/>
        </p:nvGrpSpPr>
        <p:grpSpPr bwMode="auto">
          <a:xfrm>
            <a:off x="395288" y="333375"/>
            <a:ext cx="3557587" cy="1971675"/>
            <a:chOff x="249" y="210"/>
            <a:chExt cx="2241" cy="1242"/>
          </a:xfrm>
        </p:grpSpPr>
        <p:sp>
          <p:nvSpPr>
            <p:cNvPr id="5124" name="Freeform 4" descr="Onda"/>
            <p:cNvSpPr>
              <a:spLocks noChangeAspect="1"/>
            </p:cNvSpPr>
            <p:nvPr/>
          </p:nvSpPr>
          <p:spPr bwMode="auto">
            <a:xfrm>
              <a:off x="249" y="346"/>
              <a:ext cx="1050" cy="110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1504" y="0"/>
                </a:cxn>
                <a:cxn ang="0">
                  <a:pos x="2406" y="0"/>
                </a:cxn>
                <a:cxn ang="0">
                  <a:pos x="2304" y="54"/>
                </a:cxn>
                <a:cxn ang="0">
                  <a:pos x="2236" y="183"/>
                </a:cxn>
                <a:cxn ang="0">
                  <a:pos x="2220" y="1169"/>
                </a:cxn>
                <a:cxn ang="0">
                  <a:pos x="2220" y="1396"/>
                </a:cxn>
                <a:cxn ang="0">
                  <a:pos x="2228" y="1592"/>
                </a:cxn>
                <a:cxn ang="0">
                  <a:pos x="2236" y="2548"/>
                </a:cxn>
                <a:cxn ang="0">
                  <a:pos x="2263" y="2656"/>
                </a:cxn>
                <a:cxn ang="0">
                  <a:pos x="2406" y="2737"/>
                </a:cxn>
                <a:cxn ang="0">
                  <a:pos x="949" y="2765"/>
                </a:cxn>
                <a:cxn ang="0">
                  <a:pos x="596" y="2744"/>
                </a:cxn>
                <a:cxn ang="0">
                  <a:pos x="170" y="2397"/>
                </a:cxn>
                <a:cxn ang="0">
                  <a:pos x="149" y="1543"/>
                </a:cxn>
                <a:cxn ang="0">
                  <a:pos x="95" y="1184"/>
                </a:cxn>
                <a:cxn ang="0">
                  <a:pos x="0" y="32"/>
                </a:cxn>
              </a:cxnLst>
              <a:rect l="0" t="0" r="r" b="b"/>
              <a:pathLst>
                <a:path w="2625" h="2765">
                  <a:moveTo>
                    <a:pt x="0" y="32"/>
                  </a:moveTo>
                  <a:lnTo>
                    <a:pt x="1504" y="0"/>
                  </a:lnTo>
                  <a:lnTo>
                    <a:pt x="2406" y="0"/>
                  </a:lnTo>
                  <a:lnTo>
                    <a:pt x="2304" y="54"/>
                  </a:lnTo>
                  <a:lnTo>
                    <a:pt x="2236" y="183"/>
                  </a:lnTo>
                  <a:lnTo>
                    <a:pt x="2220" y="1169"/>
                  </a:lnTo>
                  <a:lnTo>
                    <a:pt x="2220" y="1396"/>
                  </a:lnTo>
                  <a:lnTo>
                    <a:pt x="2228" y="1592"/>
                  </a:lnTo>
                  <a:lnTo>
                    <a:pt x="2236" y="2548"/>
                  </a:lnTo>
                  <a:lnTo>
                    <a:pt x="2263" y="2656"/>
                  </a:lnTo>
                  <a:cubicBezTo>
                    <a:pt x="2291" y="2687"/>
                    <a:pt x="2625" y="2719"/>
                    <a:pt x="2406" y="2737"/>
                  </a:cubicBezTo>
                  <a:cubicBezTo>
                    <a:pt x="2532" y="2741"/>
                    <a:pt x="1248" y="2753"/>
                    <a:pt x="949" y="2765"/>
                  </a:cubicBezTo>
                  <a:lnTo>
                    <a:pt x="596" y="2744"/>
                  </a:lnTo>
                  <a:cubicBezTo>
                    <a:pt x="466" y="2683"/>
                    <a:pt x="244" y="2597"/>
                    <a:pt x="170" y="2397"/>
                  </a:cubicBezTo>
                  <a:cubicBezTo>
                    <a:pt x="83" y="2203"/>
                    <a:pt x="82" y="1757"/>
                    <a:pt x="149" y="1543"/>
                  </a:cubicBezTo>
                  <a:cubicBezTo>
                    <a:pt x="151" y="1448"/>
                    <a:pt x="66" y="1441"/>
                    <a:pt x="95" y="1184"/>
                  </a:cubicBezTo>
                  <a:cubicBezTo>
                    <a:pt x="70" y="932"/>
                    <a:pt x="0" y="32"/>
                    <a:pt x="0" y="32"/>
                  </a:cubicBezTo>
                  <a:close/>
                </a:path>
              </a:pathLst>
            </a:custGeom>
            <a:pattFill prst="wave">
              <a:fgClr>
                <a:schemeClr val="accent1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25" name="Freeform 5" descr="Cuadrícula grande"/>
            <p:cNvSpPr>
              <a:spLocks noChangeAspect="1"/>
            </p:cNvSpPr>
            <p:nvPr/>
          </p:nvSpPr>
          <p:spPr bwMode="auto">
            <a:xfrm>
              <a:off x="1156" y="314"/>
              <a:ext cx="831" cy="1133"/>
            </a:xfrm>
            <a:custGeom>
              <a:avLst/>
              <a:gdLst/>
              <a:ahLst/>
              <a:cxnLst>
                <a:cxn ang="0">
                  <a:pos x="762" y="1123"/>
                </a:cxn>
                <a:cxn ang="0">
                  <a:pos x="816" y="1048"/>
                </a:cxn>
                <a:cxn ang="0">
                  <a:pos x="809" y="811"/>
                </a:cxn>
                <a:cxn ang="0">
                  <a:pos x="816" y="465"/>
                </a:cxn>
                <a:cxn ang="0">
                  <a:pos x="816" y="160"/>
                </a:cxn>
                <a:cxn ang="0">
                  <a:pos x="728" y="32"/>
                </a:cxn>
                <a:cxn ang="0">
                  <a:pos x="391" y="2"/>
                </a:cxn>
                <a:cxn ang="0">
                  <a:pos x="263" y="0"/>
                </a:cxn>
                <a:cxn ang="0">
                  <a:pos x="68" y="8"/>
                </a:cxn>
                <a:cxn ang="0">
                  <a:pos x="22" y="43"/>
                </a:cxn>
                <a:cxn ang="0">
                  <a:pos x="0" y="109"/>
                </a:cxn>
                <a:cxn ang="0">
                  <a:pos x="8" y="337"/>
                </a:cxn>
                <a:cxn ang="0">
                  <a:pos x="1" y="482"/>
                </a:cxn>
                <a:cxn ang="0">
                  <a:pos x="1" y="573"/>
                </a:cxn>
                <a:cxn ang="0">
                  <a:pos x="4" y="652"/>
                </a:cxn>
                <a:cxn ang="0">
                  <a:pos x="8" y="796"/>
                </a:cxn>
                <a:cxn ang="0">
                  <a:pos x="11" y="987"/>
                </a:cxn>
                <a:cxn ang="0">
                  <a:pos x="40" y="1090"/>
                </a:cxn>
                <a:cxn ang="0">
                  <a:pos x="95" y="1120"/>
                </a:cxn>
                <a:cxn ang="0">
                  <a:pos x="358" y="1133"/>
                </a:cxn>
                <a:cxn ang="0">
                  <a:pos x="462" y="1133"/>
                </a:cxn>
                <a:cxn ang="0">
                  <a:pos x="619" y="1116"/>
                </a:cxn>
                <a:cxn ang="0">
                  <a:pos x="762" y="1123"/>
                </a:cxn>
              </a:cxnLst>
              <a:rect l="0" t="0" r="r" b="b"/>
              <a:pathLst>
                <a:path w="831" h="1133">
                  <a:moveTo>
                    <a:pt x="762" y="1123"/>
                  </a:moveTo>
                  <a:cubicBezTo>
                    <a:pt x="780" y="1105"/>
                    <a:pt x="808" y="1100"/>
                    <a:pt x="816" y="1048"/>
                  </a:cubicBezTo>
                  <a:cubicBezTo>
                    <a:pt x="824" y="996"/>
                    <a:pt x="809" y="908"/>
                    <a:pt x="809" y="811"/>
                  </a:cubicBezTo>
                  <a:cubicBezTo>
                    <a:pt x="811" y="731"/>
                    <a:pt x="828" y="545"/>
                    <a:pt x="816" y="465"/>
                  </a:cubicBezTo>
                  <a:cubicBezTo>
                    <a:pt x="824" y="374"/>
                    <a:pt x="831" y="232"/>
                    <a:pt x="816" y="160"/>
                  </a:cubicBezTo>
                  <a:cubicBezTo>
                    <a:pt x="801" y="88"/>
                    <a:pt x="799" y="58"/>
                    <a:pt x="728" y="32"/>
                  </a:cubicBezTo>
                  <a:lnTo>
                    <a:pt x="391" y="2"/>
                  </a:lnTo>
                  <a:lnTo>
                    <a:pt x="263" y="0"/>
                  </a:lnTo>
                  <a:lnTo>
                    <a:pt x="68" y="8"/>
                  </a:lnTo>
                  <a:lnTo>
                    <a:pt x="22" y="43"/>
                  </a:lnTo>
                  <a:lnTo>
                    <a:pt x="0" y="109"/>
                  </a:lnTo>
                  <a:lnTo>
                    <a:pt x="8" y="337"/>
                  </a:lnTo>
                  <a:lnTo>
                    <a:pt x="1" y="482"/>
                  </a:lnTo>
                  <a:lnTo>
                    <a:pt x="1" y="573"/>
                  </a:lnTo>
                  <a:lnTo>
                    <a:pt x="4" y="652"/>
                  </a:lnTo>
                  <a:lnTo>
                    <a:pt x="8" y="796"/>
                  </a:lnTo>
                  <a:lnTo>
                    <a:pt x="11" y="987"/>
                  </a:lnTo>
                  <a:cubicBezTo>
                    <a:pt x="16" y="1036"/>
                    <a:pt x="26" y="1068"/>
                    <a:pt x="40" y="1090"/>
                  </a:cubicBezTo>
                  <a:cubicBezTo>
                    <a:pt x="70" y="1117"/>
                    <a:pt x="42" y="1113"/>
                    <a:pt x="95" y="1120"/>
                  </a:cubicBezTo>
                  <a:cubicBezTo>
                    <a:pt x="148" y="1127"/>
                    <a:pt x="297" y="1131"/>
                    <a:pt x="358" y="1133"/>
                  </a:cubicBezTo>
                  <a:lnTo>
                    <a:pt x="462" y="1133"/>
                  </a:lnTo>
                  <a:lnTo>
                    <a:pt x="619" y="1116"/>
                  </a:lnTo>
                  <a:lnTo>
                    <a:pt x="762" y="1123"/>
                  </a:lnTo>
                  <a:close/>
                </a:path>
              </a:pathLst>
            </a:custGeom>
            <a:pattFill prst="lgGrid">
              <a:fgClr>
                <a:srgbClr val="FFCC99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26" name="Line 6"/>
            <p:cNvSpPr>
              <a:spLocks noChangeAspect="1" noChangeShapeType="1"/>
            </p:cNvSpPr>
            <p:nvPr/>
          </p:nvSpPr>
          <p:spPr bwMode="auto">
            <a:xfrm>
              <a:off x="385" y="890"/>
              <a:ext cx="2105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27" name="AutoShape 7"/>
            <p:cNvSpPr>
              <a:spLocks noChangeAspect="1"/>
            </p:cNvSpPr>
            <p:nvPr/>
          </p:nvSpPr>
          <p:spPr bwMode="auto">
            <a:xfrm>
              <a:off x="1169" y="330"/>
              <a:ext cx="91" cy="1106"/>
            </a:xfrm>
            <a:prstGeom prst="leftBracket">
              <a:avLst>
                <a:gd name="adj" fmla="val 101282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128" name="AutoShape 8"/>
            <p:cNvSpPr>
              <a:spLocks noChangeAspect="1"/>
            </p:cNvSpPr>
            <p:nvPr/>
          </p:nvSpPr>
          <p:spPr bwMode="auto">
            <a:xfrm flipH="1">
              <a:off x="1882" y="346"/>
              <a:ext cx="91" cy="1106"/>
            </a:xfrm>
            <a:prstGeom prst="leftBracket">
              <a:avLst>
                <a:gd name="adj" fmla="val 101282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129" name="Freeform 9" descr="Ángulos"/>
            <p:cNvSpPr>
              <a:spLocks noChangeAspect="1"/>
            </p:cNvSpPr>
            <p:nvPr/>
          </p:nvSpPr>
          <p:spPr bwMode="auto">
            <a:xfrm>
              <a:off x="1837" y="346"/>
              <a:ext cx="642" cy="1101"/>
            </a:xfrm>
            <a:custGeom>
              <a:avLst/>
              <a:gdLst/>
              <a:ahLst/>
              <a:cxnLst>
                <a:cxn ang="0">
                  <a:pos x="1456" y="16"/>
                </a:cxn>
                <a:cxn ang="0">
                  <a:pos x="1086" y="0"/>
                </a:cxn>
                <a:cxn ang="0">
                  <a:pos x="184" y="0"/>
                </a:cxn>
                <a:cxn ang="0">
                  <a:pos x="286" y="54"/>
                </a:cxn>
                <a:cxn ang="0">
                  <a:pos x="354" y="183"/>
                </a:cxn>
                <a:cxn ang="0">
                  <a:pos x="370" y="1169"/>
                </a:cxn>
                <a:cxn ang="0">
                  <a:pos x="370" y="1396"/>
                </a:cxn>
                <a:cxn ang="0">
                  <a:pos x="362" y="1592"/>
                </a:cxn>
                <a:cxn ang="0">
                  <a:pos x="354" y="2548"/>
                </a:cxn>
                <a:cxn ang="0">
                  <a:pos x="327" y="2656"/>
                </a:cxn>
                <a:cxn ang="0">
                  <a:pos x="184" y="2737"/>
                </a:cxn>
                <a:cxn ang="0">
                  <a:pos x="1429" y="2747"/>
                </a:cxn>
                <a:cxn ang="0">
                  <a:pos x="1517" y="2740"/>
                </a:cxn>
                <a:cxn ang="0">
                  <a:pos x="1388" y="2475"/>
                </a:cxn>
                <a:cxn ang="0">
                  <a:pos x="1536" y="1716"/>
                </a:cxn>
                <a:cxn ang="0">
                  <a:pos x="1489" y="1181"/>
                </a:cxn>
                <a:cxn ang="0">
                  <a:pos x="1456" y="16"/>
                </a:cxn>
              </a:cxnLst>
              <a:rect l="0" t="0" r="r" b="b"/>
              <a:pathLst>
                <a:path w="1603" h="2747">
                  <a:moveTo>
                    <a:pt x="1456" y="16"/>
                  </a:moveTo>
                  <a:lnTo>
                    <a:pt x="1086" y="0"/>
                  </a:lnTo>
                  <a:lnTo>
                    <a:pt x="184" y="0"/>
                  </a:lnTo>
                  <a:lnTo>
                    <a:pt x="286" y="54"/>
                  </a:lnTo>
                  <a:lnTo>
                    <a:pt x="354" y="183"/>
                  </a:lnTo>
                  <a:lnTo>
                    <a:pt x="370" y="1169"/>
                  </a:lnTo>
                  <a:lnTo>
                    <a:pt x="370" y="1396"/>
                  </a:lnTo>
                  <a:lnTo>
                    <a:pt x="362" y="1592"/>
                  </a:lnTo>
                  <a:lnTo>
                    <a:pt x="354" y="2548"/>
                  </a:lnTo>
                  <a:lnTo>
                    <a:pt x="327" y="2656"/>
                  </a:lnTo>
                  <a:cubicBezTo>
                    <a:pt x="299" y="2687"/>
                    <a:pt x="0" y="2722"/>
                    <a:pt x="184" y="2737"/>
                  </a:cubicBezTo>
                  <a:cubicBezTo>
                    <a:pt x="58" y="2741"/>
                    <a:pt x="1207" y="2747"/>
                    <a:pt x="1429" y="2747"/>
                  </a:cubicBezTo>
                  <a:lnTo>
                    <a:pt x="1517" y="2740"/>
                  </a:lnTo>
                  <a:cubicBezTo>
                    <a:pt x="1510" y="2695"/>
                    <a:pt x="1385" y="2646"/>
                    <a:pt x="1388" y="2475"/>
                  </a:cubicBezTo>
                  <a:cubicBezTo>
                    <a:pt x="1475" y="2281"/>
                    <a:pt x="1603" y="1930"/>
                    <a:pt x="1536" y="1716"/>
                  </a:cubicBezTo>
                  <a:cubicBezTo>
                    <a:pt x="1534" y="1621"/>
                    <a:pt x="1502" y="1464"/>
                    <a:pt x="1489" y="1181"/>
                  </a:cubicBezTo>
                  <a:cubicBezTo>
                    <a:pt x="1476" y="898"/>
                    <a:pt x="1463" y="259"/>
                    <a:pt x="1456" y="16"/>
                  </a:cubicBezTo>
                  <a:close/>
                </a:path>
              </a:pathLst>
            </a:custGeom>
            <a:pattFill prst="divot">
              <a:fgClr>
                <a:srgbClr val="99CC00">
                  <a:alpha val="55000"/>
                </a:srgbClr>
              </a:fgClr>
              <a:bgClr>
                <a:schemeClr val="bg1">
                  <a:alpha val="55000"/>
                </a:schemeClr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30" name="Text Box 10"/>
            <p:cNvSpPr txBox="1">
              <a:spLocks noChangeArrowheads="1"/>
            </p:cNvSpPr>
            <p:nvPr/>
          </p:nvSpPr>
          <p:spPr bwMode="auto">
            <a:xfrm>
              <a:off x="884" y="1207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5131" name="Text Box 11"/>
            <p:cNvSpPr txBox="1">
              <a:spLocks noChangeArrowheads="1"/>
            </p:cNvSpPr>
            <p:nvPr/>
          </p:nvSpPr>
          <p:spPr bwMode="auto">
            <a:xfrm>
              <a:off x="1247" y="1204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</a:t>
              </a:r>
            </a:p>
          </p:txBody>
        </p:sp>
        <p:sp>
          <p:nvSpPr>
            <p:cNvPr id="5132" name="Text Box 12"/>
            <p:cNvSpPr txBox="1">
              <a:spLocks noChangeArrowheads="1"/>
            </p:cNvSpPr>
            <p:nvPr/>
          </p:nvSpPr>
          <p:spPr bwMode="auto">
            <a:xfrm>
              <a:off x="2064" y="1207"/>
              <a:ext cx="2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’’</a:t>
              </a:r>
            </a:p>
          </p:txBody>
        </p:sp>
        <p:sp>
          <p:nvSpPr>
            <p:cNvPr id="5133" name="Line 13"/>
            <p:cNvSpPr>
              <a:spLocks noChangeShapeType="1"/>
            </p:cNvSpPr>
            <p:nvPr/>
          </p:nvSpPr>
          <p:spPr bwMode="auto">
            <a:xfrm>
              <a:off x="1156" y="482"/>
              <a:ext cx="681" cy="408"/>
            </a:xfrm>
            <a:prstGeom prst="line">
              <a:avLst/>
            </a:prstGeom>
            <a:noFill/>
            <a:ln w="19050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34" name="Text Box 14"/>
            <p:cNvSpPr txBox="1">
              <a:spLocks noChangeArrowheads="1"/>
            </p:cNvSpPr>
            <p:nvPr/>
          </p:nvSpPr>
          <p:spPr bwMode="auto">
            <a:xfrm>
              <a:off x="1241" y="383"/>
              <a:ext cx="2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R</a:t>
              </a:r>
              <a:r>
                <a:rPr lang="es-ES_tradnl" baseline="-25000">
                  <a:latin typeface="Times New Roman" pitchFamily="18" charset="0"/>
                </a:rPr>
                <a:t>1</a:t>
              </a:r>
              <a:endParaRPr lang="es-ES_tradnl">
                <a:latin typeface="Times New Roman" pitchFamily="18" charset="0"/>
              </a:endParaRPr>
            </a:p>
          </p:txBody>
        </p:sp>
        <p:sp>
          <p:nvSpPr>
            <p:cNvPr id="5135" name="Freeform 15"/>
            <p:cNvSpPr>
              <a:spLocks/>
            </p:cNvSpPr>
            <p:nvPr/>
          </p:nvSpPr>
          <p:spPr bwMode="auto">
            <a:xfrm>
              <a:off x="1586" y="488"/>
              <a:ext cx="386" cy="386"/>
            </a:xfrm>
            <a:custGeom>
              <a:avLst/>
              <a:gdLst/>
              <a:ahLst/>
              <a:cxnLst>
                <a:cxn ang="0">
                  <a:pos x="386" y="0"/>
                </a:cxn>
                <a:cxn ang="0">
                  <a:pos x="0" y="386"/>
                </a:cxn>
              </a:cxnLst>
              <a:rect l="0" t="0" r="r" b="b"/>
              <a:pathLst>
                <a:path w="386" h="386">
                  <a:moveTo>
                    <a:pt x="386" y="0"/>
                  </a:moveTo>
                  <a:lnTo>
                    <a:pt x="0" y="386"/>
                  </a:lnTo>
                </a:path>
              </a:pathLst>
            </a:custGeom>
            <a:noFill/>
            <a:ln w="19050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36" name="Text Box 16"/>
            <p:cNvSpPr txBox="1">
              <a:spLocks noChangeArrowheads="1"/>
            </p:cNvSpPr>
            <p:nvPr/>
          </p:nvSpPr>
          <p:spPr bwMode="auto">
            <a:xfrm>
              <a:off x="1694" y="359"/>
              <a:ext cx="2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R</a:t>
              </a:r>
              <a:r>
                <a:rPr lang="es-ES_tradnl" baseline="-25000">
                  <a:latin typeface="Times New Roman" pitchFamily="18" charset="0"/>
                </a:rPr>
                <a:t>2</a:t>
              </a:r>
              <a:endParaRPr lang="es-ES_tradnl">
                <a:latin typeface="Times New Roman" pitchFamily="18" charset="0"/>
              </a:endParaRPr>
            </a:p>
          </p:txBody>
        </p:sp>
        <p:sp>
          <p:nvSpPr>
            <p:cNvPr id="5150" name="Line 30"/>
            <p:cNvSpPr>
              <a:spLocks noChangeShapeType="1"/>
            </p:cNvSpPr>
            <p:nvPr/>
          </p:nvSpPr>
          <p:spPr bwMode="auto">
            <a:xfrm>
              <a:off x="1156" y="210"/>
              <a:ext cx="839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5190" name="Group 70"/>
          <p:cNvGrpSpPr>
            <a:grpSpLocks/>
          </p:cNvGrpSpPr>
          <p:nvPr/>
        </p:nvGrpSpPr>
        <p:grpSpPr bwMode="auto">
          <a:xfrm>
            <a:off x="4686300" y="333375"/>
            <a:ext cx="3586163" cy="2011363"/>
            <a:chOff x="2952" y="210"/>
            <a:chExt cx="2259" cy="1267"/>
          </a:xfrm>
        </p:grpSpPr>
        <p:sp>
          <p:nvSpPr>
            <p:cNvPr id="5142" name="Freeform 22" descr="Ángulos"/>
            <p:cNvSpPr>
              <a:spLocks noChangeAspect="1"/>
            </p:cNvSpPr>
            <p:nvPr/>
          </p:nvSpPr>
          <p:spPr bwMode="auto">
            <a:xfrm>
              <a:off x="4059" y="346"/>
              <a:ext cx="1152" cy="1131"/>
            </a:xfrm>
            <a:custGeom>
              <a:avLst/>
              <a:gdLst/>
              <a:ahLst/>
              <a:cxnLst>
                <a:cxn ang="0">
                  <a:pos x="1152" y="13"/>
                </a:cxn>
                <a:cxn ang="0">
                  <a:pos x="435" y="0"/>
                </a:cxn>
                <a:cxn ang="0">
                  <a:pos x="74" y="0"/>
                </a:cxn>
                <a:cxn ang="0">
                  <a:pos x="115" y="22"/>
                </a:cxn>
                <a:cxn ang="0">
                  <a:pos x="142" y="73"/>
                </a:cxn>
                <a:cxn ang="0">
                  <a:pos x="148" y="469"/>
                </a:cxn>
                <a:cxn ang="0">
                  <a:pos x="148" y="560"/>
                </a:cxn>
                <a:cxn ang="0">
                  <a:pos x="145" y="638"/>
                </a:cxn>
                <a:cxn ang="0">
                  <a:pos x="142" y="1021"/>
                </a:cxn>
                <a:cxn ang="0">
                  <a:pos x="131" y="1065"/>
                </a:cxn>
                <a:cxn ang="0">
                  <a:pos x="74" y="1097"/>
                </a:cxn>
                <a:cxn ang="0">
                  <a:pos x="572" y="1101"/>
                </a:cxn>
                <a:cxn ang="0">
                  <a:pos x="1044" y="1131"/>
                </a:cxn>
                <a:cxn ang="0">
                  <a:pos x="1064" y="1003"/>
                </a:cxn>
                <a:cxn ang="0">
                  <a:pos x="1125" y="833"/>
                </a:cxn>
                <a:cxn ang="0">
                  <a:pos x="1098" y="684"/>
                </a:cxn>
                <a:cxn ang="0">
                  <a:pos x="1118" y="454"/>
                </a:cxn>
                <a:cxn ang="0">
                  <a:pos x="1152" y="13"/>
                </a:cxn>
              </a:cxnLst>
              <a:rect l="0" t="0" r="r" b="b"/>
              <a:pathLst>
                <a:path w="1152" h="1131">
                  <a:moveTo>
                    <a:pt x="1152" y="13"/>
                  </a:moveTo>
                  <a:lnTo>
                    <a:pt x="435" y="0"/>
                  </a:lnTo>
                  <a:lnTo>
                    <a:pt x="74" y="0"/>
                  </a:lnTo>
                  <a:lnTo>
                    <a:pt x="115" y="22"/>
                  </a:lnTo>
                  <a:lnTo>
                    <a:pt x="142" y="73"/>
                  </a:lnTo>
                  <a:lnTo>
                    <a:pt x="148" y="469"/>
                  </a:lnTo>
                  <a:lnTo>
                    <a:pt x="148" y="560"/>
                  </a:lnTo>
                  <a:lnTo>
                    <a:pt x="145" y="638"/>
                  </a:lnTo>
                  <a:lnTo>
                    <a:pt x="142" y="1021"/>
                  </a:lnTo>
                  <a:lnTo>
                    <a:pt x="131" y="1065"/>
                  </a:lnTo>
                  <a:cubicBezTo>
                    <a:pt x="120" y="1077"/>
                    <a:pt x="0" y="1091"/>
                    <a:pt x="74" y="1097"/>
                  </a:cubicBezTo>
                  <a:cubicBezTo>
                    <a:pt x="23" y="1099"/>
                    <a:pt x="483" y="1101"/>
                    <a:pt x="572" y="1101"/>
                  </a:cubicBezTo>
                  <a:lnTo>
                    <a:pt x="1044" y="1131"/>
                  </a:lnTo>
                  <a:cubicBezTo>
                    <a:pt x="1126" y="1115"/>
                    <a:pt x="1051" y="1052"/>
                    <a:pt x="1064" y="1003"/>
                  </a:cubicBezTo>
                  <a:cubicBezTo>
                    <a:pt x="1099" y="925"/>
                    <a:pt x="1152" y="919"/>
                    <a:pt x="1125" y="833"/>
                  </a:cubicBezTo>
                  <a:cubicBezTo>
                    <a:pt x="1138" y="780"/>
                    <a:pt x="1099" y="747"/>
                    <a:pt x="1098" y="684"/>
                  </a:cubicBezTo>
                  <a:cubicBezTo>
                    <a:pt x="1097" y="621"/>
                    <a:pt x="1109" y="566"/>
                    <a:pt x="1118" y="454"/>
                  </a:cubicBezTo>
                  <a:cubicBezTo>
                    <a:pt x="1127" y="342"/>
                    <a:pt x="1145" y="105"/>
                    <a:pt x="1152" y="13"/>
                  </a:cubicBezTo>
                  <a:close/>
                </a:path>
              </a:pathLst>
            </a:custGeom>
            <a:pattFill prst="divot">
              <a:fgClr>
                <a:srgbClr val="99CC00">
                  <a:alpha val="55000"/>
                </a:srgbClr>
              </a:fgClr>
              <a:bgClr>
                <a:schemeClr val="bg1">
                  <a:alpha val="55000"/>
                </a:schemeClr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37" name="Freeform 17" descr="Onda"/>
            <p:cNvSpPr>
              <a:spLocks noChangeAspect="1"/>
            </p:cNvSpPr>
            <p:nvPr/>
          </p:nvSpPr>
          <p:spPr bwMode="auto">
            <a:xfrm>
              <a:off x="2952" y="328"/>
              <a:ext cx="1050" cy="110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1504" y="0"/>
                </a:cxn>
                <a:cxn ang="0">
                  <a:pos x="2406" y="0"/>
                </a:cxn>
                <a:cxn ang="0">
                  <a:pos x="2304" y="54"/>
                </a:cxn>
                <a:cxn ang="0">
                  <a:pos x="2236" y="183"/>
                </a:cxn>
                <a:cxn ang="0">
                  <a:pos x="2220" y="1169"/>
                </a:cxn>
                <a:cxn ang="0">
                  <a:pos x="2220" y="1396"/>
                </a:cxn>
                <a:cxn ang="0">
                  <a:pos x="2228" y="1592"/>
                </a:cxn>
                <a:cxn ang="0">
                  <a:pos x="2236" y="2548"/>
                </a:cxn>
                <a:cxn ang="0">
                  <a:pos x="2263" y="2656"/>
                </a:cxn>
                <a:cxn ang="0">
                  <a:pos x="2406" y="2737"/>
                </a:cxn>
                <a:cxn ang="0">
                  <a:pos x="949" y="2765"/>
                </a:cxn>
                <a:cxn ang="0">
                  <a:pos x="596" y="2744"/>
                </a:cxn>
                <a:cxn ang="0">
                  <a:pos x="170" y="2397"/>
                </a:cxn>
                <a:cxn ang="0">
                  <a:pos x="149" y="1543"/>
                </a:cxn>
                <a:cxn ang="0">
                  <a:pos x="95" y="1184"/>
                </a:cxn>
                <a:cxn ang="0">
                  <a:pos x="0" y="32"/>
                </a:cxn>
              </a:cxnLst>
              <a:rect l="0" t="0" r="r" b="b"/>
              <a:pathLst>
                <a:path w="2625" h="2765">
                  <a:moveTo>
                    <a:pt x="0" y="32"/>
                  </a:moveTo>
                  <a:lnTo>
                    <a:pt x="1504" y="0"/>
                  </a:lnTo>
                  <a:lnTo>
                    <a:pt x="2406" y="0"/>
                  </a:lnTo>
                  <a:lnTo>
                    <a:pt x="2304" y="54"/>
                  </a:lnTo>
                  <a:lnTo>
                    <a:pt x="2236" y="183"/>
                  </a:lnTo>
                  <a:lnTo>
                    <a:pt x="2220" y="1169"/>
                  </a:lnTo>
                  <a:lnTo>
                    <a:pt x="2220" y="1396"/>
                  </a:lnTo>
                  <a:lnTo>
                    <a:pt x="2228" y="1592"/>
                  </a:lnTo>
                  <a:lnTo>
                    <a:pt x="2236" y="2548"/>
                  </a:lnTo>
                  <a:lnTo>
                    <a:pt x="2263" y="2656"/>
                  </a:lnTo>
                  <a:cubicBezTo>
                    <a:pt x="2291" y="2687"/>
                    <a:pt x="2625" y="2719"/>
                    <a:pt x="2406" y="2737"/>
                  </a:cubicBezTo>
                  <a:cubicBezTo>
                    <a:pt x="2532" y="2741"/>
                    <a:pt x="1248" y="2753"/>
                    <a:pt x="949" y="2765"/>
                  </a:cubicBezTo>
                  <a:lnTo>
                    <a:pt x="596" y="2744"/>
                  </a:lnTo>
                  <a:cubicBezTo>
                    <a:pt x="466" y="2683"/>
                    <a:pt x="244" y="2597"/>
                    <a:pt x="170" y="2397"/>
                  </a:cubicBezTo>
                  <a:cubicBezTo>
                    <a:pt x="83" y="2203"/>
                    <a:pt x="82" y="1757"/>
                    <a:pt x="149" y="1543"/>
                  </a:cubicBezTo>
                  <a:cubicBezTo>
                    <a:pt x="151" y="1448"/>
                    <a:pt x="66" y="1441"/>
                    <a:pt x="95" y="1184"/>
                  </a:cubicBezTo>
                  <a:cubicBezTo>
                    <a:pt x="70" y="932"/>
                    <a:pt x="0" y="32"/>
                    <a:pt x="0" y="32"/>
                  </a:cubicBezTo>
                  <a:close/>
                </a:path>
              </a:pathLst>
            </a:custGeom>
            <a:pattFill prst="wave">
              <a:fgClr>
                <a:schemeClr val="accent1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38" name="Freeform 18" descr="Cuadrícula grande"/>
            <p:cNvSpPr>
              <a:spLocks noChangeAspect="1"/>
            </p:cNvSpPr>
            <p:nvPr/>
          </p:nvSpPr>
          <p:spPr bwMode="auto">
            <a:xfrm>
              <a:off x="3859" y="304"/>
              <a:ext cx="354" cy="1123"/>
            </a:xfrm>
            <a:custGeom>
              <a:avLst/>
              <a:gdLst/>
              <a:ahLst/>
              <a:cxnLst>
                <a:cxn ang="0">
                  <a:pos x="349" y="1017"/>
                </a:cxn>
                <a:cxn ang="0">
                  <a:pos x="329" y="726"/>
                </a:cxn>
                <a:cxn ang="0">
                  <a:pos x="342" y="516"/>
                </a:cxn>
                <a:cxn ang="0">
                  <a:pos x="336" y="252"/>
                </a:cxn>
                <a:cxn ang="0">
                  <a:pos x="342" y="130"/>
                </a:cxn>
                <a:cxn ang="0">
                  <a:pos x="295" y="55"/>
                </a:cxn>
                <a:cxn ang="0">
                  <a:pos x="241" y="14"/>
                </a:cxn>
                <a:cxn ang="0">
                  <a:pos x="68" y="0"/>
                </a:cxn>
                <a:cxn ang="0">
                  <a:pos x="22" y="35"/>
                </a:cxn>
                <a:cxn ang="0">
                  <a:pos x="0" y="101"/>
                </a:cxn>
                <a:cxn ang="0">
                  <a:pos x="8" y="329"/>
                </a:cxn>
                <a:cxn ang="0">
                  <a:pos x="1" y="474"/>
                </a:cxn>
                <a:cxn ang="0">
                  <a:pos x="1" y="565"/>
                </a:cxn>
                <a:cxn ang="0">
                  <a:pos x="4" y="644"/>
                </a:cxn>
                <a:cxn ang="0">
                  <a:pos x="8" y="788"/>
                </a:cxn>
                <a:cxn ang="0">
                  <a:pos x="11" y="979"/>
                </a:cxn>
                <a:cxn ang="0">
                  <a:pos x="40" y="1082"/>
                </a:cxn>
                <a:cxn ang="0">
                  <a:pos x="95" y="1112"/>
                </a:cxn>
                <a:cxn ang="0">
                  <a:pos x="268" y="1119"/>
                </a:cxn>
                <a:cxn ang="0">
                  <a:pos x="322" y="1085"/>
                </a:cxn>
                <a:cxn ang="0">
                  <a:pos x="349" y="1017"/>
                </a:cxn>
              </a:cxnLst>
              <a:rect l="0" t="0" r="r" b="b"/>
              <a:pathLst>
                <a:path w="354" h="1123">
                  <a:moveTo>
                    <a:pt x="349" y="1017"/>
                  </a:moveTo>
                  <a:cubicBezTo>
                    <a:pt x="327" y="951"/>
                    <a:pt x="330" y="809"/>
                    <a:pt x="329" y="726"/>
                  </a:cubicBezTo>
                  <a:cubicBezTo>
                    <a:pt x="331" y="646"/>
                    <a:pt x="354" y="596"/>
                    <a:pt x="342" y="516"/>
                  </a:cubicBezTo>
                  <a:cubicBezTo>
                    <a:pt x="350" y="425"/>
                    <a:pt x="336" y="316"/>
                    <a:pt x="336" y="252"/>
                  </a:cubicBezTo>
                  <a:cubicBezTo>
                    <a:pt x="336" y="188"/>
                    <a:pt x="349" y="163"/>
                    <a:pt x="342" y="130"/>
                  </a:cubicBezTo>
                  <a:lnTo>
                    <a:pt x="295" y="55"/>
                  </a:lnTo>
                  <a:lnTo>
                    <a:pt x="241" y="14"/>
                  </a:lnTo>
                  <a:lnTo>
                    <a:pt x="68" y="0"/>
                  </a:lnTo>
                  <a:lnTo>
                    <a:pt x="22" y="35"/>
                  </a:lnTo>
                  <a:lnTo>
                    <a:pt x="0" y="101"/>
                  </a:lnTo>
                  <a:lnTo>
                    <a:pt x="8" y="329"/>
                  </a:lnTo>
                  <a:lnTo>
                    <a:pt x="1" y="474"/>
                  </a:lnTo>
                  <a:lnTo>
                    <a:pt x="1" y="565"/>
                  </a:lnTo>
                  <a:lnTo>
                    <a:pt x="4" y="644"/>
                  </a:lnTo>
                  <a:lnTo>
                    <a:pt x="8" y="788"/>
                  </a:lnTo>
                  <a:lnTo>
                    <a:pt x="11" y="979"/>
                  </a:lnTo>
                  <a:cubicBezTo>
                    <a:pt x="16" y="1028"/>
                    <a:pt x="26" y="1060"/>
                    <a:pt x="40" y="1082"/>
                  </a:cubicBezTo>
                  <a:cubicBezTo>
                    <a:pt x="70" y="1109"/>
                    <a:pt x="42" y="1105"/>
                    <a:pt x="95" y="1112"/>
                  </a:cubicBezTo>
                  <a:cubicBezTo>
                    <a:pt x="133" y="1118"/>
                    <a:pt x="230" y="1123"/>
                    <a:pt x="268" y="1119"/>
                  </a:cubicBezTo>
                  <a:lnTo>
                    <a:pt x="322" y="1085"/>
                  </a:lnTo>
                  <a:lnTo>
                    <a:pt x="349" y="1017"/>
                  </a:lnTo>
                  <a:close/>
                </a:path>
              </a:pathLst>
            </a:custGeom>
            <a:pattFill prst="lgGrid">
              <a:fgClr>
                <a:srgbClr val="FFCC99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39" name="Line 19"/>
            <p:cNvSpPr>
              <a:spLocks noChangeAspect="1" noChangeShapeType="1"/>
            </p:cNvSpPr>
            <p:nvPr/>
          </p:nvSpPr>
          <p:spPr bwMode="auto">
            <a:xfrm>
              <a:off x="3088" y="872"/>
              <a:ext cx="2105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40" name="AutoShape 20"/>
            <p:cNvSpPr>
              <a:spLocks noChangeAspect="1"/>
            </p:cNvSpPr>
            <p:nvPr/>
          </p:nvSpPr>
          <p:spPr bwMode="auto">
            <a:xfrm>
              <a:off x="3872" y="312"/>
              <a:ext cx="91" cy="1106"/>
            </a:xfrm>
            <a:prstGeom prst="leftBracket">
              <a:avLst>
                <a:gd name="adj" fmla="val 101282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141" name="AutoShape 21"/>
            <p:cNvSpPr>
              <a:spLocks noChangeAspect="1"/>
            </p:cNvSpPr>
            <p:nvPr/>
          </p:nvSpPr>
          <p:spPr bwMode="auto">
            <a:xfrm flipH="1">
              <a:off x="4105" y="321"/>
              <a:ext cx="91" cy="1106"/>
            </a:xfrm>
            <a:prstGeom prst="leftBracket">
              <a:avLst>
                <a:gd name="adj" fmla="val 101282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143" name="Text Box 23"/>
            <p:cNvSpPr txBox="1">
              <a:spLocks noChangeArrowheads="1"/>
            </p:cNvSpPr>
            <p:nvPr/>
          </p:nvSpPr>
          <p:spPr bwMode="auto">
            <a:xfrm>
              <a:off x="3587" y="1189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5144" name="Text Box 24"/>
            <p:cNvSpPr txBox="1">
              <a:spLocks noChangeArrowheads="1"/>
            </p:cNvSpPr>
            <p:nvPr/>
          </p:nvSpPr>
          <p:spPr bwMode="auto">
            <a:xfrm>
              <a:off x="3950" y="1186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</a:t>
              </a:r>
            </a:p>
          </p:txBody>
        </p:sp>
        <p:sp>
          <p:nvSpPr>
            <p:cNvPr id="5145" name="Text Box 25"/>
            <p:cNvSpPr txBox="1">
              <a:spLocks noChangeArrowheads="1"/>
            </p:cNvSpPr>
            <p:nvPr/>
          </p:nvSpPr>
          <p:spPr bwMode="auto">
            <a:xfrm>
              <a:off x="4332" y="1189"/>
              <a:ext cx="2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’’</a:t>
              </a:r>
            </a:p>
          </p:txBody>
        </p:sp>
        <p:sp>
          <p:nvSpPr>
            <p:cNvPr id="5151" name="Freeform 31"/>
            <p:cNvSpPr>
              <a:spLocks/>
            </p:cNvSpPr>
            <p:nvPr/>
          </p:nvSpPr>
          <p:spPr bwMode="auto">
            <a:xfrm>
              <a:off x="3853" y="210"/>
              <a:ext cx="349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9" y="14"/>
                </a:cxn>
              </a:cxnLst>
              <a:rect l="0" t="0" r="r" b="b"/>
              <a:pathLst>
                <a:path w="349" h="14">
                  <a:moveTo>
                    <a:pt x="0" y="0"/>
                  </a:moveTo>
                  <a:lnTo>
                    <a:pt x="349" y="14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</p:grpSp>
      <p:graphicFrame>
        <p:nvGraphicFramePr>
          <p:cNvPr id="5154" name="Object 34"/>
          <p:cNvGraphicFramePr>
            <a:graphicFrameLocks noChangeAspect="1"/>
          </p:cNvGraphicFramePr>
          <p:nvPr/>
        </p:nvGraphicFramePr>
        <p:xfrm>
          <a:off x="2143108" y="4857760"/>
          <a:ext cx="3741738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5" name="Ecuación" r:id="rId3" imgW="2336760" imgH="431640" progId="Equation.3">
                  <p:embed/>
                </p:oleObj>
              </mc:Choice>
              <mc:Fallback>
                <p:oleObj name="Ecuación" r:id="rId3" imgW="2336760" imgH="43164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08" y="4857760"/>
                        <a:ext cx="3741738" cy="6905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5" name="Text Box 35"/>
          <p:cNvSpPr txBox="1">
            <a:spLocks noChangeArrowheads="1"/>
          </p:cNvSpPr>
          <p:nvPr/>
        </p:nvSpPr>
        <p:spPr bwMode="auto">
          <a:xfrm>
            <a:off x="214282" y="5000636"/>
            <a:ext cx="1736373" cy="3693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b="1" dirty="0">
                <a:sym typeface="Symbol" pitchFamily="18" charset="2"/>
              </a:rPr>
              <a:t>Lente delgada</a:t>
            </a:r>
          </a:p>
        </p:txBody>
      </p:sp>
      <p:grpSp>
        <p:nvGrpSpPr>
          <p:cNvPr id="5191" name="Group 71"/>
          <p:cNvGrpSpPr>
            <a:grpSpLocks/>
          </p:cNvGrpSpPr>
          <p:nvPr/>
        </p:nvGrpSpPr>
        <p:grpSpPr bwMode="auto">
          <a:xfrm>
            <a:off x="706438" y="5870597"/>
            <a:ext cx="7126287" cy="773113"/>
            <a:chOff x="445" y="2160"/>
            <a:chExt cx="4489" cy="487"/>
          </a:xfrm>
        </p:grpSpPr>
        <p:sp>
          <p:nvSpPr>
            <p:cNvPr id="5185" name="Text Box 65"/>
            <p:cNvSpPr txBox="1">
              <a:spLocks noChangeArrowheads="1"/>
            </p:cNvSpPr>
            <p:nvPr/>
          </p:nvSpPr>
          <p:spPr bwMode="auto">
            <a:xfrm>
              <a:off x="445" y="2280"/>
              <a:ext cx="117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sz="1600" dirty="0"/>
                <a:t>En aire, </a:t>
              </a:r>
              <a:r>
                <a:rPr lang="es-ES_tradnl" sz="1600" i="1" dirty="0">
                  <a:latin typeface="Times New Roman" pitchFamily="18" charset="0"/>
                </a:rPr>
                <a:t>n</a:t>
              </a:r>
              <a:r>
                <a:rPr lang="es-ES_tradnl" sz="1600" dirty="0">
                  <a:latin typeface="Times New Roman" pitchFamily="18" charset="0"/>
                </a:rPr>
                <a:t> = </a:t>
              </a:r>
              <a:r>
                <a:rPr lang="es-ES_tradnl" sz="1600" i="1" dirty="0">
                  <a:latin typeface="Times New Roman" pitchFamily="18" charset="0"/>
                </a:rPr>
                <a:t>n</a:t>
              </a:r>
              <a:r>
                <a:rPr lang="es-ES_tradnl" sz="1600" dirty="0">
                  <a:latin typeface="Times New Roman" pitchFamily="18" charset="0"/>
                </a:rPr>
                <a:t>’’ = 1:</a:t>
              </a:r>
              <a:endParaRPr lang="es-ES_tradnl" sz="1600" dirty="0"/>
            </a:p>
          </p:txBody>
        </p:sp>
        <p:graphicFrame>
          <p:nvGraphicFramePr>
            <p:cNvPr id="5186" name="Object 66"/>
            <p:cNvGraphicFramePr>
              <a:graphicFrameLocks noChangeAspect="1"/>
            </p:cNvGraphicFramePr>
            <p:nvPr/>
          </p:nvGraphicFramePr>
          <p:xfrm>
            <a:off x="1837" y="2205"/>
            <a:ext cx="705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76" name="Ecuación" r:id="rId5" imgW="698400" imgH="419040" progId="Equation.3">
                    <p:embed/>
                  </p:oleObj>
                </mc:Choice>
                <mc:Fallback>
                  <p:oleObj name="Ecuación" r:id="rId5" imgW="698400" imgH="419040" progId="Equation.3">
                    <p:embed/>
                    <p:pic>
                      <p:nvPicPr>
                        <p:cNvPr id="0" name="Picture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" y="2205"/>
                          <a:ext cx="705" cy="423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87" name="Object 67"/>
            <p:cNvGraphicFramePr>
              <a:graphicFrameLocks noChangeAspect="1"/>
            </p:cNvGraphicFramePr>
            <p:nvPr/>
          </p:nvGraphicFramePr>
          <p:xfrm>
            <a:off x="2961" y="2160"/>
            <a:ext cx="1973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77" name="Ecuación" r:id="rId7" imgW="1955520" imgH="482400" progId="Equation.3">
                    <p:embed/>
                  </p:oleObj>
                </mc:Choice>
                <mc:Fallback>
                  <p:oleObj name="Ecuación" r:id="rId7" imgW="1955520" imgH="482400" progId="Equation.3">
                    <p:embed/>
                    <p:pic>
                      <p:nvPicPr>
                        <p:cNvPr id="0" name="Picture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1" y="2160"/>
                          <a:ext cx="1973" cy="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88" name="Text Box 68"/>
            <p:cNvSpPr txBox="1">
              <a:spLocks noChangeArrowheads="1"/>
            </p:cNvSpPr>
            <p:nvPr/>
          </p:nvSpPr>
          <p:spPr bwMode="auto">
            <a:xfrm>
              <a:off x="2595" y="2278"/>
              <a:ext cx="32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sz="1600"/>
                <a:t>con</a:t>
              </a:r>
            </a:p>
          </p:txBody>
        </p:sp>
      </p:grpSp>
      <p:sp>
        <p:nvSpPr>
          <p:cNvPr id="5194" name="Line 74"/>
          <p:cNvSpPr>
            <a:spLocks noChangeShapeType="1"/>
          </p:cNvSpPr>
          <p:nvPr/>
        </p:nvSpPr>
        <p:spPr bwMode="auto">
          <a:xfrm>
            <a:off x="3635375" y="333375"/>
            <a:ext cx="8636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5195" name="Line 75"/>
          <p:cNvSpPr>
            <a:spLocks noChangeShapeType="1"/>
          </p:cNvSpPr>
          <p:nvPr/>
        </p:nvSpPr>
        <p:spPr bwMode="auto">
          <a:xfrm>
            <a:off x="4967288" y="333375"/>
            <a:ext cx="684212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5196" name="Line 76"/>
          <p:cNvSpPr>
            <a:spLocks noChangeShapeType="1"/>
          </p:cNvSpPr>
          <p:nvPr/>
        </p:nvSpPr>
        <p:spPr bwMode="auto">
          <a:xfrm>
            <a:off x="6943725" y="333375"/>
            <a:ext cx="414338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5197" name="Line 77"/>
          <p:cNvSpPr>
            <a:spLocks noChangeShapeType="1"/>
          </p:cNvSpPr>
          <p:nvPr/>
        </p:nvSpPr>
        <p:spPr bwMode="auto">
          <a:xfrm>
            <a:off x="7524750" y="333375"/>
            <a:ext cx="32385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5198" name="Line 78"/>
          <p:cNvSpPr>
            <a:spLocks noChangeShapeType="1"/>
          </p:cNvSpPr>
          <p:nvPr/>
        </p:nvSpPr>
        <p:spPr bwMode="auto">
          <a:xfrm>
            <a:off x="7956550" y="333375"/>
            <a:ext cx="179388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5199" name="Text Box 79"/>
          <p:cNvSpPr txBox="1">
            <a:spLocks noChangeArrowheads="1"/>
          </p:cNvSpPr>
          <p:nvPr/>
        </p:nvSpPr>
        <p:spPr bwMode="auto">
          <a:xfrm>
            <a:off x="8224838" y="7778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sym typeface="Symbol" pitchFamily="18" charset="2"/>
              </a:rPr>
              <a:t></a:t>
            </a:r>
          </a:p>
        </p:txBody>
      </p:sp>
      <p:sp>
        <p:nvSpPr>
          <p:cNvPr id="5200" name="Text Box 80"/>
          <p:cNvSpPr txBox="1">
            <a:spLocks noChangeArrowheads="1"/>
          </p:cNvSpPr>
          <p:nvPr/>
        </p:nvSpPr>
        <p:spPr bwMode="auto">
          <a:xfrm>
            <a:off x="8675688" y="6564313"/>
            <a:ext cx="2682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2</a:t>
            </a:r>
          </a:p>
        </p:txBody>
      </p:sp>
      <p:sp>
        <p:nvSpPr>
          <p:cNvPr id="5201" name="Text Box 81"/>
          <p:cNvSpPr txBox="1">
            <a:spLocks noChangeArrowheads="1"/>
          </p:cNvSpPr>
          <p:nvPr/>
        </p:nvSpPr>
        <p:spPr bwMode="auto">
          <a:xfrm>
            <a:off x="142844" y="-7938"/>
            <a:ext cx="279339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/>
              <a:t>Caso especial         </a:t>
            </a:r>
            <a:r>
              <a:rPr lang="es-ES_tradnl" i="1" dirty="0">
                <a:latin typeface="Times New Roman" pitchFamily="18" charset="0"/>
                <a:cs typeface="Times New Roman" pitchFamily="18" charset="0"/>
              </a:rPr>
              <a:t>L </a:t>
            </a:r>
            <a:r>
              <a:rPr lang="es-ES_tradnl" dirty="0">
                <a:latin typeface="Times New Roman" pitchFamily="18" charset="0"/>
                <a:cs typeface="Times New Roman" pitchFamily="18" charset="0"/>
                <a:sym typeface="Symbol"/>
              </a:rPr>
              <a:t> 0</a:t>
            </a:r>
            <a:endParaRPr lang="es-ES_tradnl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3" name="Object 2"/>
          <p:cNvGraphicFramePr>
            <a:graphicFrameLocks noChangeAspect="1"/>
          </p:cNvGraphicFramePr>
          <p:nvPr/>
        </p:nvGraphicFramePr>
        <p:xfrm>
          <a:off x="214282" y="2428868"/>
          <a:ext cx="187007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8" name="Ecuación" r:id="rId9" imgW="1168200" imgH="431640" progId="Equation.3">
                  <p:embed/>
                </p:oleObj>
              </mc:Choice>
              <mc:Fallback>
                <p:oleObj name="Ecuación" r:id="rId9" imgW="1168200" imgH="431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2428868"/>
                        <a:ext cx="1870075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37"/>
          <p:cNvGraphicFramePr>
            <a:graphicFrameLocks noChangeAspect="1"/>
          </p:cNvGraphicFramePr>
          <p:nvPr/>
        </p:nvGraphicFramePr>
        <p:xfrm>
          <a:off x="2214546" y="2428868"/>
          <a:ext cx="14859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9" name="Ecuación" r:id="rId11" imgW="927000" imgH="431640" progId="Equation.3">
                  <p:embed/>
                </p:oleObj>
              </mc:Choice>
              <mc:Fallback>
                <p:oleObj name="Ecuación" r:id="rId11" imgW="927000" imgH="43164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46" y="2428868"/>
                        <a:ext cx="14859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2"/>
          <p:cNvGraphicFramePr>
            <a:graphicFrameLocks noChangeAspect="1"/>
          </p:cNvGraphicFramePr>
          <p:nvPr/>
        </p:nvGraphicFramePr>
        <p:xfrm>
          <a:off x="214282" y="3643314"/>
          <a:ext cx="201295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0" name="Ecuación" r:id="rId13" imgW="1257120" imgH="431640" progId="Equation.3">
                  <p:embed/>
                </p:oleObj>
              </mc:Choice>
              <mc:Fallback>
                <p:oleObj name="Ecuación" r:id="rId13" imgW="1257120" imgH="431640" progId="Equation.3">
                  <p:embed/>
                  <p:pic>
                    <p:nvPicPr>
                      <p:cNvPr id="0" name="Picture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3643314"/>
                        <a:ext cx="2012950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37"/>
          <p:cNvGraphicFramePr>
            <a:graphicFrameLocks noChangeAspect="1"/>
          </p:cNvGraphicFramePr>
          <p:nvPr/>
        </p:nvGraphicFramePr>
        <p:xfrm>
          <a:off x="2285984" y="3714752"/>
          <a:ext cx="160813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1" name="Ecuación" r:id="rId15" imgW="1002960" imgH="431640" progId="Equation.3">
                  <p:embed/>
                </p:oleObj>
              </mc:Choice>
              <mc:Fallback>
                <p:oleObj name="Ecuación" r:id="rId15" imgW="1002960" imgH="431640" progId="Equation.3">
                  <p:embed/>
                  <p:pic>
                    <p:nvPicPr>
                      <p:cNvPr id="0" name="Picture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984" y="3714752"/>
                        <a:ext cx="1608138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65"/>
          <p:cNvGraphicFramePr>
            <a:graphicFrameLocks noChangeAspect="1"/>
          </p:cNvGraphicFramePr>
          <p:nvPr/>
        </p:nvGraphicFramePr>
        <p:xfrm>
          <a:off x="4318000" y="2500313"/>
          <a:ext cx="1300163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2" name="Ecuación" r:id="rId17" imgW="812520" imgH="215640" progId="Equation.3">
                  <p:embed/>
                </p:oleObj>
              </mc:Choice>
              <mc:Fallback>
                <p:oleObj name="Ecuación" r:id="rId17" imgW="812520" imgH="215640" progId="Equation.3">
                  <p:embed/>
                  <p:pic>
                    <p:nvPicPr>
                      <p:cNvPr id="0" name="Picture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0" y="2500313"/>
                        <a:ext cx="1300163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65"/>
          <p:cNvGraphicFramePr>
            <a:graphicFrameLocks noChangeAspect="1"/>
          </p:cNvGraphicFramePr>
          <p:nvPr/>
        </p:nvGraphicFramePr>
        <p:xfrm>
          <a:off x="5786446" y="2500306"/>
          <a:ext cx="140335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3" name="Ecuación" r:id="rId19" imgW="876240" imgH="215640" progId="Equation.3">
                  <p:embed/>
                </p:oleObj>
              </mc:Choice>
              <mc:Fallback>
                <p:oleObj name="Ecuación" r:id="rId19" imgW="876240" imgH="215640" progId="Equation.3">
                  <p:embed/>
                  <p:pic>
                    <p:nvPicPr>
                      <p:cNvPr id="0" name="Picture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46" y="2500306"/>
                        <a:ext cx="1403350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9" name="Object 2"/>
          <p:cNvGraphicFramePr>
            <a:graphicFrameLocks noChangeAspect="1"/>
          </p:cNvGraphicFramePr>
          <p:nvPr/>
        </p:nvGraphicFramePr>
        <p:xfrm>
          <a:off x="4316413" y="2928938"/>
          <a:ext cx="180975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4" name="Equation" r:id="rId21" imgW="1130040" imgH="431640" progId="Equation.DSMT4">
                  <p:embed/>
                </p:oleObj>
              </mc:Choice>
              <mc:Fallback>
                <p:oleObj name="Equation" r:id="rId21" imgW="1130040" imgH="431640" progId="Equation.DSMT4">
                  <p:embed/>
                  <p:pic>
                    <p:nvPicPr>
                      <p:cNvPr id="0" name="Picture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6413" y="2928938"/>
                        <a:ext cx="1809750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0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481958"/>
              </p:ext>
            </p:extLst>
          </p:nvPr>
        </p:nvGraphicFramePr>
        <p:xfrm>
          <a:off x="4173538" y="3786188"/>
          <a:ext cx="2093912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5" name="Equation" r:id="rId23" imgW="1307880" imgH="431640" progId="Equation.DSMT4">
                  <p:embed/>
                </p:oleObj>
              </mc:Choice>
              <mc:Fallback>
                <p:oleObj name="Equation" r:id="rId23" imgW="1307880" imgH="431640" progId="Equation.DSMT4">
                  <p:embed/>
                  <p:pic>
                    <p:nvPicPr>
                      <p:cNvPr id="0" name="Picture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538" y="3786188"/>
                        <a:ext cx="2093912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1" name="Object 37"/>
          <p:cNvGraphicFramePr>
            <a:graphicFrameLocks noChangeAspect="1"/>
          </p:cNvGraphicFramePr>
          <p:nvPr/>
        </p:nvGraphicFramePr>
        <p:xfrm>
          <a:off x="6724650" y="2959100"/>
          <a:ext cx="1465263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6" name="Ecuación" r:id="rId25" imgW="914400" imgH="393480" progId="Equation.3">
                  <p:embed/>
                </p:oleObj>
              </mc:Choice>
              <mc:Fallback>
                <p:oleObj name="Ecuación" r:id="rId25" imgW="914400" imgH="393480" progId="Equation.3">
                  <p:embed/>
                  <p:pic>
                    <p:nvPicPr>
                      <p:cNvPr id="0" name="Picture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4650" y="2959100"/>
                        <a:ext cx="1465263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" name="Object 92"/>
          <p:cNvGraphicFramePr>
            <a:graphicFrameLocks noChangeAspect="1"/>
          </p:cNvGraphicFramePr>
          <p:nvPr/>
        </p:nvGraphicFramePr>
        <p:xfrm>
          <a:off x="6775450" y="3786188"/>
          <a:ext cx="14859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7" name="Ecuación" r:id="rId27" imgW="927000" imgH="431640" progId="Equation.3">
                  <p:embed/>
                </p:oleObj>
              </mc:Choice>
              <mc:Fallback>
                <p:oleObj name="Ecuación" r:id="rId27" imgW="927000" imgH="431640" progId="Equation.3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5450" y="3786188"/>
                        <a:ext cx="14859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3" name="Object 37"/>
          <p:cNvGraphicFramePr>
            <a:graphicFrameLocks noChangeAspect="1"/>
          </p:cNvGraphicFramePr>
          <p:nvPr/>
        </p:nvGraphicFramePr>
        <p:xfrm>
          <a:off x="6643702" y="4929188"/>
          <a:ext cx="1322388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8" name="Ecuación" r:id="rId29" imgW="825480" imgH="393480" progId="Equation.3">
                  <p:embed/>
                </p:oleObj>
              </mc:Choice>
              <mc:Fallback>
                <p:oleObj name="Ecuación" r:id="rId29" imgW="825480" imgH="393480" progId="Equation.3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3702" y="4929188"/>
                        <a:ext cx="1322388" cy="6318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65" name="Object 65"/>
          <p:cNvGraphicFramePr>
            <a:graphicFrameLocks noChangeAspect="1"/>
          </p:cNvGraphicFramePr>
          <p:nvPr/>
        </p:nvGraphicFramePr>
        <p:xfrm>
          <a:off x="184150" y="3214688"/>
          <a:ext cx="333375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9" name="Ecuación" r:id="rId31" imgW="2082600" imgH="228600" progId="Equation.3">
                  <p:embed/>
                </p:oleObj>
              </mc:Choice>
              <mc:Fallback>
                <p:oleObj name="Ecuación" r:id="rId31" imgW="2082600" imgH="22860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" y="3214688"/>
                        <a:ext cx="333375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0" name="89 Conector angular"/>
          <p:cNvCxnSpPr/>
          <p:nvPr/>
        </p:nvCxnSpPr>
        <p:spPr>
          <a:xfrm rot="10800000" flipV="1">
            <a:off x="857224" y="3571876"/>
            <a:ext cx="1571636" cy="857256"/>
          </a:xfrm>
          <a:prstGeom prst="bentConnector3">
            <a:avLst>
              <a:gd name="adj1" fmla="val 102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92 Conector angular"/>
          <p:cNvCxnSpPr/>
          <p:nvPr/>
        </p:nvCxnSpPr>
        <p:spPr>
          <a:xfrm rot="10800000" flipV="1">
            <a:off x="1000100" y="2428868"/>
            <a:ext cx="3714776" cy="714380"/>
          </a:xfrm>
          <a:prstGeom prst="bentConnector3">
            <a:avLst>
              <a:gd name="adj1" fmla="val 68872"/>
            </a:avLst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96 Conector angular"/>
          <p:cNvCxnSpPr/>
          <p:nvPr/>
        </p:nvCxnSpPr>
        <p:spPr>
          <a:xfrm rot="10800000" flipV="1">
            <a:off x="357158" y="2928934"/>
            <a:ext cx="5786478" cy="1643074"/>
          </a:xfrm>
          <a:prstGeom prst="bentConnector3">
            <a:avLst>
              <a:gd name="adj1" fmla="val 33144"/>
            </a:avLst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101 Rectángulo"/>
          <p:cNvSpPr/>
          <p:nvPr/>
        </p:nvSpPr>
        <p:spPr>
          <a:xfrm>
            <a:off x="617192" y="2842256"/>
            <a:ext cx="324000" cy="324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3" name="102 Rectángulo"/>
          <p:cNvSpPr/>
          <p:nvPr/>
        </p:nvSpPr>
        <p:spPr>
          <a:xfrm>
            <a:off x="642910" y="4048934"/>
            <a:ext cx="324000" cy="324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4" name="103 Rectángulo"/>
          <p:cNvSpPr/>
          <p:nvPr/>
        </p:nvSpPr>
        <p:spPr>
          <a:xfrm>
            <a:off x="201752" y="4015744"/>
            <a:ext cx="324000" cy="32400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6" name="115 Rectángulo"/>
          <p:cNvSpPr/>
          <p:nvPr/>
        </p:nvSpPr>
        <p:spPr>
          <a:xfrm>
            <a:off x="4214810" y="2530786"/>
            <a:ext cx="642942" cy="28575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7" name="116 Rectángulo"/>
          <p:cNvSpPr/>
          <p:nvPr/>
        </p:nvSpPr>
        <p:spPr>
          <a:xfrm>
            <a:off x="2071670" y="3270884"/>
            <a:ext cx="642942" cy="2857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8" name="117 Rectángulo"/>
          <p:cNvSpPr/>
          <p:nvPr/>
        </p:nvSpPr>
        <p:spPr>
          <a:xfrm>
            <a:off x="5715008" y="2500306"/>
            <a:ext cx="714380" cy="35719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20" name="119 Conector angular"/>
          <p:cNvCxnSpPr/>
          <p:nvPr/>
        </p:nvCxnSpPr>
        <p:spPr>
          <a:xfrm rot="5400000">
            <a:off x="5286380" y="3857628"/>
            <a:ext cx="1857388" cy="571504"/>
          </a:xfrm>
          <a:prstGeom prst="bentConnector3">
            <a:avLst>
              <a:gd name="adj1" fmla="val 7215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129 Conector recto"/>
          <p:cNvCxnSpPr/>
          <p:nvPr/>
        </p:nvCxnSpPr>
        <p:spPr>
          <a:xfrm>
            <a:off x="6143636" y="3229926"/>
            <a:ext cx="288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131 Conector recto"/>
          <p:cNvCxnSpPr/>
          <p:nvPr/>
        </p:nvCxnSpPr>
        <p:spPr>
          <a:xfrm>
            <a:off x="6215074" y="4143380"/>
            <a:ext cx="288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132 CuadroTexto"/>
          <p:cNvSpPr txBox="1"/>
          <p:nvPr/>
        </p:nvSpPr>
        <p:spPr>
          <a:xfrm>
            <a:off x="5956182" y="4500570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(+)</a:t>
            </a:r>
          </a:p>
        </p:txBody>
      </p:sp>
      <p:cxnSp>
        <p:nvCxnSpPr>
          <p:cNvPr id="134" name="133 Conector angular"/>
          <p:cNvCxnSpPr/>
          <p:nvPr/>
        </p:nvCxnSpPr>
        <p:spPr>
          <a:xfrm rot="5400000">
            <a:off x="7427272" y="3857628"/>
            <a:ext cx="1857388" cy="571504"/>
          </a:xfrm>
          <a:prstGeom prst="bentConnector3">
            <a:avLst>
              <a:gd name="adj1" fmla="val 7215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134 Conector recto"/>
          <p:cNvCxnSpPr/>
          <p:nvPr/>
        </p:nvCxnSpPr>
        <p:spPr>
          <a:xfrm>
            <a:off x="8284528" y="3229926"/>
            <a:ext cx="288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135 Conector recto"/>
          <p:cNvCxnSpPr/>
          <p:nvPr/>
        </p:nvCxnSpPr>
        <p:spPr>
          <a:xfrm>
            <a:off x="8355966" y="4143380"/>
            <a:ext cx="288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136 CuadroTexto"/>
          <p:cNvSpPr txBox="1"/>
          <p:nvPr/>
        </p:nvSpPr>
        <p:spPr>
          <a:xfrm>
            <a:off x="8143900" y="4500570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(</a:t>
            </a:r>
            <a:r>
              <a:rPr lang="es-ES" dirty="0">
                <a:sym typeface="Symbol"/>
              </a:rPr>
              <a:t></a:t>
            </a:r>
            <a:r>
              <a:rPr lang="es-ES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2000"/>
                                        <p:tgtEl>
                                          <p:spTgt spid="256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5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5" grpId="0" animBg="1"/>
      <p:bldP spid="5194" grpId="0" animBg="1"/>
      <p:bldP spid="5195" grpId="0" animBg="1"/>
      <p:bldP spid="5196" grpId="0" animBg="1"/>
      <p:bldP spid="5197" grpId="0" animBg="1"/>
      <p:bldP spid="5198" grpId="0" animBg="1"/>
      <p:bldP spid="5199" grpId="0"/>
      <p:bldP spid="5200" grpId="0"/>
      <p:bldP spid="102" grpId="0" animBg="1"/>
      <p:bldP spid="102" grpId="1" animBg="1"/>
      <p:bldP spid="103" grpId="0" animBg="1"/>
      <p:bldP spid="103" grpId="1" animBg="1"/>
      <p:bldP spid="104" grpId="0" animBg="1"/>
      <p:bldP spid="104" grpId="1" animBg="1"/>
      <p:bldP spid="116" grpId="0" animBg="1"/>
      <p:bldP spid="116" grpId="1" animBg="1"/>
      <p:bldP spid="117" grpId="0" animBg="1"/>
      <p:bldP spid="117" grpId="1" animBg="1"/>
      <p:bldP spid="118" grpId="0" animBg="1"/>
      <p:bldP spid="118" grpId="1" animBg="1"/>
      <p:bldP spid="133" grpId="0"/>
      <p:bldP spid="1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360196"/>
              </p:ext>
            </p:extLst>
          </p:nvPr>
        </p:nvGraphicFramePr>
        <p:xfrm>
          <a:off x="2285984" y="748673"/>
          <a:ext cx="3681412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5" name="Ecuación" r:id="rId3" imgW="2298600" imgH="431640" progId="Equation.3">
                  <p:embed/>
                </p:oleObj>
              </mc:Choice>
              <mc:Fallback>
                <p:oleObj name="Ecuación" r:id="rId3" imgW="2298600" imgH="43164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984" y="748673"/>
                        <a:ext cx="3681412" cy="6905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5" name="Text Box 35"/>
          <p:cNvSpPr txBox="1">
            <a:spLocks noChangeArrowheads="1"/>
          </p:cNvSpPr>
          <p:nvPr/>
        </p:nvSpPr>
        <p:spPr bwMode="auto">
          <a:xfrm>
            <a:off x="357158" y="748673"/>
            <a:ext cx="1685077" cy="36933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>
                <a:sym typeface="Symbol" pitchFamily="18" charset="2"/>
              </a:rPr>
              <a:t>Lente Delgada</a:t>
            </a:r>
          </a:p>
        </p:txBody>
      </p:sp>
      <p:grpSp>
        <p:nvGrpSpPr>
          <p:cNvPr id="4" name="Group 72"/>
          <p:cNvGrpSpPr>
            <a:grpSpLocks/>
          </p:cNvGrpSpPr>
          <p:nvPr/>
        </p:nvGrpSpPr>
        <p:grpSpPr bwMode="auto">
          <a:xfrm>
            <a:off x="700088" y="3616796"/>
            <a:ext cx="3727450" cy="2476500"/>
            <a:chOff x="441" y="2687"/>
            <a:chExt cx="2348" cy="1560"/>
          </a:xfrm>
        </p:grpSpPr>
        <p:sp>
          <p:nvSpPr>
            <p:cNvPr id="5152" name="Text Box 32"/>
            <p:cNvSpPr txBox="1">
              <a:spLocks noChangeArrowheads="1"/>
            </p:cNvSpPr>
            <p:nvPr/>
          </p:nvSpPr>
          <p:spPr bwMode="auto">
            <a:xfrm>
              <a:off x="548" y="2687"/>
              <a:ext cx="217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dirty="0">
                  <a:sym typeface="Symbol" pitchFamily="18" charset="2"/>
                </a:rPr>
                <a:t>&gt;0: Lente delgada convergente</a:t>
              </a:r>
            </a:p>
          </p:txBody>
        </p:sp>
        <p:sp>
          <p:nvSpPr>
            <p:cNvPr id="5156" name="Freeform 36" descr="Ángulos"/>
            <p:cNvSpPr>
              <a:spLocks noChangeAspect="1"/>
            </p:cNvSpPr>
            <p:nvPr/>
          </p:nvSpPr>
          <p:spPr bwMode="auto">
            <a:xfrm>
              <a:off x="1454" y="3053"/>
              <a:ext cx="989" cy="1194"/>
            </a:xfrm>
            <a:custGeom>
              <a:avLst/>
              <a:gdLst/>
              <a:ahLst/>
              <a:cxnLst>
                <a:cxn ang="0">
                  <a:pos x="989" y="65"/>
                </a:cxn>
                <a:cxn ang="0">
                  <a:pos x="290" y="0"/>
                </a:cxn>
                <a:cxn ang="0">
                  <a:pos x="0" y="24"/>
                </a:cxn>
                <a:cxn ang="0">
                  <a:pos x="7" y="1027"/>
                </a:cxn>
                <a:cxn ang="0">
                  <a:pos x="461" y="1027"/>
                </a:cxn>
                <a:cxn ang="0">
                  <a:pos x="772" y="1067"/>
                </a:cxn>
                <a:cxn ang="0">
                  <a:pos x="919" y="1003"/>
                </a:cxn>
                <a:cxn ang="0">
                  <a:pos x="953" y="684"/>
                </a:cxn>
                <a:cxn ang="0">
                  <a:pos x="973" y="454"/>
                </a:cxn>
                <a:cxn ang="0">
                  <a:pos x="989" y="65"/>
                </a:cxn>
              </a:cxnLst>
              <a:rect l="0" t="0" r="r" b="b"/>
              <a:pathLst>
                <a:path w="989" h="1194">
                  <a:moveTo>
                    <a:pt x="989" y="65"/>
                  </a:moveTo>
                  <a:lnTo>
                    <a:pt x="290" y="0"/>
                  </a:lnTo>
                  <a:lnTo>
                    <a:pt x="0" y="24"/>
                  </a:lnTo>
                  <a:lnTo>
                    <a:pt x="7" y="1027"/>
                  </a:lnTo>
                  <a:cubicBezTo>
                    <a:pt x="84" y="1194"/>
                    <a:pt x="334" y="1020"/>
                    <a:pt x="461" y="1027"/>
                  </a:cubicBezTo>
                  <a:lnTo>
                    <a:pt x="772" y="1067"/>
                  </a:lnTo>
                  <a:cubicBezTo>
                    <a:pt x="848" y="1063"/>
                    <a:pt x="889" y="1067"/>
                    <a:pt x="919" y="1003"/>
                  </a:cubicBezTo>
                  <a:cubicBezTo>
                    <a:pt x="928" y="929"/>
                    <a:pt x="944" y="775"/>
                    <a:pt x="953" y="684"/>
                  </a:cubicBezTo>
                  <a:cubicBezTo>
                    <a:pt x="962" y="593"/>
                    <a:pt x="967" y="557"/>
                    <a:pt x="973" y="454"/>
                  </a:cubicBezTo>
                  <a:cubicBezTo>
                    <a:pt x="979" y="351"/>
                    <a:pt x="989" y="65"/>
                    <a:pt x="989" y="65"/>
                  </a:cubicBezTo>
                  <a:close/>
                </a:path>
              </a:pathLst>
            </a:custGeom>
            <a:pattFill prst="divot">
              <a:fgClr>
                <a:srgbClr val="99CC00">
                  <a:alpha val="55000"/>
                </a:srgbClr>
              </a:fgClr>
              <a:bgClr>
                <a:schemeClr val="bg1">
                  <a:alpha val="55000"/>
                </a:schemeClr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57" name="Freeform 37" descr="Onda"/>
            <p:cNvSpPr>
              <a:spLocks noChangeAspect="1"/>
            </p:cNvSpPr>
            <p:nvPr/>
          </p:nvSpPr>
          <p:spPr bwMode="auto">
            <a:xfrm>
              <a:off x="441" y="3048"/>
              <a:ext cx="1033" cy="1093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1031" y="22"/>
                </a:cxn>
                <a:cxn ang="0">
                  <a:pos x="1033" y="1006"/>
                </a:cxn>
                <a:cxn ang="0">
                  <a:pos x="519" y="1093"/>
                </a:cxn>
                <a:cxn ang="0">
                  <a:pos x="377" y="1085"/>
                </a:cxn>
                <a:cxn ang="0">
                  <a:pos x="207" y="946"/>
                </a:cxn>
                <a:cxn ang="0">
                  <a:pos x="199" y="604"/>
                </a:cxn>
                <a:cxn ang="0">
                  <a:pos x="139" y="0"/>
                </a:cxn>
              </a:cxnLst>
              <a:rect l="0" t="0" r="r" b="b"/>
              <a:pathLst>
                <a:path w="1033" h="1093">
                  <a:moveTo>
                    <a:pt x="139" y="0"/>
                  </a:moveTo>
                  <a:lnTo>
                    <a:pt x="1031" y="22"/>
                  </a:lnTo>
                  <a:lnTo>
                    <a:pt x="1033" y="1006"/>
                  </a:lnTo>
                  <a:lnTo>
                    <a:pt x="519" y="1093"/>
                  </a:lnTo>
                  <a:lnTo>
                    <a:pt x="377" y="1085"/>
                  </a:lnTo>
                  <a:cubicBezTo>
                    <a:pt x="325" y="1060"/>
                    <a:pt x="237" y="1026"/>
                    <a:pt x="207" y="946"/>
                  </a:cubicBezTo>
                  <a:cubicBezTo>
                    <a:pt x="172" y="868"/>
                    <a:pt x="210" y="762"/>
                    <a:pt x="199" y="604"/>
                  </a:cubicBezTo>
                  <a:cubicBezTo>
                    <a:pt x="188" y="446"/>
                    <a:pt x="0" y="91"/>
                    <a:pt x="139" y="0"/>
                  </a:cubicBezTo>
                  <a:close/>
                </a:path>
              </a:pathLst>
            </a:custGeom>
            <a:pattFill prst="wave">
              <a:fgClr>
                <a:schemeClr val="accent1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59" name="Line 39"/>
            <p:cNvSpPr>
              <a:spLocks noChangeAspect="1" noChangeShapeType="1"/>
            </p:cNvSpPr>
            <p:nvPr/>
          </p:nvSpPr>
          <p:spPr bwMode="auto">
            <a:xfrm>
              <a:off x="684" y="3579"/>
              <a:ext cx="2105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62" name="Text Box 42"/>
            <p:cNvSpPr txBox="1">
              <a:spLocks noChangeArrowheads="1"/>
            </p:cNvSpPr>
            <p:nvPr/>
          </p:nvSpPr>
          <p:spPr bwMode="auto">
            <a:xfrm>
              <a:off x="1020" y="3896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5164" name="Text Box 44"/>
            <p:cNvSpPr txBox="1">
              <a:spLocks noChangeArrowheads="1"/>
            </p:cNvSpPr>
            <p:nvPr/>
          </p:nvSpPr>
          <p:spPr bwMode="auto">
            <a:xfrm>
              <a:off x="1928" y="3896"/>
              <a:ext cx="2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’’</a:t>
              </a:r>
            </a:p>
          </p:txBody>
        </p:sp>
        <p:sp>
          <p:nvSpPr>
            <p:cNvPr id="5166" name="Line 46"/>
            <p:cNvSpPr>
              <a:spLocks noChangeShapeType="1"/>
            </p:cNvSpPr>
            <p:nvPr/>
          </p:nvSpPr>
          <p:spPr bwMode="auto">
            <a:xfrm>
              <a:off x="1456" y="3050"/>
              <a:ext cx="0" cy="10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lg" len="lg"/>
              <a:tailEnd type="arrow" w="lg" len="lg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67" name="Oval 47"/>
            <p:cNvSpPr>
              <a:spLocks noChangeArrowheads="1"/>
            </p:cNvSpPr>
            <p:nvPr/>
          </p:nvSpPr>
          <p:spPr bwMode="auto">
            <a:xfrm>
              <a:off x="821" y="3549"/>
              <a:ext cx="45" cy="4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168" name="Text Box 48"/>
            <p:cNvSpPr txBox="1">
              <a:spLocks noChangeArrowheads="1"/>
            </p:cNvSpPr>
            <p:nvPr/>
          </p:nvSpPr>
          <p:spPr bwMode="auto">
            <a:xfrm>
              <a:off x="720" y="3573"/>
              <a:ext cx="31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ES_tradnl" i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5169" name="Oval 49"/>
            <p:cNvSpPr>
              <a:spLocks noChangeArrowheads="1"/>
            </p:cNvSpPr>
            <p:nvPr/>
          </p:nvSpPr>
          <p:spPr bwMode="auto">
            <a:xfrm>
              <a:off x="2091" y="3552"/>
              <a:ext cx="45" cy="4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170" name="Text Box 50"/>
            <p:cNvSpPr txBox="1">
              <a:spLocks noChangeArrowheads="1"/>
            </p:cNvSpPr>
            <p:nvPr/>
          </p:nvSpPr>
          <p:spPr bwMode="auto">
            <a:xfrm>
              <a:off x="1976" y="3581"/>
              <a:ext cx="31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ES_tradnl" i="1">
                  <a:latin typeface="Times New Roman" pitchFamily="18" charset="0"/>
                </a:rPr>
                <a:t>F’</a:t>
              </a:r>
            </a:p>
          </p:txBody>
        </p:sp>
      </p:grpSp>
      <p:grpSp>
        <p:nvGrpSpPr>
          <p:cNvPr id="5" name="Group 73"/>
          <p:cNvGrpSpPr>
            <a:grpSpLocks/>
          </p:cNvGrpSpPr>
          <p:nvPr/>
        </p:nvGrpSpPr>
        <p:grpSpPr bwMode="auto">
          <a:xfrm>
            <a:off x="5003800" y="3616796"/>
            <a:ext cx="3778250" cy="2328862"/>
            <a:chOff x="3152" y="2687"/>
            <a:chExt cx="2380" cy="1467"/>
          </a:xfrm>
        </p:grpSpPr>
        <p:sp>
          <p:nvSpPr>
            <p:cNvPr id="5153" name="Text Box 33"/>
            <p:cNvSpPr txBox="1">
              <a:spLocks noChangeArrowheads="1"/>
            </p:cNvSpPr>
            <p:nvPr/>
          </p:nvSpPr>
          <p:spPr bwMode="auto">
            <a:xfrm>
              <a:off x="3218" y="2687"/>
              <a:ext cx="205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>
                  <a:sym typeface="Symbol" pitchFamily="18" charset="2"/>
                </a:rPr>
                <a:t>&lt;0: Lente delgada divergente</a:t>
              </a:r>
            </a:p>
          </p:txBody>
        </p:sp>
        <p:sp>
          <p:nvSpPr>
            <p:cNvPr id="5171" name="Freeform 51" descr="Ángulos"/>
            <p:cNvSpPr>
              <a:spLocks noChangeAspect="1"/>
            </p:cNvSpPr>
            <p:nvPr/>
          </p:nvSpPr>
          <p:spPr bwMode="auto">
            <a:xfrm>
              <a:off x="4186" y="3055"/>
              <a:ext cx="1000" cy="1099"/>
            </a:xfrm>
            <a:custGeom>
              <a:avLst/>
              <a:gdLst/>
              <a:ahLst/>
              <a:cxnLst>
                <a:cxn ang="0">
                  <a:pos x="1000" y="65"/>
                </a:cxn>
                <a:cxn ang="0">
                  <a:pos x="301" y="0"/>
                </a:cxn>
                <a:cxn ang="0">
                  <a:pos x="11" y="24"/>
                </a:cxn>
                <a:cxn ang="0">
                  <a:pos x="0" y="937"/>
                </a:cxn>
                <a:cxn ang="0">
                  <a:pos x="379" y="998"/>
                </a:cxn>
                <a:cxn ang="0">
                  <a:pos x="783" y="1067"/>
                </a:cxn>
                <a:cxn ang="0">
                  <a:pos x="930" y="1003"/>
                </a:cxn>
                <a:cxn ang="0">
                  <a:pos x="964" y="684"/>
                </a:cxn>
                <a:cxn ang="0">
                  <a:pos x="984" y="454"/>
                </a:cxn>
                <a:cxn ang="0">
                  <a:pos x="1000" y="65"/>
                </a:cxn>
              </a:cxnLst>
              <a:rect l="0" t="0" r="r" b="b"/>
              <a:pathLst>
                <a:path w="1000" h="1099">
                  <a:moveTo>
                    <a:pt x="1000" y="65"/>
                  </a:moveTo>
                  <a:lnTo>
                    <a:pt x="301" y="0"/>
                  </a:lnTo>
                  <a:lnTo>
                    <a:pt x="11" y="24"/>
                  </a:lnTo>
                  <a:lnTo>
                    <a:pt x="0" y="937"/>
                  </a:lnTo>
                  <a:cubicBezTo>
                    <a:pt x="61" y="1099"/>
                    <a:pt x="249" y="976"/>
                    <a:pt x="379" y="998"/>
                  </a:cubicBezTo>
                  <a:lnTo>
                    <a:pt x="783" y="1067"/>
                  </a:lnTo>
                  <a:cubicBezTo>
                    <a:pt x="875" y="1068"/>
                    <a:pt x="900" y="1067"/>
                    <a:pt x="930" y="1003"/>
                  </a:cubicBezTo>
                  <a:cubicBezTo>
                    <a:pt x="939" y="929"/>
                    <a:pt x="955" y="775"/>
                    <a:pt x="964" y="684"/>
                  </a:cubicBezTo>
                  <a:cubicBezTo>
                    <a:pt x="973" y="593"/>
                    <a:pt x="978" y="557"/>
                    <a:pt x="984" y="454"/>
                  </a:cubicBezTo>
                  <a:cubicBezTo>
                    <a:pt x="990" y="351"/>
                    <a:pt x="1000" y="65"/>
                    <a:pt x="1000" y="65"/>
                  </a:cubicBezTo>
                  <a:close/>
                </a:path>
              </a:pathLst>
            </a:custGeom>
            <a:pattFill prst="divot">
              <a:fgClr>
                <a:srgbClr val="99CC00">
                  <a:alpha val="55000"/>
                </a:srgbClr>
              </a:fgClr>
              <a:bgClr>
                <a:schemeClr val="bg1">
                  <a:alpha val="55000"/>
                </a:schemeClr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72" name="Freeform 52" descr="Onda"/>
            <p:cNvSpPr>
              <a:spLocks noChangeAspect="1"/>
            </p:cNvSpPr>
            <p:nvPr/>
          </p:nvSpPr>
          <p:spPr bwMode="auto">
            <a:xfrm>
              <a:off x="3152" y="3050"/>
              <a:ext cx="1033" cy="1093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1031" y="22"/>
                </a:cxn>
                <a:cxn ang="0">
                  <a:pos x="1033" y="1006"/>
                </a:cxn>
                <a:cxn ang="0">
                  <a:pos x="519" y="1093"/>
                </a:cxn>
                <a:cxn ang="0">
                  <a:pos x="377" y="1085"/>
                </a:cxn>
                <a:cxn ang="0">
                  <a:pos x="207" y="946"/>
                </a:cxn>
                <a:cxn ang="0">
                  <a:pos x="199" y="604"/>
                </a:cxn>
                <a:cxn ang="0">
                  <a:pos x="139" y="0"/>
                </a:cxn>
              </a:cxnLst>
              <a:rect l="0" t="0" r="r" b="b"/>
              <a:pathLst>
                <a:path w="1033" h="1093">
                  <a:moveTo>
                    <a:pt x="139" y="0"/>
                  </a:moveTo>
                  <a:lnTo>
                    <a:pt x="1031" y="22"/>
                  </a:lnTo>
                  <a:lnTo>
                    <a:pt x="1033" y="1006"/>
                  </a:lnTo>
                  <a:lnTo>
                    <a:pt x="519" y="1093"/>
                  </a:lnTo>
                  <a:lnTo>
                    <a:pt x="377" y="1085"/>
                  </a:lnTo>
                  <a:cubicBezTo>
                    <a:pt x="325" y="1060"/>
                    <a:pt x="237" y="1026"/>
                    <a:pt x="207" y="946"/>
                  </a:cubicBezTo>
                  <a:cubicBezTo>
                    <a:pt x="172" y="868"/>
                    <a:pt x="210" y="762"/>
                    <a:pt x="199" y="604"/>
                  </a:cubicBezTo>
                  <a:cubicBezTo>
                    <a:pt x="188" y="446"/>
                    <a:pt x="0" y="91"/>
                    <a:pt x="139" y="0"/>
                  </a:cubicBezTo>
                  <a:close/>
                </a:path>
              </a:pathLst>
            </a:custGeom>
            <a:pattFill prst="wave">
              <a:fgClr>
                <a:schemeClr val="accent1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73" name="Line 53"/>
            <p:cNvSpPr>
              <a:spLocks noChangeAspect="1" noChangeShapeType="1"/>
            </p:cNvSpPr>
            <p:nvPr/>
          </p:nvSpPr>
          <p:spPr bwMode="auto">
            <a:xfrm>
              <a:off x="3427" y="3581"/>
              <a:ext cx="2105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74" name="Text Box 54"/>
            <p:cNvSpPr txBox="1">
              <a:spLocks noChangeArrowheads="1"/>
            </p:cNvSpPr>
            <p:nvPr/>
          </p:nvSpPr>
          <p:spPr bwMode="auto">
            <a:xfrm>
              <a:off x="3742" y="3898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5175" name="Text Box 55"/>
            <p:cNvSpPr txBox="1">
              <a:spLocks noChangeArrowheads="1"/>
            </p:cNvSpPr>
            <p:nvPr/>
          </p:nvSpPr>
          <p:spPr bwMode="auto">
            <a:xfrm>
              <a:off x="4671" y="3898"/>
              <a:ext cx="2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’’</a:t>
              </a:r>
            </a:p>
          </p:txBody>
        </p:sp>
        <p:sp>
          <p:nvSpPr>
            <p:cNvPr id="5176" name="Line 56"/>
            <p:cNvSpPr>
              <a:spLocks noChangeShapeType="1"/>
            </p:cNvSpPr>
            <p:nvPr/>
          </p:nvSpPr>
          <p:spPr bwMode="auto">
            <a:xfrm>
              <a:off x="4192" y="3108"/>
              <a:ext cx="0" cy="90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77" name="Oval 57"/>
            <p:cNvSpPr>
              <a:spLocks noChangeArrowheads="1"/>
            </p:cNvSpPr>
            <p:nvPr/>
          </p:nvSpPr>
          <p:spPr bwMode="auto">
            <a:xfrm>
              <a:off x="3564" y="3551"/>
              <a:ext cx="45" cy="4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178" name="Text Box 58"/>
            <p:cNvSpPr txBox="1">
              <a:spLocks noChangeArrowheads="1"/>
            </p:cNvSpPr>
            <p:nvPr/>
          </p:nvSpPr>
          <p:spPr bwMode="auto">
            <a:xfrm>
              <a:off x="3463" y="3575"/>
              <a:ext cx="31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ES_tradnl" i="1">
                  <a:latin typeface="Times New Roman" pitchFamily="18" charset="0"/>
                </a:rPr>
                <a:t>F’</a:t>
              </a:r>
            </a:p>
          </p:txBody>
        </p:sp>
        <p:sp>
          <p:nvSpPr>
            <p:cNvPr id="5179" name="Oval 59"/>
            <p:cNvSpPr>
              <a:spLocks noChangeArrowheads="1"/>
            </p:cNvSpPr>
            <p:nvPr/>
          </p:nvSpPr>
          <p:spPr bwMode="auto">
            <a:xfrm>
              <a:off x="4834" y="3554"/>
              <a:ext cx="45" cy="4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180" name="Text Box 60"/>
            <p:cNvSpPr txBox="1">
              <a:spLocks noChangeArrowheads="1"/>
            </p:cNvSpPr>
            <p:nvPr/>
          </p:nvSpPr>
          <p:spPr bwMode="auto">
            <a:xfrm>
              <a:off x="4719" y="3583"/>
              <a:ext cx="31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ES_tradnl" i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5181" name="Line 61"/>
            <p:cNvSpPr>
              <a:spLocks noChangeAspect="1" noChangeShapeType="1"/>
            </p:cNvSpPr>
            <p:nvPr/>
          </p:nvSpPr>
          <p:spPr bwMode="auto">
            <a:xfrm flipV="1">
              <a:off x="4195" y="3036"/>
              <a:ext cx="66" cy="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82" name="Line 62"/>
            <p:cNvSpPr>
              <a:spLocks noChangeAspect="1" noChangeShapeType="1"/>
            </p:cNvSpPr>
            <p:nvPr/>
          </p:nvSpPr>
          <p:spPr bwMode="auto">
            <a:xfrm flipV="1">
              <a:off x="4119" y="4010"/>
              <a:ext cx="66" cy="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83" name="Line 63"/>
            <p:cNvSpPr>
              <a:spLocks noChangeAspect="1" noChangeShapeType="1"/>
            </p:cNvSpPr>
            <p:nvPr/>
          </p:nvSpPr>
          <p:spPr bwMode="auto">
            <a:xfrm flipH="1" flipV="1">
              <a:off x="4118" y="3043"/>
              <a:ext cx="66" cy="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5184" name="Line 64"/>
            <p:cNvSpPr>
              <a:spLocks noChangeAspect="1" noChangeShapeType="1"/>
            </p:cNvSpPr>
            <p:nvPr/>
          </p:nvSpPr>
          <p:spPr bwMode="auto">
            <a:xfrm flipH="1" flipV="1">
              <a:off x="4202" y="4003"/>
              <a:ext cx="66" cy="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5200" name="Text Box 80"/>
          <p:cNvSpPr txBox="1">
            <a:spLocks noChangeArrowheads="1"/>
          </p:cNvSpPr>
          <p:nvPr/>
        </p:nvSpPr>
        <p:spPr bwMode="auto">
          <a:xfrm>
            <a:off x="8675688" y="6564313"/>
            <a:ext cx="2682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3</a:t>
            </a:r>
          </a:p>
        </p:txBody>
      </p:sp>
      <p:graphicFrame>
        <p:nvGraphicFramePr>
          <p:cNvPr id="184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8591303"/>
              </p:ext>
            </p:extLst>
          </p:nvPr>
        </p:nvGraphicFramePr>
        <p:xfrm>
          <a:off x="6500826" y="748673"/>
          <a:ext cx="1322387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6" name="Ecuación" r:id="rId5" imgW="825480" imgH="393480" progId="Equation.3">
                  <p:embed/>
                </p:oleObj>
              </mc:Choice>
              <mc:Fallback>
                <p:oleObj name="Ecuación" r:id="rId5" imgW="82548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0826" y="748673"/>
                        <a:ext cx="1322387" cy="6318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71 CuadroTexto"/>
          <p:cNvSpPr txBox="1"/>
          <p:nvPr/>
        </p:nvSpPr>
        <p:spPr>
          <a:xfrm>
            <a:off x="357158" y="3045292"/>
            <a:ext cx="837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Simbología para lentes, independiente de la forma de las dioptras que la forman</a:t>
            </a:r>
            <a:r>
              <a:rPr lang="es-ES" dirty="0"/>
              <a:t>:</a:t>
            </a:r>
          </a:p>
        </p:txBody>
      </p:sp>
      <p:grpSp>
        <p:nvGrpSpPr>
          <p:cNvPr id="35" name="Group 71"/>
          <p:cNvGrpSpPr>
            <a:grpSpLocks/>
          </p:cNvGrpSpPr>
          <p:nvPr/>
        </p:nvGrpSpPr>
        <p:grpSpPr bwMode="auto">
          <a:xfrm>
            <a:off x="271483" y="1677367"/>
            <a:ext cx="3956050" cy="671513"/>
            <a:chOff x="425" y="2205"/>
            <a:chExt cx="2492" cy="423"/>
          </a:xfrm>
        </p:grpSpPr>
        <p:sp>
          <p:nvSpPr>
            <p:cNvPr id="36" name="Text Box 65"/>
            <p:cNvSpPr txBox="1">
              <a:spLocks noChangeArrowheads="1"/>
            </p:cNvSpPr>
            <p:nvPr/>
          </p:nvSpPr>
          <p:spPr bwMode="auto">
            <a:xfrm>
              <a:off x="425" y="2224"/>
              <a:ext cx="123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s-ES_tradnl" sz="1600" dirty="0"/>
                <a:t>En un único medio:</a:t>
              </a:r>
            </a:p>
            <a:p>
              <a:r>
                <a:rPr lang="es-ES_tradnl" sz="1600" dirty="0"/>
                <a:t> </a:t>
              </a:r>
              <a:r>
                <a:rPr lang="es-ES_tradnl" sz="1600" i="1" dirty="0">
                  <a:latin typeface="Times New Roman" pitchFamily="18" charset="0"/>
                </a:rPr>
                <a:t>n</a:t>
              </a:r>
              <a:r>
                <a:rPr lang="es-ES_tradnl" sz="1600" dirty="0">
                  <a:latin typeface="Times New Roman" pitchFamily="18" charset="0"/>
                </a:rPr>
                <a:t> = </a:t>
              </a:r>
              <a:r>
                <a:rPr lang="es-ES_tradnl" sz="1600" i="1" dirty="0">
                  <a:latin typeface="Times New Roman" pitchFamily="18" charset="0"/>
                </a:rPr>
                <a:t>n</a:t>
              </a:r>
              <a:r>
                <a:rPr lang="es-ES_tradnl" sz="1600" dirty="0">
                  <a:latin typeface="Times New Roman" pitchFamily="18" charset="0"/>
                </a:rPr>
                <a:t>’’ </a:t>
              </a:r>
              <a:r>
                <a:rPr lang="es-ES_tradnl" sz="1600" dirty="0">
                  <a:latin typeface="Times New Roman" pitchFamily="18" charset="0"/>
                  <a:sym typeface="Symbol" panose="05050102010706020507" pitchFamily="18" charset="2"/>
                </a:rPr>
                <a:t></a:t>
              </a:r>
              <a:endParaRPr lang="es-ES_tradnl" sz="1600" dirty="0"/>
            </a:p>
          </p:txBody>
        </p:sp>
        <p:graphicFrame>
          <p:nvGraphicFramePr>
            <p:cNvPr id="37" name="Object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0858999"/>
                </p:ext>
              </p:extLst>
            </p:nvPr>
          </p:nvGraphicFramePr>
          <p:xfrm>
            <a:off x="1810" y="2205"/>
            <a:ext cx="732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7" name="Ecuación" r:id="rId7" imgW="698400" imgH="419040" progId="Equation.3">
                    <p:embed/>
                  </p:oleObj>
                </mc:Choice>
                <mc:Fallback>
                  <p:oleObj name="Ecuación" r:id="rId7" imgW="698400" imgH="41904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0" y="2205"/>
                          <a:ext cx="732" cy="423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Text Box 68"/>
            <p:cNvSpPr txBox="1">
              <a:spLocks noChangeArrowheads="1"/>
            </p:cNvSpPr>
            <p:nvPr/>
          </p:nvSpPr>
          <p:spPr bwMode="auto">
            <a:xfrm>
              <a:off x="2595" y="2278"/>
              <a:ext cx="32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sz="1600"/>
                <a:t>con</a:t>
              </a:r>
            </a:p>
          </p:txBody>
        </p:sp>
      </p:grpSp>
      <p:graphicFrame>
        <p:nvGraphicFramePr>
          <p:cNvPr id="184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727967"/>
              </p:ext>
            </p:extLst>
          </p:nvPr>
        </p:nvGraphicFramePr>
        <p:xfrm>
          <a:off x="7602538" y="1677382"/>
          <a:ext cx="1119187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8" name="Ecuación" r:id="rId9" imgW="698400" imgH="393480" progId="Equation.3">
                  <p:embed/>
                </p:oleObj>
              </mc:Choice>
              <mc:Fallback>
                <p:oleObj name="Ecuación" r:id="rId9" imgW="698400" imgH="393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2538" y="1677382"/>
                        <a:ext cx="1119187" cy="6318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7" name="136 Conector recto"/>
          <p:cNvCxnSpPr/>
          <p:nvPr/>
        </p:nvCxnSpPr>
        <p:spPr>
          <a:xfrm rot="5400000">
            <a:off x="3965583" y="5964243"/>
            <a:ext cx="178592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ángulo 1"/>
              <p:cNvSpPr/>
              <p:nvPr/>
            </p:nvSpPr>
            <p:spPr>
              <a:xfrm>
                <a:off x="4130197" y="1662778"/>
                <a:ext cx="3394131" cy="6455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16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s-AR" sz="1600" i="0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  <m:r>
                        <a:rPr lang="es-AR" sz="1600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s-AR" sz="16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A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A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s-AR" sz="1600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s-AR" sz="1600" i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A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s-A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16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s-AR" sz="16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s-AR" sz="160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A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s-A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16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s-AR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s-AR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AR" sz="1600" i="0">
                          <a:latin typeface="Cambria Math" panose="02040503050406030204" pitchFamily="18" charset="0"/>
                        </a:rPr>
                        <m:t>Φ</m:t>
                      </m:r>
                    </m:oMath>
                  </m:oMathPara>
                </a14:m>
                <a:endParaRPr lang="es-AR" sz="1600" dirty="0"/>
              </a:p>
            </p:txBody>
          </p:sp>
        </mc:Choice>
        <mc:Fallback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197" y="1662778"/>
                <a:ext cx="3394131" cy="64556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00" grpId="0"/>
      <p:bldP spid="7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8" name="Freeform 32" descr="Ángulos"/>
          <p:cNvSpPr>
            <a:spLocks/>
          </p:cNvSpPr>
          <p:nvPr/>
        </p:nvSpPr>
        <p:spPr bwMode="auto">
          <a:xfrm>
            <a:off x="3768725" y="1657350"/>
            <a:ext cx="5537200" cy="4508500"/>
          </a:xfrm>
          <a:custGeom>
            <a:avLst/>
            <a:gdLst/>
            <a:ahLst/>
            <a:cxnLst>
              <a:cxn ang="0">
                <a:pos x="332" y="2642"/>
              </a:cxn>
              <a:cxn ang="0">
                <a:pos x="1887" y="2840"/>
              </a:cxn>
              <a:cxn ang="0">
                <a:pos x="1975" y="2833"/>
              </a:cxn>
              <a:cxn ang="0">
                <a:pos x="3250" y="2771"/>
              </a:cxn>
              <a:cxn ang="0">
                <a:pos x="3284" y="2500"/>
              </a:cxn>
              <a:cxn ang="0">
                <a:pos x="3338" y="2175"/>
              </a:cxn>
              <a:cxn ang="0">
                <a:pos x="3298" y="1470"/>
              </a:cxn>
              <a:cxn ang="0">
                <a:pos x="3284" y="853"/>
              </a:cxn>
              <a:cxn ang="0">
                <a:pos x="3250" y="142"/>
              </a:cxn>
              <a:cxn ang="0">
                <a:pos x="2810" y="27"/>
              </a:cxn>
              <a:cxn ang="0">
                <a:pos x="0" y="0"/>
              </a:cxn>
              <a:cxn ang="0">
                <a:pos x="7" y="2649"/>
              </a:cxn>
            </a:cxnLst>
            <a:rect l="0" t="0" r="r" b="b"/>
            <a:pathLst>
              <a:path w="3488" h="2840">
                <a:moveTo>
                  <a:pt x="332" y="2642"/>
                </a:moveTo>
                <a:cubicBezTo>
                  <a:pt x="206" y="2646"/>
                  <a:pt x="1665" y="2840"/>
                  <a:pt x="1887" y="2840"/>
                </a:cubicBezTo>
                <a:lnTo>
                  <a:pt x="1975" y="2833"/>
                </a:lnTo>
                <a:cubicBezTo>
                  <a:pt x="2202" y="2822"/>
                  <a:pt x="3032" y="2826"/>
                  <a:pt x="3250" y="2771"/>
                </a:cubicBezTo>
                <a:cubicBezTo>
                  <a:pt x="3488" y="2714"/>
                  <a:pt x="3269" y="2599"/>
                  <a:pt x="3284" y="2500"/>
                </a:cubicBezTo>
                <a:cubicBezTo>
                  <a:pt x="3299" y="2401"/>
                  <a:pt x="3336" y="2347"/>
                  <a:pt x="3338" y="2175"/>
                </a:cubicBezTo>
                <a:cubicBezTo>
                  <a:pt x="3336" y="2080"/>
                  <a:pt x="3300" y="1827"/>
                  <a:pt x="3298" y="1470"/>
                </a:cubicBezTo>
                <a:cubicBezTo>
                  <a:pt x="3289" y="1250"/>
                  <a:pt x="3292" y="1074"/>
                  <a:pt x="3284" y="853"/>
                </a:cubicBezTo>
                <a:cubicBezTo>
                  <a:pt x="3276" y="632"/>
                  <a:pt x="3329" y="280"/>
                  <a:pt x="3250" y="142"/>
                </a:cubicBezTo>
                <a:cubicBezTo>
                  <a:pt x="3171" y="4"/>
                  <a:pt x="3352" y="51"/>
                  <a:pt x="2810" y="27"/>
                </a:cubicBezTo>
                <a:lnTo>
                  <a:pt x="0" y="0"/>
                </a:lnTo>
                <a:lnTo>
                  <a:pt x="7" y="2649"/>
                </a:lnTo>
              </a:path>
            </a:pathLst>
          </a:custGeom>
          <a:pattFill prst="divot">
            <a:fgClr>
              <a:srgbClr val="99CC00">
                <a:alpha val="55000"/>
              </a:srgbClr>
            </a:fgClr>
            <a:bgClr>
              <a:schemeClr val="bg1">
                <a:alpha val="55000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 dirty="0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1327150" y="395288"/>
          <a:ext cx="3741738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name="Ecuación" r:id="rId3" imgW="2336760" imgH="431640" progId="Equation.3">
                  <p:embed/>
                </p:oleObj>
              </mc:Choice>
              <mc:Fallback>
                <p:oleObj name="Ecuación" r:id="rId3" imgW="233676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395288"/>
                        <a:ext cx="3741738" cy="6905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5127625" y="5683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4100" name="Freeform 4" descr="Onda"/>
          <p:cNvSpPr>
            <a:spLocks/>
          </p:cNvSpPr>
          <p:nvPr/>
        </p:nvSpPr>
        <p:spPr bwMode="auto">
          <a:xfrm>
            <a:off x="65088" y="1628775"/>
            <a:ext cx="3714750" cy="4933950"/>
          </a:xfrm>
          <a:custGeom>
            <a:avLst/>
            <a:gdLst/>
            <a:ahLst/>
            <a:cxnLst>
              <a:cxn ang="0">
                <a:pos x="34" y="38"/>
              </a:cxn>
              <a:cxn ang="0">
                <a:pos x="1438" y="0"/>
              </a:cxn>
              <a:cxn ang="0">
                <a:pos x="2340" y="0"/>
              </a:cxn>
              <a:cxn ang="0">
                <a:pos x="2320" y="2647"/>
              </a:cxn>
              <a:cxn ang="0">
                <a:pos x="883" y="2765"/>
              </a:cxn>
              <a:cxn ang="0">
                <a:pos x="530" y="2744"/>
              </a:cxn>
              <a:cxn ang="0">
                <a:pos x="104" y="2397"/>
              </a:cxn>
              <a:cxn ang="0">
                <a:pos x="83" y="1543"/>
              </a:cxn>
              <a:cxn ang="0">
                <a:pos x="29" y="1184"/>
              </a:cxn>
              <a:cxn ang="0">
                <a:pos x="34" y="38"/>
              </a:cxn>
            </a:cxnLst>
            <a:rect l="0" t="0" r="r" b="b"/>
            <a:pathLst>
              <a:path w="2340" h="3108">
                <a:moveTo>
                  <a:pt x="34" y="38"/>
                </a:moveTo>
                <a:lnTo>
                  <a:pt x="1438" y="0"/>
                </a:lnTo>
                <a:lnTo>
                  <a:pt x="2340" y="0"/>
                </a:lnTo>
                <a:lnTo>
                  <a:pt x="2320" y="2647"/>
                </a:lnTo>
                <a:cubicBezTo>
                  <a:pt x="2077" y="3108"/>
                  <a:pt x="1181" y="2749"/>
                  <a:pt x="883" y="2765"/>
                </a:cubicBezTo>
                <a:lnTo>
                  <a:pt x="530" y="2744"/>
                </a:lnTo>
                <a:cubicBezTo>
                  <a:pt x="400" y="2683"/>
                  <a:pt x="178" y="2597"/>
                  <a:pt x="104" y="2397"/>
                </a:cubicBezTo>
                <a:cubicBezTo>
                  <a:pt x="17" y="2203"/>
                  <a:pt x="16" y="1757"/>
                  <a:pt x="83" y="1543"/>
                </a:cubicBezTo>
                <a:cubicBezTo>
                  <a:pt x="85" y="1448"/>
                  <a:pt x="0" y="1441"/>
                  <a:pt x="29" y="1184"/>
                </a:cubicBezTo>
                <a:cubicBezTo>
                  <a:pt x="21" y="933"/>
                  <a:pt x="34" y="38"/>
                  <a:pt x="34" y="38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722313" y="3727450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105" name="Oval 9"/>
          <p:cNvSpPr>
            <a:spLocks noChangeArrowheads="1"/>
          </p:cNvSpPr>
          <p:nvPr/>
        </p:nvSpPr>
        <p:spPr bwMode="auto">
          <a:xfrm>
            <a:off x="2406650" y="3689350"/>
            <a:ext cx="73025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106" name="Oval 10"/>
          <p:cNvSpPr>
            <a:spLocks noChangeArrowheads="1"/>
          </p:cNvSpPr>
          <p:nvPr/>
        </p:nvSpPr>
        <p:spPr bwMode="auto">
          <a:xfrm>
            <a:off x="6243638" y="3689350"/>
            <a:ext cx="73025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107" name="Text Box 11"/>
          <p:cNvSpPr txBox="1">
            <a:spLocks noChangeArrowheads="1"/>
          </p:cNvSpPr>
          <p:nvPr/>
        </p:nvSpPr>
        <p:spPr bwMode="auto">
          <a:xfrm>
            <a:off x="2249488" y="3744913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4108" name="Text Box 12"/>
          <p:cNvSpPr txBox="1">
            <a:spLocks noChangeArrowheads="1"/>
          </p:cNvSpPr>
          <p:nvPr/>
        </p:nvSpPr>
        <p:spPr bwMode="auto">
          <a:xfrm>
            <a:off x="6122988" y="3340100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F’</a:t>
            </a:r>
          </a:p>
        </p:txBody>
      </p:sp>
      <p:sp>
        <p:nvSpPr>
          <p:cNvPr id="4109" name="Text Box 13"/>
          <p:cNvSpPr txBox="1">
            <a:spLocks noChangeArrowheads="1"/>
          </p:cNvSpPr>
          <p:nvPr/>
        </p:nvSpPr>
        <p:spPr bwMode="auto">
          <a:xfrm>
            <a:off x="3148013" y="537368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4112" name="Freeform 16"/>
          <p:cNvSpPr>
            <a:spLocks/>
          </p:cNvSpPr>
          <p:nvPr/>
        </p:nvSpPr>
        <p:spPr bwMode="auto">
          <a:xfrm>
            <a:off x="3724275" y="2708275"/>
            <a:ext cx="5303838" cy="2089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341" y="1316"/>
              </a:cxn>
            </a:cxnLst>
            <a:rect l="0" t="0" r="r" b="b"/>
            <a:pathLst>
              <a:path w="3341" h="1316">
                <a:moveTo>
                  <a:pt x="0" y="0"/>
                </a:moveTo>
                <a:lnTo>
                  <a:pt x="3341" y="1316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113" name="Freeform 17"/>
          <p:cNvSpPr>
            <a:spLocks/>
          </p:cNvSpPr>
          <p:nvPr/>
        </p:nvSpPr>
        <p:spPr bwMode="auto">
          <a:xfrm>
            <a:off x="906463" y="2720975"/>
            <a:ext cx="2817812" cy="1828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75" y="1152"/>
              </a:cxn>
            </a:cxnLst>
            <a:rect l="0" t="0" r="r" b="b"/>
            <a:pathLst>
              <a:path w="1775" h="1152">
                <a:moveTo>
                  <a:pt x="0" y="0"/>
                </a:moveTo>
                <a:lnTo>
                  <a:pt x="1775" y="1152"/>
                </a:lnTo>
              </a:path>
            </a:pathLst>
          </a:custGeom>
          <a:noFill/>
          <a:ln w="25400">
            <a:solidFill>
              <a:srgbClr val="993366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114" name="Line 18"/>
          <p:cNvSpPr>
            <a:spLocks noChangeShapeType="1"/>
          </p:cNvSpPr>
          <p:nvPr/>
        </p:nvSpPr>
        <p:spPr bwMode="auto">
          <a:xfrm>
            <a:off x="3724275" y="4559300"/>
            <a:ext cx="52578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115" name="Freeform 19"/>
          <p:cNvSpPr>
            <a:spLocks/>
          </p:cNvSpPr>
          <p:nvPr/>
        </p:nvSpPr>
        <p:spPr bwMode="auto">
          <a:xfrm>
            <a:off x="827088" y="2708275"/>
            <a:ext cx="8220075" cy="2014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178" y="1269"/>
              </a:cxn>
            </a:cxnLst>
            <a:rect l="0" t="0" r="r" b="b"/>
            <a:pathLst>
              <a:path w="5178" h="1269">
                <a:moveTo>
                  <a:pt x="0" y="0"/>
                </a:moveTo>
                <a:lnTo>
                  <a:pt x="5178" y="1269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grpSp>
        <p:nvGrpSpPr>
          <p:cNvPr id="4133" name="Group 37"/>
          <p:cNvGrpSpPr>
            <a:grpSpLocks/>
          </p:cNvGrpSpPr>
          <p:nvPr/>
        </p:nvGrpSpPr>
        <p:grpSpPr bwMode="auto">
          <a:xfrm>
            <a:off x="628650" y="2349500"/>
            <a:ext cx="520700" cy="1682750"/>
            <a:chOff x="396" y="1480"/>
            <a:chExt cx="328" cy="1060"/>
          </a:xfrm>
        </p:grpSpPr>
        <p:sp>
          <p:nvSpPr>
            <p:cNvPr id="4104" name="Line 8"/>
            <p:cNvSpPr>
              <a:spLocks noChangeShapeType="1"/>
            </p:cNvSpPr>
            <p:nvPr/>
          </p:nvSpPr>
          <p:spPr bwMode="auto">
            <a:xfrm flipV="1">
              <a:off x="577" y="1706"/>
              <a:ext cx="0" cy="63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4118" name="Text Box 22"/>
            <p:cNvSpPr txBox="1">
              <a:spLocks noChangeArrowheads="1"/>
            </p:cNvSpPr>
            <p:nvPr/>
          </p:nvSpPr>
          <p:spPr bwMode="auto">
            <a:xfrm>
              <a:off x="464" y="2309"/>
              <a:ext cx="2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120" name="Text Box 24"/>
            <p:cNvSpPr txBox="1">
              <a:spLocks noChangeArrowheads="1"/>
            </p:cNvSpPr>
            <p:nvPr/>
          </p:nvSpPr>
          <p:spPr bwMode="auto">
            <a:xfrm>
              <a:off x="487" y="1480"/>
              <a:ext cx="23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4122" name="Text Box 26"/>
            <p:cNvSpPr txBox="1">
              <a:spLocks noChangeArrowheads="1"/>
            </p:cNvSpPr>
            <p:nvPr/>
          </p:nvSpPr>
          <p:spPr bwMode="auto">
            <a:xfrm>
              <a:off x="396" y="1888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h</a:t>
              </a:r>
            </a:p>
          </p:txBody>
        </p:sp>
      </p:grpSp>
      <p:grpSp>
        <p:nvGrpSpPr>
          <p:cNvPr id="4134" name="Group 38"/>
          <p:cNvGrpSpPr>
            <a:grpSpLocks/>
          </p:cNvGrpSpPr>
          <p:nvPr/>
        </p:nvGrpSpPr>
        <p:grpSpPr bwMode="auto">
          <a:xfrm>
            <a:off x="8189913" y="3357563"/>
            <a:ext cx="590550" cy="1662112"/>
            <a:chOff x="5159" y="2115"/>
            <a:chExt cx="372" cy="1047"/>
          </a:xfrm>
        </p:grpSpPr>
        <p:sp>
          <p:nvSpPr>
            <p:cNvPr id="4117" name="Freeform 21"/>
            <p:cNvSpPr>
              <a:spLocks/>
            </p:cNvSpPr>
            <p:nvPr/>
          </p:nvSpPr>
          <p:spPr bwMode="auto">
            <a:xfrm>
              <a:off x="5287" y="2345"/>
              <a:ext cx="1" cy="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570"/>
                </a:cxn>
              </a:cxnLst>
              <a:rect l="0" t="0" r="r" b="b"/>
              <a:pathLst>
                <a:path w="14" h="570">
                  <a:moveTo>
                    <a:pt x="0" y="0"/>
                  </a:moveTo>
                  <a:lnTo>
                    <a:pt x="14" y="570"/>
                  </a:lnTo>
                </a:path>
              </a:pathLst>
            </a:custGeom>
            <a:noFill/>
            <a:ln w="25400">
              <a:solidFill>
                <a:srgbClr val="339966"/>
              </a:solidFill>
              <a:round/>
              <a:headEnd type="none" w="med" len="med"/>
              <a:tailEnd type="triangle" w="lg" len="lg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4119" name="Text Box 23"/>
            <p:cNvSpPr txBox="1">
              <a:spLocks noChangeArrowheads="1"/>
            </p:cNvSpPr>
            <p:nvPr/>
          </p:nvSpPr>
          <p:spPr bwMode="auto">
            <a:xfrm>
              <a:off x="5159" y="2115"/>
              <a:ext cx="2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A</a:t>
              </a:r>
              <a:r>
                <a:rPr lang="es-ES_tradnl">
                  <a:latin typeface="Times New Roman" pitchFamily="18" charset="0"/>
                </a:rPr>
                <a:t>’</a:t>
              </a:r>
              <a:endParaRPr lang="es-ES_tradnl" i="1">
                <a:latin typeface="Times New Roman" pitchFamily="18" charset="0"/>
              </a:endParaRPr>
            </a:p>
          </p:txBody>
        </p:sp>
        <p:sp>
          <p:nvSpPr>
            <p:cNvPr id="4121" name="Text Box 25"/>
            <p:cNvSpPr txBox="1">
              <a:spLocks noChangeArrowheads="1"/>
            </p:cNvSpPr>
            <p:nvPr/>
          </p:nvSpPr>
          <p:spPr bwMode="auto">
            <a:xfrm>
              <a:off x="5181" y="2931"/>
              <a:ext cx="2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B</a:t>
              </a:r>
              <a:r>
                <a:rPr lang="es-ES_tradnl">
                  <a:latin typeface="Times New Roman" pitchFamily="18" charset="0"/>
                </a:rPr>
                <a:t>’</a:t>
              </a:r>
            </a:p>
          </p:txBody>
        </p:sp>
        <p:sp>
          <p:nvSpPr>
            <p:cNvPr id="4123" name="Text Box 27"/>
            <p:cNvSpPr txBox="1">
              <a:spLocks noChangeArrowheads="1"/>
            </p:cNvSpPr>
            <p:nvPr/>
          </p:nvSpPr>
          <p:spPr bwMode="auto">
            <a:xfrm>
              <a:off x="5295" y="2478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h</a:t>
              </a:r>
              <a:r>
                <a:rPr lang="es-ES_tradnl">
                  <a:latin typeface="Times New Roman" pitchFamily="18" charset="0"/>
                </a:rPr>
                <a:t>’</a:t>
              </a:r>
              <a:endParaRPr lang="es-ES_tradnl" i="1">
                <a:latin typeface="Times New Roman" pitchFamily="18" charset="0"/>
              </a:endParaRPr>
            </a:p>
          </p:txBody>
        </p:sp>
      </p:grpSp>
      <p:sp>
        <p:nvSpPr>
          <p:cNvPr id="4124" name="Line 28"/>
          <p:cNvSpPr>
            <a:spLocks noChangeShapeType="1"/>
          </p:cNvSpPr>
          <p:nvPr/>
        </p:nvSpPr>
        <p:spPr bwMode="auto">
          <a:xfrm>
            <a:off x="915988" y="2708275"/>
            <a:ext cx="2808287" cy="1008063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125" name="Freeform 29"/>
          <p:cNvSpPr>
            <a:spLocks/>
          </p:cNvSpPr>
          <p:nvPr/>
        </p:nvSpPr>
        <p:spPr bwMode="auto">
          <a:xfrm>
            <a:off x="3724275" y="3716338"/>
            <a:ext cx="5143500" cy="9207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240" y="580"/>
              </a:cxn>
            </a:cxnLst>
            <a:rect l="0" t="0" r="r" b="b"/>
            <a:pathLst>
              <a:path w="3240" h="580">
                <a:moveTo>
                  <a:pt x="0" y="0"/>
                </a:moveTo>
                <a:lnTo>
                  <a:pt x="3240" y="580"/>
                </a:lnTo>
              </a:path>
            </a:pathLst>
          </a:custGeom>
          <a:noFill/>
          <a:ln w="25400">
            <a:solidFill>
              <a:srgbClr val="FF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129" name="Text Box 33"/>
          <p:cNvSpPr txBox="1">
            <a:spLocks noChangeArrowheads="1"/>
          </p:cNvSpPr>
          <p:nvPr/>
        </p:nvSpPr>
        <p:spPr bwMode="auto">
          <a:xfrm>
            <a:off x="4140200" y="5373688"/>
            <a:ext cx="450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’’</a:t>
            </a:r>
          </a:p>
        </p:txBody>
      </p:sp>
      <p:sp>
        <p:nvSpPr>
          <p:cNvPr id="4131" name="Text Box 35"/>
          <p:cNvSpPr txBox="1">
            <a:spLocks noChangeArrowheads="1"/>
          </p:cNvSpPr>
          <p:nvPr/>
        </p:nvSpPr>
        <p:spPr bwMode="auto">
          <a:xfrm>
            <a:off x="5643570" y="500042"/>
            <a:ext cx="26581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>
                <a:sym typeface="Symbol" pitchFamily="18" charset="2"/>
              </a:rPr>
              <a:t>&gt;0  Lente Convergente</a:t>
            </a:r>
          </a:p>
        </p:txBody>
      </p:sp>
      <p:sp>
        <p:nvSpPr>
          <p:cNvPr id="4132" name="Line 36"/>
          <p:cNvSpPr>
            <a:spLocks noChangeShapeType="1"/>
          </p:cNvSpPr>
          <p:nvPr/>
        </p:nvSpPr>
        <p:spPr bwMode="auto">
          <a:xfrm flipV="1">
            <a:off x="3751263" y="1573213"/>
            <a:ext cx="0" cy="43926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111" name="Line 15"/>
          <p:cNvSpPr>
            <a:spLocks noChangeShapeType="1"/>
          </p:cNvSpPr>
          <p:nvPr/>
        </p:nvSpPr>
        <p:spPr bwMode="auto">
          <a:xfrm>
            <a:off x="844550" y="2708275"/>
            <a:ext cx="2879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135" name="Text Box 39"/>
          <p:cNvSpPr txBox="1">
            <a:spLocks noChangeArrowheads="1"/>
          </p:cNvSpPr>
          <p:nvPr/>
        </p:nvSpPr>
        <p:spPr bwMode="auto">
          <a:xfrm>
            <a:off x="4621213" y="3170238"/>
            <a:ext cx="6032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/>
              <a:t>¿</a:t>
            </a:r>
            <a:r>
              <a:rPr lang="es-ES_tradnl" i="1">
                <a:latin typeface="Times New Roman" pitchFamily="18" charset="0"/>
              </a:rPr>
              <a:t>C</a:t>
            </a:r>
            <a:r>
              <a:rPr lang="es-ES_tradnl"/>
              <a:t>?</a:t>
            </a:r>
          </a:p>
          <a:p>
            <a:r>
              <a:rPr lang="es-ES_tradnl"/>
              <a:t>   </a:t>
            </a:r>
            <a:r>
              <a:rPr lang="es-ES_tradnl">
                <a:sym typeface="Symbol" pitchFamily="18" charset="2"/>
              </a:rPr>
              <a:t></a:t>
            </a:r>
          </a:p>
        </p:txBody>
      </p:sp>
      <p:grpSp>
        <p:nvGrpSpPr>
          <p:cNvPr id="4144" name="Group 48"/>
          <p:cNvGrpSpPr>
            <a:grpSpLocks/>
          </p:cNvGrpSpPr>
          <p:nvPr/>
        </p:nvGrpSpPr>
        <p:grpSpPr bwMode="auto">
          <a:xfrm>
            <a:off x="949325" y="5200650"/>
            <a:ext cx="2808288" cy="388938"/>
            <a:chOff x="598" y="3276"/>
            <a:chExt cx="1769" cy="245"/>
          </a:xfrm>
        </p:grpSpPr>
        <p:sp>
          <p:nvSpPr>
            <p:cNvPr id="4136" name="Line 40"/>
            <p:cNvSpPr>
              <a:spLocks noChangeShapeType="1"/>
            </p:cNvSpPr>
            <p:nvPr/>
          </p:nvSpPr>
          <p:spPr bwMode="auto">
            <a:xfrm flipH="1">
              <a:off x="598" y="3276"/>
              <a:ext cx="1769" cy="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4137" name="Text Box 41"/>
            <p:cNvSpPr txBox="1">
              <a:spLocks noChangeArrowheads="1"/>
            </p:cNvSpPr>
            <p:nvPr/>
          </p:nvSpPr>
          <p:spPr bwMode="auto">
            <a:xfrm>
              <a:off x="1144" y="3290"/>
              <a:ext cx="1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s</a:t>
              </a:r>
            </a:p>
          </p:txBody>
        </p:sp>
      </p:grpSp>
      <p:sp>
        <p:nvSpPr>
          <p:cNvPr id="4138" name="Freeform 42"/>
          <p:cNvSpPr>
            <a:spLocks/>
          </p:cNvSpPr>
          <p:nvPr/>
        </p:nvSpPr>
        <p:spPr bwMode="auto">
          <a:xfrm>
            <a:off x="2446338" y="4722813"/>
            <a:ext cx="1295400" cy="1587"/>
          </a:xfrm>
          <a:custGeom>
            <a:avLst/>
            <a:gdLst/>
            <a:ahLst/>
            <a:cxnLst>
              <a:cxn ang="0">
                <a:pos x="884" y="0"/>
              </a:cxn>
              <a:cxn ang="0">
                <a:pos x="0" y="2"/>
              </a:cxn>
            </a:cxnLst>
            <a:rect l="0" t="0" r="r" b="b"/>
            <a:pathLst>
              <a:path w="884" h="2">
                <a:moveTo>
                  <a:pt x="884" y="0"/>
                </a:moveTo>
                <a:lnTo>
                  <a:pt x="0" y="2"/>
                </a:lnTo>
              </a:path>
            </a:pathLst>
          </a:custGeom>
          <a:noFill/>
          <a:ln w="9525">
            <a:solidFill>
              <a:srgbClr val="969696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139" name="Text Box 43"/>
          <p:cNvSpPr txBox="1">
            <a:spLocks noChangeArrowheads="1"/>
          </p:cNvSpPr>
          <p:nvPr/>
        </p:nvSpPr>
        <p:spPr bwMode="auto">
          <a:xfrm>
            <a:off x="2771775" y="47244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 </a:t>
            </a:r>
          </a:p>
        </p:txBody>
      </p:sp>
      <p:grpSp>
        <p:nvGrpSpPr>
          <p:cNvPr id="4145" name="Group 49"/>
          <p:cNvGrpSpPr>
            <a:grpSpLocks/>
          </p:cNvGrpSpPr>
          <p:nvPr/>
        </p:nvGrpSpPr>
        <p:grpSpPr bwMode="auto">
          <a:xfrm>
            <a:off x="3779838" y="5118100"/>
            <a:ext cx="4608512" cy="366713"/>
            <a:chOff x="2381" y="3217"/>
            <a:chExt cx="2903" cy="231"/>
          </a:xfrm>
        </p:grpSpPr>
        <p:sp>
          <p:nvSpPr>
            <p:cNvPr id="4140" name="Line 44"/>
            <p:cNvSpPr>
              <a:spLocks noChangeShapeType="1"/>
            </p:cNvSpPr>
            <p:nvPr/>
          </p:nvSpPr>
          <p:spPr bwMode="auto">
            <a:xfrm>
              <a:off x="2381" y="3270"/>
              <a:ext cx="2903" cy="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4141" name="Text Box 45"/>
            <p:cNvSpPr txBox="1">
              <a:spLocks noChangeArrowheads="1"/>
            </p:cNvSpPr>
            <p:nvPr/>
          </p:nvSpPr>
          <p:spPr bwMode="auto">
            <a:xfrm flipH="1">
              <a:off x="3696" y="3217"/>
              <a:ext cx="2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s’</a:t>
              </a:r>
            </a:p>
          </p:txBody>
        </p:sp>
      </p:grpSp>
      <p:sp>
        <p:nvSpPr>
          <p:cNvPr id="4142" name="Freeform 46"/>
          <p:cNvSpPr>
            <a:spLocks/>
          </p:cNvSpPr>
          <p:nvPr/>
        </p:nvSpPr>
        <p:spPr bwMode="auto">
          <a:xfrm>
            <a:off x="3779838" y="4724400"/>
            <a:ext cx="2525712" cy="1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73" y="8"/>
              </a:cxn>
            </a:cxnLst>
            <a:rect l="0" t="0" r="r" b="b"/>
            <a:pathLst>
              <a:path w="1773" h="8">
                <a:moveTo>
                  <a:pt x="0" y="0"/>
                </a:moveTo>
                <a:lnTo>
                  <a:pt x="1773" y="8"/>
                </a:lnTo>
              </a:path>
            </a:pathLst>
          </a:custGeom>
          <a:noFill/>
          <a:ln w="9525">
            <a:solidFill>
              <a:srgbClr val="969696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143" name="Text Box 47"/>
          <p:cNvSpPr txBox="1">
            <a:spLocks noChangeArrowheads="1"/>
          </p:cNvSpPr>
          <p:nvPr/>
        </p:nvSpPr>
        <p:spPr bwMode="auto">
          <a:xfrm flipH="1">
            <a:off x="4932363" y="4724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f’ </a:t>
            </a:r>
          </a:p>
        </p:txBody>
      </p:sp>
      <p:sp>
        <p:nvSpPr>
          <p:cNvPr id="4146" name="Text Box 50"/>
          <p:cNvSpPr txBox="1">
            <a:spLocks noChangeArrowheads="1"/>
          </p:cNvSpPr>
          <p:nvPr/>
        </p:nvSpPr>
        <p:spPr bwMode="auto">
          <a:xfrm>
            <a:off x="8675688" y="6564313"/>
            <a:ext cx="2682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4</a:t>
            </a:r>
          </a:p>
        </p:txBody>
      </p:sp>
      <p:sp>
        <p:nvSpPr>
          <p:cNvPr id="46" name="45 CuadroTexto"/>
          <p:cNvSpPr txBox="1">
            <a:spLocks noChangeArrowheads="1"/>
          </p:cNvSpPr>
          <p:nvPr/>
        </p:nvSpPr>
        <p:spPr bwMode="auto">
          <a:xfrm>
            <a:off x="357188" y="6072210"/>
            <a:ext cx="84994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 dirty="0">
                <a:solidFill>
                  <a:srgbClr val="0000FF"/>
                </a:solidFill>
              </a:rPr>
              <a:t>(1) Incidente: dirección paralela al eje principal. Refractado: dirección que pasa por foco principal imagen</a:t>
            </a:r>
          </a:p>
        </p:txBody>
      </p:sp>
      <p:sp>
        <p:nvSpPr>
          <p:cNvPr id="47" name="46 CuadroTexto"/>
          <p:cNvSpPr txBox="1">
            <a:spLocks noChangeArrowheads="1"/>
          </p:cNvSpPr>
          <p:nvPr/>
        </p:nvSpPr>
        <p:spPr bwMode="auto">
          <a:xfrm>
            <a:off x="357188" y="6335735"/>
            <a:ext cx="824071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A50021"/>
                </a:solidFill>
              </a:rPr>
              <a:t>(2) Incidente: dirección pasa por el foco principal objeto. Refractado: dirección paralela al eje principal</a:t>
            </a:r>
          </a:p>
        </p:txBody>
      </p:sp>
      <p:sp>
        <p:nvSpPr>
          <p:cNvPr id="48" name="47 CuadroTexto"/>
          <p:cNvSpPr txBox="1">
            <a:spLocks noChangeArrowheads="1"/>
          </p:cNvSpPr>
          <p:nvPr/>
        </p:nvSpPr>
        <p:spPr bwMode="auto">
          <a:xfrm>
            <a:off x="2071670" y="2376489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49" name="48 CuadroTexto"/>
          <p:cNvSpPr txBox="1">
            <a:spLocks noChangeArrowheads="1"/>
          </p:cNvSpPr>
          <p:nvPr/>
        </p:nvSpPr>
        <p:spPr bwMode="auto">
          <a:xfrm>
            <a:off x="2071670" y="3214686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52" name="51 CuadroTexto"/>
          <p:cNvSpPr txBox="1">
            <a:spLocks noChangeArrowheads="1"/>
          </p:cNvSpPr>
          <p:nvPr/>
        </p:nvSpPr>
        <p:spPr bwMode="auto">
          <a:xfrm>
            <a:off x="357158" y="6550049"/>
            <a:ext cx="72635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 dirty="0">
                <a:solidFill>
                  <a:srgbClr val="00CCFF"/>
                </a:solidFill>
              </a:rPr>
              <a:t>(3) No hay tercer rayo principal; si habrá un rayo que no se desvía pero depende de </a:t>
            </a:r>
            <a:r>
              <a:rPr lang="es-ES" sz="1400" i="1" dirty="0">
                <a:solidFill>
                  <a:srgbClr val="00CCFF"/>
                </a:solidFill>
              </a:rPr>
              <a:t>s</a:t>
            </a:r>
            <a:r>
              <a:rPr lang="es-ES" sz="1400" dirty="0">
                <a:solidFill>
                  <a:srgbClr val="00CCFF"/>
                </a:solidFill>
              </a:rPr>
              <a:t> y </a:t>
            </a:r>
            <a:r>
              <a:rPr lang="es-ES" sz="1400" i="1" dirty="0">
                <a:solidFill>
                  <a:srgbClr val="00CCFF"/>
                </a:solidFill>
              </a:rPr>
              <a:t>h</a:t>
            </a:r>
            <a:endParaRPr lang="es-ES" sz="1400" dirty="0">
              <a:solidFill>
                <a:srgbClr val="00CCFF"/>
              </a:solidFill>
            </a:endParaRPr>
          </a:p>
        </p:txBody>
      </p:sp>
      <p:sp>
        <p:nvSpPr>
          <p:cNvPr id="53" name="52 CuadroTexto"/>
          <p:cNvSpPr txBox="1"/>
          <p:nvPr/>
        </p:nvSpPr>
        <p:spPr>
          <a:xfrm>
            <a:off x="5000628" y="279653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54" name="53 CuadroTexto"/>
          <p:cNvSpPr txBox="1">
            <a:spLocks noChangeArrowheads="1"/>
          </p:cNvSpPr>
          <p:nvPr/>
        </p:nvSpPr>
        <p:spPr bwMode="auto">
          <a:xfrm>
            <a:off x="2643188" y="2805110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CCFF"/>
                </a:solidFill>
              </a:rPr>
              <a:t>(3)</a:t>
            </a:r>
          </a:p>
        </p:txBody>
      </p:sp>
      <p:sp>
        <p:nvSpPr>
          <p:cNvPr id="55" name="54 Rectángulo"/>
          <p:cNvSpPr/>
          <p:nvPr/>
        </p:nvSpPr>
        <p:spPr>
          <a:xfrm>
            <a:off x="4572000" y="3143248"/>
            <a:ext cx="785818" cy="428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/>
          <p:cNvSpPr txBox="1"/>
          <p:nvPr/>
        </p:nvSpPr>
        <p:spPr>
          <a:xfrm>
            <a:off x="5746111" y="941463"/>
            <a:ext cx="23839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dirty="0"/>
              <a:t>Formación de imágenes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2" grpId="0" animBg="1"/>
      <p:bldP spid="4113" grpId="0" animBg="1"/>
      <p:bldP spid="4114" grpId="0" animBg="1"/>
      <p:bldP spid="4115" grpId="0" animBg="1"/>
      <p:bldP spid="4124" grpId="0" animBg="1"/>
      <p:bldP spid="4125" grpId="0" animBg="1"/>
      <p:bldP spid="4111" grpId="0" animBg="1"/>
      <p:bldP spid="4135" grpId="0"/>
      <p:bldP spid="4138" grpId="0" animBg="1"/>
      <p:bldP spid="4139" grpId="0"/>
      <p:bldP spid="4142" grpId="0" animBg="1"/>
      <p:bldP spid="4143" grpId="0"/>
      <p:bldP spid="4146" grpId="0"/>
      <p:bldP spid="46" grpId="0"/>
      <p:bldP spid="47" grpId="0"/>
      <p:bldP spid="48" grpId="0"/>
      <p:bldP spid="49" grpId="0"/>
      <p:bldP spid="52" grpId="0"/>
      <p:bldP spid="53" grpId="0"/>
      <p:bldP spid="54" grpId="0"/>
      <p:bldP spid="5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8" name="Freeform 44" descr="Ángulos"/>
          <p:cNvSpPr>
            <a:spLocks/>
          </p:cNvSpPr>
          <p:nvPr/>
        </p:nvSpPr>
        <p:spPr bwMode="auto">
          <a:xfrm>
            <a:off x="3768725" y="1657350"/>
            <a:ext cx="5537200" cy="4508500"/>
          </a:xfrm>
          <a:custGeom>
            <a:avLst/>
            <a:gdLst/>
            <a:ahLst/>
            <a:cxnLst>
              <a:cxn ang="0">
                <a:pos x="332" y="2642"/>
              </a:cxn>
              <a:cxn ang="0">
                <a:pos x="1887" y="2840"/>
              </a:cxn>
              <a:cxn ang="0">
                <a:pos x="1975" y="2833"/>
              </a:cxn>
              <a:cxn ang="0">
                <a:pos x="3250" y="2771"/>
              </a:cxn>
              <a:cxn ang="0">
                <a:pos x="3284" y="2500"/>
              </a:cxn>
              <a:cxn ang="0">
                <a:pos x="3338" y="2175"/>
              </a:cxn>
              <a:cxn ang="0">
                <a:pos x="3298" y="1470"/>
              </a:cxn>
              <a:cxn ang="0">
                <a:pos x="3284" y="853"/>
              </a:cxn>
              <a:cxn ang="0">
                <a:pos x="3250" y="142"/>
              </a:cxn>
              <a:cxn ang="0">
                <a:pos x="2810" y="27"/>
              </a:cxn>
              <a:cxn ang="0">
                <a:pos x="0" y="0"/>
              </a:cxn>
              <a:cxn ang="0">
                <a:pos x="7" y="2649"/>
              </a:cxn>
            </a:cxnLst>
            <a:rect l="0" t="0" r="r" b="b"/>
            <a:pathLst>
              <a:path w="3488" h="2840">
                <a:moveTo>
                  <a:pt x="332" y="2642"/>
                </a:moveTo>
                <a:cubicBezTo>
                  <a:pt x="206" y="2646"/>
                  <a:pt x="1665" y="2840"/>
                  <a:pt x="1887" y="2840"/>
                </a:cubicBezTo>
                <a:lnTo>
                  <a:pt x="1975" y="2833"/>
                </a:lnTo>
                <a:cubicBezTo>
                  <a:pt x="2202" y="2822"/>
                  <a:pt x="3032" y="2826"/>
                  <a:pt x="3250" y="2771"/>
                </a:cubicBezTo>
                <a:cubicBezTo>
                  <a:pt x="3488" y="2714"/>
                  <a:pt x="3269" y="2599"/>
                  <a:pt x="3284" y="2500"/>
                </a:cubicBezTo>
                <a:cubicBezTo>
                  <a:pt x="3299" y="2401"/>
                  <a:pt x="3336" y="2347"/>
                  <a:pt x="3338" y="2175"/>
                </a:cubicBezTo>
                <a:cubicBezTo>
                  <a:pt x="3336" y="2080"/>
                  <a:pt x="3300" y="1827"/>
                  <a:pt x="3298" y="1470"/>
                </a:cubicBezTo>
                <a:cubicBezTo>
                  <a:pt x="3289" y="1250"/>
                  <a:pt x="3292" y="1074"/>
                  <a:pt x="3284" y="853"/>
                </a:cubicBezTo>
                <a:cubicBezTo>
                  <a:pt x="3276" y="632"/>
                  <a:pt x="3329" y="280"/>
                  <a:pt x="3250" y="142"/>
                </a:cubicBezTo>
                <a:cubicBezTo>
                  <a:pt x="3171" y="4"/>
                  <a:pt x="3352" y="51"/>
                  <a:pt x="2810" y="27"/>
                </a:cubicBezTo>
                <a:lnTo>
                  <a:pt x="0" y="0"/>
                </a:lnTo>
                <a:lnTo>
                  <a:pt x="7" y="2649"/>
                </a:lnTo>
              </a:path>
            </a:pathLst>
          </a:custGeom>
          <a:pattFill prst="divot">
            <a:fgClr>
              <a:srgbClr val="99CC00">
                <a:alpha val="55000"/>
              </a:srgbClr>
            </a:fgClr>
            <a:bgClr>
              <a:schemeClr val="bg1">
                <a:alpha val="55000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1327150" y="395288"/>
          <a:ext cx="3741738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6" name="Ecuación" r:id="rId3" imgW="2336760" imgH="431640" progId="Equation.3">
                  <p:embed/>
                </p:oleObj>
              </mc:Choice>
              <mc:Fallback>
                <p:oleObj name="Ecuación" r:id="rId3" imgW="233676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395288"/>
                        <a:ext cx="3741738" cy="6905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5127625" y="5683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6149" name="Freeform 5" descr="Onda"/>
          <p:cNvSpPr>
            <a:spLocks/>
          </p:cNvSpPr>
          <p:nvPr/>
        </p:nvSpPr>
        <p:spPr bwMode="auto">
          <a:xfrm>
            <a:off x="65088" y="1628775"/>
            <a:ext cx="3714750" cy="4933950"/>
          </a:xfrm>
          <a:custGeom>
            <a:avLst/>
            <a:gdLst/>
            <a:ahLst/>
            <a:cxnLst>
              <a:cxn ang="0">
                <a:pos x="34" y="38"/>
              </a:cxn>
              <a:cxn ang="0">
                <a:pos x="1438" y="0"/>
              </a:cxn>
              <a:cxn ang="0">
                <a:pos x="2340" y="0"/>
              </a:cxn>
              <a:cxn ang="0">
                <a:pos x="2320" y="2647"/>
              </a:cxn>
              <a:cxn ang="0">
                <a:pos x="883" y="2765"/>
              </a:cxn>
              <a:cxn ang="0">
                <a:pos x="530" y="2744"/>
              </a:cxn>
              <a:cxn ang="0">
                <a:pos x="104" y="2397"/>
              </a:cxn>
              <a:cxn ang="0">
                <a:pos x="83" y="1543"/>
              </a:cxn>
              <a:cxn ang="0">
                <a:pos x="29" y="1184"/>
              </a:cxn>
              <a:cxn ang="0">
                <a:pos x="34" y="38"/>
              </a:cxn>
            </a:cxnLst>
            <a:rect l="0" t="0" r="r" b="b"/>
            <a:pathLst>
              <a:path w="2340" h="3108">
                <a:moveTo>
                  <a:pt x="34" y="38"/>
                </a:moveTo>
                <a:lnTo>
                  <a:pt x="1438" y="0"/>
                </a:lnTo>
                <a:lnTo>
                  <a:pt x="2340" y="0"/>
                </a:lnTo>
                <a:lnTo>
                  <a:pt x="2320" y="2647"/>
                </a:lnTo>
                <a:cubicBezTo>
                  <a:pt x="2077" y="3108"/>
                  <a:pt x="1181" y="2749"/>
                  <a:pt x="883" y="2765"/>
                </a:cubicBezTo>
                <a:lnTo>
                  <a:pt x="530" y="2744"/>
                </a:lnTo>
                <a:cubicBezTo>
                  <a:pt x="400" y="2683"/>
                  <a:pt x="178" y="2597"/>
                  <a:pt x="104" y="2397"/>
                </a:cubicBezTo>
                <a:cubicBezTo>
                  <a:pt x="17" y="2203"/>
                  <a:pt x="16" y="1757"/>
                  <a:pt x="83" y="1543"/>
                </a:cubicBezTo>
                <a:cubicBezTo>
                  <a:pt x="85" y="1448"/>
                  <a:pt x="0" y="1441"/>
                  <a:pt x="29" y="1184"/>
                </a:cubicBezTo>
                <a:cubicBezTo>
                  <a:pt x="21" y="933"/>
                  <a:pt x="34" y="38"/>
                  <a:pt x="34" y="38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722313" y="3727450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151" name="Oval 7"/>
          <p:cNvSpPr>
            <a:spLocks noChangeArrowheads="1"/>
          </p:cNvSpPr>
          <p:nvPr/>
        </p:nvSpPr>
        <p:spPr bwMode="auto">
          <a:xfrm>
            <a:off x="2406650" y="3689350"/>
            <a:ext cx="73025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6152" name="Oval 8"/>
          <p:cNvSpPr>
            <a:spLocks noChangeArrowheads="1"/>
          </p:cNvSpPr>
          <p:nvPr/>
        </p:nvSpPr>
        <p:spPr bwMode="auto">
          <a:xfrm>
            <a:off x="6243638" y="3689350"/>
            <a:ext cx="73025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2249488" y="3744913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6122988" y="3340100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F’</a:t>
            </a:r>
          </a:p>
        </p:txBody>
      </p:sp>
      <p:sp>
        <p:nvSpPr>
          <p:cNvPr id="6155" name="Text Box 11"/>
          <p:cNvSpPr txBox="1">
            <a:spLocks noChangeArrowheads="1"/>
          </p:cNvSpPr>
          <p:nvPr/>
        </p:nvSpPr>
        <p:spPr bwMode="auto">
          <a:xfrm>
            <a:off x="3148013" y="537368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6156" name="Freeform 12"/>
          <p:cNvSpPr>
            <a:spLocks/>
          </p:cNvSpPr>
          <p:nvPr/>
        </p:nvSpPr>
        <p:spPr bwMode="auto">
          <a:xfrm>
            <a:off x="3724275" y="2708275"/>
            <a:ext cx="5303838" cy="2089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341" y="1316"/>
              </a:cxn>
            </a:cxnLst>
            <a:rect l="0" t="0" r="r" b="b"/>
            <a:pathLst>
              <a:path w="3341" h="1316">
                <a:moveTo>
                  <a:pt x="0" y="0"/>
                </a:moveTo>
                <a:lnTo>
                  <a:pt x="3341" y="1316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157" name="Freeform 13"/>
          <p:cNvSpPr>
            <a:spLocks/>
          </p:cNvSpPr>
          <p:nvPr/>
        </p:nvSpPr>
        <p:spPr bwMode="auto">
          <a:xfrm>
            <a:off x="906463" y="2720975"/>
            <a:ext cx="2817812" cy="1828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75" y="1152"/>
              </a:cxn>
            </a:cxnLst>
            <a:rect l="0" t="0" r="r" b="b"/>
            <a:pathLst>
              <a:path w="1775" h="1152">
                <a:moveTo>
                  <a:pt x="0" y="0"/>
                </a:moveTo>
                <a:lnTo>
                  <a:pt x="1775" y="1152"/>
                </a:lnTo>
              </a:path>
            </a:pathLst>
          </a:custGeom>
          <a:noFill/>
          <a:ln w="25400">
            <a:solidFill>
              <a:srgbClr val="993366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158" name="Line 14"/>
          <p:cNvSpPr>
            <a:spLocks noChangeShapeType="1"/>
          </p:cNvSpPr>
          <p:nvPr/>
        </p:nvSpPr>
        <p:spPr bwMode="auto">
          <a:xfrm>
            <a:off x="3724275" y="4559300"/>
            <a:ext cx="52578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172" name="Text Box 28"/>
          <p:cNvSpPr txBox="1">
            <a:spLocks noChangeArrowheads="1"/>
          </p:cNvSpPr>
          <p:nvPr/>
        </p:nvSpPr>
        <p:spPr bwMode="auto">
          <a:xfrm>
            <a:off x="4067175" y="5367338"/>
            <a:ext cx="450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’’</a:t>
            </a:r>
          </a:p>
        </p:txBody>
      </p:sp>
      <p:sp>
        <p:nvSpPr>
          <p:cNvPr id="6174" name="Line 30"/>
          <p:cNvSpPr>
            <a:spLocks noChangeShapeType="1"/>
          </p:cNvSpPr>
          <p:nvPr/>
        </p:nvSpPr>
        <p:spPr bwMode="auto">
          <a:xfrm flipV="1">
            <a:off x="3762375" y="1573213"/>
            <a:ext cx="0" cy="43926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175" name="Line 31"/>
          <p:cNvSpPr>
            <a:spLocks noChangeShapeType="1"/>
          </p:cNvSpPr>
          <p:nvPr/>
        </p:nvSpPr>
        <p:spPr bwMode="auto">
          <a:xfrm>
            <a:off x="844550" y="2708275"/>
            <a:ext cx="2879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177" name="Arc 33"/>
          <p:cNvSpPr>
            <a:spLocks/>
          </p:cNvSpPr>
          <p:nvPr/>
        </p:nvSpPr>
        <p:spPr bwMode="auto">
          <a:xfrm flipH="1">
            <a:off x="1831975" y="3429000"/>
            <a:ext cx="73025" cy="287338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6179" name="Arc 35"/>
          <p:cNvSpPr>
            <a:spLocks/>
          </p:cNvSpPr>
          <p:nvPr/>
        </p:nvSpPr>
        <p:spPr bwMode="auto">
          <a:xfrm flipV="1">
            <a:off x="2952750" y="3717925"/>
            <a:ext cx="73025" cy="287338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6180" name="Text Box 36"/>
          <p:cNvSpPr txBox="1">
            <a:spLocks noChangeArrowheads="1"/>
          </p:cNvSpPr>
          <p:nvPr/>
        </p:nvSpPr>
        <p:spPr bwMode="auto">
          <a:xfrm>
            <a:off x="1866900" y="3422650"/>
            <a:ext cx="3286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imes New Roman" pitchFamily="18" charset="0"/>
                <a:sym typeface="Symbol" pitchFamily="18" charset="2"/>
              </a:rPr>
              <a:t></a:t>
            </a:r>
          </a:p>
        </p:txBody>
      </p:sp>
      <p:sp>
        <p:nvSpPr>
          <p:cNvPr id="6181" name="Text Box 37"/>
          <p:cNvSpPr txBox="1">
            <a:spLocks noChangeArrowheads="1"/>
          </p:cNvSpPr>
          <p:nvPr/>
        </p:nvSpPr>
        <p:spPr bwMode="auto">
          <a:xfrm>
            <a:off x="2667000" y="3633788"/>
            <a:ext cx="3286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imes New Roman" pitchFamily="18" charset="0"/>
                <a:sym typeface="Symbol" pitchFamily="18" charset="2"/>
              </a:rPr>
              <a:t></a:t>
            </a:r>
          </a:p>
        </p:txBody>
      </p:sp>
      <p:sp>
        <p:nvSpPr>
          <p:cNvPr id="6183" name="Text Box 39"/>
          <p:cNvSpPr txBox="1">
            <a:spLocks noChangeArrowheads="1"/>
          </p:cNvSpPr>
          <p:nvPr/>
        </p:nvSpPr>
        <p:spPr bwMode="auto">
          <a:xfrm>
            <a:off x="6659563" y="3633788"/>
            <a:ext cx="4048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imes New Roman" pitchFamily="18" charset="0"/>
                <a:sym typeface="Symbol" pitchFamily="18" charset="2"/>
              </a:rPr>
              <a:t>’</a:t>
            </a:r>
          </a:p>
        </p:txBody>
      </p:sp>
      <p:sp>
        <p:nvSpPr>
          <p:cNvPr id="6184" name="Arc 40"/>
          <p:cNvSpPr>
            <a:spLocks/>
          </p:cNvSpPr>
          <p:nvPr/>
        </p:nvSpPr>
        <p:spPr bwMode="auto">
          <a:xfrm flipH="1">
            <a:off x="5507038" y="3454400"/>
            <a:ext cx="73025" cy="261938"/>
          </a:xfrm>
          <a:custGeom>
            <a:avLst/>
            <a:gdLst>
              <a:gd name="G0" fmla="+- 0 0 0"/>
              <a:gd name="G1" fmla="+- 19700 0 0"/>
              <a:gd name="G2" fmla="+- 21600 0 0"/>
              <a:gd name="T0" fmla="*/ 8859 w 21600"/>
              <a:gd name="T1" fmla="*/ 0 h 19700"/>
              <a:gd name="T2" fmla="*/ 21600 w 21600"/>
              <a:gd name="T3" fmla="*/ 19700 h 19700"/>
              <a:gd name="T4" fmla="*/ 0 w 21600"/>
              <a:gd name="T5" fmla="*/ 19700 h 19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9700" fill="none" extrusionOk="0">
                <a:moveTo>
                  <a:pt x="8858" y="0"/>
                </a:moveTo>
                <a:cubicBezTo>
                  <a:pt x="16612" y="3487"/>
                  <a:pt x="21600" y="11198"/>
                  <a:pt x="21600" y="19700"/>
                </a:cubicBezTo>
              </a:path>
              <a:path w="21600" h="19700" stroke="0" extrusionOk="0">
                <a:moveTo>
                  <a:pt x="8858" y="0"/>
                </a:moveTo>
                <a:cubicBezTo>
                  <a:pt x="16612" y="3487"/>
                  <a:pt x="21600" y="11198"/>
                  <a:pt x="21600" y="19700"/>
                </a:cubicBezTo>
                <a:lnTo>
                  <a:pt x="0" y="197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6185" name="Text Box 41"/>
          <p:cNvSpPr txBox="1">
            <a:spLocks noChangeArrowheads="1"/>
          </p:cNvSpPr>
          <p:nvPr/>
        </p:nvSpPr>
        <p:spPr bwMode="auto">
          <a:xfrm>
            <a:off x="5453063" y="3429000"/>
            <a:ext cx="4048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imes New Roman" pitchFamily="18" charset="0"/>
                <a:sym typeface="Symbol" pitchFamily="18" charset="2"/>
              </a:rPr>
              <a:t>’</a:t>
            </a:r>
          </a:p>
        </p:txBody>
      </p:sp>
      <p:sp>
        <p:nvSpPr>
          <p:cNvPr id="6186" name="Arc 42"/>
          <p:cNvSpPr>
            <a:spLocks/>
          </p:cNvSpPr>
          <p:nvPr/>
        </p:nvSpPr>
        <p:spPr bwMode="auto">
          <a:xfrm flipV="1">
            <a:off x="7019925" y="3716338"/>
            <a:ext cx="73025" cy="261937"/>
          </a:xfrm>
          <a:custGeom>
            <a:avLst/>
            <a:gdLst>
              <a:gd name="G0" fmla="+- 0 0 0"/>
              <a:gd name="G1" fmla="+- 19700 0 0"/>
              <a:gd name="G2" fmla="+- 21600 0 0"/>
              <a:gd name="T0" fmla="*/ 8859 w 21600"/>
              <a:gd name="T1" fmla="*/ 0 h 19700"/>
              <a:gd name="T2" fmla="*/ 21600 w 21600"/>
              <a:gd name="T3" fmla="*/ 19700 h 19700"/>
              <a:gd name="T4" fmla="*/ 0 w 21600"/>
              <a:gd name="T5" fmla="*/ 19700 h 19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9700" fill="none" extrusionOk="0">
                <a:moveTo>
                  <a:pt x="8858" y="0"/>
                </a:moveTo>
                <a:cubicBezTo>
                  <a:pt x="16612" y="3487"/>
                  <a:pt x="21600" y="11198"/>
                  <a:pt x="21600" y="19700"/>
                </a:cubicBezTo>
              </a:path>
              <a:path w="21600" h="19700" stroke="0" extrusionOk="0">
                <a:moveTo>
                  <a:pt x="8858" y="0"/>
                </a:moveTo>
                <a:cubicBezTo>
                  <a:pt x="16612" y="3487"/>
                  <a:pt x="21600" y="11198"/>
                  <a:pt x="21600" y="19700"/>
                </a:cubicBezTo>
                <a:lnTo>
                  <a:pt x="0" y="197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graphicFrame>
        <p:nvGraphicFramePr>
          <p:cNvPr id="6187" name="Object 43"/>
          <p:cNvGraphicFramePr>
            <a:graphicFrameLocks noChangeAspect="1"/>
          </p:cNvGraphicFramePr>
          <p:nvPr/>
        </p:nvGraphicFramePr>
        <p:xfrm>
          <a:off x="5795963" y="442913"/>
          <a:ext cx="1341437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7" name="Ecuación" r:id="rId5" imgW="838080" imgH="393480" progId="Equation.3">
                  <p:embed/>
                </p:oleObj>
              </mc:Choice>
              <mc:Fallback>
                <p:oleObj name="Ecuación" r:id="rId5" imgW="838080" imgH="39348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442913"/>
                        <a:ext cx="1341437" cy="63023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89" name="Group 45"/>
          <p:cNvGrpSpPr>
            <a:grpSpLocks/>
          </p:cNvGrpSpPr>
          <p:nvPr/>
        </p:nvGrpSpPr>
        <p:grpSpPr bwMode="auto">
          <a:xfrm>
            <a:off x="949325" y="5200650"/>
            <a:ext cx="2808288" cy="388938"/>
            <a:chOff x="598" y="3276"/>
            <a:chExt cx="1769" cy="245"/>
          </a:xfrm>
        </p:grpSpPr>
        <p:sp>
          <p:nvSpPr>
            <p:cNvPr id="6190" name="Line 46"/>
            <p:cNvSpPr>
              <a:spLocks noChangeShapeType="1"/>
            </p:cNvSpPr>
            <p:nvPr/>
          </p:nvSpPr>
          <p:spPr bwMode="auto">
            <a:xfrm flipH="1">
              <a:off x="598" y="3276"/>
              <a:ext cx="1769" cy="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6191" name="Text Box 47"/>
            <p:cNvSpPr txBox="1">
              <a:spLocks noChangeArrowheads="1"/>
            </p:cNvSpPr>
            <p:nvPr/>
          </p:nvSpPr>
          <p:spPr bwMode="auto">
            <a:xfrm>
              <a:off x="1144" y="3290"/>
              <a:ext cx="1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s</a:t>
              </a:r>
            </a:p>
          </p:txBody>
        </p:sp>
      </p:grpSp>
      <p:grpSp>
        <p:nvGrpSpPr>
          <p:cNvPr id="6192" name="Group 48"/>
          <p:cNvGrpSpPr>
            <a:grpSpLocks/>
          </p:cNvGrpSpPr>
          <p:nvPr/>
        </p:nvGrpSpPr>
        <p:grpSpPr bwMode="auto">
          <a:xfrm>
            <a:off x="3779838" y="5118100"/>
            <a:ext cx="4608512" cy="366713"/>
            <a:chOff x="2381" y="3217"/>
            <a:chExt cx="2903" cy="231"/>
          </a:xfrm>
        </p:grpSpPr>
        <p:sp>
          <p:nvSpPr>
            <p:cNvPr id="6193" name="Line 49"/>
            <p:cNvSpPr>
              <a:spLocks noChangeShapeType="1"/>
            </p:cNvSpPr>
            <p:nvPr/>
          </p:nvSpPr>
          <p:spPr bwMode="auto">
            <a:xfrm>
              <a:off x="2381" y="3270"/>
              <a:ext cx="2903" cy="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6194" name="Text Box 50"/>
            <p:cNvSpPr txBox="1">
              <a:spLocks noChangeArrowheads="1"/>
            </p:cNvSpPr>
            <p:nvPr/>
          </p:nvSpPr>
          <p:spPr bwMode="auto">
            <a:xfrm flipH="1">
              <a:off x="3696" y="3217"/>
              <a:ext cx="2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s’</a:t>
              </a:r>
            </a:p>
          </p:txBody>
        </p:sp>
      </p:grpSp>
      <p:sp>
        <p:nvSpPr>
          <p:cNvPr id="6195" name="Freeform 51"/>
          <p:cNvSpPr>
            <a:spLocks/>
          </p:cNvSpPr>
          <p:nvPr/>
        </p:nvSpPr>
        <p:spPr bwMode="auto">
          <a:xfrm>
            <a:off x="827088" y="2708275"/>
            <a:ext cx="8220075" cy="2014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178" y="1269"/>
              </a:cxn>
            </a:cxnLst>
            <a:rect l="0" t="0" r="r" b="b"/>
            <a:pathLst>
              <a:path w="5178" h="1269">
                <a:moveTo>
                  <a:pt x="0" y="0"/>
                </a:moveTo>
                <a:lnTo>
                  <a:pt x="5178" y="1269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196" name="Line 52"/>
          <p:cNvSpPr>
            <a:spLocks noChangeShapeType="1"/>
          </p:cNvSpPr>
          <p:nvPr/>
        </p:nvSpPr>
        <p:spPr bwMode="auto">
          <a:xfrm>
            <a:off x="915988" y="2708275"/>
            <a:ext cx="2808287" cy="1008063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197" name="Freeform 53"/>
          <p:cNvSpPr>
            <a:spLocks/>
          </p:cNvSpPr>
          <p:nvPr/>
        </p:nvSpPr>
        <p:spPr bwMode="auto">
          <a:xfrm>
            <a:off x="3724275" y="3716338"/>
            <a:ext cx="5143500" cy="9207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240" y="580"/>
              </a:cxn>
            </a:cxnLst>
            <a:rect l="0" t="0" r="r" b="b"/>
            <a:pathLst>
              <a:path w="3240" h="580">
                <a:moveTo>
                  <a:pt x="0" y="0"/>
                </a:moveTo>
                <a:lnTo>
                  <a:pt x="3240" y="580"/>
                </a:lnTo>
              </a:path>
            </a:pathLst>
          </a:custGeom>
          <a:noFill/>
          <a:ln w="25400">
            <a:solidFill>
              <a:srgbClr val="FF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198" name="Text Box 54"/>
          <p:cNvSpPr txBox="1">
            <a:spLocks noChangeArrowheads="1"/>
          </p:cNvSpPr>
          <p:nvPr/>
        </p:nvSpPr>
        <p:spPr bwMode="auto">
          <a:xfrm>
            <a:off x="447675" y="6253163"/>
            <a:ext cx="26581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>
                <a:sym typeface="Symbol" pitchFamily="18" charset="2"/>
              </a:rPr>
              <a:t>&gt;0  Lente Convergente</a:t>
            </a:r>
          </a:p>
        </p:txBody>
      </p:sp>
      <p:sp>
        <p:nvSpPr>
          <p:cNvPr id="6199" name="Freeform 55"/>
          <p:cNvSpPr>
            <a:spLocks/>
          </p:cNvSpPr>
          <p:nvPr/>
        </p:nvSpPr>
        <p:spPr bwMode="auto">
          <a:xfrm>
            <a:off x="2446338" y="4722813"/>
            <a:ext cx="1295400" cy="1587"/>
          </a:xfrm>
          <a:custGeom>
            <a:avLst/>
            <a:gdLst/>
            <a:ahLst/>
            <a:cxnLst>
              <a:cxn ang="0">
                <a:pos x="884" y="0"/>
              </a:cxn>
              <a:cxn ang="0">
                <a:pos x="0" y="2"/>
              </a:cxn>
            </a:cxnLst>
            <a:rect l="0" t="0" r="r" b="b"/>
            <a:pathLst>
              <a:path w="884" h="2">
                <a:moveTo>
                  <a:pt x="884" y="0"/>
                </a:moveTo>
                <a:lnTo>
                  <a:pt x="0" y="2"/>
                </a:lnTo>
              </a:path>
            </a:pathLst>
          </a:custGeom>
          <a:noFill/>
          <a:ln w="9525">
            <a:solidFill>
              <a:srgbClr val="969696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200" name="Text Box 56"/>
          <p:cNvSpPr txBox="1">
            <a:spLocks noChangeArrowheads="1"/>
          </p:cNvSpPr>
          <p:nvPr/>
        </p:nvSpPr>
        <p:spPr bwMode="auto">
          <a:xfrm>
            <a:off x="2771775" y="47244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 </a:t>
            </a:r>
          </a:p>
        </p:txBody>
      </p:sp>
      <p:sp>
        <p:nvSpPr>
          <p:cNvPr id="6201" name="Freeform 57"/>
          <p:cNvSpPr>
            <a:spLocks/>
          </p:cNvSpPr>
          <p:nvPr/>
        </p:nvSpPr>
        <p:spPr bwMode="auto">
          <a:xfrm>
            <a:off x="3779838" y="4724400"/>
            <a:ext cx="2525712" cy="1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73" y="8"/>
              </a:cxn>
            </a:cxnLst>
            <a:rect l="0" t="0" r="r" b="b"/>
            <a:pathLst>
              <a:path w="1773" h="8">
                <a:moveTo>
                  <a:pt x="0" y="0"/>
                </a:moveTo>
                <a:lnTo>
                  <a:pt x="1773" y="8"/>
                </a:lnTo>
              </a:path>
            </a:pathLst>
          </a:custGeom>
          <a:noFill/>
          <a:ln w="9525">
            <a:solidFill>
              <a:srgbClr val="969696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202" name="Text Box 58"/>
          <p:cNvSpPr txBox="1">
            <a:spLocks noChangeArrowheads="1"/>
          </p:cNvSpPr>
          <p:nvPr/>
        </p:nvSpPr>
        <p:spPr bwMode="auto">
          <a:xfrm flipH="1">
            <a:off x="4932363" y="4724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f’ </a:t>
            </a:r>
          </a:p>
        </p:txBody>
      </p:sp>
      <p:sp>
        <p:nvSpPr>
          <p:cNvPr id="6203" name="Text Box 59"/>
          <p:cNvSpPr txBox="1">
            <a:spLocks noChangeArrowheads="1"/>
          </p:cNvSpPr>
          <p:nvPr/>
        </p:nvSpPr>
        <p:spPr bwMode="auto">
          <a:xfrm>
            <a:off x="8675688" y="6564313"/>
            <a:ext cx="2682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5</a:t>
            </a:r>
          </a:p>
        </p:txBody>
      </p:sp>
      <p:grpSp>
        <p:nvGrpSpPr>
          <p:cNvPr id="6160" name="Group 16"/>
          <p:cNvGrpSpPr>
            <a:grpSpLocks/>
          </p:cNvGrpSpPr>
          <p:nvPr/>
        </p:nvGrpSpPr>
        <p:grpSpPr bwMode="auto">
          <a:xfrm>
            <a:off x="628650" y="2349500"/>
            <a:ext cx="520700" cy="1682750"/>
            <a:chOff x="396" y="1480"/>
            <a:chExt cx="328" cy="1060"/>
          </a:xfrm>
        </p:grpSpPr>
        <p:sp>
          <p:nvSpPr>
            <p:cNvPr id="6161" name="Line 17"/>
            <p:cNvSpPr>
              <a:spLocks noChangeShapeType="1"/>
            </p:cNvSpPr>
            <p:nvPr/>
          </p:nvSpPr>
          <p:spPr bwMode="auto">
            <a:xfrm flipV="1">
              <a:off x="577" y="1706"/>
              <a:ext cx="0" cy="63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6162" name="Text Box 18"/>
            <p:cNvSpPr txBox="1">
              <a:spLocks noChangeArrowheads="1"/>
            </p:cNvSpPr>
            <p:nvPr/>
          </p:nvSpPr>
          <p:spPr bwMode="auto">
            <a:xfrm>
              <a:off x="464" y="2309"/>
              <a:ext cx="2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6163" name="Text Box 19"/>
            <p:cNvSpPr txBox="1">
              <a:spLocks noChangeArrowheads="1"/>
            </p:cNvSpPr>
            <p:nvPr/>
          </p:nvSpPr>
          <p:spPr bwMode="auto">
            <a:xfrm>
              <a:off x="487" y="1480"/>
              <a:ext cx="23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6164" name="Text Box 20"/>
            <p:cNvSpPr txBox="1">
              <a:spLocks noChangeArrowheads="1"/>
            </p:cNvSpPr>
            <p:nvPr/>
          </p:nvSpPr>
          <p:spPr bwMode="auto">
            <a:xfrm>
              <a:off x="396" y="1888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h</a:t>
              </a:r>
            </a:p>
          </p:txBody>
        </p:sp>
      </p:grpSp>
      <p:grpSp>
        <p:nvGrpSpPr>
          <p:cNvPr id="6165" name="Group 21"/>
          <p:cNvGrpSpPr>
            <a:grpSpLocks/>
          </p:cNvGrpSpPr>
          <p:nvPr/>
        </p:nvGrpSpPr>
        <p:grpSpPr bwMode="auto">
          <a:xfrm>
            <a:off x="8189913" y="3357563"/>
            <a:ext cx="590550" cy="1662112"/>
            <a:chOff x="5159" y="2115"/>
            <a:chExt cx="372" cy="1047"/>
          </a:xfrm>
        </p:grpSpPr>
        <p:sp>
          <p:nvSpPr>
            <p:cNvPr id="6166" name="Freeform 22"/>
            <p:cNvSpPr>
              <a:spLocks/>
            </p:cNvSpPr>
            <p:nvPr/>
          </p:nvSpPr>
          <p:spPr bwMode="auto">
            <a:xfrm>
              <a:off x="5287" y="2345"/>
              <a:ext cx="1" cy="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570"/>
                </a:cxn>
              </a:cxnLst>
              <a:rect l="0" t="0" r="r" b="b"/>
              <a:pathLst>
                <a:path w="14" h="570">
                  <a:moveTo>
                    <a:pt x="0" y="0"/>
                  </a:moveTo>
                  <a:lnTo>
                    <a:pt x="14" y="570"/>
                  </a:lnTo>
                </a:path>
              </a:pathLst>
            </a:custGeom>
            <a:noFill/>
            <a:ln w="25400">
              <a:solidFill>
                <a:srgbClr val="339966"/>
              </a:solidFill>
              <a:round/>
              <a:headEnd type="none" w="med" len="med"/>
              <a:tailEnd type="triangle" w="lg" len="lg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6167" name="Text Box 23"/>
            <p:cNvSpPr txBox="1">
              <a:spLocks noChangeArrowheads="1"/>
            </p:cNvSpPr>
            <p:nvPr/>
          </p:nvSpPr>
          <p:spPr bwMode="auto">
            <a:xfrm>
              <a:off x="5159" y="2115"/>
              <a:ext cx="2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A</a:t>
              </a:r>
              <a:r>
                <a:rPr lang="es-ES_tradnl">
                  <a:latin typeface="Times New Roman" pitchFamily="18" charset="0"/>
                </a:rPr>
                <a:t>’</a:t>
              </a:r>
              <a:endParaRPr lang="es-ES_tradnl" i="1">
                <a:latin typeface="Times New Roman" pitchFamily="18" charset="0"/>
              </a:endParaRPr>
            </a:p>
          </p:txBody>
        </p:sp>
        <p:sp>
          <p:nvSpPr>
            <p:cNvPr id="6168" name="Text Box 24"/>
            <p:cNvSpPr txBox="1">
              <a:spLocks noChangeArrowheads="1"/>
            </p:cNvSpPr>
            <p:nvPr/>
          </p:nvSpPr>
          <p:spPr bwMode="auto">
            <a:xfrm>
              <a:off x="5181" y="2931"/>
              <a:ext cx="2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B</a:t>
              </a:r>
              <a:r>
                <a:rPr lang="es-ES_tradnl">
                  <a:latin typeface="Times New Roman" pitchFamily="18" charset="0"/>
                </a:rPr>
                <a:t>’</a:t>
              </a:r>
            </a:p>
          </p:txBody>
        </p:sp>
        <p:sp>
          <p:nvSpPr>
            <p:cNvPr id="6169" name="Text Box 25"/>
            <p:cNvSpPr txBox="1">
              <a:spLocks noChangeArrowheads="1"/>
            </p:cNvSpPr>
            <p:nvPr/>
          </p:nvSpPr>
          <p:spPr bwMode="auto">
            <a:xfrm>
              <a:off x="5295" y="2478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h</a:t>
              </a:r>
              <a:r>
                <a:rPr lang="es-ES_tradnl">
                  <a:latin typeface="Times New Roman" pitchFamily="18" charset="0"/>
                </a:rPr>
                <a:t>’</a:t>
              </a:r>
              <a:endParaRPr lang="es-ES_tradnl" i="1">
                <a:latin typeface="Times New Roman" pitchFamily="18" charset="0"/>
              </a:endParaRPr>
            </a:p>
          </p:txBody>
        </p:sp>
      </p:grpSp>
      <p:sp>
        <p:nvSpPr>
          <p:cNvPr id="6204" name="Text Box 60"/>
          <p:cNvSpPr txBox="1">
            <a:spLocks noChangeArrowheads="1"/>
          </p:cNvSpPr>
          <p:nvPr/>
        </p:nvSpPr>
        <p:spPr bwMode="auto">
          <a:xfrm>
            <a:off x="231775" y="1144588"/>
            <a:ext cx="2051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/>
              <a:t>¿Aumento lateral?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0"/>
                                        <p:tgtEl>
                                          <p:spTgt spid="6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7" grpId="0" animBg="1"/>
      <p:bldP spid="6179" grpId="0" animBg="1"/>
      <p:bldP spid="6180" grpId="0"/>
      <p:bldP spid="6181" grpId="0"/>
      <p:bldP spid="6183" grpId="0"/>
      <p:bldP spid="6184" grpId="0" animBg="1"/>
      <p:bldP spid="6185" grpId="0"/>
      <p:bldP spid="6186" grpId="0" animBg="1"/>
      <p:bldP spid="6195" grpId="0" animBg="1"/>
      <p:bldP spid="6196" grpId="0" animBg="1"/>
      <p:bldP spid="6197" grpId="0" animBg="1"/>
      <p:bldP spid="6198" grpId="0"/>
      <p:bldP spid="6199" grpId="0" animBg="1"/>
      <p:bldP spid="6200" grpId="1"/>
      <p:bldP spid="6201" grpId="0" animBg="1"/>
      <p:bldP spid="6202" grpId="1"/>
      <p:bldP spid="6203" grpId="0"/>
      <p:bldP spid="620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64" name="Group 80"/>
          <p:cNvGrpSpPr>
            <a:grpSpLocks/>
          </p:cNvGrpSpPr>
          <p:nvPr/>
        </p:nvGrpSpPr>
        <p:grpSpPr bwMode="auto">
          <a:xfrm>
            <a:off x="1863725" y="476250"/>
            <a:ext cx="5229225" cy="2000250"/>
            <a:chOff x="1174" y="300"/>
            <a:chExt cx="3294" cy="1260"/>
          </a:xfrm>
        </p:grpSpPr>
        <p:sp>
          <p:nvSpPr>
            <p:cNvPr id="16390" name="Freeform 6" descr="Ángulos"/>
            <p:cNvSpPr>
              <a:spLocks noChangeAspect="1"/>
            </p:cNvSpPr>
            <p:nvPr/>
          </p:nvSpPr>
          <p:spPr bwMode="auto">
            <a:xfrm>
              <a:off x="2874" y="366"/>
              <a:ext cx="1594" cy="1194"/>
            </a:xfrm>
            <a:custGeom>
              <a:avLst/>
              <a:gdLst/>
              <a:ahLst/>
              <a:cxnLst>
                <a:cxn ang="0">
                  <a:pos x="989" y="65"/>
                </a:cxn>
                <a:cxn ang="0">
                  <a:pos x="290" y="0"/>
                </a:cxn>
                <a:cxn ang="0">
                  <a:pos x="0" y="24"/>
                </a:cxn>
                <a:cxn ang="0">
                  <a:pos x="7" y="1027"/>
                </a:cxn>
                <a:cxn ang="0">
                  <a:pos x="461" y="1027"/>
                </a:cxn>
                <a:cxn ang="0">
                  <a:pos x="772" y="1067"/>
                </a:cxn>
                <a:cxn ang="0">
                  <a:pos x="1500" y="1016"/>
                </a:cxn>
                <a:cxn ang="0">
                  <a:pos x="1506" y="684"/>
                </a:cxn>
                <a:cxn ang="0">
                  <a:pos x="1425" y="400"/>
                </a:cxn>
                <a:cxn ang="0">
                  <a:pos x="1337" y="149"/>
                </a:cxn>
                <a:cxn ang="0">
                  <a:pos x="989" y="65"/>
                </a:cxn>
              </a:cxnLst>
              <a:rect l="0" t="0" r="r" b="b"/>
              <a:pathLst>
                <a:path w="1594" h="1194">
                  <a:moveTo>
                    <a:pt x="989" y="65"/>
                  </a:moveTo>
                  <a:lnTo>
                    <a:pt x="290" y="0"/>
                  </a:lnTo>
                  <a:lnTo>
                    <a:pt x="0" y="24"/>
                  </a:lnTo>
                  <a:lnTo>
                    <a:pt x="7" y="1027"/>
                  </a:lnTo>
                  <a:cubicBezTo>
                    <a:pt x="84" y="1194"/>
                    <a:pt x="334" y="1020"/>
                    <a:pt x="461" y="1027"/>
                  </a:cubicBezTo>
                  <a:lnTo>
                    <a:pt x="772" y="1067"/>
                  </a:lnTo>
                  <a:cubicBezTo>
                    <a:pt x="945" y="1065"/>
                    <a:pt x="1378" y="1080"/>
                    <a:pt x="1500" y="1016"/>
                  </a:cubicBezTo>
                  <a:cubicBezTo>
                    <a:pt x="1509" y="942"/>
                    <a:pt x="1594" y="778"/>
                    <a:pt x="1506" y="684"/>
                  </a:cubicBezTo>
                  <a:cubicBezTo>
                    <a:pt x="1494" y="581"/>
                    <a:pt x="1453" y="489"/>
                    <a:pt x="1425" y="400"/>
                  </a:cubicBezTo>
                  <a:cubicBezTo>
                    <a:pt x="1397" y="311"/>
                    <a:pt x="1410" y="205"/>
                    <a:pt x="1337" y="149"/>
                  </a:cubicBezTo>
                  <a:cubicBezTo>
                    <a:pt x="1264" y="93"/>
                    <a:pt x="1061" y="82"/>
                    <a:pt x="989" y="65"/>
                  </a:cubicBezTo>
                  <a:close/>
                </a:path>
              </a:pathLst>
            </a:custGeom>
            <a:pattFill prst="divot">
              <a:fgClr>
                <a:srgbClr val="99CC00">
                  <a:alpha val="55000"/>
                </a:srgbClr>
              </a:fgClr>
              <a:bgClr>
                <a:schemeClr val="bg1">
                  <a:alpha val="55000"/>
                </a:schemeClr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grpSp>
          <p:nvGrpSpPr>
            <p:cNvPr id="16461" name="Group 77"/>
            <p:cNvGrpSpPr>
              <a:grpSpLocks/>
            </p:cNvGrpSpPr>
            <p:nvPr/>
          </p:nvGrpSpPr>
          <p:grpSpPr bwMode="auto">
            <a:xfrm>
              <a:off x="1174" y="300"/>
              <a:ext cx="3067" cy="1140"/>
              <a:chOff x="40" y="300"/>
              <a:chExt cx="3067" cy="1140"/>
            </a:xfrm>
          </p:grpSpPr>
          <p:sp>
            <p:nvSpPr>
              <p:cNvPr id="16391" name="Freeform 7" descr="Onda"/>
              <p:cNvSpPr>
                <a:spLocks noChangeAspect="1"/>
              </p:cNvSpPr>
              <p:nvPr/>
            </p:nvSpPr>
            <p:spPr bwMode="auto">
              <a:xfrm>
                <a:off x="40" y="346"/>
                <a:ext cx="1675" cy="1043"/>
              </a:xfrm>
              <a:custGeom>
                <a:avLst/>
                <a:gdLst/>
                <a:ahLst/>
                <a:cxnLst>
                  <a:cxn ang="0">
                    <a:pos x="132" y="0"/>
                  </a:cxn>
                  <a:cxn ang="0">
                    <a:pos x="1673" y="31"/>
                  </a:cxn>
                  <a:cxn ang="0">
                    <a:pos x="1675" y="1015"/>
                  </a:cxn>
                  <a:cxn ang="0">
                    <a:pos x="1180" y="1043"/>
                  </a:cxn>
                  <a:cxn ang="0">
                    <a:pos x="692" y="928"/>
                  </a:cxn>
                  <a:cxn ang="0">
                    <a:pos x="35" y="942"/>
                  </a:cxn>
                  <a:cxn ang="0">
                    <a:pos x="82" y="718"/>
                  </a:cxn>
                  <a:cxn ang="0">
                    <a:pos x="132" y="0"/>
                  </a:cxn>
                </a:cxnLst>
                <a:rect l="0" t="0" r="r" b="b"/>
                <a:pathLst>
                  <a:path w="1675" h="1043">
                    <a:moveTo>
                      <a:pt x="132" y="0"/>
                    </a:moveTo>
                    <a:lnTo>
                      <a:pt x="1673" y="31"/>
                    </a:lnTo>
                    <a:lnTo>
                      <a:pt x="1675" y="1015"/>
                    </a:lnTo>
                    <a:lnTo>
                      <a:pt x="1180" y="1043"/>
                    </a:lnTo>
                    <a:lnTo>
                      <a:pt x="692" y="928"/>
                    </a:lnTo>
                    <a:cubicBezTo>
                      <a:pt x="501" y="911"/>
                      <a:pt x="137" y="977"/>
                      <a:pt x="35" y="942"/>
                    </a:cubicBezTo>
                    <a:cubicBezTo>
                      <a:pt x="0" y="864"/>
                      <a:pt x="93" y="876"/>
                      <a:pt x="82" y="718"/>
                    </a:cubicBezTo>
                    <a:cubicBezTo>
                      <a:pt x="71" y="560"/>
                      <a:pt x="132" y="0"/>
                      <a:pt x="132" y="0"/>
                    </a:cubicBezTo>
                    <a:close/>
                  </a:path>
                </a:pathLst>
              </a:custGeom>
              <a:pattFill prst="wave">
                <a:fgClr>
                  <a:schemeClr val="accent1"/>
                </a:fgClr>
                <a:bgClr>
                  <a:schemeClr val="bg1"/>
                </a:bgClr>
              </a:patt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6392" name="Line 8"/>
              <p:cNvSpPr>
                <a:spLocks noChangeAspect="1" noChangeShapeType="1"/>
              </p:cNvSpPr>
              <p:nvPr/>
            </p:nvSpPr>
            <p:spPr bwMode="auto">
              <a:xfrm>
                <a:off x="158" y="892"/>
                <a:ext cx="2903" cy="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393" name="Text Box 9"/>
              <p:cNvSpPr txBox="1">
                <a:spLocks noChangeArrowheads="1"/>
              </p:cNvSpPr>
              <p:nvPr/>
            </p:nvSpPr>
            <p:spPr bwMode="auto">
              <a:xfrm>
                <a:off x="1292" y="1209"/>
                <a:ext cx="18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s-ES_tradnl" i="1">
                    <a:latin typeface="Times New Roman" pitchFamily="18" charset="0"/>
                  </a:rPr>
                  <a:t>n</a:t>
                </a:r>
              </a:p>
            </p:txBody>
          </p:sp>
          <p:sp>
            <p:nvSpPr>
              <p:cNvPr id="16394" name="Text Box 10"/>
              <p:cNvSpPr txBox="1">
                <a:spLocks noChangeArrowheads="1"/>
              </p:cNvSpPr>
              <p:nvPr/>
            </p:nvSpPr>
            <p:spPr bwMode="auto">
              <a:xfrm>
                <a:off x="2200" y="1209"/>
                <a:ext cx="28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s-ES_tradnl" i="1">
                    <a:latin typeface="Times New Roman" pitchFamily="18" charset="0"/>
                  </a:rPr>
                  <a:t>n</a:t>
                </a:r>
                <a:r>
                  <a:rPr lang="es-ES_tradnl">
                    <a:latin typeface="Times New Roman" pitchFamily="18" charset="0"/>
                  </a:rPr>
                  <a:t>’’</a:t>
                </a:r>
              </a:p>
            </p:txBody>
          </p:sp>
          <p:sp>
            <p:nvSpPr>
              <p:cNvPr id="16395" name="Line 11"/>
              <p:cNvSpPr>
                <a:spLocks noChangeShapeType="1"/>
              </p:cNvSpPr>
              <p:nvPr/>
            </p:nvSpPr>
            <p:spPr bwMode="auto">
              <a:xfrm>
                <a:off x="1728" y="300"/>
                <a:ext cx="0" cy="11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arrow" w="lg" len="lg"/>
                <a:tailEnd type="arrow" w="lg" len="lg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396" name="Oval 12"/>
              <p:cNvSpPr>
                <a:spLocks noChangeArrowheads="1"/>
              </p:cNvSpPr>
              <p:nvPr/>
            </p:nvSpPr>
            <p:spPr bwMode="auto">
              <a:xfrm>
                <a:off x="1093" y="862"/>
                <a:ext cx="45" cy="4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6397" name="Text Box 13"/>
              <p:cNvSpPr txBox="1">
                <a:spLocks noChangeArrowheads="1"/>
              </p:cNvSpPr>
              <p:nvPr/>
            </p:nvSpPr>
            <p:spPr bwMode="auto">
              <a:xfrm>
                <a:off x="992" y="886"/>
                <a:ext cx="317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s-ES_tradnl" i="1">
                    <a:latin typeface="Times New Roman" pitchFamily="18" charset="0"/>
                  </a:rPr>
                  <a:t>F</a:t>
                </a:r>
              </a:p>
            </p:txBody>
          </p:sp>
          <p:sp>
            <p:nvSpPr>
              <p:cNvPr id="16399" name="Text Box 15"/>
              <p:cNvSpPr txBox="1">
                <a:spLocks noChangeArrowheads="1"/>
              </p:cNvSpPr>
              <p:nvPr/>
            </p:nvSpPr>
            <p:spPr bwMode="auto">
              <a:xfrm>
                <a:off x="2123" y="894"/>
                <a:ext cx="317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s-ES_tradnl" i="1">
                    <a:latin typeface="Times New Roman" pitchFamily="18" charset="0"/>
                  </a:rPr>
                  <a:t>F’</a:t>
                </a:r>
              </a:p>
            </p:txBody>
          </p:sp>
          <p:sp>
            <p:nvSpPr>
              <p:cNvPr id="16401" name="Line 17"/>
              <p:cNvSpPr>
                <a:spLocks noChangeShapeType="1"/>
              </p:cNvSpPr>
              <p:nvPr/>
            </p:nvSpPr>
            <p:spPr bwMode="auto">
              <a:xfrm flipV="1">
                <a:off x="207" y="527"/>
                <a:ext cx="0" cy="363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lg" len="lg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405" name="Line 21"/>
              <p:cNvSpPr>
                <a:spLocks noChangeShapeType="1"/>
              </p:cNvSpPr>
              <p:nvPr/>
            </p:nvSpPr>
            <p:spPr bwMode="auto">
              <a:xfrm>
                <a:off x="190" y="513"/>
                <a:ext cx="1542" cy="0"/>
              </a:xfrm>
              <a:prstGeom prst="line">
                <a:avLst/>
              </a:pr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406" name="Freeform 22"/>
              <p:cNvSpPr>
                <a:spLocks noChangeAspect="1"/>
              </p:cNvSpPr>
              <p:nvPr/>
            </p:nvSpPr>
            <p:spPr bwMode="auto">
              <a:xfrm>
                <a:off x="1729" y="513"/>
                <a:ext cx="1076" cy="74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76" y="747"/>
                  </a:cxn>
                </a:cxnLst>
                <a:rect l="0" t="0" r="r" b="b"/>
                <a:pathLst>
                  <a:path w="1076" h="747">
                    <a:moveTo>
                      <a:pt x="0" y="0"/>
                    </a:moveTo>
                    <a:lnTo>
                      <a:pt x="1076" y="747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 type="none" w="med" len="med"/>
                <a:tailEnd type="triangl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407" name="Freeform 23"/>
              <p:cNvSpPr>
                <a:spLocks/>
              </p:cNvSpPr>
              <p:nvPr/>
            </p:nvSpPr>
            <p:spPr bwMode="auto">
              <a:xfrm>
                <a:off x="186" y="510"/>
                <a:ext cx="1549" cy="62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49" y="628"/>
                  </a:cxn>
                </a:cxnLst>
                <a:rect l="0" t="0" r="r" b="b"/>
                <a:pathLst>
                  <a:path w="1549" h="628">
                    <a:moveTo>
                      <a:pt x="0" y="0"/>
                    </a:moveTo>
                    <a:lnTo>
                      <a:pt x="1549" y="628"/>
                    </a:lnTo>
                  </a:path>
                </a:pathLst>
              </a:custGeom>
              <a:noFill/>
              <a:ln w="22225">
                <a:solidFill>
                  <a:srgbClr val="80008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408" name="Line 24"/>
              <p:cNvSpPr>
                <a:spLocks noChangeShapeType="1"/>
              </p:cNvSpPr>
              <p:nvPr/>
            </p:nvSpPr>
            <p:spPr bwMode="auto">
              <a:xfrm>
                <a:off x="1701" y="1124"/>
                <a:ext cx="1406" cy="0"/>
              </a:xfrm>
              <a:prstGeom prst="line">
                <a:avLst/>
              </a:prstGeom>
              <a:noFill/>
              <a:ln w="22225">
                <a:solidFill>
                  <a:srgbClr val="80008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409" name="Line 25"/>
              <p:cNvSpPr>
                <a:spLocks noChangeShapeType="1"/>
              </p:cNvSpPr>
              <p:nvPr/>
            </p:nvSpPr>
            <p:spPr bwMode="auto">
              <a:xfrm>
                <a:off x="2608" y="890"/>
                <a:ext cx="0" cy="227"/>
              </a:xfrm>
              <a:prstGeom prst="line">
                <a:avLst/>
              </a:prstGeom>
              <a:noFill/>
              <a:ln w="25400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398" name="Oval 14"/>
              <p:cNvSpPr>
                <a:spLocks noChangeArrowheads="1"/>
              </p:cNvSpPr>
              <p:nvPr/>
            </p:nvSpPr>
            <p:spPr bwMode="auto">
              <a:xfrm>
                <a:off x="2245" y="865"/>
                <a:ext cx="45" cy="4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grpSp>
        <p:nvGrpSpPr>
          <p:cNvPr id="16462" name="Group 78"/>
          <p:cNvGrpSpPr>
            <a:grpSpLocks/>
          </p:cNvGrpSpPr>
          <p:nvPr/>
        </p:nvGrpSpPr>
        <p:grpSpPr bwMode="auto">
          <a:xfrm>
            <a:off x="1885950" y="2398713"/>
            <a:ext cx="5207000" cy="1966912"/>
            <a:chOff x="54" y="1511"/>
            <a:chExt cx="3280" cy="1239"/>
          </a:xfrm>
        </p:grpSpPr>
        <p:sp>
          <p:nvSpPr>
            <p:cNvPr id="16426" name="Freeform 42" descr="Ángulos"/>
            <p:cNvSpPr>
              <a:spLocks noChangeAspect="1"/>
            </p:cNvSpPr>
            <p:nvPr/>
          </p:nvSpPr>
          <p:spPr bwMode="auto">
            <a:xfrm>
              <a:off x="1740" y="1556"/>
              <a:ext cx="1594" cy="1194"/>
            </a:xfrm>
            <a:custGeom>
              <a:avLst/>
              <a:gdLst/>
              <a:ahLst/>
              <a:cxnLst>
                <a:cxn ang="0">
                  <a:pos x="989" y="65"/>
                </a:cxn>
                <a:cxn ang="0">
                  <a:pos x="290" y="0"/>
                </a:cxn>
                <a:cxn ang="0">
                  <a:pos x="0" y="24"/>
                </a:cxn>
                <a:cxn ang="0">
                  <a:pos x="7" y="1027"/>
                </a:cxn>
                <a:cxn ang="0">
                  <a:pos x="461" y="1027"/>
                </a:cxn>
                <a:cxn ang="0">
                  <a:pos x="772" y="1067"/>
                </a:cxn>
                <a:cxn ang="0">
                  <a:pos x="1500" y="1016"/>
                </a:cxn>
                <a:cxn ang="0">
                  <a:pos x="1506" y="684"/>
                </a:cxn>
                <a:cxn ang="0">
                  <a:pos x="1425" y="400"/>
                </a:cxn>
                <a:cxn ang="0">
                  <a:pos x="1337" y="149"/>
                </a:cxn>
                <a:cxn ang="0">
                  <a:pos x="989" y="65"/>
                </a:cxn>
              </a:cxnLst>
              <a:rect l="0" t="0" r="r" b="b"/>
              <a:pathLst>
                <a:path w="1594" h="1194">
                  <a:moveTo>
                    <a:pt x="989" y="65"/>
                  </a:moveTo>
                  <a:lnTo>
                    <a:pt x="290" y="0"/>
                  </a:lnTo>
                  <a:lnTo>
                    <a:pt x="0" y="24"/>
                  </a:lnTo>
                  <a:lnTo>
                    <a:pt x="7" y="1027"/>
                  </a:lnTo>
                  <a:cubicBezTo>
                    <a:pt x="84" y="1194"/>
                    <a:pt x="334" y="1020"/>
                    <a:pt x="461" y="1027"/>
                  </a:cubicBezTo>
                  <a:lnTo>
                    <a:pt x="772" y="1067"/>
                  </a:lnTo>
                  <a:cubicBezTo>
                    <a:pt x="945" y="1065"/>
                    <a:pt x="1378" y="1080"/>
                    <a:pt x="1500" y="1016"/>
                  </a:cubicBezTo>
                  <a:cubicBezTo>
                    <a:pt x="1509" y="942"/>
                    <a:pt x="1594" y="778"/>
                    <a:pt x="1506" y="684"/>
                  </a:cubicBezTo>
                  <a:cubicBezTo>
                    <a:pt x="1494" y="581"/>
                    <a:pt x="1453" y="489"/>
                    <a:pt x="1425" y="400"/>
                  </a:cubicBezTo>
                  <a:cubicBezTo>
                    <a:pt x="1397" y="311"/>
                    <a:pt x="1410" y="205"/>
                    <a:pt x="1337" y="149"/>
                  </a:cubicBezTo>
                  <a:cubicBezTo>
                    <a:pt x="1264" y="93"/>
                    <a:pt x="1061" y="82"/>
                    <a:pt x="989" y="65"/>
                  </a:cubicBezTo>
                  <a:close/>
                </a:path>
              </a:pathLst>
            </a:custGeom>
            <a:pattFill prst="divot">
              <a:fgClr>
                <a:srgbClr val="99CC00">
                  <a:alpha val="55000"/>
                </a:srgbClr>
              </a:fgClr>
              <a:bgClr>
                <a:schemeClr val="bg1">
                  <a:alpha val="55000"/>
                </a:schemeClr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27" name="Freeform 43" descr="Onda"/>
            <p:cNvSpPr>
              <a:spLocks noChangeAspect="1"/>
            </p:cNvSpPr>
            <p:nvPr/>
          </p:nvSpPr>
          <p:spPr bwMode="auto">
            <a:xfrm>
              <a:off x="54" y="1536"/>
              <a:ext cx="1675" cy="1043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1673" y="31"/>
                </a:cxn>
                <a:cxn ang="0">
                  <a:pos x="1675" y="1015"/>
                </a:cxn>
                <a:cxn ang="0">
                  <a:pos x="1180" y="1043"/>
                </a:cxn>
                <a:cxn ang="0">
                  <a:pos x="692" y="928"/>
                </a:cxn>
                <a:cxn ang="0">
                  <a:pos x="35" y="942"/>
                </a:cxn>
                <a:cxn ang="0">
                  <a:pos x="82" y="718"/>
                </a:cxn>
                <a:cxn ang="0">
                  <a:pos x="132" y="0"/>
                </a:cxn>
              </a:cxnLst>
              <a:rect l="0" t="0" r="r" b="b"/>
              <a:pathLst>
                <a:path w="1675" h="1043">
                  <a:moveTo>
                    <a:pt x="132" y="0"/>
                  </a:moveTo>
                  <a:lnTo>
                    <a:pt x="1673" y="31"/>
                  </a:lnTo>
                  <a:lnTo>
                    <a:pt x="1675" y="1015"/>
                  </a:lnTo>
                  <a:lnTo>
                    <a:pt x="1180" y="1043"/>
                  </a:lnTo>
                  <a:lnTo>
                    <a:pt x="692" y="928"/>
                  </a:lnTo>
                  <a:cubicBezTo>
                    <a:pt x="501" y="911"/>
                    <a:pt x="137" y="977"/>
                    <a:pt x="35" y="942"/>
                  </a:cubicBezTo>
                  <a:cubicBezTo>
                    <a:pt x="0" y="864"/>
                    <a:pt x="93" y="876"/>
                    <a:pt x="82" y="718"/>
                  </a:cubicBezTo>
                  <a:cubicBezTo>
                    <a:pt x="71" y="560"/>
                    <a:pt x="132" y="0"/>
                    <a:pt x="132" y="0"/>
                  </a:cubicBezTo>
                  <a:close/>
                </a:path>
              </a:pathLst>
            </a:custGeom>
            <a:pattFill prst="wave">
              <a:fgClr>
                <a:schemeClr val="accent1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28" name="Line 44"/>
            <p:cNvSpPr>
              <a:spLocks noChangeAspect="1" noChangeShapeType="1"/>
            </p:cNvSpPr>
            <p:nvPr/>
          </p:nvSpPr>
          <p:spPr bwMode="auto">
            <a:xfrm>
              <a:off x="172" y="2082"/>
              <a:ext cx="2903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29" name="Text Box 45"/>
            <p:cNvSpPr txBox="1">
              <a:spLocks noChangeArrowheads="1"/>
            </p:cNvSpPr>
            <p:nvPr/>
          </p:nvSpPr>
          <p:spPr bwMode="auto">
            <a:xfrm>
              <a:off x="1306" y="2399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16430" name="Text Box 46"/>
            <p:cNvSpPr txBox="1">
              <a:spLocks noChangeArrowheads="1"/>
            </p:cNvSpPr>
            <p:nvPr/>
          </p:nvSpPr>
          <p:spPr bwMode="auto">
            <a:xfrm>
              <a:off x="2214" y="2399"/>
              <a:ext cx="2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’’</a:t>
              </a:r>
            </a:p>
          </p:txBody>
        </p:sp>
        <p:sp>
          <p:nvSpPr>
            <p:cNvPr id="16431" name="Line 47"/>
            <p:cNvSpPr>
              <a:spLocks noChangeShapeType="1"/>
            </p:cNvSpPr>
            <p:nvPr/>
          </p:nvSpPr>
          <p:spPr bwMode="auto">
            <a:xfrm>
              <a:off x="1742" y="1511"/>
              <a:ext cx="0" cy="1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lg" len="lg"/>
              <a:tailEnd type="arrow" w="lg" len="lg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32" name="Oval 48"/>
            <p:cNvSpPr>
              <a:spLocks noChangeArrowheads="1"/>
            </p:cNvSpPr>
            <p:nvPr/>
          </p:nvSpPr>
          <p:spPr bwMode="auto">
            <a:xfrm>
              <a:off x="1107" y="2052"/>
              <a:ext cx="45" cy="4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433" name="Text Box 49"/>
            <p:cNvSpPr txBox="1">
              <a:spLocks noChangeArrowheads="1"/>
            </p:cNvSpPr>
            <p:nvPr/>
          </p:nvSpPr>
          <p:spPr bwMode="auto">
            <a:xfrm>
              <a:off x="916" y="2076"/>
              <a:ext cx="47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ES_tradnl" i="1" dirty="0">
                  <a:latin typeface="Times New Roman" pitchFamily="18" charset="0"/>
                </a:rPr>
                <a:t>A </a:t>
              </a:r>
              <a:r>
                <a:rPr lang="es-ES_tradnl" i="1" dirty="0">
                  <a:latin typeface="Times New Roman" pitchFamily="18" charset="0"/>
                  <a:sym typeface="Symbol"/>
                </a:rPr>
                <a:t> </a:t>
              </a:r>
              <a:r>
                <a:rPr lang="es-ES_tradnl" i="1" dirty="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6434" name="Text Box 50"/>
            <p:cNvSpPr txBox="1">
              <a:spLocks noChangeArrowheads="1"/>
            </p:cNvSpPr>
            <p:nvPr/>
          </p:nvSpPr>
          <p:spPr bwMode="auto">
            <a:xfrm>
              <a:off x="2137" y="2084"/>
              <a:ext cx="31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ES_tradnl" i="1">
                  <a:latin typeface="Times New Roman" pitchFamily="18" charset="0"/>
                </a:rPr>
                <a:t>F’</a:t>
              </a:r>
            </a:p>
          </p:txBody>
        </p:sp>
        <p:sp>
          <p:nvSpPr>
            <p:cNvPr id="16435" name="Line 51"/>
            <p:cNvSpPr>
              <a:spLocks noChangeShapeType="1"/>
            </p:cNvSpPr>
            <p:nvPr/>
          </p:nvSpPr>
          <p:spPr bwMode="auto">
            <a:xfrm flipV="1">
              <a:off x="1125" y="1717"/>
              <a:ext cx="0" cy="36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36" name="Line 52"/>
            <p:cNvSpPr>
              <a:spLocks noChangeShapeType="1"/>
            </p:cNvSpPr>
            <p:nvPr/>
          </p:nvSpPr>
          <p:spPr bwMode="auto">
            <a:xfrm>
              <a:off x="204" y="1703"/>
              <a:ext cx="1542" cy="0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37" name="Freeform 53"/>
            <p:cNvSpPr>
              <a:spLocks noChangeAspect="1"/>
            </p:cNvSpPr>
            <p:nvPr/>
          </p:nvSpPr>
          <p:spPr bwMode="auto">
            <a:xfrm>
              <a:off x="1743" y="1703"/>
              <a:ext cx="1076" cy="7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76" y="747"/>
                </a:cxn>
              </a:cxnLst>
              <a:rect l="0" t="0" r="r" b="b"/>
              <a:pathLst>
                <a:path w="1076" h="747">
                  <a:moveTo>
                    <a:pt x="0" y="0"/>
                  </a:moveTo>
                  <a:lnTo>
                    <a:pt x="1076" y="747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38" name="Freeform 54"/>
            <p:cNvSpPr>
              <a:spLocks/>
            </p:cNvSpPr>
            <p:nvPr/>
          </p:nvSpPr>
          <p:spPr bwMode="auto">
            <a:xfrm>
              <a:off x="1118" y="1708"/>
              <a:ext cx="617" cy="2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17" y="217"/>
                </a:cxn>
              </a:cxnLst>
              <a:rect l="0" t="0" r="r" b="b"/>
              <a:pathLst>
                <a:path w="617" h="217">
                  <a:moveTo>
                    <a:pt x="0" y="0"/>
                  </a:moveTo>
                  <a:lnTo>
                    <a:pt x="617" y="217"/>
                  </a:lnTo>
                </a:path>
              </a:pathLst>
            </a:custGeom>
            <a:noFill/>
            <a:ln w="22225">
              <a:solidFill>
                <a:srgbClr val="800080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41" name="Oval 57"/>
            <p:cNvSpPr>
              <a:spLocks noChangeArrowheads="1"/>
            </p:cNvSpPr>
            <p:nvPr/>
          </p:nvSpPr>
          <p:spPr bwMode="auto">
            <a:xfrm>
              <a:off x="2259" y="2055"/>
              <a:ext cx="45" cy="4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442" name="Freeform 58"/>
            <p:cNvSpPr>
              <a:spLocks noChangeAspect="1"/>
            </p:cNvSpPr>
            <p:nvPr/>
          </p:nvSpPr>
          <p:spPr bwMode="auto">
            <a:xfrm>
              <a:off x="1738" y="1926"/>
              <a:ext cx="1076" cy="7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76" y="747"/>
                </a:cxn>
              </a:cxnLst>
              <a:rect l="0" t="0" r="r" b="b"/>
              <a:pathLst>
                <a:path w="1076" h="747">
                  <a:moveTo>
                    <a:pt x="0" y="0"/>
                  </a:moveTo>
                  <a:lnTo>
                    <a:pt x="1076" y="747"/>
                  </a:lnTo>
                </a:path>
              </a:pathLst>
            </a:custGeom>
            <a:noFill/>
            <a:ln w="22225">
              <a:solidFill>
                <a:srgbClr val="800080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6463" name="Group 79"/>
          <p:cNvGrpSpPr>
            <a:grpSpLocks/>
          </p:cNvGrpSpPr>
          <p:nvPr/>
        </p:nvGrpSpPr>
        <p:grpSpPr bwMode="auto">
          <a:xfrm>
            <a:off x="1863725" y="4398963"/>
            <a:ext cx="5227638" cy="2078037"/>
            <a:chOff x="40" y="2771"/>
            <a:chExt cx="3293" cy="1309"/>
          </a:xfrm>
        </p:grpSpPr>
        <p:sp>
          <p:nvSpPr>
            <p:cNvPr id="16458" name="Freeform 74" descr="Ángulos"/>
            <p:cNvSpPr>
              <a:spLocks noChangeAspect="1"/>
            </p:cNvSpPr>
            <p:nvPr/>
          </p:nvSpPr>
          <p:spPr bwMode="auto">
            <a:xfrm>
              <a:off x="1739" y="2820"/>
              <a:ext cx="1594" cy="1260"/>
            </a:xfrm>
            <a:custGeom>
              <a:avLst/>
              <a:gdLst/>
              <a:ahLst/>
              <a:cxnLst>
                <a:cxn ang="0">
                  <a:pos x="1019" y="67"/>
                </a:cxn>
                <a:cxn ang="0">
                  <a:pos x="290" y="66"/>
                </a:cxn>
                <a:cxn ang="0">
                  <a:pos x="0" y="90"/>
                </a:cxn>
                <a:cxn ang="0">
                  <a:pos x="7" y="1093"/>
                </a:cxn>
                <a:cxn ang="0">
                  <a:pos x="461" y="1093"/>
                </a:cxn>
                <a:cxn ang="0">
                  <a:pos x="772" y="1133"/>
                </a:cxn>
                <a:cxn ang="0">
                  <a:pos x="1500" y="1082"/>
                </a:cxn>
                <a:cxn ang="0">
                  <a:pos x="1506" y="750"/>
                </a:cxn>
                <a:cxn ang="0">
                  <a:pos x="1425" y="466"/>
                </a:cxn>
                <a:cxn ang="0">
                  <a:pos x="1277" y="67"/>
                </a:cxn>
                <a:cxn ang="0">
                  <a:pos x="1019" y="67"/>
                </a:cxn>
              </a:cxnLst>
              <a:rect l="0" t="0" r="r" b="b"/>
              <a:pathLst>
                <a:path w="1594" h="1260">
                  <a:moveTo>
                    <a:pt x="1019" y="67"/>
                  </a:moveTo>
                  <a:lnTo>
                    <a:pt x="290" y="66"/>
                  </a:lnTo>
                  <a:lnTo>
                    <a:pt x="0" y="90"/>
                  </a:lnTo>
                  <a:lnTo>
                    <a:pt x="7" y="1093"/>
                  </a:lnTo>
                  <a:cubicBezTo>
                    <a:pt x="84" y="1260"/>
                    <a:pt x="334" y="1086"/>
                    <a:pt x="461" y="1093"/>
                  </a:cubicBezTo>
                  <a:lnTo>
                    <a:pt x="772" y="1133"/>
                  </a:lnTo>
                  <a:cubicBezTo>
                    <a:pt x="945" y="1131"/>
                    <a:pt x="1378" y="1146"/>
                    <a:pt x="1500" y="1082"/>
                  </a:cubicBezTo>
                  <a:cubicBezTo>
                    <a:pt x="1509" y="1008"/>
                    <a:pt x="1594" y="844"/>
                    <a:pt x="1506" y="750"/>
                  </a:cubicBezTo>
                  <a:cubicBezTo>
                    <a:pt x="1494" y="647"/>
                    <a:pt x="1463" y="580"/>
                    <a:pt x="1425" y="466"/>
                  </a:cubicBezTo>
                  <a:cubicBezTo>
                    <a:pt x="1387" y="352"/>
                    <a:pt x="1345" y="134"/>
                    <a:pt x="1277" y="67"/>
                  </a:cubicBezTo>
                  <a:cubicBezTo>
                    <a:pt x="1209" y="0"/>
                    <a:pt x="1073" y="67"/>
                    <a:pt x="1019" y="67"/>
                  </a:cubicBezTo>
                  <a:close/>
                </a:path>
              </a:pathLst>
            </a:custGeom>
            <a:pattFill prst="divot">
              <a:fgClr>
                <a:srgbClr val="99CC00">
                  <a:alpha val="55000"/>
                </a:srgbClr>
              </a:fgClr>
              <a:bgClr>
                <a:schemeClr val="bg1">
                  <a:alpha val="55000"/>
                </a:schemeClr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43" name="Freeform 59" descr="Onda"/>
            <p:cNvSpPr>
              <a:spLocks noChangeAspect="1"/>
            </p:cNvSpPr>
            <p:nvPr/>
          </p:nvSpPr>
          <p:spPr bwMode="auto">
            <a:xfrm>
              <a:off x="40" y="2880"/>
              <a:ext cx="1675" cy="1043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1673" y="31"/>
                </a:cxn>
                <a:cxn ang="0">
                  <a:pos x="1675" y="1015"/>
                </a:cxn>
                <a:cxn ang="0">
                  <a:pos x="1180" y="1043"/>
                </a:cxn>
                <a:cxn ang="0">
                  <a:pos x="692" y="928"/>
                </a:cxn>
                <a:cxn ang="0">
                  <a:pos x="35" y="942"/>
                </a:cxn>
                <a:cxn ang="0">
                  <a:pos x="82" y="718"/>
                </a:cxn>
                <a:cxn ang="0">
                  <a:pos x="132" y="0"/>
                </a:cxn>
              </a:cxnLst>
              <a:rect l="0" t="0" r="r" b="b"/>
              <a:pathLst>
                <a:path w="1675" h="1043">
                  <a:moveTo>
                    <a:pt x="132" y="0"/>
                  </a:moveTo>
                  <a:lnTo>
                    <a:pt x="1673" y="31"/>
                  </a:lnTo>
                  <a:lnTo>
                    <a:pt x="1675" y="1015"/>
                  </a:lnTo>
                  <a:lnTo>
                    <a:pt x="1180" y="1043"/>
                  </a:lnTo>
                  <a:lnTo>
                    <a:pt x="692" y="928"/>
                  </a:lnTo>
                  <a:cubicBezTo>
                    <a:pt x="501" y="911"/>
                    <a:pt x="137" y="977"/>
                    <a:pt x="35" y="942"/>
                  </a:cubicBezTo>
                  <a:cubicBezTo>
                    <a:pt x="0" y="864"/>
                    <a:pt x="93" y="876"/>
                    <a:pt x="82" y="718"/>
                  </a:cubicBezTo>
                  <a:cubicBezTo>
                    <a:pt x="71" y="560"/>
                    <a:pt x="132" y="0"/>
                    <a:pt x="132" y="0"/>
                  </a:cubicBezTo>
                  <a:close/>
                </a:path>
              </a:pathLst>
            </a:custGeom>
            <a:pattFill prst="wave">
              <a:fgClr>
                <a:schemeClr val="accent1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44" name="Line 60"/>
            <p:cNvSpPr>
              <a:spLocks noChangeAspect="1" noChangeShapeType="1"/>
            </p:cNvSpPr>
            <p:nvPr/>
          </p:nvSpPr>
          <p:spPr bwMode="auto">
            <a:xfrm>
              <a:off x="158" y="3426"/>
              <a:ext cx="2903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45" name="Text Box 61"/>
            <p:cNvSpPr txBox="1">
              <a:spLocks noChangeArrowheads="1"/>
            </p:cNvSpPr>
            <p:nvPr/>
          </p:nvSpPr>
          <p:spPr bwMode="auto">
            <a:xfrm>
              <a:off x="1292" y="3743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16446" name="Text Box 62"/>
            <p:cNvSpPr txBox="1">
              <a:spLocks noChangeArrowheads="1"/>
            </p:cNvSpPr>
            <p:nvPr/>
          </p:nvSpPr>
          <p:spPr bwMode="auto">
            <a:xfrm>
              <a:off x="2200" y="3743"/>
              <a:ext cx="2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n</a:t>
              </a:r>
              <a:r>
                <a:rPr lang="es-ES_tradnl">
                  <a:latin typeface="Times New Roman" pitchFamily="18" charset="0"/>
                </a:rPr>
                <a:t>’’</a:t>
              </a:r>
            </a:p>
          </p:txBody>
        </p:sp>
        <p:sp>
          <p:nvSpPr>
            <p:cNvPr id="16447" name="Line 63"/>
            <p:cNvSpPr>
              <a:spLocks noChangeShapeType="1"/>
            </p:cNvSpPr>
            <p:nvPr/>
          </p:nvSpPr>
          <p:spPr bwMode="auto">
            <a:xfrm>
              <a:off x="1728" y="2771"/>
              <a:ext cx="0" cy="1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lg" len="lg"/>
              <a:tailEnd type="arrow" w="lg" len="lg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48" name="Oval 64"/>
            <p:cNvSpPr>
              <a:spLocks noChangeArrowheads="1"/>
            </p:cNvSpPr>
            <p:nvPr/>
          </p:nvSpPr>
          <p:spPr bwMode="auto">
            <a:xfrm>
              <a:off x="1093" y="3396"/>
              <a:ext cx="45" cy="4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449" name="Text Box 65"/>
            <p:cNvSpPr txBox="1">
              <a:spLocks noChangeArrowheads="1"/>
            </p:cNvSpPr>
            <p:nvPr/>
          </p:nvSpPr>
          <p:spPr bwMode="auto">
            <a:xfrm>
              <a:off x="992" y="3420"/>
              <a:ext cx="31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ES_tradnl" i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6450" name="Text Box 66"/>
            <p:cNvSpPr txBox="1">
              <a:spLocks noChangeArrowheads="1"/>
            </p:cNvSpPr>
            <p:nvPr/>
          </p:nvSpPr>
          <p:spPr bwMode="auto">
            <a:xfrm>
              <a:off x="2123" y="3428"/>
              <a:ext cx="31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ES_tradnl" i="1">
                  <a:latin typeface="Times New Roman" pitchFamily="18" charset="0"/>
                </a:rPr>
                <a:t>F’</a:t>
              </a:r>
            </a:p>
          </p:txBody>
        </p:sp>
        <p:sp>
          <p:nvSpPr>
            <p:cNvPr id="16451" name="Line 67"/>
            <p:cNvSpPr>
              <a:spLocks noChangeShapeType="1"/>
            </p:cNvSpPr>
            <p:nvPr/>
          </p:nvSpPr>
          <p:spPr bwMode="auto">
            <a:xfrm flipV="1">
              <a:off x="1547" y="3061"/>
              <a:ext cx="0" cy="36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52" name="Line 68"/>
            <p:cNvSpPr>
              <a:spLocks noChangeShapeType="1"/>
            </p:cNvSpPr>
            <p:nvPr/>
          </p:nvSpPr>
          <p:spPr bwMode="auto">
            <a:xfrm>
              <a:off x="190" y="3047"/>
              <a:ext cx="1542" cy="0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53" name="Freeform 69"/>
            <p:cNvSpPr>
              <a:spLocks noChangeAspect="1"/>
            </p:cNvSpPr>
            <p:nvPr/>
          </p:nvSpPr>
          <p:spPr bwMode="auto">
            <a:xfrm>
              <a:off x="1729" y="3047"/>
              <a:ext cx="1076" cy="7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76" y="747"/>
                </a:cxn>
              </a:cxnLst>
              <a:rect l="0" t="0" r="r" b="b"/>
              <a:pathLst>
                <a:path w="1076" h="747">
                  <a:moveTo>
                    <a:pt x="0" y="0"/>
                  </a:moveTo>
                  <a:lnTo>
                    <a:pt x="1076" y="747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54" name="Freeform 70"/>
            <p:cNvSpPr>
              <a:spLocks/>
            </p:cNvSpPr>
            <p:nvPr/>
          </p:nvSpPr>
          <p:spPr bwMode="auto">
            <a:xfrm>
              <a:off x="1105" y="2907"/>
              <a:ext cx="623" cy="522"/>
            </a:xfrm>
            <a:custGeom>
              <a:avLst/>
              <a:gdLst/>
              <a:ahLst/>
              <a:cxnLst>
                <a:cxn ang="0">
                  <a:pos x="0" y="522"/>
                </a:cxn>
                <a:cxn ang="0">
                  <a:pos x="623" y="0"/>
                </a:cxn>
              </a:cxnLst>
              <a:rect l="0" t="0" r="r" b="b"/>
              <a:pathLst>
                <a:path w="623" h="522">
                  <a:moveTo>
                    <a:pt x="0" y="522"/>
                  </a:moveTo>
                  <a:lnTo>
                    <a:pt x="623" y="0"/>
                  </a:lnTo>
                </a:path>
              </a:pathLst>
            </a:custGeom>
            <a:noFill/>
            <a:ln w="22225">
              <a:solidFill>
                <a:srgbClr val="800080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55" name="Line 71"/>
            <p:cNvSpPr>
              <a:spLocks noChangeShapeType="1"/>
            </p:cNvSpPr>
            <p:nvPr/>
          </p:nvSpPr>
          <p:spPr bwMode="auto">
            <a:xfrm>
              <a:off x="1732" y="2920"/>
              <a:ext cx="1406" cy="0"/>
            </a:xfrm>
            <a:prstGeom prst="line">
              <a:avLst/>
            </a:prstGeom>
            <a:noFill/>
            <a:ln w="22225">
              <a:solidFill>
                <a:srgbClr val="80008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56" name="Line 72"/>
            <p:cNvSpPr>
              <a:spLocks noChangeShapeType="1"/>
            </p:cNvSpPr>
            <p:nvPr/>
          </p:nvSpPr>
          <p:spPr bwMode="auto">
            <a:xfrm>
              <a:off x="1631" y="2990"/>
              <a:ext cx="0" cy="431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57" name="Oval 73"/>
            <p:cNvSpPr>
              <a:spLocks noChangeArrowheads="1"/>
            </p:cNvSpPr>
            <p:nvPr/>
          </p:nvSpPr>
          <p:spPr bwMode="auto">
            <a:xfrm>
              <a:off x="2245" y="3399"/>
              <a:ext cx="45" cy="4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459" name="Line 75"/>
            <p:cNvSpPr>
              <a:spLocks noChangeShapeType="1"/>
            </p:cNvSpPr>
            <p:nvPr/>
          </p:nvSpPr>
          <p:spPr bwMode="auto">
            <a:xfrm flipH="1">
              <a:off x="647" y="2924"/>
              <a:ext cx="1089" cy="0"/>
            </a:xfrm>
            <a:prstGeom prst="line">
              <a:avLst/>
            </a:prstGeom>
            <a:noFill/>
            <a:ln w="22225">
              <a:solidFill>
                <a:srgbClr val="800080"/>
              </a:solidFill>
              <a:prstDash val="lgDashDot"/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6460" name="Freeform 76"/>
            <p:cNvSpPr>
              <a:spLocks noChangeAspect="1"/>
            </p:cNvSpPr>
            <p:nvPr/>
          </p:nvSpPr>
          <p:spPr bwMode="auto">
            <a:xfrm>
              <a:off x="1366" y="2791"/>
              <a:ext cx="528" cy="3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76" y="747"/>
                </a:cxn>
              </a:cxnLst>
              <a:rect l="0" t="0" r="r" b="b"/>
              <a:pathLst>
                <a:path w="1076" h="747">
                  <a:moveTo>
                    <a:pt x="0" y="0"/>
                  </a:moveTo>
                  <a:lnTo>
                    <a:pt x="1076" y="747"/>
                  </a:lnTo>
                </a:path>
              </a:pathLst>
            </a:custGeom>
            <a:noFill/>
            <a:ln w="22225" cap="flat">
              <a:solidFill>
                <a:srgbClr val="0000FF"/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6465" name="Text Box 81"/>
          <p:cNvSpPr txBox="1">
            <a:spLocks noChangeArrowheads="1"/>
          </p:cNvSpPr>
          <p:nvPr/>
        </p:nvSpPr>
        <p:spPr bwMode="auto">
          <a:xfrm>
            <a:off x="7072313" y="3211513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400"/>
              <a:t>Imagen al infinito</a:t>
            </a:r>
          </a:p>
        </p:txBody>
      </p:sp>
      <p:sp>
        <p:nvSpPr>
          <p:cNvPr id="16466" name="Text Box 82"/>
          <p:cNvSpPr txBox="1">
            <a:spLocks noChangeArrowheads="1"/>
          </p:cNvSpPr>
          <p:nvPr/>
        </p:nvSpPr>
        <p:spPr bwMode="auto">
          <a:xfrm>
            <a:off x="8675688" y="6564313"/>
            <a:ext cx="2682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6</a:t>
            </a:r>
          </a:p>
        </p:txBody>
      </p:sp>
      <p:sp>
        <p:nvSpPr>
          <p:cNvPr id="16467" name="Text Box 83"/>
          <p:cNvSpPr txBox="1">
            <a:spLocks noChangeArrowheads="1"/>
          </p:cNvSpPr>
          <p:nvPr/>
        </p:nvSpPr>
        <p:spPr bwMode="auto">
          <a:xfrm>
            <a:off x="7000875" y="1123950"/>
            <a:ext cx="11191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400"/>
              <a:t>Imagen real</a:t>
            </a:r>
          </a:p>
        </p:txBody>
      </p:sp>
      <p:sp>
        <p:nvSpPr>
          <p:cNvPr id="16468" name="Text Box 84"/>
          <p:cNvSpPr txBox="1">
            <a:spLocks noChangeArrowheads="1"/>
          </p:cNvSpPr>
          <p:nvPr/>
        </p:nvSpPr>
        <p:spPr bwMode="auto">
          <a:xfrm>
            <a:off x="7000875" y="5227638"/>
            <a:ext cx="12969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400"/>
              <a:t>Imagen virtual</a:t>
            </a:r>
          </a:p>
        </p:txBody>
      </p:sp>
      <p:sp>
        <p:nvSpPr>
          <p:cNvPr id="60" name="59 CuadroTexto"/>
          <p:cNvSpPr txBox="1"/>
          <p:nvPr/>
        </p:nvSpPr>
        <p:spPr>
          <a:xfrm>
            <a:off x="357158" y="60960"/>
            <a:ext cx="3570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Lente Convergente: 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  &lt; 0 ;  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f’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sz="2000" dirty="0">
                <a:latin typeface="Times New Roman" pitchFamily="18" charset="0"/>
                <a:cs typeface="Times New Roman" pitchFamily="18" charset="0"/>
              </a:rPr>
              <a:t>&gt; 0</a:t>
            </a:r>
            <a:endParaRPr lang="es-ES" dirty="0"/>
          </a:p>
        </p:txBody>
      </p:sp>
      <p:sp>
        <p:nvSpPr>
          <p:cNvPr id="61" name="60 CuadroTexto"/>
          <p:cNvSpPr txBox="1"/>
          <p:nvPr/>
        </p:nvSpPr>
        <p:spPr>
          <a:xfrm>
            <a:off x="357158" y="500042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Objeto Real </a:t>
            </a:r>
          </a:p>
        </p:txBody>
      </p:sp>
      <p:sp>
        <p:nvSpPr>
          <p:cNvPr id="62" name="61 CuadroTexto"/>
          <p:cNvSpPr txBox="1"/>
          <p:nvPr/>
        </p:nvSpPr>
        <p:spPr>
          <a:xfrm>
            <a:off x="714348" y="1000108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latin typeface="Times New Roman" pitchFamily="18" charset="0"/>
                <a:cs typeface="Times New Roman" pitchFamily="18" charset="0"/>
              </a:rPr>
              <a:t>s &lt;  f </a:t>
            </a:r>
          </a:p>
        </p:txBody>
      </p:sp>
      <p:sp>
        <p:nvSpPr>
          <p:cNvPr id="64" name="63 CuadroTexto"/>
          <p:cNvSpPr txBox="1"/>
          <p:nvPr/>
        </p:nvSpPr>
        <p:spPr>
          <a:xfrm>
            <a:off x="714348" y="3059668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latin typeface="Times New Roman" pitchFamily="18" charset="0"/>
                <a:cs typeface="Times New Roman" pitchFamily="18" charset="0"/>
              </a:rPr>
              <a:t>s =  f </a:t>
            </a:r>
          </a:p>
        </p:txBody>
      </p:sp>
      <p:sp>
        <p:nvSpPr>
          <p:cNvPr id="65" name="64 CuadroTexto"/>
          <p:cNvSpPr txBox="1"/>
          <p:nvPr/>
        </p:nvSpPr>
        <p:spPr>
          <a:xfrm>
            <a:off x="428596" y="5143512"/>
            <a:ext cx="1226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latin typeface="Times New Roman" pitchFamily="18" charset="0"/>
                <a:cs typeface="Times New Roman" pitchFamily="18" charset="0"/>
              </a:rPr>
              <a:t>f  &lt;  s &lt;  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66" name="65 CuadroTexto"/>
          <p:cNvSpPr txBox="1"/>
          <p:nvPr/>
        </p:nvSpPr>
        <p:spPr>
          <a:xfrm>
            <a:off x="4010974" y="542926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sp>
        <p:nvSpPr>
          <p:cNvPr id="68" name="67 CuadroTexto"/>
          <p:cNvSpPr txBox="1"/>
          <p:nvPr/>
        </p:nvSpPr>
        <p:spPr>
          <a:xfrm>
            <a:off x="1928794" y="141659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sp>
        <p:nvSpPr>
          <p:cNvPr id="69" name="68 CuadroTexto"/>
          <p:cNvSpPr txBox="1"/>
          <p:nvPr/>
        </p:nvSpPr>
        <p:spPr>
          <a:xfrm>
            <a:off x="4000496" y="457034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70" name="69 CuadroTexto"/>
          <p:cNvSpPr txBox="1"/>
          <p:nvPr/>
        </p:nvSpPr>
        <p:spPr>
          <a:xfrm>
            <a:off x="3428992" y="2357430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71" name="70 CuadroTexto"/>
          <p:cNvSpPr txBox="1"/>
          <p:nvPr/>
        </p:nvSpPr>
        <p:spPr>
          <a:xfrm>
            <a:off x="2000232" y="42860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73" name="72 CuadroTexto"/>
          <p:cNvSpPr txBox="1"/>
          <p:nvPr/>
        </p:nvSpPr>
        <p:spPr>
          <a:xfrm>
            <a:off x="4143372" y="4286256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’</a:t>
            </a:r>
            <a:endParaRPr lang="es-ES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73 CuadroTexto"/>
          <p:cNvSpPr txBox="1"/>
          <p:nvPr/>
        </p:nvSpPr>
        <p:spPr>
          <a:xfrm>
            <a:off x="5715008" y="1785926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’</a:t>
            </a:r>
            <a:endParaRPr lang="es-ES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" name="74 CuadroTexto"/>
          <p:cNvSpPr txBox="1"/>
          <p:nvPr/>
        </p:nvSpPr>
        <p:spPr>
          <a:xfrm>
            <a:off x="4214810" y="5429264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’</a:t>
            </a:r>
            <a:endParaRPr lang="es-ES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" name="75 CuadroTexto"/>
          <p:cNvSpPr txBox="1"/>
          <p:nvPr/>
        </p:nvSpPr>
        <p:spPr>
          <a:xfrm>
            <a:off x="5786446" y="1071546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’</a:t>
            </a:r>
            <a:endParaRPr lang="es-ES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7" name="76 CuadroTexto"/>
          <p:cNvSpPr txBox="1">
            <a:spLocks noChangeArrowheads="1"/>
          </p:cNvSpPr>
          <p:nvPr/>
        </p:nvSpPr>
        <p:spPr bwMode="auto">
          <a:xfrm>
            <a:off x="2428860" y="2398388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78" name="77 CuadroTexto"/>
          <p:cNvSpPr txBox="1">
            <a:spLocks noChangeArrowheads="1"/>
          </p:cNvSpPr>
          <p:nvPr/>
        </p:nvSpPr>
        <p:spPr bwMode="auto">
          <a:xfrm>
            <a:off x="3428992" y="5000636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79" name="78 CuadroTexto"/>
          <p:cNvSpPr txBox="1">
            <a:spLocks noChangeArrowheads="1"/>
          </p:cNvSpPr>
          <p:nvPr/>
        </p:nvSpPr>
        <p:spPr bwMode="auto">
          <a:xfrm>
            <a:off x="2643174" y="500042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80" name="79 CuadroTexto"/>
          <p:cNvSpPr txBox="1">
            <a:spLocks noChangeArrowheads="1"/>
          </p:cNvSpPr>
          <p:nvPr/>
        </p:nvSpPr>
        <p:spPr bwMode="auto">
          <a:xfrm>
            <a:off x="2285984" y="4500570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82" name="81 CuadroTexto"/>
          <p:cNvSpPr txBox="1">
            <a:spLocks noChangeArrowheads="1"/>
          </p:cNvSpPr>
          <p:nvPr/>
        </p:nvSpPr>
        <p:spPr bwMode="auto">
          <a:xfrm>
            <a:off x="2428860" y="1041066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A50021"/>
                </a:solidFill>
              </a:rPr>
              <a:t>(2)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66" grpId="0"/>
      <p:bldP spid="16468" grpId="0"/>
      <p:bldP spid="64" grpId="0"/>
      <p:bldP spid="65" grpId="0"/>
      <p:bldP spid="66" grpId="0"/>
      <p:bldP spid="69" grpId="0"/>
      <p:bldP spid="70" grpId="0"/>
      <p:bldP spid="73" grpId="0"/>
      <p:bldP spid="75" grpId="0"/>
      <p:bldP spid="77" grpId="0"/>
      <p:bldP spid="78" grpId="0"/>
      <p:bldP spid="8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32" descr="Ángulos"/>
          <p:cNvSpPr>
            <a:spLocks/>
          </p:cNvSpPr>
          <p:nvPr/>
        </p:nvSpPr>
        <p:spPr bwMode="auto">
          <a:xfrm>
            <a:off x="3652520" y="1142984"/>
            <a:ext cx="5537200" cy="4508500"/>
          </a:xfrm>
          <a:custGeom>
            <a:avLst/>
            <a:gdLst/>
            <a:ahLst/>
            <a:cxnLst>
              <a:cxn ang="0">
                <a:pos x="332" y="2642"/>
              </a:cxn>
              <a:cxn ang="0">
                <a:pos x="1887" y="2840"/>
              </a:cxn>
              <a:cxn ang="0">
                <a:pos x="1975" y="2833"/>
              </a:cxn>
              <a:cxn ang="0">
                <a:pos x="3250" y="2771"/>
              </a:cxn>
              <a:cxn ang="0">
                <a:pos x="3284" y="2500"/>
              </a:cxn>
              <a:cxn ang="0">
                <a:pos x="3338" y="2175"/>
              </a:cxn>
              <a:cxn ang="0">
                <a:pos x="3298" y="1470"/>
              </a:cxn>
              <a:cxn ang="0">
                <a:pos x="3284" y="853"/>
              </a:cxn>
              <a:cxn ang="0">
                <a:pos x="3250" y="142"/>
              </a:cxn>
              <a:cxn ang="0">
                <a:pos x="2810" y="27"/>
              </a:cxn>
              <a:cxn ang="0">
                <a:pos x="0" y="0"/>
              </a:cxn>
              <a:cxn ang="0">
                <a:pos x="7" y="2649"/>
              </a:cxn>
            </a:cxnLst>
            <a:rect l="0" t="0" r="r" b="b"/>
            <a:pathLst>
              <a:path w="3488" h="2840">
                <a:moveTo>
                  <a:pt x="332" y="2642"/>
                </a:moveTo>
                <a:cubicBezTo>
                  <a:pt x="206" y="2646"/>
                  <a:pt x="1665" y="2840"/>
                  <a:pt x="1887" y="2840"/>
                </a:cubicBezTo>
                <a:lnTo>
                  <a:pt x="1975" y="2833"/>
                </a:lnTo>
                <a:cubicBezTo>
                  <a:pt x="2202" y="2822"/>
                  <a:pt x="3032" y="2826"/>
                  <a:pt x="3250" y="2771"/>
                </a:cubicBezTo>
                <a:cubicBezTo>
                  <a:pt x="3488" y="2714"/>
                  <a:pt x="3269" y="2599"/>
                  <a:pt x="3284" y="2500"/>
                </a:cubicBezTo>
                <a:cubicBezTo>
                  <a:pt x="3299" y="2401"/>
                  <a:pt x="3336" y="2347"/>
                  <a:pt x="3338" y="2175"/>
                </a:cubicBezTo>
                <a:cubicBezTo>
                  <a:pt x="3336" y="2080"/>
                  <a:pt x="3300" y="1827"/>
                  <a:pt x="3298" y="1470"/>
                </a:cubicBezTo>
                <a:cubicBezTo>
                  <a:pt x="3289" y="1250"/>
                  <a:pt x="3292" y="1074"/>
                  <a:pt x="3284" y="853"/>
                </a:cubicBezTo>
                <a:cubicBezTo>
                  <a:pt x="3276" y="632"/>
                  <a:pt x="3329" y="280"/>
                  <a:pt x="3250" y="142"/>
                </a:cubicBezTo>
                <a:cubicBezTo>
                  <a:pt x="3171" y="4"/>
                  <a:pt x="3352" y="51"/>
                  <a:pt x="2810" y="27"/>
                </a:cubicBezTo>
                <a:lnTo>
                  <a:pt x="0" y="0"/>
                </a:lnTo>
                <a:lnTo>
                  <a:pt x="7" y="2649"/>
                </a:lnTo>
              </a:path>
            </a:pathLst>
          </a:custGeom>
          <a:pattFill prst="divot">
            <a:fgClr>
              <a:srgbClr val="99CC00">
                <a:alpha val="55000"/>
              </a:srgbClr>
            </a:fgClr>
            <a:bgClr>
              <a:schemeClr val="bg1">
                <a:alpha val="55000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 dirty="0"/>
          </a:p>
        </p:txBody>
      </p:sp>
      <p:sp>
        <p:nvSpPr>
          <p:cNvPr id="39" name="Freeform 4" descr="Onda"/>
          <p:cNvSpPr>
            <a:spLocks/>
          </p:cNvSpPr>
          <p:nvPr/>
        </p:nvSpPr>
        <p:spPr bwMode="auto">
          <a:xfrm>
            <a:off x="-45752" y="1127108"/>
            <a:ext cx="3714750" cy="4933950"/>
          </a:xfrm>
          <a:custGeom>
            <a:avLst/>
            <a:gdLst/>
            <a:ahLst/>
            <a:cxnLst>
              <a:cxn ang="0">
                <a:pos x="34" y="38"/>
              </a:cxn>
              <a:cxn ang="0">
                <a:pos x="1438" y="0"/>
              </a:cxn>
              <a:cxn ang="0">
                <a:pos x="2340" y="0"/>
              </a:cxn>
              <a:cxn ang="0">
                <a:pos x="2320" y="2647"/>
              </a:cxn>
              <a:cxn ang="0">
                <a:pos x="883" y="2765"/>
              </a:cxn>
              <a:cxn ang="0">
                <a:pos x="530" y="2744"/>
              </a:cxn>
              <a:cxn ang="0">
                <a:pos x="104" y="2397"/>
              </a:cxn>
              <a:cxn ang="0">
                <a:pos x="83" y="1543"/>
              </a:cxn>
              <a:cxn ang="0">
                <a:pos x="29" y="1184"/>
              </a:cxn>
              <a:cxn ang="0">
                <a:pos x="34" y="38"/>
              </a:cxn>
            </a:cxnLst>
            <a:rect l="0" t="0" r="r" b="b"/>
            <a:pathLst>
              <a:path w="2340" h="3108">
                <a:moveTo>
                  <a:pt x="34" y="38"/>
                </a:moveTo>
                <a:lnTo>
                  <a:pt x="1438" y="0"/>
                </a:lnTo>
                <a:lnTo>
                  <a:pt x="2340" y="0"/>
                </a:lnTo>
                <a:lnTo>
                  <a:pt x="2320" y="2647"/>
                </a:lnTo>
                <a:cubicBezTo>
                  <a:pt x="2077" y="3108"/>
                  <a:pt x="1181" y="2749"/>
                  <a:pt x="883" y="2765"/>
                </a:cubicBezTo>
                <a:lnTo>
                  <a:pt x="530" y="2744"/>
                </a:lnTo>
                <a:cubicBezTo>
                  <a:pt x="400" y="2683"/>
                  <a:pt x="178" y="2597"/>
                  <a:pt x="104" y="2397"/>
                </a:cubicBezTo>
                <a:cubicBezTo>
                  <a:pt x="17" y="2203"/>
                  <a:pt x="16" y="1757"/>
                  <a:pt x="83" y="1543"/>
                </a:cubicBezTo>
                <a:cubicBezTo>
                  <a:pt x="85" y="1448"/>
                  <a:pt x="0" y="1441"/>
                  <a:pt x="29" y="1184"/>
                </a:cubicBezTo>
                <a:cubicBezTo>
                  <a:pt x="21" y="933"/>
                  <a:pt x="34" y="38"/>
                  <a:pt x="34" y="38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0" name="Line 36"/>
          <p:cNvSpPr>
            <a:spLocks noChangeShapeType="1"/>
          </p:cNvSpPr>
          <p:nvPr/>
        </p:nvSpPr>
        <p:spPr bwMode="auto">
          <a:xfrm flipV="1">
            <a:off x="3640423" y="1071546"/>
            <a:ext cx="0" cy="43926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5127625" y="5683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3" name="Line 9"/>
          <p:cNvSpPr>
            <a:spLocks noChangeShapeType="1"/>
          </p:cNvSpPr>
          <p:nvPr/>
        </p:nvSpPr>
        <p:spPr bwMode="auto">
          <a:xfrm>
            <a:off x="722313" y="3243263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5" name="Oval 12"/>
          <p:cNvSpPr>
            <a:spLocks noChangeArrowheads="1"/>
          </p:cNvSpPr>
          <p:nvPr/>
        </p:nvSpPr>
        <p:spPr bwMode="auto">
          <a:xfrm>
            <a:off x="2317750" y="32051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6" name="Oval 13"/>
          <p:cNvSpPr>
            <a:spLocks noChangeArrowheads="1"/>
          </p:cNvSpPr>
          <p:nvPr/>
        </p:nvSpPr>
        <p:spPr bwMode="auto">
          <a:xfrm>
            <a:off x="6154738" y="32051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2160588" y="3260725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6034088" y="2855913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F’</a:t>
            </a:r>
          </a:p>
        </p:txBody>
      </p:sp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3059113" y="48895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3851275" y="4889500"/>
            <a:ext cx="4283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n”</a:t>
            </a:r>
            <a:endParaRPr lang="es-ES_tradnl" dirty="0">
              <a:latin typeface="Times New Roman" pitchFamily="18" charset="0"/>
            </a:endParaRPr>
          </a:p>
        </p:txBody>
      </p:sp>
      <p:sp>
        <p:nvSpPr>
          <p:cNvPr id="11" name="Line 18"/>
          <p:cNvSpPr>
            <a:spLocks noChangeShapeType="1"/>
          </p:cNvSpPr>
          <p:nvPr/>
        </p:nvSpPr>
        <p:spPr bwMode="auto">
          <a:xfrm>
            <a:off x="755650" y="2224088"/>
            <a:ext cx="2879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12" name="Freeform 19"/>
          <p:cNvSpPr>
            <a:spLocks/>
          </p:cNvSpPr>
          <p:nvPr/>
        </p:nvSpPr>
        <p:spPr bwMode="auto">
          <a:xfrm>
            <a:off x="3635375" y="2224088"/>
            <a:ext cx="5303838" cy="2089150"/>
          </a:xfrm>
          <a:custGeom>
            <a:avLst/>
            <a:gdLst>
              <a:gd name="T0" fmla="*/ 0 w 3341"/>
              <a:gd name="T1" fmla="*/ 0 h 1316"/>
              <a:gd name="T2" fmla="*/ 2147483647 w 3341"/>
              <a:gd name="T3" fmla="*/ 2147483647 h 1316"/>
              <a:gd name="T4" fmla="*/ 0 60000 65536"/>
              <a:gd name="T5" fmla="*/ 0 60000 65536"/>
              <a:gd name="T6" fmla="*/ 0 w 3341"/>
              <a:gd name="T7" fmla="*/ 0 h 1316"/>
              <a:gd name="T8" fmla="*/ 3341 w 3341"/>
              <a:gd name="T9" fmla="*/ 1316 h 13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41" h="1316">
                <a:moveTo>
                  <a:pt x="0" y="0"/>
                </a:moveTo>
                <a:lnTo>
                  <a:pt x="3341" y="1316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3" name="Freeform 20"/>
          <p:cNvSpPr>
            <a:spLocks noChangeAspect="1"/>
          </p:cNvSpPr>
          <p:nvPr/>
        </p:nvSpPr>
        <p:spPr bwMode="auto">
          <a:xfrm flipV="1">
            <a:off x="428625" y="2954338"/>
            <a:ext cx="3189288" cy="754062"/>
          </a:xfrm>
          <a:custGeom>
            <a:avLst/>
            <a:gdLst>
              <a:gd name="T0" fmla="*/ 0 w 1775"/>
              <a:gd name="T1" fmla="*/ 0 h 1152"/>
              <a:gd name="T2" fmla="*/ 2147483647 w 1775"/>
              <a:gd name="T3" fmla="*/ 2147483647 h 1152"/>
              <a:gd name="T4" fmla="*/ 0 60000 65536"/>
              <a:gd name="T5" fmla="*/ 0 60000 65536"/>
              <a:gd name="T6" fmla="*/ 0 w 1775"/>
              <a:gd name="T7" fmla="*/ 0 h 1152"/>
              <a:gd name="T8" fmla="*/ 1775 w 1775"/>
              <a:gd name="T9" fmla="*/ 1152 h 11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75" h="1152">
                <a:moveTo>
                  <a:pt x="0" y="0"/>
                </a:moveTo>
                <a:lnTo>
                  <a:pt x="1775" y="1152"/>
                </a:lnTo>
              </a:path>
            </a:pathLst>
          </a:custGeom>
          <a:noFill/>
          <a:ln w="25400">
            <a:solidFill>
              <a:srgbClr val="993366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4" name="Line 21"/>
          <p:cNvSpPr>
            <a:spLocks noChangeShapeType="1"/>
          </p:cNvSpPr>
          <p:nvPr/>
        </p:nvSpPr>
        <p:spPr bwMode="auto">
          <a:xfrm>
            <a:off x="3617913" y="2941638"/>
            <a:ext cx="52578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5" name="Line 23"/>
          <p:cNvSpPr>
            <a:spLocks noChangeShapeType="1"/>
          </p:cNvSpPr>
          <p:nvPr/>
        </p:nvSpPr>
        <p:spPr bwMode="auto">
          <a:xfrm>
            <a:off x="5003800" y="3089275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6500813" y="3133725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</a:p>
        </p:txBody>
      </p:sp>
      <p:sp>
        <p:nvSpPr>
          <p:cNvPr id="17" name="Text Box 26"/>
          <p:cNvSpPr txBox="1">
            <a:spLocks noChangeArrowheads="1"/>
          </p:cNvSpPr>
          <p:nvPr/>
        </p:nvSpPr>
        <p:spPr bwMode="auto">
          <a:xfrm>
            <a:off x="5286375" y="3286125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8" name="Text Box 27"/>
          <p:cNvSpPr txBox="1">
            <a:spLocks noChangeArrowheads="1"/>
          </p:cNvSpPr>
          <p:nvPr/>
        </p:nvSpPr>
        <p:spPr bwMode="auto">
          <a:xfrm>
            <a:off x="6519863" y="1857375"/>
            <a:ext cx="3762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19" name="Text Box 28"/>
          <p:cNvSpPr txBox="1">
            <a:spLocks noChangeArrowheads="1"/>
          </p:cNvSpPr>
          <p:nvPr/>
        </p:nvSpPr>
        <p:spPr bwMode="auto">
          <a:xfrm>
            <a:off x="5314950" y="2571750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21" name="Text Box 34"/>
          <p:cNvSpPr txBox="1">
            <a:spLocks noChangeArrowheads="1"/>
          </p:cNvSpPr>
          <p:nvPr/>
        </p:nvSpPr>
        <p:spPr bwMode="auto">
          <a:xfrm>
            <a:off x="8296275" y="6473825"/>
            <a:ext cx="26962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7</a:t>
            </a:r>
          </a:p>
        </p:txBody>
      </p:sp>
      <p:sp>
        <p:nvSpPr>
          <p:cNvPr id="22" name="21 CuadroTexto"/>
          <p:cNvSpPr txBox="1">
            <a:spLocks noChangeArrowheads="1"/>
          </p:cNvSpPr>
          <p:nvPr/>
        </p:nvSpPr>
        <p:spPr bwMode="auto">
          <a:xfrm>
            <a:off x="2214563" y="714375"/>
            <a:ext cx="528161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/>
              <a:t>Si el objeto es virtual (</a:t>
            </a:r>
            <a:r>
              <a:rPr lang="es-ES" sz="1400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s-ES" sz="1400"/>
              <a:t> &gt; 0), la imagen es real, derecha y menor</a:t>
            </a:r>
          </a:p>
        </p:txBody>
      </p:sp>
      <p:sp>
        <p:nvSpPr>
          <p:cNvPr id="24" name="23 CuadroTexto"/>
          <p:cNvSpPr txBox="1">
            <a:spLocks noChangeArrowheads="1"/>
          </p:cNvSpPr>
          <p:nvPr/>
        </p:nvSpPr>
        <p:spPr bwMode="auto">
          <a:xfrm>
            <a:off x="2214563" y="1857375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25" name="24 CuadroTexto"/>
          <p:cNvSpPr txBox="1">
            <a:spLocks noChangeArrowheads="1"/>
          </p:cNvSpPr>
          <p:nvPr/>
        </p:nvSpPr>
        <p:spPr bwMode="auto">
          <a:xfrm>
            <a:off x="2357438" y="2857500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28" name="Line 11"/>
          <p:cNvSpPr>
            <a:spLocks noChangeShapeType="1"/>
          </p:cNvSpPr>
          <p:nvPr/>
        </p:nvSpPr>
        <p:spPr bwMode="auto">
          <a:xfrm flipV="1">
            <a:off x="6684963" y="2214563"/>
            <a:ext cx="0" cy="10080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29" name="Freeform 20"/>
          <p:cNvSpPr>
            <a:spLocks noChangeAspect="1"/>
          </p:cNvSpPr>
          <p:nvPr/>
        </p:nvSpPr>
        <p:spPr bwMode="auto">
          <a:xfrm flipV="1">
            <a:off x="3617913" y="1903413"/>
            <a:ext cx="4384675" cy="1038225"/>
          </a:xfrm>
          <a:custGeom>
            <a:avLst/>
            <a:gdLst>
              <a:gd name="T0" fmla="*/ 0 w 1775"/>
              <a:gd name="T1" fmla="*/ 0 h 1152"/>
              <a:gd name="T2" fmla="*/ 2147483647 w 1775"/>
              <a:gd name="T3" fmla="*/ 2147483647 h 1152"/>
              <a:gd name="T4" fmla="*/ 0 60000 65536"/>
              <a:gd name="T5" fmla="*/ 0 60000 65536"/>
              <a:gd name="T6" fmla="*/ 0 w 1775"/>
              <a:gd name="T7" fmla="*/ 0 h 1152"/>
              <a:gd name="T8" fmla="*/ 1775 w 1775"/>
              <a:gd name="T9" fmla="*/ 1152 h 11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75" h="1152">
                <a:moveTo>
                  <a:pt x="0" y="0"/>
                </a:moveTo>
                <a:lnTo>
                  <a:pt x="1775" y="1152"/>
                </a:lnTo>
              </a:path>
            </a:pathLst>
          </a:custGeom>
          <a:noFill/>
          <a:ln w="25400">
            <a:solidFill>
              <a:srgbClr val="993366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31" name="Freeform 24"/>
          <p:cNvSpPr>
            <a:spLocks/>
          </p:cNvSpPr>
          <p:nvPr/>
        </p:nvSpPr>
        <p:spPr bwMode="auto">
          <a:xfrm>
            <a:off x="5500688" y="2928938"/>
            <a:ext cx="1587" cy="323850"/>
          </a:xfrm>
          <a:custGeom>
            <a:avLst/>
            <a:gdLst>
              <a:gd name="T0" fmla="*/ 0 w 14"/>
              <a:gd name="T1" fmla="*/ 0 h 570"/>
              <a:gd name="T2" fmla="*/ 2147483647 w 14"/>
              <a:gd name="T3" fmla="*/ 2147483647 h 570"/>
              <a:gd name="T4" fmla="*/ 0 60000 65536"/>
              <a:gd name="T5" fmla="*/ 0 60000 65536"/>
              <a:gd name="T6" fmla="*/ 0 w 14"/>
              <a:gd name="T7" fmla="*/ 0 h 570"/>
              <a:gd name="T8" fmla="*/ 14 w 14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 type="triangle" w="med" len="med"/>
            <a:tailEnd type="none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32" name="31 CuadroTexto"/>
          <p:cNvSpPr txBox="1">
            <a:spLocks noChangeArrowheads="1"/>
          </p:cNvSpPr>
          <p:nvPr/>
        </p:nvSpPr>
        <p:spPr bwMode="auto">
          <a:xfrm>
            <a:off x="4643438" y="4000500"/>
            <a:ext cx="19970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/>
              <a:t>Imagen Real (</a:t>
            </a:r>
            <a:r>
              <a:rPr lang="es-ES" sz="1600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s-ES_tradnl" sz="1600">
                <a:latin typeface="Times New Roman" pitchFamily="18" charset="0"/>
              </a:rPr>
              <a:t>’</a:t>
            </a:r>
            <a:r>
              <a:rPr lang="es-ES" sz="1600">
                <a:latin typeface="Times New Roman" pitchFamily="18" charset="0"/>
                <a:cs typeface="Times New Roman" pitchFamily="18" charset="0"/>
              </a:rPr>
              <a:t> &gt; 0</a:t>
            </a:r>
            <a:r>
              <a:rPr lang="es-ES" sz="1600"/>
              <a:t>)</a:t>
            </a:r>
          </a:p>
        </p:txBody>
      </p:sp>
      <p:sp>
        <p:nvSpPr>
          <p:cNvPr id="33" name="45 CuadroTexto"/>
          <p:cNvSpPr txBox="1">
            <a:spLocks noChangeArrowheads="1"/>
          </p:cNvSpPr>
          <p:nvPr/>
        </p:nvSpPr>
        <p:spPr bwMode="auto">
          <a:xfrm>
            <a:off x="5500688" y="285750"/>
            <a:ext cx="22124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dirty="0"/>
              <a:t>Objeto virtual (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&gt; 0)</a:t>
            </a:r>
          </a:p>
        </p:txBody>
      </p:sp>
      <p:sp>
        <p:nvSpPr>
          <p:cNvPr id="34" name="46 CuadroTexto"/>
          <p:cNvSpPr txBox="1">
            <a:spLocks noChangeArrowheads="1"/>
          </p:cNvSpPr>
          <p:nvPr/>
        </p:nvSpPr>
        <p:spPr bwMode="auto">
          <a:xfrm>
            <a:off x="285750" y="142875"/>
            <a:ext cx="214674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" dirty="0"/>
              <a:t>Lente Convergente</a:t>
            </a:r>
          </a:p>
          <a:p>
            <a:pPr algn="ctr"/>
            <a:r>
              <a:rPr lang="es-E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 &lt; 0; 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’ &gt;0</a:t>
            </a:r>
          </a:p>
        </p:txBody>
      </p:sp>
      <p:sp>
        <p:nvSpPr>
          <p:cNvPr id="35" name="Line 18"/>
          <p:cNvSpPr>
            <a:spLocks noChangeShapeType="1"/>
          </p:cNvSpPr>
          <p:nvPr/>
        </p:nvSpPr>
        <p:spPr bwMode="auto">
          <a:xfrm>
            <a:off x="3643313" y="2214563"/>
            <a:ext cx="4000500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36" name="35 CuadroTexto"/>
          <p:cNvSpPr txBox="1">
            <a:spLocks noChangeArrowheads="1"/>
          </p:cNvSpPr>
          <p:nvPr/>
        </p:nvSpPr>
        <p:spPr bwMode="auto">
          <a:xfrm>
            <a:off x="357188" y="5786438"/>
            <a:ext cx="84994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0000FF"/>
                </a:solidFill>
              </a:rPr>
              <a:t>(1) Incidente: dirección paralela al eje principal. Refractado: dirección que pasa por foco principal imagen</a:t>
            </a:r>
          </a:p>
        </p:txBody>
      </p:sp>
      <p:sp>
        <p:nvSpPr>
          <p:cNvPr id="38" name="37 CuadroTexto"/>
          <p:cNvSpPr txBox="1">
            <a:spLocks noChangeArrowheads="1"/>
          </p:cNvSpPr>
          <p:nvPr/>
        </p:nvSpPr>
        <p:spPr bwMode="auto">
          <a:xfrm>
            <a:off x="357188" y="6049963"/>
            <a:ext cx="824071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>
                <a:solidFill>
                  <a:srgbClr val="A50021"/>
                </a:solidFill>
              </a:rPr>
              <a:t>(2) Incidente: dirección pasa por el foco principal objeto. Refractado: dirección paralela al eje principal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7" grpId="0"/>
      <p:bldP spid="19" grpId="0"/>
      <p:bldP spid="21" grpId="0"/>
      <p:bldP spid="22" grpId="0"/>
      <p:bldP spid="24" grpId="0"/>
      <p:bldP spid="25" grpId="0"/>
      <p:bldP spid="29" grpId="0" animBg="1"/>
      <p:bldP spid="31" grpId="0" animBg="1"/>
      <p:bldP spid="32" grpId="0"/>
      <p:bldP spid="35" grpId="0" animBg="1"/>
      <p:bldP spid="36" grpId="0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reeform 2" descr="Ángulos"/>
          <p:cNvSpPr>
            <a:spLocks/>
          </p:cNvSpPr>
          <p:nvPr/>
        </p:nvSpPr>
        <p:spPr bwMode="auto">
          <a:xfrm>
            <a:off x="3768725" y="1657350"/>
            <a:ext cx="5537200" cy="4508500"/>
          </a:xfrm>
          <a:custGeom>
            <a:avLst/>
            <a:gdLst/>
            <a:ahLst/>
            <a:cxnLst>
              <a:cxn ang="0">
                <a:pos x="332" y="2642"/>
              </a:cxn>
              <a:cxn ang="0">
                <a:pos x="1887" y="2840"/>
              </a:cxn>
              <a:cxn ang="0">
                <a:pos x="1975" y="2833"/>
              </a:cxn>
              <a:cxn ang="0">
                <a:pos x="3250" y="2771"/>
              </a:cxn>
              <a:cxn ang="0">
                <a:pos x="3284" y="2500"/>
              </a:cxn>
              <a:cxn ang="0">
                <a:pos x="3338" y="2175"/>
              </a:cxn>
              <a:cxn ang="0">
                <a:pos x="3298" y="1470"/>
              </a:cxn>
              <a:cxn ang="0">
                <a:pos x="3284" y="853"/>
              </a:cxn>
              <a:cxn ang="0">
                <a:pos x="3250" y="142"/>
              </a:cxn>
              <a:cxn ang="0">
                <a:pos x="2810" y="27"/>
              </a:cxn>
              <a:cxn ang="0">
                <a:pos x="0" y="0"/>
              </a:cxn>
              <a:cxn ang="0">
                <a:pos x="7" y="2649"/>
              </a:cxn>
            </a:cxnLst>
            <a:rect l="0" t="0" r="r" b="b"/>
            <a:pathLst>
              <a:path w="3488" h="2840">
                <a:moveTo>
                  <a:pt x="332" y="2642"/>
                </a:moveTo>
                <a:cubicBezTo>
                  <a:pt x="206" y="2646"/>
                  <a:pt x="1665" y="2840"/>
                  <a:pt x="1887" y="2840"/>
                </a:cubicBezTo>
                <a:lnTo>
                  <a:pt x="1975" y="2833"/>
                </a:lnTo>
                <a:cubicBezTo>
                  <a:pt x="2202" y="2822"/>
                  <a:pt x="3032" y="2826"/>
                  <a:pt x="3250" y="2771"/>
                </a:cubicBezTo>
                <a:cubicBezTo>
                  <a:pt x="3488" y="2714"/>
                  <a:pt x="3269" y="2599"/>
                  <a:pt x="3284" y="2500"/>
                </a:cubicBezTo>
                <a:cubicBezTo>
                  <a:pt x="3299" y="2401"/>
                  <a:pt x="3336" y="2347"/>
                  <a:pt x="3338" y="2175"/>
                </a:cubicBezTo>
                <a:cubicBezTo>
                  <a:pt x="3336" y="2080"/>
                  <a:pt x="3300" y="1827"/>
                  <a:pt x="3298" y="1470"/>
                </a:cubicBezTo>
                <a:cubicBezTo>
                  <a:pt x="3289" y="1250"/>
                  <a:pt x="3292" y="1074"/>
                  <a:pt x="3284" y="853"/>
                </a:cubicBezTo>
                <a:cubicBezTo>
                  <a:pt x="3276" y="632"/>
                  <a:pt x="3329" y="280"/>
                  <a:pt x="3250" y="142"/>
                </a:cubicBezTo>
                <a:cubicBezTo>
                  <a:pt x="3171" y="4"/>
                  <a:pt x="3352" y="51"/>
                  <a:pt x="2810" y="27"/>
                </a:cubicBezTo>
                <a:lnTo>
                  <a:pt x="0" y="0"/>
                </a:lnTo>
                <a:lnTo>
                  <a:pt x="7" y="2649"/>
                </a:lnTo>
              </a:path>
            </a:pathLst>
          </a:custGeom>
          <a:pattFill prst="divot">
            <a:fgClr>
              <a:srgbClr val="99CC00">
                <a:alpha val="55000"/>
              </a:srgbClr>
            </a:fgClr>
            <a:bgClr>
              <a:schemeClr val="bg1">
                <a:alpha val="55000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1327150" y="395288"/>
          <a:ext cx="3741738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9" name="Ecuación" r:id="rId3" imgW="2336760" imgH="431640" progId="Equation.3">
                  <p:embed/>
                </p:oleObj>
              </mc:Choice>
              <mc:Fallback>
                <p:oleObj name="Ecuación" r:id="rId3" imgW="233676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395288"/>
                        <a:ext cx="3741738" cy="6905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5127625" y="5683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8197" name="Freeform 5" descr="Onda"/>
          <p:cNvSpPr>
            <a:spLocks/>
          </p:cNvSpPr>
          <p:nvPr/>
        </p:nvSpPr>
        <p:spPr bwMode="auto">
          <a:xfrm>
            <a:off x="65088" y="1628775"/>
            <a:ext cx="3714750" cy="4933950"/>
          </a:xfrm>
          <a:custGeom>
            <a:avLst/>
            <a:gdLst/>
            <a:ahLst/>
            <a:cxnLst>
              <a:cxn ang="0">
                <a:pos x="34" y="38"/>
              </a:cxn>
              <a:cxn ang="0">
                <a:pos x="1438" y="0"/>
              </a:cxn>
              <a:cxn ang="0">
                <a:pos x="2340" y="0"/>
              </a:cxn>
              <a:cxn ang="0">
                <a:pos x="2320" y="2647"/>
              </a:cxn>
              <a:cxn ang="0">
                <a:pos x="883" y="2765"/>
              </a:cxn>
              <a:cxn ang="0">
                <a:pos x="530" y="2744"/>
              </a:cxn>
              <a:cxn ang="0">
                <a:pos x="104" y="2397"/>
              </a:cxn>
              <a:cxn ang="0">
                <a:pos x="83" y="1543"/>
              </a:cxn>
              <a:cxn ang="0">
                <a:pos x="29" y="1184"/>
              </a:cxn>
              <a:cxn ang="0">
                <a:pos x="34" y="38"/>
              </a:cxn>
            </a:cxnLst>
            <a:rect l="0" t="0" r="r" b="b"/>
            <a:pathLst>
              <a:path w="2340" h="3108">
                <a:moveTo>
                  <a:pt x="34" y="38"/>
                </a:moveTo>
                <a:lnTo>
                  <a:pt x="1438" y="0"/>
                </a:lnTo>
                <a:lnTo>
                  <a:pt x="2340" y="0"/>
                </a:lnTo>
                <a:lnTo>
                  <a:pt x="2320" y="2647"/>
                </a:lnTo>
                <a:cubicBezTo>
                  <a:pt x="2077" y="3108"/>
                  <a:pt x="1181" y="2749"/>
                  <a:pt x="883" y="2765"/>
                </a:cubicBezTo>
                <a:lnTo>
                  <a:pt x="530" y="2744"/>
                </a:lnTo>
                <a:cubicBezTo>
                  <a:pt x="400" y="2683"/>
                  <a:pt x="178" y="2597"/>
                  <a:pt x="104" y="2397"/>
                </a:cubicBezTo>
                <a:cubicBezTo>
                  <a:pt x="17" y="2203"/>
                  <a:pt x="16" y="1757"/>
                  <a:pt x="83" y="1543"/>
                </a:cubicBezTo>
                <a:cubicBezTo>
                  <a:pt x="85" y="1448"/>
                  <a:pt x="0" y="1441"/>
                  <a:pt x="29" y="1184"/>
                </a:cubicBezTo>
                <a:cubicBezTo>
                  <a:pt x="21" y="933"/>
                  <a:pt x="34" y="38"/>
                  <a:pt x="34" y="38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722313" y="3727450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199" name="Oval 7"/>
          <p:cNvSpPr>
            <a:spLocks noChangeArrowheads="1"/>
          </p:cNvSpPr>
          <p:nvPr/>
        </p:nvSpPr>
        <p:spPr bwMode="auto">
          <a:xfrm>
            <a:off x="2406650" y="3689350"/>
            <a:ext cx="73025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8200" name="Oval 8"/>
          <p:cNvSpPr>
            <a:spLocks noChangeArrowheads="1"/>
          </p:cNvSpPr>
          <p:nvPr/>
        </p:nvSpPr>
        <p:spPr bwMode="auto">
          <a:xfrm>
            <a:off x="6254750" y="3689350"/>
            <a:ext cx="73025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2249488" y="3744913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6259513" y="3340100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F’</a:t>
            </a:r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3148013" y="537368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8204" name="Freeform 12"/>
          <p:cNvSpPr>
            <a:spLocks/>
          </p:cNvSpPr>
          <p:nvPr/>
        </p:nvSpPr>
        <p:spPr bwMode="auto">
          <a:xfrm>
            <a:off x="3724275" y="2697163"/>
            <a:ext cx="5237163" cy="20907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299" y="1317"/>
              </a:cxn>
            </a:cxnLst>
            <a:rect l="0" t="0" r="r" b="b"/>
            <a:pathLst>
              <a:path w="3299" h="1317">
                <a:moveTo>
                  <a:pt x="0" y="0"/>
                </a:moveTo>
                <a:lnTo>
                  <a:pt x="3299" y="1317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217" name="Text Box 25"/>
          <p:cNvSpPr txBox="1">
            <a:spLocks noChangeArrowheads="1"/>
          </p:cNvSpPr>
          <p:nvPr/>
        </p:nvSpPr>
        <p:spPr bwMode="auto">
          <a:xfrm>
            <a:off x="4067175" y="5367338"/>
            <a:ext cx="450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’’</a:t>
            </a:r>
          </a:p>
        </p:txBody>
      </p:sp>
      <p:sp>
        <p:nvSpPr>
          <p:cNvPr id="8218" name="Line 26"/>
          <p:cNvSpPr>
            <a:spLocks noChangeShapeType="1"/>
          </p:cNvSpPr>
          <p:nvPr/>
        </p:nvSpPr>
        <p:spPr bwMode="auto">
          <a:xfrm flipV="1">
            <a:off x="3762375" y="1573213"/>
            <a:ext cx="0" cy="43926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219" name="Line 27"/>
          <p:cNvSpPr>
            <a:spLocks noChangeShapeType="1"/>
          </p:cNvSpPr>
          <p:nvPr/>
        </p:nvSpPr>
        <p:spPr bwMode="auto">
          <a:xfrm>
            <a:off x="844550" y="2708275"/>
            <a:ext cx="2879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graphicFrame>
        <p:nvGraphicFramePr>
          <p:cNvPr id="8228" name="Object 36"/>
          <p:cNvGraphicFramePr>
            <a:graphicFrameLocks noChangeAspect="1"/>
          </p:cNvGraphicFramePr>
          <p:nvPr/>
        </p:nvGraphicFramePr>
        <p:xfrm>
          <a:off x="5795963" y="442913"/>
          <a:ext cx="1341437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0" name="Ecuación" r:id="rId5" imgW="838080" imgH="393480" progId="Equation.3">
                  <p:embed/>
                </p:oleObj>
              </mc:Choice>
              <mc:Fallback>
                <p:oleObj name="Ecuación" r:id="rId5" imgW="838080" imgH="39348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442913"/>
                        <a:ext cx="1341437" cy="63023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8" name="Text Box 46"/>
          <p:cNvSpPr txBox="1">
            <a:spLocks noChangeArrowheads="1"/>
          </p:cNvSpPr>
          <p:nvPr/>
        </p:nvSpPr>
        <p:spPr bwMode="auto">
          <a:xfrm>
            <a:off x="447675" y="6253163"/>
            <a:ext cx="26581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>
                <a:sym typeface="Symbol" pitchFamily="18" charset="2"/>
              </a:rPr>
              <a:t>&gt;0  Lente Convergente</a:t>
            </a:r>
          </a:p>
        </p:txBody>
      </p:sp>
      <p:sp>
        <p:nvSpPr>
          <p:cNvPr id="8239" name="Freeform 47"/>
          <p:cNvSpPr>
            <a:spLocks/>
          </p:cNvSpPr>
          <p:nvPr/>
        </p:nvSpPr>
        <p:spPr bwMode="auto">
          <a:xfrm>
            <a:off x="2446338" y="4722813"/>
            <a:ext cx="1295400" cy="1587"/>
          </a:xfrm>
          <a:custGeom>
            <a:avLst/>
            <a:gdLst/>
            <a:ahLst/>
            <a:cxnLst>
              <a:cxn ang="0">
                <a:pos x="884" y="0"/>
              </a:cxn>
              <a:cxn ang="0">
                <a:pos x="0" y="2"/>
              </a:cxn>
            </a:cxnLst>
            <a:rect l="0" t="0" r="r" b="b"/>
            <a:pathLst>
              <a:path w="884" h="2">
                <a:moveTo>
                  <a:pt x="884" y="0"/>
                </a:moveTo>
                <a:lnTo>
                  <a:pt x="0" y="2"/>
                </a:lnTo>
              </a:path>
            </a:pathLst>
          </a:custGeom>
          <a:noFill/>
          <a:ln w="9525">
            <a:solidFill>
              <a:srgbClr val="969696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240" name="Text Box 48"/>
          <p:cNvSpPr txBox="1">
            <a:spLocks noChangeArrowheads="1"/>
          </p:cNvSpPr>
          <p:nvPr/>
        </p:nvSpPr>
        <p:spPr bwMode="auto">
          <a:xfrm>
            <a:off x="2771775" y="47244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 </a:t>
            </a:r>
          </a:p>
        </p:txBody>
      </p:sp>
      <p:sp>
        <p:nvSpPr>
          <p:cNvPr id="8241" name="Freeform 49"/>
          <p:cNvSpPr>
            <a:spLocks/>
          </p:cNvSpPr>
          <p:nvPr/>
        </p:nvSpPr>
        <p:spPr bwMode="auto">
          <a:xfrm>
            <a:off x="3779838" y="4724400"/>
            <a:ext cx="2525712" cy="1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73" y="8"/>
              </a:cxn>
            </a:cxnLst>
            <a:rect l="0" t="0" r="r" b="b"/>
            <a:pathLst>
              <a:path w="1773" h="8">
                <a:moveTo>
                  <a:pt x="0" y="0"/>
                </a:moveTo>
                <a:lnTo>
                  <a:pt x="1773" y="8"/>
                </a:lnTo>
              </a:path>
            </a:pathLst>
          </a:custGeom>
          <a:noFill/>
          <a:ln w="9525">
            <a:solidFill>
              <a:srgbClr val="969696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242" name="Text Box 50"/>
          <p:cNvSpPr txBox="1">
            <a:spLocks noChangeArrowheads="1"/>
          </p:cNvSpPr>
          <p:nvPr/>
        </p:nvSpPr>
        <p:spPr bwMode="auto">
          <a:xfrm flipH="1">
            <a:off x="4932363" y="4724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f’ </a:t>
            </a:r>
          </a:p>
        </p:txBody>
      </p:sp>
      <p:sp>
        <p:nvSpPr>
          <p:cNvPr id="8243" name="Freeform 51"/>
          <p:cNvSpPr>
            <a:spLocks/>
          </p:cNvSpPr>
          <p:nvPr/>
        </p:nvSpPr>
        <p:spPr bwMode="auto">
          <a:xfrm>
            <a:off x="515938" y="2719388"/>
            <a:ext cx="3241675" cy="1236662"/>
          </a:xfrm>
          <a:custGeom>
            <a:avLst/>
            <a:gdLst/>
            <a:ahLst/>
            <a:cxnLst>
              <a:cxn ang="0">
                <a:pos x="0" y="779"/>
              </a:cxn>
              <a:cxn ang="0">
                <a:pos x="2042" y="0"/>
              </a:cxn>
            </a:cxnLst>
            <a:rect l="0" t="0" r="r" b="b"/>
            <a:pathLst>
              <a:path w="2042" h="779">
                <a:moveTo>
                  <a:pt x="0" y="779"/>
                </a:moveTo>
                <a:lnTo>
                  <a:pt x="2042" y="0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244" name="Freeform 52"/>
          <p:cNvSpPr>
            <a:spLocks/>
          </p:cNvSpPr>
          <p:nvPr/>
        </p:nvSpPr>
        <p:spPr bwMode="auto">
          <a:xfrm>
            <a:off x="488950" y="2122488"/>
            <a:ext cx="3241675" cy="1236662"/>
          </a:xfrm>
          <a:custGeom>
            <a:avLst/>
            <a:gdLst/>
            <a:ahLst/>
            <a:cxnLst>
              <a:cxn ang="0">
                <a:pos x="0" y="779"/>
              </a:cxn>
              <a:cxn ang="0">
                <a:pos x="2042" y="0"/>
              </a:cxn>
            </a:cxnLst>
            <a:rect l="0" t="0" r="r" b="b"/>
            <a:pathLst>
              <a:path w="2042" h="779">
                <a:moveTo>
                  <a:pt x="0" y="779"/>
                </a:moveTo>
                <a:lnTo>
                  <a:pt x="2042" y="0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245" name="Freeform 53"/>
          <p:cNvSpPr>
            <a:spLocks/>
          </p:cNvSpPr>
          <p:nvPr/>
        </p:nvSpPr>
        <p:spPr bwMode="auto">
          <a:xfrm>
            <a:off x="490538" y="2420938"/>
            <a:ext cx="3241675" cy="1236662"/>
          </a:xfrm>
          <a:custGeom>
            <a:avLst/>
            <a:gdLst/>
            <a:ahLst/>
            <a:cxnLst>
              <a:cxn ang="0">
                <a:pos x="0" y="779"/>
              </a:cxn>
              <a:cxn ang="0">
                <a:pos x="2042" y="0"/>
              </a:cxn>
            </a:cxnLst>
            <a:rect l="0" t="0" r="r" b="b"/>
            <a:pathLst>
              <a:path w="2042" h="779">
                <a:moveTo>
                  <a:pt x="0" y="779"/>
                </a:moveTo>
                <a:lnTo>
                  <a:pt x="2042" y="0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246" name="Text Box 54"/>
          <p:cNvSpPr txBox="1">
            <a:spLocks noChangeArrowheads="1"/>
          </p:cNvSpPr>
          <p:nvPr/>
        </p:nvSpPr>
        <p:spPr bwMode="auto">
          <a:xfrm>
            <a:off x="4356100" y="6308725"/>
            <a:ext cx="17891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s</a:t>
            </a:r>
            <a:r>
              <a:rPr lang="es-ES_tradnl">
                <a:latin typeface="Times New Roman" pitchFamily="18" charset="0"/>
                <a:sym typeface="Symbol" pitchFamily="18" charset="2"/>
              </a:rPr>
              <a:t>   </a:t>
            </a:r>
            <a:r>
              <a:rPr lang="es-ES_tradnl" i="1">
                <a:latin typeface="Times New Roman" pitchFamily="18" charset="0"/>
                <a:sym typeface="Symbol" pitchFamily="18" charset="2"/>
              </a:rPr>
              <a:t>s</a:t>
            </a:r>
            <a:r>
              <a:rPr lang="es-ES_tradnl">
                <a:latin typeface="Times New Roman" pitchFamily="18" charset="0"/>
                <a:sym typeface="Symbol" pitchFamily="18" charset="2"/>
              </a:rPr>
              <a:t>’ = </a:t>
            </a:r>
            <a:r>
              <a:rPr lang="es-ES_tradnl" i="1">
                <a:latin typeface="Times New Roman" pitchFamily="18" charset="0"/>
                <a:sym typeface="Symbol" pitchFamily="18" charset="2"/>
              </a:rPr>
              <a:t>f</a:t>
            </a:r>
            <a:r>
              <a:rPr lang="es-ES_tradnl">
                <a:latin typeface="Times New Roman" pitchFamily="18" charset="0"/>
                <a:sym typeface="Symbol" pitchFamily="18" charset="2"/>
              </a:rPr>
              <a:t>’</a:t>
            </a:r>
          </a:p>
        </p:txBody>
      </p:sp>
      <p:sp>
        <p:nvSpPr>
          <p:cNvPr id="8247" name="Line 55"/>
          <p:cNvSpPr>
            <a:spLocks noChangeShapeType="1"/>
          </p:cNvSpPr>
          <p:nvPr/>
        </p:nvSpPr>
        <p:spPr bwMode="auto">
          <a:xfrm>
            <a:off x="6289675" y="1989138"/>
            <a:ext cx="0" cy="3384550"/>
          </a:xfrm>
          <a:prstGeom prst="line">
            <a:avLst/>
          </a:prstGeom>
          <a:noFill/>
          <a:ln w="19050">
            <a:solidFill>
              <a:srgbClr val="808080"/>
            </a:solidFill>
            <a:prstDash val="lgDashDotDot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248" name="Text Box 56"/>
          <p:cNvSpPr txBox="1">
            <a:spLocks noChangeArrowheads="1"/>
          </p:cNvSpPr>
          <p:nvPr/>
        </p:nvSpPr>
        <p:spPr bwMode="auto">
          <a:xfrm>
            <a:off x="6310313" y="6381750"/>
            <a:ext cx="28336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400"/>
              <a:t>(define un plano de posibilidades)</a:t>
            </a:r>
          </a:p>
        </p:txBody>
      </p:sp>
      <p:sp>
        <p:nvSpPr>
          <p:cNvPr id="8249" name="Freeform 57"/>
          <p:cNvSpPr>
            <a:spLocks/>
          </p:cNvSpPr>
          <p:nvPr/>
        </p:nvSpPr>
        <p:spPr bwMode="auto">
          <a:xfrm>
            <a:off x="539750" y="3211513"/>
            <a:ext cx="3241675" cy="1236662"/>
          </a:xfrm>
          <a:custGeom>
            <a:avLst/>
            <a:gdLst/>
            <a:ahLst/>
            <a:cxnLst>
              <a:cxn ang="0">
                <a:pos x="0" y="779"/>
              </a:cxn>
              <a:cxn ang="0">
                <a:pos x="2042" y="0"/>
              </a:cxn>
            </a:cxnLst>
            <a:rect l="0" t="0" r="r" b="b"/>
            <a:pathLst>
              <a:path w="2042" h="779">
                <a:moveTo>
                  <a:pt x="0" y="779"/>
                </a:moveTo>
                <a:lnTo>
                  <a:pt x="2042" y="0"/>
                </a:lnTo>
              </a:path>
            </a:pathLst>
          </a:custGeom>
          <a:noFill/>
          <a:ln w="25400">
            <a:solidFill>
              <a:srgbClr val="FF66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251" name="Line 59"/>
          <p:cNvSpPr>
            <a:spLocks noChangeShapeType="1"/>
          </p:cNvSpPr>
          <p:nvPr/>
        </p:nvSpPr>
        <p:spPr bwMode="auto">
          <a:xfrm>
            <a:off x="3779838" y="3213100"/>
            <a:ext cx="3814762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252" name="Oval 60"/>
          <p:cNvSpPr>
            <a:spLocks noChangeArrowheads="1"/>
          </p:cNvSpPr>
          <p:nvPr/>
        </p:nvSpPr>
        <p:spPr bwMode="auto">
          <a:xfrm>
            <a:off x="6267450" y="3190875"/>
            <a:ext cx="71438" cy="71438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8253" name="Text Box 61"/>
          <p:cNvSpPr txBox="1">
            <a:spLocks noChangeArrowheads="1"/>
          </p:cNvSpPr>
          <p:nvPr/>
        </p:nvSpPr>
        <p:spPr bwMode="auto">
          <a:xfrm>
            <a:off x="6227763" y="2774950"/>
            <a:ext cx="2686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solidFill>
                  <a:schemeClr val="folHlink"/>
                </a:solidFill>
              </a:rPr>
              <a:t>Foco imagen secundario</a:t>
            </a:r>
          </a:p>
        </p:txBody>
      </p:sp>
      <p:sp>
        <p:nvSpPr>
          <p:cNvPr id="8254" name="Freeform 62"/>
          <p:cNvSpPr>
            <a:spLocks/>
          </p:cNvSpPr>
          <p:nvPr/>
        </p:nvSpPr>
        <p:spPr bwMode="auto">
          <a:xfrm>
            <a:off x="3708400" y="2420938"/>
            <a:ext cx="5091113" cy="15922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207" y="1003"/>
              </a:cxn>
            </a:cxnLst>
            <a:rect l="0" t="0" r="r" b="b"/>
            <a:pathLst>
              <a:path w="3207" h="1003">
                <a:moveTo>
                  <a:pt x="0" y="0"/>
                </a:moveTo>
                <a:lnTo>
                  <a:pt x="3207" y="1003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255" name="Freeform 63"/>
          <p:cNvSpPr>
            <a:spLocks/>
          </p:cNvSpPr>
          <p:nvPr/>
        </p:nvSpPr>
        <p:spPr bwMode="auto">
          <a:xfrm>
            <a:off x="3771900" y="2133600"/>
            <a:ext cx="5146675" cy="22225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242" y="1400"/>
              </a:cxn>
            </a:cxnLst>
            <a:rect l="0" t="0" r="r" b="b"/>
            <a:pathLst>
              <a:path w="3242" h="1400">
                <a:moveTo>
                  <a:pt x="0" y="0"/>
                </a:moveTo>
                <a:lnTo>
                  <a:pt x="3242" y="1400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256" name="Freeform 64"/>
          <p:cNvSpPr>
            <a:spLocks/>
          </p:cNvSpPr>
          <p:nvPr/>
        </p:nvSpPr>
        <p:spPr bwMode="auto">
          <a:xfrm>
            <a:off x="3779838" y="2724150"/>
            <a:ext cx="4805362" cy="9334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027" y="588"/>
              </a:cxn>
            </a:cxnLst>
            <a:rect l="0" t="0" r="r" b="b"/>
            <a:pathLst>
              <a:path w="3027" h="588">
                <a:moveTo>
                  <a:pt x="0" y="0"/>
                </a:moveTo>
                <a:lnTo>
                  <a:pt x="3027" y="588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257" name="Text Box 65"/>
          <p:cNvSpPr txBox="1">
            <a:spLocks noChangeArrowheads="1"/>
          </p:cNvSpPr>
          <p:nvPr/>
        </p:nvSpPr>
        <p:spPr bwMode="auto">
          <a:xfrm>
            <a:off x="41275" y="1925638"/>
            <a:ext cx="2430463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/>
              <a:t>Haz de rayos paralelos </a:t>
            </a:r>
          </a:p>
          <a:p>
            <a:r>
              <a:rPr lang="es-ES_tradnl" sz="1200"/>
              <a:t>pero no paralelos al eje principal</a:t>
            </a:r>
            <a:r>
              <a:rPr lang="es-ES_tradnl"/>
              <a:t> </a:t>
            </a:r>
          </a:p>
        </p:txBody>
      </p:sp>
      <p:sp>
        <p:nvSpPr>
          <p:cNvPr id="8258" name="Text Box 66"/>
          <p:cNvSpPr txBox="1">
            <a:spLocks noChangeArrowheads="1"/>
          </p:cNvSpPr>
          <p:nvPr/>
        </p:nvSpPr>
        <p:spPr bwMode="auto">
          <a:xfrm>
            <a:off x="519113" y="4529138"/>
            <a:ext cx="10604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/>
              <a:t>Rayo auxiliar</a:t>
            </a:r>
          </a:p>
        </p:txBody>
      </p:sp>
      <p:sp>
        <p:nvSpPr>
          <p:cNvPr id="8259" name="Text Box 67"/>
          <p:cNvSpPr txBox="1">
            <a:spLocks noChangeArrowheads="1"/>
          </p:cNvSpPr>
          <p:nvPr/>
        </p:nvSpPr>
        <p:spPr bwMode="auto">
          <a:xfrm>
            <a:off x="8675688" y="6564313"/>
            <a:ext cx="2682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8</a:t>
            </a:r>
          </a:p>
        </p:txBody>
      </p:sp>
      <p:sp>
        <p:nvSpPr>
          <p:cNvPr id="8260" name="Text Box 68"/>
          <p:cNvSpPr txBox="1">
            <a:spLocks noChangeArrowheads="1"/>
          </p:cNvSpPr>
          <p:nvPr/>
        </p:nvSpPr>
        <p:spPr bwMode="auto">
          <a:xfrm>
            <a:off x="231775" y="1216025"/>
            <a:ext cx="170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/>
              <a:t>Observaciones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4" grpId="0" animBg="1"/>
      <p:bldP spid="8204" grpId="1" animBg="1"/>
      <p:bldP spid="8219" grpId="0" animBg="1"/>
      <p:bldP spid="8219" grpId="1" animBg="1"/>
      <p:bldP spid="8243" grpId="0" animBg="1"/>
      <p:bldP spid="8244" grpId="0" animBg="1"/>
      <p:bldP spid="8245" grpId="0" animBg="1"/>
      <p:bldP spid="8246" grpId="0"/>
      <p:bldP spid="8247" grpId="0" animBg="1"/>
      <p:bldP spid="8248" grpId="0"/>
      <p:bldP spid="8249" grpId="0" animBg="1"/>
      <p:bldP spid="8251" grpId="0" animBg="1"/>
      <p:bldP spid="8252" grpId="0" animBg="1"/>
      <p:bldP spid="8253" grpId="0"/>
      <p:bldP spid="8254" grpId="0" animBg="1"/>
      <p:bldP spid="8255" grpId="0" animBg="1"/>
      <p:bldP spid="8256" grpId="0" animBg="1"/>
      <p:bldP spid="8257" grpId="0"/>
      <p:bldP spid="8258" grpId="0"/>
      <p:bldP spid="825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reeform 2" descr="Ángulos"/>
          <p:cNvSpPr>
            <a:spLocks/>
          </p:cNvSpPr>
          <p:nvPr/>
        </p:nvSpPr>
        <p:spPr bwMode="auto">
          <a:xfrm>
            <a:off x="3768725" y="1657350"/>
            <a:ext cx="5537200" cy="4508500"/>
          </a:xfrm>
          <a:custGeom>
            <a:avLst/>
            <a:gdLst/>
            <a:ahLst/>
            <a:cxnLst>
              <a:cxn ang="0">
                <a:pos x="332" y="2642"/>
              </a:cxn>
              <a:cxn ang="0">
                <a:pos x="1887" y="2840"/>
              </a:cxn>
              <a:cxn ang="0">
                <a:pos x="1975" y="2833"/>
              </a:cxn>
              <a:cxn ang="0">
                <a:pos x="3250" y="2771"/>
              </a:cxn>
              <a:cxn ang="0">
                <a:pos x="3284" y="2500"/>
              </a:cxn>
              <a:cxn ang="0">
                <a:pos x="3338" y="2175"/>
              </a:cxn>
              <a:cxn ang="0">
                <a:pos x="3298" y="1470"/>
              </a:cxn>
              <a:cxn ang="0">
                <a:pos x="3284" y="853"/>
              </a:cxn>
              <a:cxn ang="0">
                <a:pos x="3250" y="142"/>
              </a:cxn>
              <a:cxn ang="0">
                <a:pos x="2810" y="27"/>
              </a:cxn>
              <a:cxn ang="0">
                <a:pos x="0" y="0"/>
              </a:cxn>
              <a:cxn ang="0">
                <a:pos x="7" y="2649"/>
              </a:cxn>
            </a:cxnLst>
            <a:rect l="0" t="0" r="r" b="b"/>
            <a:pathLst>
              <a:path w="3488" h="2840">
                <a:moveTo>
                  <a:pt x="332" y="2642"/>
                </a:moveTo>
                <a:cubicBezTo>
                  <a:pt x="206" y="2646"/>
                  <a:pt x="1665" y="2840"/>
                  <a:pt x="1887" y="2840"/>
                </a:cubicBezTo>
                <a:lnTo>
                  <a:pt x="1975" y="2833"/>
                </a:lnTo>
                <a:cubicBezTo>
                  <a:pt x="2202" y="2822"/>
                  <a:pt x="3032" y="2826"/>
                  <a:pt x="3250" y="2771"/>
                </a:cubicBezTo>
                <a:cubicBezTo>
                  <a:pt x="3488" y="2714"/>
                  <a:pt x="3269" y="2599"/>
                  <a:pt x="3284" y="2500"/>
                </a:cubicBezTo>
                <a:cubicBezTo>
                  <a:pt x="3299" y="2401"/>
                  <a:pt x="3336" y="2347"/>
                  <a:pt x="3338" y="2175"/>
                </a:cubicBezTo>
                <a:cubicBezTo>
                  <a:pt x="3336" y="2080"/>
                  <a:pt x="3300" y="1827"/>
                  <a:pt x="3298" y="1470"/>
                </a:cubicBezTo>
                <a:cubicBezTo>
                  <a:pt x="3289" y="1250"/>
                  <a:pt x="3292" y="1074"/>
                  <a:pt x="3284" y="853"/>
                </a:cubicBezTo>
                <a:cubicBezTo>
                  <a:pt x="3276" y="632"/>
                  <a:pt x="3329" y="280"/>
                  <a:pt x="3250" y="142"/>
                </a:cubicBezTo>
                <a:cubicBezTo>
                  <a:pt x="3171" y="4"/>
                  <a:pt x="3352" y="51"/>
                  <a:pt x="2810" y="27"/>
                </a:cubicBezTo>
                <a:lnTo>
                  <a:pt x="0" y="0"/>
                </a:lnTo>
                <a:lnTo>
                  <a:pt x="7" y="2649"/>
                </a:lnTo>
              </a:path>
            </a:pathLst>
          </a:custGeom>
          <a:pattFill prst="divot">
            <a:fgClr>
              <a:srgbClr val="99CC00">
                <a:alpha val="55000"/>
              </a:srgbClr>
            </a:fgClr>
            <a:bgClr>
              <a:schemeClr val="bg1">
                <a:alpha val="55000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1327150" y="395288"/>
          <a:ext cx="3741738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2" name="Ecuación" r:id="rId3" imgW="2336760" imgH="431640" progId="Equation.3">
                  <p:embed/>
                </p:oleObj>
              </mc:Choice>
              <mc:Fallback>
                <p:oleObj name="Ecuación" r:id="rId3" imgW="233676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395288"/>
                        <a:ext cx="3741738" cy="6905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5127625" y="5683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7173" name="Freeform 5" descr="Onda"/>
          <p:cNvSpPr>
            <a:spLocks/>
          </p:cNvSpPr>
          <p:nvPr/>
        </p:nvSpPr>
        <p:spPr bwMode="auto">
          <a:xfrm>
            <a:off x="65088" y="1628775"/>
            <a:ext cx="3714750" cy="4933950"/>
          </a:xfrm>
          <a:custGeom>
            <a:avLst/>
            <a:gdLst/>
            <a:ahLst/>
            <a:cxnLst>
              <a:cxn ang="0">
                <a:pos x="34" y="38"/>
              </a:cxn>
              <a:cxn ang="0">
                <a:pos x="1438" y="0"/>
              </a:cxn>
              <a:cxn ang="0">
                <a:pos x="2340" y="0"/>
              </a:cxn>
              <a:cxn ang="0">
                <a:pos x="2320" y="2647"/>
              </a:cxn>
              <a:cxn ang="0">
                <a:pos x="883" y="2765"/>
              </a:cxn>
              <a:cxn ang="0">
                <a:pos x="530" y="2744"/>
              </a:cxn>
              <a:cxn ang="0">
                <a:pos x="104" y="2397"/>
              </a:cxn>
              <a:cxn ang="0">
                <a:pos x="83" y="1543"/>
              </a:cxn>
              <a:cxn ang="0">
                <a:pos x="29" y="1184"/>
              </a:cxn>
              <a:cxn ang="0">
                <a:pos x="34" y="38"/>
              </a:cxn>
            </a:cxnLst>
            <a:rect l="0" t="0" r="r" b="b"/>
            <a:pathLst>
              <a:path w="2340" h="3108">
                <a:moveTo>
                  <a:pt x="34" y="38"/>
                </a:moveTo>
                <a:lnTo>
                  <a:pt x="1438" y="0"/>
                </a:lnTo>
                <a:lnTo>
                  <a:pt x="2340" y="0"/>
                </a:lnTo>
                <a:lnTo>
                  <a:pt x="2320" y="2647"/>
                </a:lnTo>
                <a:cubicBezTo>
                  <a:pt x="2077" y="3108"/>
                  <a:pt x="1181" y="2749"/>
                  <a:pt x="883" y="2765"/>
                </a:cubicBezTo>
                <a:lnTo>
                  <a:pt x="530" y="2744"/>
                </a:lnTo>
                <a:cubicBezTo>
                  <a:pt x="400" y="2683"/>
                  <a:pt x="178" y="2597"/>
                  <a:pt x="104" y="2397"/>
                </a:cubicBezTo>
                <a:cubicBezTo>
                  <a:pt x="17" y="2203"/>
                  <a:pt x="16" y="1757"/>
                  <a:pt x="83" y="1543"/>
                </a:cubicBezTo>
                <a:cubicBezTo>
                  <a:pt x="85" y="1448"/>
                  <a:pt x="0" y="1441"/>
                  <a:pt x="29" y="1184"/>
                </a:cubicBezTo>
                <a:cubicBezTo>
                  <a:pt x="21" y="933"/>
                  <a:pt x="34" y="38"/>
                  <a:pt x="34" y="38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722313" y="3727450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175" name="Oval 7"/>
          <p:cNvSpPr>
            <a:spLocks noChangeArrowheads="1"/>
          </p:cNvSpPr>
          <p:nvPr/>
        </p:nvSpPr>
        <p:spPr bwMode="auto">
          <a:xfrm>
            <a:off x="2406650" y="3689350"/>
            <a:ext cx="73025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7176" name="Oval 8"/>
          <p:cNvSpPr>
            <a:spLocks noChangeArrowheads="1"/>
          </p:cNvSpPr>
          <p:nvPr/>
        </p:nvSpPr>
        <p:spPr bwMode="auto">
          <a:xfrm>
            <a:off x="6243638" y="3689350"/>
            <a:ext cx="73025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2249488" y="3744913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F’</a:t>
            </a: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6122988" y="3340100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3148013" y="537368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7180" name="Freeform 12"/>
          <p:cNvSpPr>
            <a:spLocks/>
          </p:cNvSpPr>
          <p:nvPr/>
        </p:nvSpPr>
        <p:spPr bwMode="auto">
          <a:xfrm>
            <a:off x="3724275" y="1603375"/>
            <a:ext cx="1397000" cy="1104900"/>
          </a:xfrm>
          <a:custGeom>
            <a:avLst/>
            <a:gdLst/>
            <a:ahLst/>
            <a:cxnLst>
              <a:cxn ang="0">
                <a:pos x="0" y="696"/>
              </a:cxn>
              <a:cxn ang="0">
                <a:pos x="880" y="0"/>
              </a:cxn>
            </a:cxnLst>
            <a:rect l="0" t="0" r="r" b="b"/>
            <a:pathLst>
              <a:path w="880" h="696">
                <a:moveTo>
                  <a:pt x="0" y="696"/>
                </a:moveTo>
                <a:lnTo>
                  <a:pt x="880" y="0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181" name="Freeform 13"/>
          <p:cNvSpPr>
            <a:spLocks/>
          </p:cNvSpPr>
          <p:nvPr/>
        </p:nvSpPr>
        <p:spPr bwMode="auto">
          <a:xfrm>
            <a:off x="906463" y="2720975"/>
            <a:ext cx="2847975" cy="5270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94" y="332"/>
              </a:cxn>
            </a:cxnLst>
            <a:rect l="0" t="0" r="r" b="b"/>
            <a:pathLst>
              <a:path w="1794" h="332">
                <a:moveTo>
                  <a:pt x="0" y="0"/>
                </a:moveTo>
                <a:lnTo>
                  <a:pt x="1794" y="332"/>
                </a:lnTo>
              </a:path>
            </a:pathLst>
          </a:custGeom>
          <a:noFill/>
          <a:ln w="25400">
            <a:solidFill>
              <a:srgbClr val="993366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182" name="Line 14"/>
          <p:cNvSpPr>
            <a:spLocks noChangeShapeType="1"/>
          </p:cNvSpPr>
          <p:nvPr/>
        </p:nvSpPr>
        <p:spPr bwMode="auto">
          <a:xfrm>
            <a:off x="3724275" y="3235325"/>
            <a:ext cx="52578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183" name="Freeform 15"/>
          <p:cNvSpPr>
            <a:spLocks/>
          </p:cNvSpPr>
          <p:nvPr/>
        </p:nvSpPr>
        <p:spPr bwMode="auto">
          <a:xfrm>
            <a:off x="827088" y="2708275"/>
            <a:ext cx="8220075" cy="2014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178" y="1269"/>
              </a:cxn>
            </a:cxnLst>
            <a:rect l="0" t="0" r="r" b="b"/>
            <a:pathLst>
              <a:path w="5178" h="1269">
                <a:moveTo>
                  <a:pt x="0" y="0"/>
                </a:moveTo>
                <a:lnTo>
                  <a:pt x="5178" y="1269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grpSp>
        <p:nvGrpSpPr>
          <p:cNvPr id="7184" name="Group 16"/>
          <p:cNvGrpSpPr>
            <a:grpSpLocks/>
          </p:cNvGrpSpPr>
          <p:nvPr/>
        </p:nvGrpSpPr>
        <p:grpSpPr bwMode="auto">
          <a:xfrm>
            <a:off x="628650" y="2349500"/>
            <a:ext cx="520700" cy="1682750"/>
            <a:chOff x="396" y="1480"/>
            <a:chExt cx="328" cy="1060"/>
          </a:xfrm>
        </p:grpSpPr>
        <p:sp>
          <p:nvSpPr>
            <p:cNvPr id="7185" name="Line 17"/>
            <p:cNvSpPr>
              <a:spLocks noChangeShapeType="1"/>
            </p:cNvSpPr>
            <p:nvPr/>
          </p:nvSpPr>
          <p:spPr bwMode="auto">
            <a:xfrm flipV="1">
              <a:off x="577" y="1706"/>
              <a:ext cx="0" cy="63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7186" name="Text Box 18"/>
            <p:cNvSpPr txBox="1">
              <a:spLocks noChangeArrowheads="1"/>
            </p:cNvSpPr>
            <p:nvPr/>
          </p:nvSpPr>
          <p:spPr bwMode="auto">
            <a:xfrm>
              <a:off x="464" y="2309"/>
              <a:ext cx="2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7187" name="Text Box 19"/>
            <p:cNvSpPr txBox="1">
              <a:spLocks noChangeArrowheads="1"/>
            </p:cNvSpPr>
            <p:nvPr/>
          </p:nvSpPr>
          <p:spPr bwMode="auto">
            <a:xfrm>
              <a:off x="487" y="1480"/>
              <a:ext cx="23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7188" name="Text Box 20"/>
            <p:cNvSpPr txBox="1">
              <a:spLocks noChangeArrowheads="1"/>
            </p:cNvSpPr>
            <p:nvPr/>
          </p:nvSpPr>
          <p:spPr bwMode="auto">
            <a:xfrm>
              <a:off x="396" y="1888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h</a:t>
              </a:r>
            </a:p>
          </p:txBody>
        </p:sp>
      </p:grpSp>
      <p:grpSp>
        <p:nvGrpSpPr>
          <p:cNvPr id="7219" name="Group 51"/>
          <p:cNvGrpSpPr>
            <a:grpSpLocks/>
          </p:cNvGrpSpPr>
          <p:nvPr/>
        </p:nvGrpSpPr>
        <p:grpSpPr bwMode="auto">
          <a:xfrm>
            <a:off x="2843213" y="2903538"/>
            <a:ext cx="579437" cy="1179512"/>
            <a:chOff x="1791" y="1829"/>
            <a:chExt cx="365" cy="743"/>
          </a:xfrm>
        </p:grpSpPr>
        <p:sp>
          <p:nvSpPr>
            <p:cNvPr id="7190" name="Freeform 22"/>
            <p:cNvSpPr>
              <a:spLocks/>
            </p:cNvSpPr>
            <p:nvPr/>
          </p:nvSpPr>
          <p:spPr bwMode="auto">
            <a:xfrm>
              <a:off x="1926" y="2055"/>
              <a:ext cx="1" cy="29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570"/>
                </a:cxn>
              </a:cxnLst>
              <a:rect l="0" t="0" r="r" b="b"/>
              <a:pathLst>
                <a:path w="14" h="570">
                  <a:moveTo>
                    <a:pt x="0" y="0"/>
                  </a:moveTo>
                  <a:lnTo>
                    <a:pt x="14" y="570"/>
                  </a:lnTo>
                </a:path>
              </a:pathLst>
            </a:custGeom>
            <a:noFill/>
            <a:ln w="25400">
              <a:solidFill>
                <a:srgbClr val="339966"/>
              </a:solidFill>
              <a:round/>
              <a:headEnd type="triangle" w="lg" len="med"/>
              <a:tailEnd type="none" w="lg" len="lg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7191" name="Text Box 23"/>
            <p:cNvSpPr txBox="1">
              <a:spLocks noChangeArrowheads="1"/>
            </p:cNvSpPr>
            <p:nvPr/>
          </p:nvSpPr>
          <p:spPr bwMode="auto">
            <a:xfrm>
              <a:off x="1791" y="2341"/>
              <a:ext cx="2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A</a:t>
              </a:r>
              <a:r>
                <a:rPr lang="es-ES_tradnl">
                  <a:latin typeface="Times New Roman" pitchFamily="18" charset="0"/>
                </a:rPr>
                <a:t>’</a:t>
              </a:r>
              <a:endParaRPr lang="es-ES_tradnl" i="1">
                <a:latin typeface="Times New Roman" pitchFamily="18" charset="0"/>
              </a:endParaRPr>
            </a:p>
          </p:txBody>
        </p:sp>
        <p:sp>
          <p:nvSpPr>
            <p:cNvPr id="7192" name="Text Box 24"/>
            <p:cNvSpPr txBox="1">
              <a:spLocks noChangeArrowheads="1"/>
            </p:cNvSpPr>
            <p:nvPr/>
          </p:nvSpPr>
          <p:spPr bwMode="auto">
            <a:xfrm>
              <a:off x="1805" y="1829"/>
              <a:ext cx="2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B</a:t>
              </a:r>
              <a:r>
                <a:rPr lang="es-ES_tradnl">
                  <a:latin typeface="Times New Roman" pitchFamily="18" charset="0"/>
                </a:rPr>
                <a:t>’</a:t>
              </a:r>
            </a:p>
          </p:txBody>
        </p:sp>
        <p:sp>
          <p:nvSpPr>
            <p:cNvPr id="7193" name="Text Box 25"/>
            <p:cNvSpPr txBox="1">
              <a:spLocks noChangeArrowheads="1"/>
            </p:cNvSpPr>
            <p:nvPr/>
          </p:nvSpPr>
          <p:spPr bwMode="auto">
            <a:xfrm>
              <a:off x="1920" y="2108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h</a:t>
              </a:r>
              <a:r>
                <a:rPr lang="es-ES_tradnl">
                  <a:latin typeface="Times New Roman" pitchFamily="18" charset="0"/>
                </a:rPr>
                <a:t>’</a:t>
              </a:r>
              <a:endParaRPr lang="es-ES_tradnl" i="1">
                <a:latin typeface="Times New Roman" pitchFamily="18" charset="0"/>
              </a:endParaRPr>
            </a:p>
          </p:txBody>
        </p:sp>
      </p:grpSp>
      <p:sp>
        <p:nvSpPr>
          <p:cNvPr id="7196" name="Text Box 28"/>
          <p:cNvSpPr txBox="1">
            <a:spLocks noChangeArrowheads="1"/>
          </p:cNvSpPr>
          <p:nvPr/>
        </p:nvSpPr>
        <p:spPr bwMode="auto">
          <a:xfrm>
            <a:off x="4140200" y="5373688"/>
            <a:ext cx="450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  <a:r>
              <a:rPr lang="es-ES_tradnl">
                <a:latin typeface="Times New Roman" pitchFamily="18" charset="0"/>
              </a:rPr>
              <a:t>’’</a:t>
            </a:r>
          </a:p>
        </p:txBody>
      </p:sp>
      <p:sp>
        <p:nvSpPr>
          <p:cNvPr id="7197" name="Text Box 29"/>
          <p:cNvSpPr txBox="1">
            <a:spLocks noChangeArrowheads="1"/>
          </p:cNvSpPr>
          <p:nvPr/>
        </p:nvSpPr>
        <p:spPr bwMode="auto">
          <a:xfrm>
            <a:off x="447675" y="6253163"/>
            <a:ext cx="24529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>
                <a:sym typeface="Symbol" pitchFamily="18" charset="2"/>
              </a:rPr>
              <a:t>&lt;0  Lente Divergente</a:t>
            </a:r>
          </a:p>
        </p:txBody>
      </p:sp>
      <p:sp>
        <p:nvSpPr>
          <p:cNvPr id="7198" name="Line 30"/>
          <p:cNvSpPr>
            <a:spLocks noChangeShapeType="1"/>
          </p:cNvSpPr>
          <p:nvPr/>
        </p:nvSpPr>
        <p:spPr bwMode="auto">
          <a:xfrm flipV="1">
            <a:off x="3751263" y="1651000"/>
            <a:ext cx="0" cy="4322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lg" len="lg"/>
            <a:tailEnd type="non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199" name="Line 31"/>
          <p:cNvSpPr>
            <a:spLocks noChangeShapeType="1"/>
          </p:cNvSpPr>
          <p:nvPr/>
        </p:nvSpPr>
        <p:spPr bwMode="auto">
          <a:xfrm>
            <a:off x="844550" y="2708275"/>
            <a:ext cx="2879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grpSp>
        <p:nvGrpSpPr>
          <p:cNvPr id="7201" name="Group 33"/>
          <p:cNvGrpSpPr>
            <a:grpSpLocks/>
          </p:cNvGrpSpPr>
          <p:nvPr/>
        </p:nvGrpSpPr>
        <p:grpSpPr bwMode="auto">
          <a:xfrm>
            <a:off x="949325" y="5200650"/>
            <a:ext cx="2808288" cy="388938"/>
            <a:chOff x="598" y="3276"/>
            <a:chExt cx="1769" cy="245"/>
          </a:xfrm>
        </p:grpSpPr>
        <p:sp>
          <p:nvSpPr>
            <p:cNvPr id="7202" name="Line 34"/>
            <p:cNvSpPr>
              <a:spLocks noChangeShapeType="1"/>
            </p:cNvSpPr>
            <p:nvPr/>
          </p:nvSpPr>
          <p:spPr bwMode="auto">
            <a:xfrm flipH="1">
              <a:off x="598" y="3276"/>
              <a:ext cx="1769" cy="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7203" name="Text Box 35"/>
            <p:cNvSpPr txBox="1">
              <a:spLocks noChangeArrowheads="1"/>
            </p:cNvSpPr>
            <p:nvPr/>
          </p:nvSpPr>
          <p:spPr bwMode="auto">
            <a:xfrm>
              <a:off x="1144" y="3290"/>
              <a:ext cx="1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s</a:t>
              </a:r>
            </a:p>
          </p:txBody>
        </p:sp>
      </p:grpSp>
      <p:sp>
        <p:nvSpPr>
          <p:cNvPr id="7204" name="Freeform 36"/>
          <p:cNvSpPr>
            <a:spLocks/>
          </p:cNvSpPr>
          <p:nvPr/>
        </p:nvSpPr>
        <p:spPr bwMode="auto">
          <a:xfrm>
            <a:off x="2446338" y="4575175"/>
            <a:ext cx="1295400" cy="1588"/>
          </a:xfrm>
          <a:custGeom>
            <a:avLst/>
            <a:gdLst/>
            <a:ahLst/>
            <a:cxnLst>
              <a:cxn ang="0">
                <a:pos x="884" y="0"/>
              </a:cxn>
              <a:cxn ang="0">
                <a:pos x="0" y="2"/>
              </a:cxn>
            </a:cxnLst>
            <a:rect l="0" t="0" r="r" b="b"/>
            <a:pathLst>
              <a:path w="884" h="2">
                <a:moveTo>
                  <a:pt x="884" y="0"/>
                </a:moveTo>
                <a:lnTo>
                  <a:pt x="0" y="2"/>
                </a:lnTo>
              </a:path>
            </a:pathLst>
          </a:custGeom>
          <a:noFill/>
          <a:ln w="9525">
            <a:solidFill>
              <a:srgbClr val="969696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205" name="Text Box 37"/>
          <p:cNvSpPr txBox="1">
            <a:spLocks noChangeArrowheads="1"/>
          </p:cNvSpPr>
          <p:nvPr/>
        </p:nvSpPr>
        <p:spPr bwMode="auto">
          <a:xfrm>
            <a:off x="2771775" y="4576763"/>
            <a:ext cx="38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 ‘</a:t>
            </a:r>
          </a:p>
        </p:txBody>
      </p:sp>
      <p:sp>
        <p:nvSpPr>
          <p:cNvPr id="7207" name="Line 39"/>
          <p:cNvSpPr>
            <a:spLocks noChangeShapeType="1"/>
          </p:cNvSpPr>
          <p:nvPr/>
        </p:nvSpPr>
        <p:spPr bwMode="auto">
          <a:xfrm>
            <a:off x="3063875" y="4076700"/>
            <a:ext cx="687388" cy="0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208" name="Text Box 40"/>
          <p:cNvSpPr txBox="1">
            <a:spLocks noChangeArrowheads="1"/>
          </p:cNvSpPr>
          <p:nvPr/>
        </p:nvSpPr>
        <p:spPr bwMode="auto">
          <a:xfrm flipH="1">
            <a:off x="3276600" y="3998913"/>
            <a:ext cx="349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s’</a:t>
            </a:r>
          </a:p>
        </p:txBody>
      </p:sp>
      <p:sp>
        <p:nvSpPr>
          <p:cNvPr id="7209" name="Freeform 41"/>
          <p:cNvSpPr>
            <a:spLocks/>
          </p:cNvSpPr>
          <p:nvPr/>
        </p:nvSpPr>
        <p:spPr bwMode="auto">
          <a:xfrm>
            <a:off x="3779838" y="4576763"/>
            <a:ext cx="2525712" cy="15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73" y="8"/>
              </a:cxn>
            </a:cxnLst>
            <a:rect l="0" t="0" r="r" b="b"/>
            <a:pathLst>
              <a:path w="1773" h="8">
                <a:moveTo>
                  <a:pt x="0" y="0"/>
                </a:moveTo>
                <a:lnTo>
                  <a:pt x="1773" y="8"/>
                </a:lnTo>
              </a:path>
            </a:pathLst>
          </a:custGeom>
          <a:noFill/>
          <a:ln w="9525">
            <a:solidFill>
              <a:srgbClr val="969696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210" name="Text Box 42"/>
          <p:cNvSpPr txBox="1">
            <a:spLocks noChangeArrowheads="1"/>
          </p:cNvSpPr>
          <p:nvPr/>
        </p:nvSpPr>
        <p:spPr bwMode="auto">
          <a:xfrm flipH="1">
            <a:off x="4932363" y="457676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 </a:t>
            </a:r>
          </a:p>
        </p:txBody>
      </p:sp>
      <p:graphicFrame>
        <p:nvGraphicFramePr>
          <p:cNvPr id="7211" name="Object 43"/>
          <p:cNvGraphicFramePr>
            <a:graphicFrameLocks noChangeAspect="1"/>
          </p:cNvGraphicFramePr>
          <p:nvPr/>
        </p:nvGraphicFramePr>
        <p:xfrm>
          <a:off x="5795963" y="442913"/>
          <a:ext cx="1341437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3" name="Ecuación" r:id="rId5" imgW="838080" imgH="393480" progId="Equation.3">
                  <p:embed/>
                </p:oleObj>
              </mc:Choice>
              <mc:Fallback>
                <p:oleObj name="Ecuación" r:id="rId5" imgW="838080" imgH="39348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442913"/>
                        <a:ext cx="1341437" cy="63023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12" name="Line 44"/>
          <p:cNvSpPr>
            <a:spLocks noChangeShapeType="1"/>
          </p:cNvSpPr>
          <p:nvPr/>
        </p:nvSpPr>
        <p:spPr bwMode="auto">
          <a:xfrm flipV="1">
            <a:off x="3741738" y="1484313"/>
            <a:ext cx="287337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213" name="Line 45"/>
          <p:cNvSpPr>
            <a:spLocks noChangeShapeType="1"/>
          </p:cNvSpPr>
          <p:nvPr/>
        </p:nvSpPr>
        <p:spPr bwMode="auto">
          <a:xfrm flipH="1" flipV="1">
            <a:off x="3470275" y="1473200"/>
            <a:ext cx="287338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214" name="Line 46"/>
          <p:cNvSpPr>
            <a:spLocks noChangeShapeType="1"/>
          </p:cNvSpPr>
          <p:nvPr/>
        </p:nvSpPr>
        <p:spPr bwMode="auto">
          <a:xfrm flipV="1">
            <a:off x="3470275" y="5943600"/>
            <a:ext cx="287338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215" name="Line 47"/>
          <p:cNvSpPr>
            <a:spLocks noChangeShapeType="1"/>
          </p:cNvSpPr>
          <p:nvPr/>
        </p:nvSpPr>
        <p:spPr bwMode="auto">
          <a:xfrm flipH="1" flipV="1">
            <a:off x="3730625" y="5932488"/>
            <a:ext cx="287338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216" name="Freeform 48"/>
          <p:cNvSpPr>
            <a:spLocks noChangeAspect="1"/>
          </p:cNvSpPr>
          <p:nvPr/>
        </p:nvSpPr>
        <p:spPr bwMode="auto">
          <a:xfrm>
            <a:off x="2451100" y="2709863"/>
            <a:ext cx="1284288" cy="1016000"/>
          </a:xfrm>
          <a:custGeom>
            <a:avLst/>
            <a:gdLst/>
            <a:ahLst/>
            <a:cxnLst>
              <a:cxn ang="0">
                <a:pos x="0" y="696"/>
              </a:cxn>
              <a:cxn ang="0">
                <a:pos x="880" y="0"/>
              </a:cxn>
            </a:cxnLst>
            <a:rect l="0" t="0" r="r" b="b"/>
            <a:pathLst>
              <a:path w="880" h="696">
                <a:moveTo>
                  <a:pt x="0" y="696"/>
                </a:moveTo>
                <a:lnTo>
                  <a:pt x="880" y="0"/>
                </a:lnTo>
              </a:path>
            </a:pathLst>
          </a:custGeom>
          <a:noFill/>
          <a:ln w="25400" cap="flat">
            <a:solidFill>
              <a:srgbClr val="0000FF"/>
            </a:solidFill>
            <a:prstDash val="lgDashDot"/>
            <a:round/>
            <a:headEnd type="none" w="med" len="med"/>
            <a:tailEnd type="non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217" name="Freeform 49"/>
          <p:cNvSpPr>
            <a:spLocks/>
          </p:cNvSpPr>
          <p:nvPr/>
        </p:nvSpPr>
        <p:spPr bwMode="auto">
          <a:xfrm>
            <a:off x="3743325" y="3244850"/>
            <a:ext cx="2557463" cy="4714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611" y="297"/>
              </a:cxn>
            </a:cxnLst>
            <a:rect l="0" t="0" r="r" b="b"/>
            <a:pathLst>
              <a:path w="1611" h="297">
                <a:moveTo>
                  <a:pt x="0" y="0"/>
                </a:moveTo>
                <a:lnTo>
                  <a:pt x="1611" y="297"/>
                </a:lnTo>
              </a:path>
            </a:pathLst>
          </a:custGeom>
          <a:noFill/>
          <a:ln w="25400" cap="flat">
            <a:solidFill>
              <a:srgbClr val="9933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218" name="Line 50"/>
          <p:cNvSpPr>
            <a:spLocks noChangeShapeType="1"/>
          </p:cNvSpPr>
          <p:nvPr/>
        </p:nvSpPr>
        <p:spPr bwMode="auto">
          <a:xfrm>
            <a:off x="1697038" y="3235325"/>
            <a:ext cx="2054225" cy="0"/>
          </a:xfrm>
          <a:prstGeom prst="line">
            <a:avLst/>
          </a:prstGeom>
          <a:noFill/>
          <a:ln w="25400">
            <a:solidFill>
              <a:srgbClr val="993366"/>
            </a:solidFill>
            <a:prstDash val="lgDashDot"/>
            <a:round/>
            <a:headEnd/>
            <a:tailEnd type="non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220" name="Text Box 52"/>
          <p:cNvSpPr txBox="1">
            <a:spLocks noChangeArrowheads="1"/>
          </p:cNvSpPr>
          <p:nvPr/>
        </p:nvSpPr>
        <p:spPr bwMode="auto">
          <a:xfrm>
            <a:off x="8675688" y="6564313"/>
            <a:ext cx="2682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9</a:t>
            </a:r>
          </a:p>
        </p:txBody>
      </p:sp>
      <p:sp>
        <p:nvSpPr>
          <p:cNvPr id="7221" name="Text Box 53"/>
          <p:cNvSpPr txBox="1">
            <a:spLocks noChangeArrowheads="1"/>
          </p:cNvSpPr>
          <p:nvPr/>
        </p:nvSpPr>
        <p:spPr bwMode="auto">
          <a:xfrm>
            <a:off x="2484438" y="2060575"/>
            <a:ext cx="12969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400"/>
              <a:t>Imagen virtual</a:t>
            </a:r>
          </a:p>
        </p:txBody>
      </p:sp>
      <p:sp>
        <p:nvSpPr>
          <p:cNvPr id="7222" name="Text Box 54"/>
          <p:cNvSpPr txBox="1">
            <a:spLocks noChangeArrowheads="1"/>
          </p:cNvSpPr>
          <p:nvPr/>
        </p:nvSpPr>
        <p:spPr bwMode="auto">
          <a:xfrm>
            <a:off x="395288" y="2060575"/>
            <a:ext cx="1050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400"/>
              <a:t>Objeto real</a:t>
            </a:r>
          </a:p>
        </p:txBody>
      </p:sp>
      <p:sp>
        <p:nvSpPr>
          <p:cNvPr id="7223" name="Text Box 55"/>
          <p:cNvSpPr txBox="1">
            <a:spLocks noChangeArrowheads="1"/>
          </p:cNvSpPr>
          <p:nvPr/>
        </p:nvSpPr>
        <p:spPr bwMode="auto">
          <a:xfrm>
            <a:off x="5416550" y="6380163"/>
            <a:ext cx="15827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400"/>
              <a:t>¿Objeto virtual?...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0" grpId="0" animBg="1"/>
      <p:bldP spid="7181" grpId="0" animBg="1"/>
      <p:bldP spid="7182" grpId="0" animBg="1"/>
      <p:bldP spid="7183" grpId="0" animBg="1"/>
      <p:bldP spid="7199" grpId="0" animBg="1"/>
      <p:bldP spid="7207" grpId="0" animBg="1"/>
      <p:bldP spid="7207" grpId="1" animBg="1"/>
      <p:bldP spid="7208" grpId="0"/>
      <p:bldP spid="7216" grpId="0" animBg="1"/>
      <p:bldP spid="7217" grpId="0" animBg="1"/>
      <p:bldP spid="7218" grpId="0" animBg="1"/>
      <p:bldP spid="7220" grpId="0"/>
      <p:bldP spid="7221" grpId="0"/>
      <p:bldP spid="72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127625" y="92236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7" name="Freeform 7" descr="Onda"/>
          <p:cNvSpPr>
            <a:spLocks/>
          </p:cNvSpPr>
          <p:nvPr/>
        </p:nvSpPr>
        <p:spPr bwMode="auto">
          <a:xfrm>
            <a:off x="85725" y="1379560"/>
            <a:ext cx="4167188" cy="4389438"/>
          </a:xfrm>
          <a:custGeom>
            <a:avLst/>
            <a:gdLst>
              <a:gd name="T0" fmla="*/ 0 w 2625"/>
              <a:gd name="T1" fmla="*/ 2147483647 h 2765"/>
              <a:gd name="T2" fmla="*/ 2147483647 w 2625"/>
              <a:gd name="T3" fmla="*/ 0 h 2765"/>
              <a:gd name="T4" fmla="*/ 2147483647 w 2625"/>
              <a:gd name="T5" fmla="*/ 0 h 2765"/>
              <a:gd name="T6" fmla="*/ 2147483647 w 2625"/>
              <a:gd name="T7" fmla="*/ 2147483647 h 2765"/>
              <a:gd name="T8" fmla="*/ 2147483647 w 2625"/>
              <a:gd name="T9" fmla="*/ 2147483647 h 2765"/>
              <a:gd name="T10" fmla="*/ 2147483647 w 2625"/>
              <a:gd name="T11" fmla="*/ 2147483647 h 2765"/>
              <a:gd name="T12" fmla="*/ 2147483647 w 2625"/>
              <a:gd name="T13" fmla="*/ 2147483647 h 2765"/>
              <a:gd name="T14" fmla="*/ 2147483647 w 2625"/>
              <a:gd name="T15" fmla="*/ 2147483647 h 2765"/>
              <a:gd name="T16" fmla="*/ 2147483647 w 2625"/>
              <a:gd name="T17" fmla="*/ 2147483647 h 2765"/>
              <a:gd name="T18" fmla="*/ 2147483647 w 2625"/>
              <a:gd name="T19" fmla="*/ 2147483647 h 2765"/>
              <a:gd name="T20" fmla="*/ 2147483647 w 2625"/>
              <a:gd name="T21" fmla="*/ 2147483647 h 2765"/>
              <a:gd name="T22" fmla="*/ 2147483647 w 2625"/>
              <a:gd name="T23" fmla="*/ 2147483647 h 2765"/>
              <a:gd name="T24" fmla="*/ 2147483647 w 2625"/>
              <a:gd name="T25" fmla="*/ 2147483647 h 2765"/>
              <a:gd name="T26" fmla="*/ 2147483647 w 2625"/>
              <a:gd name="T27" fmla="*/ 2147483647 h 2765"/>
              <a:gd name="T28" fmla="*/ 2147483647 w 2625"/>
              <a:gd name="T29" fmla="*/ 2147483647 h 2765"/>
              <a:gd name="T30" fmla="*/ 2147483647 w 2625"/>
              <a:gd name="T31" fmla="*/ 2147483647 h 2765"/>
              <a:gd name="T32" fmla="*/ 0 w 2625"/>
              <a:gd name="T33" fmla="*/ 2147483647 h 276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625"/>
              <a:gd name="T52" fmla="*/ 0 h 2765"/>
              <a:gd name="T53" fmla="*/ 2625 w 2625"/>
              <a:gd name="T54" fmla="*/ 2765 h 276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625" h="2765">
                <a:moveTo>
                  <a:pt x="0" y="32"/>
                </a:moveTo>
                <a:lnTo>
                  <a:pt x="1504" y="0"/>
                </a:lnTo>
                <a:lnTo>
                  <a:pt x="2406" y="0"/>
                </a:lnTo>
                <a:lnTo>
                  <a:pt x="2304" y="54"/>
                </a:lnTo>
                <a:lnTo>
                  <a:pt x="2236" y="183"/>
                </a:lnTo>
                <a:lnTo>
                  <a:pt x="2220" y="1169"/>
                </a:lnTo>
                <a:lnTo>
                  <a:pt x="2220" y="1396"/>
                </a:lnTo>
                <a:lnTo>
                  <a:pt x="2228" y="1592"/>
                </a:lnTo>
                <a:lnTo>
                  <a:pt x="2236" y="2548"/>
                </a:lnTo>
                <a:lnTo>
                  <a:pt x="2263" y="2656"/>
                </a:lnTo>
                <a:cubicBezTo>
                  <a:pt x="2291" y="2687"/>
                  <a:pt x="2625" y="2719"/>
                  <a:pt x="2406" y="2737"/>
                </a:cubicBezTo>
                <a:cubicBezTo>
                  <a:pt x="2532" y="2741"/>
                  <a:pt x="1248" y="2753"/>
                  <a:pt x="949" y="2765"/>
                </a:cubicBezTo>
                <a:lnTo>
                  <a:pt x="596" y="2744"/>
                </a:lnTo>
                <a:cubicBezTo>
                  <a:pt x="466" y="2683"/>
                  <a:pt x="244" y="2597"/>
                  <a:pt x="170" y="2397"/>
                </a:cubicBezTo>
                <a:cubicBezTo>
                  <a:pt x="83" y="2203"/>
                  <a:pt x="82" y="1757"/>
                  <a:pt x="149" y="1543"/>
                </a:cubicBezTo>
                <a:cubicBezTo>
                  <a:pt x="151" y="1448"/>
                  <a:pt x="66" y="1441"/>
                  <a:pt x="95" y="1184"/>
                </a:cubicBezTo>
                <a:cubicBezTo>
                  <a:pt x="70" y="932"/>
                  <a:pt x="0" y="32"/>
                  <a:pt x="0" y="32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8" name="Freeform 8" descr="Cuadrícula grande"/>
          <p:cNvSpPr>
            <a:spLocks/>
          </p:cNvSpPr>
          <p:nvPr/>
        </p:nvSpPr>
        <p:spPr bwMode="auto">
          <a:xfrm>
            <a:off x="3592513" y="1214422"/>
            <a:ext cx="5837237" cy="4484688"/>
          </a:xfrm>
          <a:custGeom>
            <a:avLst/>
            <a:gdLst>
              <a:gd name="T0" fmla="*/ 2147483647 w 3677"/>
              <a:gd name="T1" fmla="*/ 2147483647 h 2825"/>
              <a:gd name="T2" fmla="*/ 2147483647 w 3677"/>
              <a:gd name="T3" fmla="*/ 2147483647 h 2825"/>
              <a:gd name="T4" fmla="*/ 2147483647 w 3677"/>
              <a:gd name="T5" fmla="*/ 2147483647 h 2825"/>
              <a:gd name="T6" fmla="*/ 2147483647 w 3677"/>
              <a:gd name="T7" fmla="*/ 2147483647 h 2825"/>
              <a:gd name="T8" fmla="*/ 2147483647 w 3677"/>
              <a:gd name="T9" fmla="*/ 2147483647 h 2825"/>
              <a:gd name="T10" fmla="*/ 2147483647 w 3677"/>
              <a:gd name="T11" fmla="*/ 0 h 2825"/>
              <a:gd name="T12" fmla="*/ 2147483647 w 3677"/>
              <a:gd name="T13" fmla="*/ 2147483647 h 2825"/>
              <a:gd name="T14" fmla="*/ 2147483647 w 3677"/>
              <a:gd name="T15" fmla="*/ 2147483647 h 2825"/>
              <a:gd name="T16" fmla="*/ 0 w 3677"/>
              <a:gd name="T17" fmla="*/ 2147483647 h 2825"/>
              <a:gd name="T18" fmla="*/ 2147483647 w 3677"/>
              <a:gd name="T19" fmla="*/ 2147483647 h 2825"/>
              <a:gd name="T20" fmla="*/ 2147483647 w 3677"/>
              <a:gd name="T21" fmla="*/ 2147483647 h 2825"/>
              <a:gd name="T22" fmla="*/ 2147483647 w 3677"/>
              <a:gd name="T23" fmla="*/ 2147483647 h 2825"/>
              <a:gd name="T24" fmla="*/ 2147483647 w 3677"/>
              <a:gd name="T25" fmla="*/ 2147483647 h 2825"/>
              <a:gd name="T26" fmla="*/ 2147483647 w 3677"/>
              <a:gd name="T27" fmla="*/ 2147483647 h 2825"/>
              <a:gd name="T28" fmla="*/ 2147483647 w 3677"/>
              <a:gd name="T29" fmla="*/ 2147483647 h 2825"/>
              <a:gd name="T30" fmla="*/ 2147483647 w 3677"/>
              <a:gd name="T31" fmla="*/ 2147483647 h 2825"/>
              <a:gd name="T32" fmla="*/ 2147483647 w 3677"/>
              <a:gd name="T33" fmla="*/ 2147483647 h 2825"/>
              <a:gd name="T34" fmla="*/ 2147483647 w 3677"/>
              <a:gd name="T35" fmla="*/ 2147483647 h 2825"/>
              <a:gd name="T36" fmla="*/ 2147483647 w 3677"/>
              <a:gd name="T37" fmla="*/ 2147483647 h 2825"/>
              <a:gd name="T38" fmla="*/ 2147483647 w 3677"/>
              <a:gd name="T39" fmla="*/ 2147483647 h 2825"/>
              <a:gd name="T40" fmla="*/ 2147483647 w 3677"/>
              <a:gd name="T41" fmla="*/ 2147483647 h 282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677"/>
              <a:gd name="T64" fmla="*/ 0 h 2825"/>
              <a:gd name="T65" fmla="*/ 3677 w 3677"/>
              <a:gd name="T66" fmla="*/ 2825 h 282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677" h="2825">
                <a:moveTo>
                  <a:pt x="3259" y="2584"/>
                </a:moveTo>
                <a:cubicBezTo>
                  <a:pt x="3252" y="2524"/>
                  <a:pt x="3378" y="2229"/>
                  <a:pt x="3381" y="2029"/>
                </a:cubicBezTo>
                <a:cubicBezTo>
                  <a:pt x="3384" y="1829"/>
                  <a:pt x="3350" y="1199"/>
                  <a:pt x="3320" y="999"/>
                </a:cubicBezTo>
                <a:cubicBezTo>
                  <a:pt x="3166" y="758"/>
                  <a:pt x="3677" y="222"/>
                  <a:pt x="3286" y="57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259" y="2584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722313" y="3597298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11" name="Oval 12"/>
          <p:cNvSpPr>
            <a:spLocks noChangeArrowheads="1"/>
          </p:cNvSpPr>
          <p:nvPr/>
        </p:nvSpPr>
        <p:spPr bwMode="auto">
          <a:xfrm>
            <a:off x="785813" y="3559198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2" name="Oval 13"/>
          <p:cNvSpPr>
            <a:spLocks noChangeArrowheads="1"/>
          </p:cNvSpPr>
          <p:nvPr/>
        </p:nvSpPr>
        <p:spPr bwMode="auto">
          <a:xfrm>
            <a:off x="7643813" y="3559198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1214438" y="3640160"/>
            <a:ext cx="5016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 </a:t>
            </a:r>
            <a:r>
              <a:rPr lang="es-ES_tradnl">
                <a:latin typeface="Times New Roman" pitchFamily="18" charset="0"/>
              </a:rPr>
              <a:t>’ </a:t>
            </a: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7572375" y="3140098"/>
            <a:ext cx="3254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3059113" y="5243535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3851275" y="5243535"/>
            <a:ext cx="4283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n”</a:t>
            </a:r>
            <a:endParaRPr lang="es-ES_tradnl" dirty="0">
              <a:latin typeface="Times New Roman" pitchFamily="18" charset="0"/>
            </a:endParaRPr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>
            <a:off x="785813" y="2568598"/>
            <a:ext cx="2879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8" name="Line 21"/>
          <p:cNvSpPr>
            <a:spLocks noChangeShapeType="1"/>
          </p:cNvSpPr>
          <p:nvPr/>
        </p:nvSpPr>
        <p:spPr bwMode="auto">
          <a:xfrm>
            <a:off x="3617913" y="1803423"/>
            <a:ext cx="52578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" name="Freeform 24"/>
          <p:cNvSpPr>
            <a:spLocks/>
          </p:cNvSpPr>
          <p:nvPr/>
        </p:nvSpPr>
        <p:spPr bwMode="auto">
          <a:xfrm>
            <a:off x="5748338" y="1803423"/>
            <a:ext cx="0" cy="1800225"/>
          </a:xfrm>
          <a:custGeom>
            <a:avLst/>
            <a:gdLst>
              <a:gd name="T0" fmla="*/ 0 w 14"/>
              <a:gd name="T1" fmla="*/ 0 h 570"/>
              <a:gd name="T2" fmla="*/ 0 w 14"/>
              <a:gd name="T3" fmla="*/ 2147483647 h 570"/>
              <a:gd name="T4" fmla="*/ 0 60000 65536"/>
              <a:gd name="T5" fmla="*/ 0 60000 65536"/>
              <a:gd name="T6" fmla="*/ 0 w 14"/>
              <a:gd name="T7" fmla="*/ 0 h 570"/>
              <a:gd name="T8" fmla="*/ 0 w 14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 type="triangle" w="med" len="med"/>
            <a:tailEnd type="none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5214938" y="3711598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</a:p>
        </p:txBody>
      </p:sp>
      <p:sp>
        <p:nvSpPr>
          <p:cNvPr id="22" name="Text Box 26"/>
          <p:cNvSpPr txBox="1">
            <a:spLocks noChangeArrowheads="1"/>
          </p:cNvSpPr>
          <p:nvPr/>
        </p:nvSpPr>
        <p:spPr bwMode="auto">
          <a:xfrm>
            <a:off x="5572125" y="3711598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23" name="Text Box 27"/>
          <p:cNvSpPr txBox="1">
            <a:spLocks noChangeArrowheads="1"/>
          </p:cNvSpPr>
          <p:nvPr/>
        </p:nvSpPr>
        <p:spPr bwMode="auto">
          <a:xfrm>
            <a:off x="5143500" y="2139973"/>
            <a:ext cx="3762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24" name="Text Box 28"/>
          <p:cNvSpPr txBox="1">
            <a:spLocks noChangeArrowheads="1"/>
          </p:cNvSpPr>
          <p:nvPr/>
        </p:nvSpPr>
        <p:spPr bwMode="auto">
          <a:xfrm>
            <a:off x="5429250" y="1354160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27" name="Text Box 34"/>
          <p:cNvSpPr txBox="1">
            <a:spLocks noChangeArrowheads="1"/>
          </p:cNvSpPr>
          <p:nvPr/>
        </p:nvSpPr>
        <p:spPr bwMode="auto">
          <a:xfrm>
            <a:off x="8296275" y="6473825"/>
            <a:ext cx="354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10</a:t>
            </a:r>
          </a:p>
        </p:txBody>
      </p:sp>
      <p:sp>
        <p:nvSpPr>
          <p:cNvPr id="29" name="28 CuadroTexto"/>
          <p:cNvSpPr txBox="1">
            <a:spLocks noChangeArrowheads="1"/>
          </p:cNvSpPr>
          <p:nvPr/>
        </p:nvSpPr>
        <p:spPr bwMode="auto">
          <a:xfrm>
            <a:off x="1428750" y="2211410"/>
            <a:ext cx="4365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30" name="29 CuadroTexto"/>
          <p:cNvSpPr txBox="1">
            <a:spLocks noChangeArrowheads="1"/>
          </p:cNvSpPr>
          <p:nvPr/>
        </p:nvSpPr>
        <p:spPr bwMode="auto">
          <a:xfrm>
            <a:off x="1643063" y="639785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31" name="35 CuadroTexto"/>
          <p:cNvSpPr txBox="1">
            <a:spLocks noChangeArrowheads="1"/>
          </p:cNvSpPr>
          <p:nvPr/>
        </p:nvSpPr>
        <p:spPr bwMode="auto">
          <a:xfrm>
            <a:off x="6357938" y="357166"/>
            <a:ext cx="22124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dirty="0"/>
              <a:t>Objeto virtual (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&gt; 0)</a:t>
            </a:r>
          </a:p>
        </p:txBody>
      </p:sp>
      <p:sp>
        <p:nvSpPr>
          <p:cNvPr id="32" name="36 CuadroTexto"/>
          <p:cNvSpPr txBox="1">
            <a:spLocks noChangeArrowheads="1"/>
          </p:cNvSpPr>
          <p:nvPr/>
        </p:nvSpPr>
        <p:spPr bwMode="auto">
          <a:xfrm>
            <a:off x="3500438" y="285728"/>
            <a:ext cx="194155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" dirty="0"/>
              <a:t>Lente Divergente</a:t>
            </a:r>
          </a:p>
          <a:p>
            <a:pPr algn="ctr"/>
            <a:r>
              <a:rPr lang="es-E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  &gt; 0; 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’ &lt; 0</a:t>
            </a:r>
          </a:p>
        </p:txBody>
      </p:sp>
      <p:sp>
        <p:nvSpPr>
          <p:cNvPr id="33" name="Line 18"/>
          <p:cNvSpPr>
            <a:spLocks noChangeShapeType="1"/>
          </p:cNvSpPr>
          <p:nvPr/>
        </p:nvSpPr>
        <p:spPr bwMode="auto">
          <a:xfrm flipV="1">
            <a:off x="3643313" y="2568598"/>
            <a:ext cx="4714875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cxnSp>
        <p:nvCxnSpPr>
          <p:cNvPr id="34" name="33 Conector recto"/>
          <p:cNvCxnSpPr/>
          <p:nvPr/>
        </p:nvCxnSpPr>
        <p:spPr>
          <a:xfrm rot="5400000" flipH="1" flipV="1">
            <a:off x="1535906" y="1578792"/>
            <a:ext cx="1152525" cy="3132138"/>
          </a:xfrm>
          <a:prstGeom prst="line">
            <a:avLst/>
          </a:prstGeom>
          <a:ln w="25400">
            <a:solidFill>
              <a:srgbClr val="0000FF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"/>
          <p:cNvCxnSpPr/>
          <p:nvPr/>
        </p:nvCxnSpPr>
        <p:spPr>
          <a:xfrm rot="10800000">
            <a:off x="3571875" y="1782785"/>
            <a:ext cx="4133850" cy="1836738"/>
          </a:xfrm>
          <a:prstGeom prst="line">
            <a:avLst/>
          </a:prstGeom>
          <a:ln w="25400">
            <a:solidFill>
              <a:srgbClr val="A5002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/>
          <p:nvPr/>
        </p:nvCxnSpPr>
        <p:spPr>
          <a:xfrm rot="5400000" flipH="1" flipV="1">
            <a:off x="4562475" y="460398"/>
            <a:ext cx="1150937" cy="3132138"/>
          </a:xfrm>
          <a:prstGeom prst="line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>
            <a:cxnSpLocks noChangeAspect="1"/>
          </p:cNvCxnSpPr>
          <p:nvPr/>
        </p:nvCxnSpPr>
        <p:spPr>
          <a:xfrm rot="10800000">
            <a:off x="655638" y="482623"/>
            <a:ext cx="3059112" cy="1358900"/>
          </a:xfrm>
          <a:prstGeom prst="line">
            <a:avLst/>
          </a:prstGeom>
          <a:ln w="25400">
            <a:solidFill>
              <a:srgbClr val="A5002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Line 11"/>
          <p:cNvSpPr>
            <a:spLocks noChangeShapeType="1"/>
          </p:cNvSpPr>
          <p:nvPr/>
        </p:nvSpPr>
        <p:spPr bwMode="auto">
          <a:xfrm flipV="1">
            <a:off x="5357813" y="2555898"/>
            <a:ext cx="0" cy="10445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41" name="40 CuadroTexto"/>
          <p:cNvSpPr txBox="1">
            <a:spLocks noChangeArrowheads="1"/>
          </p:cNvSpPr>
          <p:nvPr/>
        </p:nvSpPr>
        <p:spPr bwMode="auto">
          <a:xfrm>
            <a:off x="4143375" y="6069035"/>
            <a:ext cx="48577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>
                <a:latin typeface="Times New Roman" pitchFamily="18" charset="0"/>
                <a:cs typeface="Times New Roman" pitchFamily="18" charset="0"/>
              </a:rPr>
              <a:t>Si 0 &lt; 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, la imagen es real mayor y derecha</a:t>
            </a:r>
          </a:p>
          <a:p>
            <a:endParaRPr lang="es-E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Line 30"/>
          <p:cNvSpPr>
            <a:spLocks noChangeShapeType="1"/>
          </p:cNvSpPr>
          <p:nvPr/>
        </p:nvSpPr>
        <p:spPr bwMode="auto">
          <a:xfrm flipV="1">
            <a:off x="3628066" y="1349381"/>
            <a:ext cx="0" cy="4322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lg" len="lg"/>
            <a:tailEnd type="non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3" name="Line 44"/>
          <p:cNvSpPr>
            <a:spLocks noChangeShapeType="1"/>
          </p:cNvSpPr>
          <p:nvPr/>
        </p:nvSpPr>
        <p:spPr bwMode="auto">
          <a:xfrm flipV="1">
            <a:off x="3626481" y="1150942"/>
            <a:ext cx="287337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4" name="Line 45"/>
          <p:cNvSpPr>
            <a:spLocks noChangeShapeType="1"/>
          </p:cNvSpPr>
          <p:nvPr/>
        </p:nvSpPr>
        <p:spPr bwMode="auto">
          <a:xfrm flipH="1" flipV="1">
            <a:off x="3355018" y="1139829"/>
            <a:ext cx="287338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5" name="Line 47"/>
          <p:cNvSpPr>
            <a:spLocks noChangeShapeType="1"/>
          </p:cNvSpPr>
          <p:nvPr/>
        </p:nvSpPr>
        <p:spPr bwMode="auto">
          <a:xfrm flipH="1" flipV="1">
            <a:off x="3645848" y="5629597"/>
            <a:ext cx="287338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6" name="Line 44"/>
          <p:cNvSpPr>
            <a:spLocks noChangeShapeType="1"/>
          </p:cNvSpPr>
          <p:nvPr/>
        </p:nvSpPr>
        <p:spPr bwMode="auto">
          <a:xfrm flipV="1">
            <a:off x="3331836" y="5625183"/>
            <a:ext cx="287337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0" grpId="0" animBg="1"/>
      <p:bldP spid="22" grpId="0"/>
      <p:bldP spid="24" grpId="0"/>
      <p:bldP spid="27" grpId="0"/>
      <p:bldP spid="29" grpId="0"/>
      <p:bldP spid="30" grpId="0"/>
      <p:bldP spid="33" grpId="0" animBg="1"/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 descr="Onda"/>
          <p:cNvSpPr>
            <a:spLocks noChangeAspect="1"/>
          </p:cNvSpPr>
          <p:nvPr/>
        </p:nvSpPr>
        <p:spPr bwMode="auto">
          <a:xfrm>
            <a:off x="792155" y="3933849"/>
            <a:ext cx="2708275" cy="2852737"/>
          </a:xfrm>
          <a:custGeom>
            <a:avLst/>
            <a:gdLst>
              <a:gd name="T0" fmla="*/ 0 w 2625"/>
              <a:gd name="T1" fmla="*/ 2147483647 h 2765"/>
              <a:gd name="T2" fmla="*/ 2147483647 w 2625"/>
              <a:gd name="T3" fmla="*/ 0 h 2765"/>
              <a:gd name="T4" fmla="*/ 2147483647 w 2625"/>
              <a:gd name="T5" fmla="*/ 0 h 2765"/>
              <a:gd name="T6" fmla="*/ 2147483647 w 2625"/>
              <a:gd name="T7" fmla="*/ 2147483647 h 2765"/>
              <a:gd name="T8" fmla="*/ 2147483647 w 2625"/>
              <a:gd name="T9" fmla="*/ 2147483647 h 2765"/>
              <a:gd name="T10" fmla="*/ 2147483647 w 2625"/>
              <a:gd name="T11" fmla="*/ 2147483647 h 2765"/>
              <a:gd name="T12" fmla="*/ 2147483647 w 2625"/>
              <a:gd name="T13" fmla="*/ 2147483647 h 2765"/>
              <a:gd name="T14" fmla="*/ 2147483647 w 2625"/>
              <a:gd name="T15" fmla="*/ 2147483647 h 2765"/>
              <a:gd name="T16" fmla="*/ 2147483647 w 2625"/>
              <a:gd name="T17" fmla="*/ 2147483647 h 2765"/>
              <a:gd name="T18" fmla="*/ 2147483647 w 2625"/>
              <a:gd name="T19" fmla="*/ 2147483647 h 2765"/>
              <a:gd name="T20" fmla="*/ 2147483647 w 2625"/>
              <a:gd name="T21" fmla="*/ 2147483647 h 2765"/>
              <a:gd name="T22" fmla="*/ 2147483647 w 2625"/>
              <a:gd name="T23" fmla="*/ 2147483647 h 2765"/>
              <a:gd name="T24" fmla="*/ 2147483647 w 2625"/>
              <a:gd name="T25" fmla="*/ 2147483647 h 2765"/>
              <a:gd name="T26" fmla="*/ 2147483647 w 2625"/>
              <a:gd name="T27" fmla="*/ 2147483647 h 2765"/>
              <a:gd name="T28" fmla="*/ 2147483647 w 2625"/>
              <a:gd name="T29" fmla="*/ 2147483647 h 2765"/>
              <a:gd name="T30" fmla="*/ 2147483647 w 2625"/>
              <a:gd name="T31" fmla="*/ 2147483647 h 2765"/>
              <a:gd name="T32" fmla="*/ 0 w 2625"/>
              <a:gd name="T33" fmla="*/ 2147483647 h 276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625"/>
              <a:gd name="T52" fmla="*/ 0 h 2765"/>
              <a:gd name="T53" fmla="*/ 2625 w 2625"/>
              <a:gd name="T54" fmla="*/ 2765 h 276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625" h="2765">
                <a:moveTo>
                  <a:pt x="0" y="32"/>
                </a:moveTo>
                <a:lnTo>
                  <a:pt x="1504" y="0"/>
                </a:lnTo>
                <a:lnTo>
                  <a:pt x="2406" y="0"/>
                </a:lnTo>
                <a:lnTo>
                  <a:pt x="2304" y="54"/>
                </a:lnTo>
                <a:lnTo>
                  <a:pt x="2236" y="183"/>
                </a:lnTo>
                <a:lnTo>
                  <a:pt x="2220" y="1169"/>
                </a:lnTo>
                <a:lnTo>
                  <a:pt x="2220" y="1396"/>
                </a:lnTo>
                <a:lnTo>
                  <a:pt x="2228" y="1592"/>
                </a:lnTo>
                <a:lnTo>
                  <a:pt x="2236" y="2548"/>
                </a:lnTo>
                <a:lnTo>
                  <a:pt x="2263" y="2656"/>
                </a:lnTo>
                <a:cubicBezTo>
                  <a:pt x="2291" y="2687"/>
                  <a:pt x="2625" y="2719"/>
                  <a:pt x="2406" y="2737"/>
                </a:cubicBezTo>
                <a:cubicBezTo>
                  <a:pt x="2532" y="2741"/>
                  <a:pt x="1248" y="2753"/>
                  <a:pt x="949" y="2765"/>
                </a:cubicBezTo>
                <a:lnTo>
                  <a:pt x="596" y="2744"/>
                </a:lnTo>
                <a:cubicBezTo>
                  <a:pt x="466" y="2683"/>
                  <a:pt x="244" y="2597"/>
                  <a:pt x="170" y="2397"/>
                </a:cubicBezTo>
                <a:cubicBezTo>
                  <a:pt x="83" y="2203"/>
                  <a:pt x="82" y="1757"/>
                  <a:pt x="149" y="1543"/>
                </a:cubicBezTo>
                <a:cubicBezTo>
                  <a:pt x="151" y="1448"/>
                  <a:pt x="66" y="1441"/>
                  <a:pt x="95" y="1184"/>
                </a:cubicBezTo>
                <a:cubicBezTo>
                  <a:pt x="70" y="932"/>
                  <a:pt x="0" y="32"/>
                  <a:pt x="0" y="32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5127625" y="5683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4" name="Freeform 7" descr="Onda"/>
          <p:cNvSpPr>
            <a:spLocks noChangeAspect="1"/>
          </p:cNvSpPr>
          <p:nvPr/>
        </p:nvSpPr>
        <p:spPr bwMode="auto">
          <a:xfrm>
            <a:off x="100965" y="823913"/>
            <a:ext cx="2708275" cy="2852737"/>
          </a:xfrm>
          <a:custGeom>
            <a:avLst/>
            <a:gdLst>
              <a:gd name="T0" fmla="*/ 0 w 2625"/>
              <a:gd name="T1" fmla="*/ 2147483647 h 2765"/>
              <a:gd name="T2" fmla="*/ 2147483647 w 2625"/>
              <a:gd name="T3" fmla="*/ 0 h 2765"/>
              <a:gd name="T4" fmla="*/ 2147483647 w 2625"/>
              <a:gd name="T5" fmla="*/ 0 h 2765"/>
              <a:gd name="T6" fmla="*/ 2147483647 w 2625"/>
              <a:gd name="T7" fmla="*/ 2147483647 h 2765"/>
              <a:gd name="T8" fmla="*/ 2147483647 w 2625"/>
              <a:gd name="T9" fmla="*/ 2147483647 h 2765"/>
              <a:gd name="T10" fmla="*/ 2147483647 w 2625"/>
              <a:gd name="T11" fmla="*/ 2147483647 h 2765"/>
              <a:gd name="T12" fmla="*/ 2147483647 w 2625"/>
              <a:gd name="T13" fmla="*/ 2147483647 h 2765"/>
              <a:gd name="T14" fmla="*/ 2147483647 w 2625"/>
              <a:gd name="T15" fmla="*/ 2147483647 h 2765"/>
              <a:gd name="T16" fmla="*/ 2147483647 w 2625"/>
              <a:gd name="T17" fmla="*/ 2147483647 h 2765"/>
              <a:gd name="T18" fmla="*/ 2147483647 w 2625"/>
              <a:gd name="T19" fmla="*/ 2147483647 h 2765"/>
              <a:gd name="T20" fmla="*/ 2147483647 w 2625"/>
              <a:gd name="T21" fmla="*/ 2147483647 h 2765"/>
              <a:gd name="T22" fmla="*/ 2147483647 w 2625"/>
              <a:gd name="T23" fmla="*/ 2147483647 h 2765"/>
              <a:gd name="T24" fmla="*/ 2147483647 w 2625"/>
              <a:gd name="T25" fmla="*/ 2147483647 h 2765"/>
              <a:gd name="T26" fmla="*/ 2147483647 w 2625"/>
              <a:gd name="T27" fmla="*/ 2147483647 h 2765"/>
              <a:gd name="T28" fmla="*/ 2147483647 w 2625"/>
              <a:gd name="T29" fmla="*/ 2147483647 h 2765"/>
              <a:gd name="T30" fmla="*/ 2147483647 w 2625"/>
              <a:gd name="T31" fmla="*/ 2147483647 h 2765"/>
              <a:gd name="T32" fmla="*/ 0 w 2625"/>
              <a:gd name="T33" fmla="*/ 2147483647 h 276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625"/>
              <a:gd name="T52" fmla="*/ 0 h 2765"/>
              <a:gd name="T53" fmla="*/ 2625 w 2625"/>
              <a:gd name="T54" fmla="*/ 2765 h 276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625" h="2765">
                <a:moveTo>
                  <a:pt x="0" y="32"/>
                </a:moveTo>
                <a:lnTo>
                  <a:pt x="1504" y="0"/>
                </a:lnTo>
                <a:lnTo>
                  <a:pt x="2406" y="0"/>
                </a:lnTo>
                <a:lnTo>
                  <a:pt x="2304" y="54"/>
                </a:lnTo>
                <a:lnTo>
                  <a:pt x="2236" y="183"/>
                </a:lnTo>
                <a:lnTo>
                  <a:pt x="2220" y="1169"/>
                </a:lnTo>
                <a:lnTo>
                  <a:pt x="2220" y="1396"/>
                </a:lnTo>
                <a:lnTo>
                  <a:pt x="2228" y="1592"/>
                </a:lnTo>
                <a:lnTo>
                  <a:pt x="2236" y="2548"/>
                </a:lnTo>
                <a:lnTo>
                  <a:pt x="2263" y="2656"/>
                </a:lnTo>
                <a:cubicBezTo>
                  <a:pt x="2291" y="2687"/>
                  <a:pt x="2625" y="2719"/>
                  <a:pt x="2406" y="2737"/>
                </a:cubicBezTo>
                <a:cubicBezTo>
                  <a:pt x="2532" y="2741"/>
                  <a:pt x="1248" y="2753"/>
                  <a:pt x="949" y="2765"/>
                </a:cubicBezTo>
                <a:lnTo>
                  <a:pt x="596" y="2744"/>
                </a:lnTo>
                <a:cubicBezTo>
                  <a:pt x="466" y="2683"/>
                  <a:pt x="244" y="2597"/>
                  <a:pt x="170" y="2397"/>
                </a:cubicBezTo>
                <a:cubicBezTo>
                  <a:pt x="83" y="2203"/>
                  <a:pt x="82" y="1757"/>
                  <a:pt x="149" y="1543"/>
                </a:cubicBezTo>
                <a:cubicBezTo>
                  <a:pt x="151" y="1448"/>
                  <a:pt x="66" y="1441"/>
                  <a:pt x="95" y="1184"/>
                </a:cubicBezTo>
                <a:cubicBezTo>
                  <a:pt x="70" y="932"/>
                  <a:pt x="0" y="32"/>
                  <a:pt x="0" y="32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5" name="Freeform 8" descr="Cuadrícula grande"/>
          <p:cNvSpPr>
            <a:spLocks noChangeAspect="1"/>
          </p:cNvSpPr>
          <p:nvPr/>
        </p:nvSpPr>
        <p:spPr bwMode="auto">
          <a:xfrm>
            <a:off x="2428875" y="785813"/>
            <a:ext cx="3794125" cy="2914650"/>
          </a:xfrm>
          <a:custGeom>
            <a:avLst/>
            <a:gdLst>
              <a:gd name="T0" fmla="*/ 2147483647 w 3677"/>
              <a:gd name="T1" fmla="*/ 2147483647 h 2825"/>
              <a:gd name="T2" fmla="*/ 2147483647 w 3677"/>
              <a:gd name="T3" fmla="*/ 2147483647 h 2825"/>
              <a:gd name="T4" fmla="*/ 2147483647 w 3677"/>
              <a:gd name="T5" fmla="*/ 2147483647 h 2825"/>
              <a:gd name="T6" fmla="*/ 2147483647 w 3677"/>
              <a:gd name="T7" fmla="*/ 2147483647 h 2825"/>
              <a:gd name="T8" fmla="*/ 2147483647 w 3677"/>
              <a:gd name="T9" fmla="*/ 2147483647 h 2825"/>
              <a:gd name="T10" fmla="*/ 2147483647 w 3677"/>
              <a:gd name="T11" fmla="*/ 0 h 2825"/>
              <a:gd name="T12" fmla="*/ 2147483647 w 3677"/>
              <a:gd name="T13" fmla="*/ 2147483647 h 2825"/>
              <a:gd name="T14" fmla="*/ 2147483647 w 3677"/>
              <a:gd name="T15" fmla="*/ 2147483647 h 2825"/>
              <a:gd name="T16" fmla="*/ 0 w 3677"/>
              <a:gd name="T17" fmla="*/ 2147483647 h 2825"/>
              <a:gd name="T18" fmla="*/ 2147483647 w 3677"/>
              <a:gd name="T19" fmla="*/ 2147483647 h 2825"/>
              <a:gd name="T20" fmla="*/ 2147483647 w 3677"/>
              <a:gd name="T21" fmla="*/ 2147483647 h 2825"/>
              <a:gd name="T22" fmla="*/ 2147483647 w 3677"/>
              <a:gd name="T23" fmla="*/ 2147483647 h 2825"/>
              <a:gd name="T24" fmla="*/ 2147483647 w 3677"/>
              <a:gd name="T25" fmla="*/ 2147483647 h 2825"/>
              <a:gd name="T26" fmla="*/ 2147483647 w 3677"/>
              <a:gd name="T27" fmla="*/ 2147483647 h 2825"/>
              <a:gd name="T28" fmla="*/ 2147483647 w 3677"/>
              <a:gd name="T29" fmla="*/ 2147483647 h 2825"/>
              <a:gd name="T30" fmla="*/ 2147483647 w 3677"/>
              <a:gd name="T31" fmla="*/ 2147483647 h 2825"/>
              <a:gd name="T32" fmla="*/ 2147483647 w 3677"/>
              <a:gd name="T33" fmla="*/ 2147483647 h 2825"/>
              <a:gd name="T34" fmla="*/ 2147483647 w 3677"/>
              <a:gd name="T35" fmla="*/ 2147483647 h 2825"/>
              <a:gd name="T36" fmla="*/ 2147483647 w 3677"/>
              <a:gd name="T37" fmla="*/ 2147483647 h 2825"/>
              <a:gd name="T38" fmla="*/ 2147483647 w 3677"/>
              <a:gd name="T39" fmla="*/ 2147483647 h 2825"/>
              <a:gd name="T40" fmla="*/ 2147483647 w 3677"/>
              <a:gd name="T41" fmla="*/ 2147483647 h 282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677"/>
              <a:gd name="T64" fmla="*/ 0 h 2825"/>
              <a:gd name="T65" fmla="*/ 3677 w 3677"/>
              <a:gd name="T66" fmla="*/ 2825 h 282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677" h="2825">
                <a:moveTo>
                  <a:pt x="3259" y="2584"/>
                </a:moveTo>
                <a:cubicBezTo>
                  <a:pt x="3252" y="2524"/>
                  <a:pt x="3378" y="2229"/>
                  <a:pt x="3381" y="2029"/>
                </a:cubicBezTo>
                <a:cubicBezTo>
                  <a:pt x="3384" y="1829"/>
                  <a:pt x="3350" y="1199"/>
                  <a:pt x="3320" y="999"/>
                </a:cubicBezTo>
                <a:cubicBezTo>
                  <a:pt x="3166" y="758"/>
                  <a:pt x="3677" y="222"/>
                  <a:pt x="3286" y="57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259" y="2584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6" name="Line 9"/>
          <p:cNvSpPr>
            <a:spLocks noChangeAspect="1" noChangeShapeType="1"/>
          </p:cNvSpPr>
          <p:nvPr/>
        </p:nvSpPr>
        <p:spPr bwMode="auto">
          <a:xfrm>
            <a:off x="547688" y="2466975"/>
            <a:ext cx="542925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8" name="Oval 12"/>
          <p:cNvSpPr>
            <a:spLocks noChangeAspect="1" noChangeArrowheads="1"/>
          </p:cNvSpPr>
          <p:nvPr/>
        </p:nvSpPr>
        <p:spPr bwMode="auto">
          <a:xfrm>
            <a:off x="663575" y="2428875"/>
            <a:ext cx="47625" cy="476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9" name="Oval 13"/>
          <p:cNvSpPr>
            <a:spLocks noChangeAspect="1" noChangeArrowheads="1"/>
          </p:cNvSpPr>
          <p:nvPr/>
        </p:nvSpPr>
        <p:spPr bwMode="auto">
          <a:xfrm>
            <a:off x="4919663" y="2428875"/>
            <a:ext cx="47625" cy="460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0" name="Text Box 14"/>
          <p:cNvSpPr txBox="1">
            <a:spLocks noChangeAspect="1" noChangeArrowheads="1"/>
          </p:cNvSpPr>
          <p:nvPr/>
        </p:nvSpPr>
        <p:spPr bwMode="auto">
          <a:xfrm>
            <a:off x="642938" y="2643188"/>
            <a:ext cx="325437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 </a:t>
            </a:r>
            <a:r>
              <a:rPr lang="es-ES_tradnl">
                <a:latin typeface="Times New Roman" pitchFamily="18" charset="0"/>
              </a:rPr>
              <a:t>’ </a:t>
            </a:r>
          </a:p>
        </p:txBody>
      </p:sp>
      <p:sp>
        <p:nvSpPr>
          <p:cNvPr id="11" name="Text Box 15"/>
          <p:cNvSpPr txBox="1">
            <a:spLocks noChangeAspect="1" noChangeArrowheads="1"/>
          </p:cNvSpPr>
          <p:nvPr/>
        </p:nvSpPr>
        <p:spPr bwMode="auto">
          <a:xfrm>
            <a:off x="4770438" y="2487613"/>
            <a:ext cx="211137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12" name="Text Box 16"/>
          <p:cNvSpPr txBox="1">
            <a:spLocks noChangeAspect="1" noChangeArrowheads="1"/>
          </p:cNvSpPr>
          <p:nvPr/>
        </p:nvSpPr>
        <p:spPr bwMode="auto">
          <a:xfrm>
            <a:off x="2000250" y="3357562"/>
            <a:ext cx="1936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n</a:t>
            </a:r>
          </a:p>
        </p:txBody>
      </p:sp>
      <p:sp>
        <p:nvSpPr>
          <p:cNvPr id="13" name="Text Box 17"/>
          <p:cNvSpPr txBox="1">
            <a:spLocks noChangeAspect="1" noChangeArrowheads="1"/>
          </p:cNvSpPr>
          <p:nvPr/>
        </p:nvSpPr>
        <p:spPr bwMode="auto">
          <a:xfrm>
            <a:off x="2786063" y="3357563"/>
            <a:ext cx="4283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n”</a:t>
            </a:r>
            <a:endParaRPr lang="es-ES_tradnl" dirty="0">
              <a:latin typeface="Times New Roman" pitchFamily="18" charset="0"/>
            </a:endParaRPr>
          </a:p>
        </p:txBody>
      </p:sp>
      <p:sp>
        <p:nvSpPr>
          <p:cNvPr id="14" name="Line 18"/>
          <p:cNvSpPr>
            <a:spLocks noChangeAspect="1" noChangeShapeType="1"/>
          </p:cNvSpPr>
          <p:nvPr/>
        </p:nvSpPr>
        <p:spPr bwMode="auto">
          <a:xfrm>
            <a:off x="500063" y="1785938"/>
            <a:ext cx="1871662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Box 25"/>
          <p:cNvSpPr txBox="1">
            <a:spLocks noChangeAspect="1" noChangeArrowheads="1"/>
          </p:cNvSpPr>
          <p:nvPr/>
        </p:nvSpPr>
        <p:spPr bwMode="auto">
          <a:xfrm>
            <a:off x="4351338" y="2487613"/>
            <a:ext cx="5064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 </a:t>
            </a:r>
            <a:r>
              <a:rPr lang="es-ES_tradnl" i="1">
                <a:latin typeface="Times New Roman" pitchFamily="18" charset="0"/>
                <a:sym typeface="Symbol" pitchFamily="18" charset="2"/>
              </a:rPr>
              <a:t>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7" name="Text Box 27"/>
          <p:cNvSpPr txBox="1">
            <a:spLocks noChangeAspect="1" noChangeArrowheads="1"/>
          </p:cNvSpPr>
          <p:nvPr/>
        </p:nvSpPr>
        <p:spPr bwMode="auto">
          <a:xfrm>
            <a:off x="4786313" y="1431925"/>
            <a:ext cx="2444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20" name="Text Box 34"/>
          <p:cNvSpPr txBox="1">
            <a:spLocks noChangeArrowheads="1"/>
          </p:cNvSpPr>
          <p:nvPr/>
        </p:nvSpPr>
        <p:spPr bwMode="auto">
          <a:xfrm>
            <a:off x="8296275" y="6473825"/>
            <a:ext cx="354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14</a:t>
            </a:r>
          </a:p>
        </p:txBody>
      </p:sp>
      <p:sp>
        <p:nvSpPr>
          <p:cNvPr id="22" name="21 CuadroTexto"/>
          <p:cNvSpPr txBox="1">
            <a:spLocks noChangeAspect="1"/>
          </p:cNvSpPr>
          <p:nvPr/>
        </p:nvSpPr>
        <p:spPr bwMode="auto">
          <a:xfrm>
            <a:off x="1500188" y="1428750"/>
            <a:ext cx="2841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23" name="35 CuadroTexto"/>
          <p:cNvSpPr txBox="1">
            <a:spLocks noChangeArrowheads="1"/>
          </p:cNvSpPr>
          <p:nvPr/>
        </p:nvSpPr>
        <p:spPr bwMode="auto">
          <a:xfrm>
            <a:off x="6357938" y="214313"/>
            <a:ext cx="224676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dirty="0"/>
              <a:t>Objeto Virtual (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&gt; 0)</a:t>
            </a:r>
          </a:p>
        </p:txBody>
      </p:sp>
      <p:sp>
        <p:nvSpPr>
          <p:cNvPr id="24" name="36 CuadroTexto"/>
          <p:cNvSpPr txBox="1">
            <a:spLocks noChangeArrowheads="1"/>
          </p:cNvSpPr>
          <p:nvPr/>
        </p:nvSpPr>
        <p:spPr bwMode="auto">
          <a:xfrm>
            <a:off x="3500438" y="142875"/>
            <a:ext cx="194155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" dirty="0"/>
              <a:t>Lente Divergente</a:t>
            </a:r>
          </a:p>
          <a:p>
            <a:pPr algn="ctr"/>
            <a:r>
              <a:rPr lang="es-E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  &gt; 0; 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’ &lt; 0</a:t>
            </a:r>
          </a:p>
        </p:txBody>
      </p:sp>
      <p:sp>
        <p:nvSpPr>
          <p:cNvPr id="25" name="Line 18"/>
          <p:cNvSpPr>
            <a:spLocks noChangeAspect="1" noChangeShapeType="1"/>
          </p:cNvSpPr>
          <p:nvPr/>
        </p:nvSpPr>
        <p:spPr bwMode="auto">
          <a:xfrm flipV="1">
            <a:off x="2220913" y="1785938"/>
            <a:ext cx="3065462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cxnSp>
        <p:nvCxnSpPr>
          <p:cNvPr id="26" name="25 Conector recto"/>
          <p:cNvCxnSpPr>
            <a:cxnSpLocks noChangeAspect="1"/>
          </p:cNvCxnSpPr>
          <p:nvPr/>
        </p:nvCxnSpPr>
        <p:spPr>
          <a:xfrm rot="5400000" flipH="1" flipV="1">
            <a:off x="1108076" y="1143000"/>
            <a:ext cx="749300" cy="2035175"/>
          </a:xfrm>
          <a:prstGeom prst="line">
            <a:avLst/>
          </a:prstGeom>
          <a:ln w="25400">
            <a:solidFill>
              <a:srgbClr val="0000FF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>
            <a:cxnSpLocks noChangeAspect="1"/>
          </p:cNvCxnSpPr>
          <p:nvPr/>
        </p:nvCxnSpPr>
        <p:spPr>
          <a:xfrm rot="5400000" flipH="1" flipV="1">
            <a:off x="3071813" y="403225"/>
            <a:ext cx="749300" cy="2035175"/>
          </a:xfrm>
          <a:prstGeom prst="line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ine 11"/>
          <p:cNvSpPr>
            <a:spLocks noChangeAspect="1" noChangeShapeType="1"/>
          </p:cNvSpPr>
          <p:nvPr/>
        </p:nvSpPr>
        <p:spPr bwMode="auto">
          <a:xfrm flipV="1">
            <a:off x="4954588" y="1785938"/>
            <a:ext cx="0" cy="6778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30" name="29 CuadroTexto"/>
          <p:cNvSpPr txBox="1">
            <a:spLocks noChangeArrowheads="1"/>
          </p:cNvSpPr>
          <p:nvPr/>
        </p:nvSpPr>
        <p:spPr bwMode="auto">
          <a:xfrm>
            <a:off x="6143625" y="1714500"/>
            <a:ext cx="27860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>
                <a:latin typeface="Times New Roman" pitchFamily="18" charset="0"/>
                <a:cs typeface="Times New Roman" pitchFamily="18" charset="0"/>
              </a:rPr>
              <a:t>Si </a:t>
            </a:r>
            <a:r>
              <a:rPr lang="es-ES" i="1">
                <a:latin typeface="Times New Roman" pitchFamily="18" charset="0"/>
                <a:cs typeface="Times New Roman" pitchFamily="18" charset="0"/>
              </a:rPr>
              <a:t>s = f</a:t>
            </a:r>
            <a:r>
              <a:rPr lang="es-ES">
                <a:latin typeface="Times New Roman" pitchFamily="18" charset="0"/>
                <a:cs typeface="Times New Roman" pitchFamily="18" charset="0"/>
              </a:rPr>
              <a:t>, no se forma imagen </a:t>
            </a:r>
          </a:p>
          <a:p>
            <a:r>
              <a:rPr lang="es-ES">
                <a:latin typeface="Times New Roman" pitchFamily="18" charset="0"/>
                <a:cs typeface="Times New Roman" pitchFamily="18" charset="0"/>
              </a:rPr>
              <a:t>(imagen a infinito)</a:t>
            </a: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5127625" y="36433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32" name="Freeform 8" descr="Cuadrícula grande"/>
          <p:cNvSpPr>
            <a:spLocks noChangeAspect="1"/>
          </p:cNvSpPr>
          <p:nvPr/>
        </p:nvSpPr>
        <p:spPr bwMode="auto">
          <a:xfrm>
            <a:off x="3071813" y="3912870"/>
            <a:ext cx="6572250" cy="2914650"/>
          </a:xfrm>
          <a:custGeom>
            <a:avLst/>
            <a:gdLst>
              <a:gd name="T0" fmla="*/ 2147483647 w 3677"/>
              <a:gd name="T1" fmla="*/ 2147483647 h 2825"/>
              <a:gd name="T2" fmla="*/ 2147483647 w 3677"/>
              <a:gd name="T3" fmla="*/ 2147483647 h 2825"/>
              <a:gd name="T4" fmla="*/ 2147483647 w 3677"/>
              <a:gd name="T5" fmla="*/ 2147483647 h 2825"/>
              <a:gd name="T6" fmla="*/ 2147483647 w 3677"/>
              <a:gd name="T7" fmla="*/ 2147483647 h 2825"/>
              <a:gd name="T8" fmla="*/ 2147483647 w 3677"/>
              <a:gd name="T9" fmla="*/ 2147483647 h 2825"/>
              <a:gd name="T10" fmla="*/ 2147483647 w 3677"/>
              <a:gd name="T11" fmla="*/ 0 h 2825"/>
              <a:gd name="T12" fmla="*/ 2147483647 w 3677"/>
              <a:gd name="T13" fmla="*/ 2147483647 h 2825"/>
              <a:gd name="T14" fmla="*/ 2147483647 w 3677"/>
              <a:gd name="T15" fmla="*/ 2147483647 h 2825"/>
              <a:gd name="T16" fmla="*/ 0 w 3677"/>
              <a:gd name="T17" fmla="*/ 2147483647 h 2825"/>
              <a:gd name="T18" fmla="*/ 2147483647 w 3677"/>
              <a:gd name="T19" fmla="*/ 2147483647 h 2825"/>
              <a:gd name="T20" fmla="*/ 2147483647 w 3677"/>
              <a:gd name="T21" fmla="*/ 2147483647 h 2825"/>
              <a:gd name="T22" fmla="*/ 2147483647 w 3677"/>
              <a:gd name="T23" fmla="*/ 2147483647 h 2825"/>
              <a:gd name="T24" fmla="*/ 2147483647 w 3677"/>
              <a:gd name="T25" fmla="*/ 2147483647 h 2825"/>
              <a:gd name="T26" fmla="*/ 2147483647 w 3677"/>
              <a:gd name="T27" fmla="*/ 2147483647 h 2825"/>
              <a:gd name="T28" fmla="*/ 2147483647 w 3677"/>
              <a:gd name="T29" fmla="*/ 2147483647 h 2825"/>
              <a:gd name="T30" fmla="*/ 2147483647 w 3677"/>
              <a:gd name="T31" fmla="*/ 2147483647 h 2825"/>
              <a:gd name="T32" fmla="*/ 2147483647 w 3677"/>
              <a:gd name="T33" fmla="*/ 2147483647 h 2825"/>
              <a:gd name="T34" fmla="*/ 2147483647 w 3677"/>
              <a:gd name="T35" fmla="*/ 2147483647 h 2825"/>
              <a:gd name="T36" fmla="*/ 2147483647 w 3677"/>
              <a:gd name="T37" fmla="*/ 2147483647 h 2825"/>
              <a:gd name="T38" fmla="*/ 2147483647 w 3677"/>
              <a:gd name="T39" fmla="*/ 2147483647 h 2825"/>
              <a:gd name="T40" fmla="*/ 2147483647 w 3677"/>
              <a:gd name="T41" fmla="*/ 2147483647 h 282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3677"/>
              <a:gd name="T64" fmla="*/ 0 h 2825"/>
              <a:gd name="T65" fmla="*/ 3677 w 3677"/>
              <a:gd name="T66" fmla="*/ 2825 h 282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3677" h="2825">
                <a:moveTo>
                  <a:pt x="3139" y="2584"/>
                </a:moveTo>
                <a:cubicBezTo>
                  <a:pt x="3132" y="2524"/>
                  <a:pt x="3351" y="2293"/>
                  <a:pt x="3381" y="2029"/>
                </a:cubicBezTo>
                <a:cubicBezTo>
                  <a:pt x="3411" y="1765"/>
                  <a:pt x="3350" y="1199"/>
                  <a:pt x="3320" y="999"/>
                </a:cubicBezTo>
                <a:cubicBezTo>
                  <a:pt x="3166" y="758"/>
                  <a:pt x="3677" y="222"/>
                  <a:pt x="3286" y="57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cubicBezTo>
                  <a:pt x="36" y="162"/>
                  <a:pt x="18" y="217"/>
                  <a:pt x="0" y="271"/>
                </a:cubicBezTo>
                <a:cubicBezTo>
                  <a:pt x="7" y="461"/>
                  <a:pt x="13" y="650"/>
                  <a:pt x="20" y="840"/>
                </a:cubicBezTo>
                <a:cubicBezTo>
                  <a:pt x="14" y="961"/>
                  <a:pt x="9" y="1081"/>
                  <a:pt x="3" y="1202"/>
                </a:cubicBezTo>
                <a:lnTo>
                  <a:pt x="3" y="1429"/>
                </a:lnTo>
                <a:cubicBezTo>
                  <a:pt x="6" y="1494"/>
                  <a:pt x="8" y="1560"/>
                  <a:pt x="11" y="1625"/>
                </a:cubicBezTo>
                <a:lnTo>
                  <a:pt x="20" y="1985"/>
                </a:lnTo>
                <a:cubicBezTo>
                  <a:pt x="22" y="2143"/>
                  <a:pt x="25" y="2302"/>
                  <a:pt x="27" y="2460"/>
                </a:cubicBez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139" y="2584"/>
                </a:lnTo>
                <a:close/>
              </a:path>
            </a:pathLst>
          </a:custGeom>
          <a:pattFill prst="lgGrid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33" name="Line 9"/>
          <p:cNvSpPr>
            <a:spLocks noChangeAspect="1" noChangeShapeType="1"/>
          </p:cNvSpPr>
          <p:nvPr/>
        </p:nvSpPr>
        <p:spPr bwMode="auto">
          <a:xfrm>
            <a:off x="71438" y="5541963"/>
            <a:ext cx="903605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35" name="Oval 12"/>
          <p:cNvSpPr>
            <a:spLocks noChangeAspect="1" noChangeArrowheads="1"/>
          </p:cNvSpPr>
          <p:nvPr/>
        </p:nvSpPr>
        <p:spPr bwMode="auto">
          <a:xfrm>
            <a:off x="1454150" y="5503863"/>
            <a:ext cx="47625" cy="476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36" name="Oval 13"/>
          <p:cNvSpPr>
            <a:spLocks noChangeAspect="1" noChangeArrowheads="1"/>
          </p:cNvSpPr>
          <p:nvPr/>
        </p:nvSpPr>
        <p:spPr bwMode="auto">
          <a:xfrm>
            <a:off x="5495925" y="5503863"/>
            <a:ext cx="47625" cy="460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37" name="Text Box 14"/>
          <p:cNvSpPr txBox="1">
            <a:spLocks noChangeAspect="1" noChangeArrowheads="1"/>
          </p:cNvSpPr>
          <p:nvPr/>
        </p:nvSpPr>
        <p:spPr bwMode="auto">
          <a:xfrm>
            <a:off x="1265238" y="5487988"/>
            <a:ext cx="325437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 </a:t>
            </a:r>
            <a:r>
              <a:rPr lang="es-ES_tradnl">
                <a:latin typeface="Times New Roman" pitchFamily="18" charset="0"/>
              </a:rPr>
              <a:t>’ </a:t>
            </a:r>
          </a:p>
        </p:txBody>
      </p:sp>
      <p:sp>
        <p:nvSpPr>
          <p:cNvPr id="38" name="Text Box 15"/>
          <p:cNvSpPr txBox="1">
            <a:spLocks noChangeAspect="1" noChangeArrowheads="1"/>
          </p:cNvSpPr>
          <p:nvPr/>
        </p:nvSpPr>
        <p:spPr bwMode="auto">
          <a:xfrm>
            <a:off x="5383213" y="5562600"/>
            <a:ext cx="211137" cy="23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F</a:t>
            </a:r>
          </a:p>
        </p:txBody>
      </p:sp>
      <p:sp>
        <p:nvSpPr>
          <p:cNvPr id="39" name="Text Box 16"/>
          <p:cNvSpPr txBox="1">
            <a:spLocks noChangeAspect="1" noChangeArrowheads="1"/>
          </p:cNvSpPr>
          <p:nvPr/>
        </p:nvSpPr>
        <p:spPr bwMode="auto">
          <a:xfrm>
            <a:off x="2689225" y="6357958"/>
            <a:ext cx="1936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n</a:t>
            </a:r>
          </a:p>
        </p:txBody>
      </p:sp>
      <p:sp>
        <p:nvSpPr>
          <p:cNvPr id="40" name="Text Box 17"/>
          <p:cNvSpPr txBox="1">
            <a:spLocks noChangeAspect="1" noChangeArrowheads="1"/>
          </p:cNvSpPr>
          <p:nvPr/>
        </p:nvSpPr>
        <p:spPr bwMode="auto">
          <a:xfrm>
            <a:off x="3286116" y="6345816"/>
            <a:ext cx="4283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n”</a:t>
            </a:r>
            <a:endParaRPr lang="es-ES_tradnl" dirty="0">
              <a:latin typeface="Times New Roman" pitchFamily="18" charset="0"/>
            </a:endParaRPr>
          </a:p>
        </p:txBody>
      </p:sp>
      <p:sp>
        <p:nvSpPr>
          <p:cNvPr id="41" name="Line 18"/>
          <p:cNvSpPr>
            <a:spLocks noChangeAspect="1" noChangeShapeType="1"/>
          </p:cNvSpPr>
          <p:nvPr/>
        </p:nvSpPr>
        <p:spPr bwMode="auto">
          <a:xfrm>
            <a:off x="1214438" y="4860925"/>
            <a:ext cx="1871662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42" name="Line 23"/>
          <p:cNvSpPr>
            <a:spLocks noChangeAspect="1" noChangeShapeType="1"/>
          </p:cNvSpPr>
          <p:nvPr/>
        </p:nvSpPr>
        <p:spPr bwMode="auto">
          <a:xfrm>
            <a:off x="3903663" y="5432425"/>
            <a:ext cx="0" cy="187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Box 25"/>
          <p:cNvSpPr txBox="1">
            <a:spLocks noChangeAspect="1" noChangeArrowheads="1"/>
          </p:cNvSpPr>
          <p:nvPr/>
        </p:nvSpPr>
        <p:spPr bwMode="auto">
          <a:xfrm>
            <a:off x="8764588" y="5572125"/>
            <a:ext cx="3794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 </a:t>
            </a:r>
          </a:p>
        </p:txBody>
      </p:sp>
      <p:sp>
        <p:nvSpPr>
          <p:cNvPr id="44" name="Text Box 27"/>
          <p:cNvSpPr txBox="1">
            <a:spLocks noChangeAspect="1" noChangeArrowheads="1"/>
          </p:cNvSpPr>
          <p:nvPr/>
        </p:nvSpPr>
        <p:spPr bwMode="auto">
          <a:xfrm>
            <a:off x="8756650" y="4500563"/>
            <a:ext cx="2444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46" name="Text Box 36"/>
          <p:cNvSpPr txBox="1">
            <a:spLocks noChangeAspect="1" noChangeArrowheads="1"/>
          </p:cNvSpPr>
          <p:nvPr/>
        </p:nvSpPr>
        <p:spPr bwMode="auto">
          <a:xfrm>
            <a:off x="3689350" y="5500688"/>
            <a:ext cx="2190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47" name="46 CuadroTexto"/>
          <p:cNvSpPr txBox="1">
            <a:spLocks noChangeAspect="1"/>
          </p:cNvSpPr>
          <p:nvPr/>
        </p:nvSpPr>
        <p:spPr bwMode="auto">
          <a:xfrm>
            <a:off x="2189163" y="4503738"/>
            <a:ext cx="284162" cy="22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48" name="Line 18"/>
          <p:cNvSpPr>
            <a:spLocks noChangeShapeType="1"/>
          </p:cNvSpPr>
          <p:nvPr/>
        </p:nvSpPr>
        <p:spPr bwMode="auto">
          <a:xfrm flipV="1">
            <a:off x="2832100" y="4857750"/>
            <a:ext cx="6227763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cxnSp>
        <p:nvCxnSpPr>
          <p:cNvPr id="49" name="48 Conector recto"/>
          <p:cNvCxnSpPr>
            <a:cxnSpLocks noChangeAspect="1"/>
          </p:cNvCxnSpPr>
          <p:nvPr/>
        </p:nvCxnSpPr>
        <p:spPr>
          <a:xfrm flipV="1">
            <a:off x="214313" y="4873625"/>
            <a:ext cx="2963862" cy="1089025"/>
          </a:xfrm>
          <a:prstGeom prst="line">
            <a:avLst/>
          </a:prstGeom>
          <a:ln w="25400">
            <a:solidFill>
              <a:srgbClr val="0000FF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>
            <a:cxnSpLocks noChangeAspect="1"/>
          </p:cNvCxnSpPr>
          <p:nvPr/>
        </p:nvCxnSpPr>
        <p:spPr>
          <a:xfrm rot="5400000" flipH="1" flipV="1">
            <a:off x="3761582" y="3477418"/>
            <a:ext cx="749300" cy="2036763"/>
          </a:xfrm>
          <a:prstGeom prst="line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Line 11"/>
          <p:cNvSpPr>
            <a:spLocks noChangeAspect="1" noChangeShapeType="1"/>
          </p:cNvSpPr>
          <p:nvPr/>
        </p:nvSpPr>
        <p:spPr bwMode="auto">
          <a:xfrm flipV="1">
            <a:off x="9001125" y="4857750"/>
            <a:ext cx="0" cy="6778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52" name="51 CuadroTexto"/>
          <p:cNvSpPr txBox="1">
            <a:spLocks noChangeAspect="1"/>
          </p:cNvSpPr>
          <p:nvPr/>
        </p:nvSpPr>
        <p:spPr bwMode="auto">
          <a:xfrm>
            <a:off x="2214563" y="6075363"/>
            <a:ext cx="43656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53" name="52 CuadroTexto"/>
          <p:cNvSpPr txBox="1">
            <a:spLocks noChangeArrowheads="1"/>
          </p:cNvSpPr>
          <p:nvPr/>
        </p:nvSpPr>
        <p:spPr bwMode="auto">
          <a:xfrm>
            <a:off x="4714876" y="3429000"/>
            <a:ext cx="4429124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ES" dirty="0">
                <a:latin typeface="Times New Roman" pitchFamily="18" charset="0"/>
                <a:cs typeface="Times New Roman" pitchFamily="18" charset="0"/>
              </a:rPr>
              <a:t>Si 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, la imagen es virtual e invertida</a:t>
            </a:r>
          </a:p>
          <a:p>
            <a:r>
              <a:rPr lang="es-ES" dirty="0">
                <a:latin typeface="Times New Roman" pitchFamily="18" charset="0"/>
                <a:cs typeface="Times New Roman" pitchFamily="18" charset="0"/>
              </a:rPr>
              <a:t>(se achica en la medida que el objeto se aleja)</a:t>
            </a:r>
          </a:p>
        </p:txBody>
      </p:sp>
      <p:cxnSp>
        <p:nvCxnSpPr>
          <p:cNvPr id="54" name="53 Conector recto"/>
          <p:cNvCxnSpPr>
            <a:cxnSpLocks noChangeAspect="1"/>
          </p:cNvCxnSpPr>
          <p:nvPr/>
        </p:nvCxnSpPr>
        <p:spPr>
          <a:xfrm flipV="1">
            <a:off x="3071813" y="4929188"/>
            <a:ext cx="5940425" cy="1003300"/>
          </a:xfrm>
          <a:prstGeom prst="line">
            <a:avLst/>
          </a:prstGeom>
          <a:ln w="25400">
            <a:solidFill>
              <a:srgbClr val="A5002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>
            <a:cxnSpLocks/>
          </p:cNvCxnSpPr>
          <p:nvPr/>
        </p:nvCxnSpPr>
        <p:spPr>
          <a:xfrm flipV="1">
            <a:off x="0" y="5929313"/>
            <a:ext cx="3060700" cy="0"/>
          </a:xfrm>
          <a:prstGeom prst="line">
            <a:avLst/>
          </a:prstGeom>
          <a:ln w="25400">
            <a:solidFill>
              <a:srgbClr val="A5002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 de flecha"/>
          <p:cNvCxnSpPr/>
          <p:nvPr/>
        </p:nvCxnSpPr>
        <p:spPr>
          <a:xfrm flipV="1">
            <a:off x="3071813" y="5857875"/>
            <a:ext cx="5143500" cy="71438"/>
          </a:xfrm>
          <a:prstGeom prst="straightConnector1">
            <a:avLst/>
          </a:prstGeom>
          <a:ln w="25400">
            <a:solidFill>
              <a:srgbClr val="A500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>
            <a:cxnSpLocks noChangeAspect="1"/>
          </p:cNvCxnSpPr>
          <p:nvPr/>
        </p:nvCxnSpPr>
        <p:spPr>
          <a:xfrm flipV="1">
            <a:off x="1643063" y="5942013"/>
            <a:ext cx="1439862" cy="242887"/>
          </a:xfrm>
          <a:prstGeom prst="line">
            <a:avLst/>
          </a:prstGeom>
          <a:ln w="25400">
            <a:solidFill>
              <a:srgbClr val="A5002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 de flecha"/>
          <p:cNvCxnSpPr/>
          <p:nvPr/>
        </p:nvCxnSpPr>
        <p:spPr>
          <a:xfrm rot="5400000">
            <a:off x="106363" y="5751513"/>
            <a:ext cx="357187" cy="1587"/>
          </a:xfrm>
          <a:prstGeom prst="straightConnector1">
            <a:avLst/>
          </a:prstGeom>
          <a:ln w="25400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Box 26"/>
          <p:cNvSpPr txBox="1">
            <a:spLocks noChangeArrowheads="1"/>
          </p:cNvSpPr>
          <p:nvPr/>
        </p:nvSpPr>
        <p:spPr bwMode="auto">
          <a:xfrm>
            <a:off x="142875" y="5143500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60" name="Text Box 26"/>
          <p:cNvSpPr txBox="1">
            <a:spLocks noChangeArrowheads="1"/>
          </p:cNvSpPr>
          <p:nvPr/>
        </p:nvSpPr>
        <p:spPr bwMode="auto">
          <a:xfrm>
            <a:off x="142875" y="6000750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61" name="Text Box 34"/>
          <p:cNvSpPr txBox="1">
            <a:spLocks noChangeArrowheads="1"/>
          </p:cNvSpPr>
          <p:nvPr/>
        </p:nvSpPr>
        <p:spPr bwMode="auto">
          <a:xfrm>
            <a:off x="8643938" y="6500813"/>
            <a:ext cx="34317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11</a:t>
            </a:r>
          </a:p>
        </p:txBody>
      </p:sp>
      <p:cxnSp>
        <p:nvCxnSpPr>
          <p:cNvPr id="64" name="63 Conector recto de flecha"/>
          <p:cNvCxnSpPr/>
          <p:nvPr/>
        </p:nvCxnSpPr>
        <p:spPr>
          <a:xfrm rot="5400000">
            <a:off x="988860" y="2202520"/>
            <a:ext cx="2880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"/>
          <p:cNvCxnSpPr/>
          <p:nvPr/>
        </p:nvCxnSpPr>
        <p:spPr>
          <a:xfrm rot="5400000" flipH="1" flipV="1">
            <a:off x="2428860" y="657432"/>
            <a:ext cx="142876" cy="1428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"/>
          <p:cNvCxnSpPr/>
          <p:nvPr/>
        </p:nvCxnSpPr>
        <p:spPr>
          <a:xfrm rot="5400000" flipH="1" flipV="1">
            <a:off x="2258088" y="3628800"/>
            <a:ext cx="142876" cy="1428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 rot="5400000" flipH="1" flipV="1">
            <a:off x="3114212" y="3815218"/>
            <a:ext cx="142876" cy="1428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"/>
          <p:cNvCxnSpPr/>
          <p:nvPr/>
        </p:nvCxnSpPr>
        <p:spPr>
          <a:xfrm rot="5400000">
            <a:off x="1745418" y="5302812"/>
            <a:ext cx="2736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Conector recto"/>
          <p:cNvCxnSpPr/>
          <p:nvPr/>
        </p:nvCxnSpPr>
        <p:spPr>
          <a:xfrm rot="5400000" flipH="1" flipV="1">
            <a:off x="2957954" y="6671582"/>
            <a:ext cx="142876" cy="1428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"/>
          <p:cNvCxnSpPr/>
          <p:nvPr/>
        </p:nvCxnSpPr>
        <p:spPr>
          <a:xfrm rot="10800000" flipH="1" flipV="1">
            <a:off x="2285984" y="657433"/>
            <a:ext cx="142876" cy="1428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recto"/>
          <p:cNvCxnSpPr/>
          <p:nvPr/>
        </p:nvCxnSpPr>
        <p:spPr>
          <a:xfrm rot="10800000" flipH="1" flipV="1">
            <a:off x="2442242" y="3628800"/>
            <a:ext cx="142876" cy="1428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"/>
          <p:cNvCxnSpPr/>
          <p:nvPr/>
        </p:nvCxnSpPr>
        <p:spPr>
          <a:xfrm rot="10800000" flipH="1" flipV="1">
            <a:off x="2943440" y="3824742"/>
            <a:ext cx="142876" cy="1428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75 Conector recto"/>
          <p:cNvCxnSpPr/>
          <p:nvPr/>
        </p:nvCxnSpPr>
        <p:spPr>
          <a:xfrm rot="10800000" flipH="1" flipV="1">
            <a:off x="3128726" y="6658224"/>
            <a:ext cx="142876" cy="1428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84 Conector recto"/>
          <p:cNvCxnSpPr>
            <a:cxnSpLocks noChangeAspect="1"/>
          </p:cNvCxnSpPr>
          <p:nvPr/>
        </p:nvCxnSpPr>
        <p:spPr>
          <a:xfrm flipV="1">
            <a:off x="2428862" y="1500174"/>
            <a:ext cx="3382811" cy="1245467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2" grpId="0"/>
      <p:bldP spid="25" grpId="0" animBg="1"/>
      <p:bldP spid="30" grpId="0"/>
      <p:bldP spid="41" grpId="0" animBg="1"/>
      <p:bldP spid="47" grpId="0"/>
      <p:bldP spid="48" grpId="0" animBg="1"/>
      <p:bldP spid="52" grpId="0"/>
      <p:bldP spid="53" grpId="0"/>
      <p:bldP spid="59" grpId="0"/>
      <p:bldP spid="60" grpId="0"/>
      <p:bldP spid="6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Freeform 8" descr="Onda"/>
          <p:cNvSpPr>
            <a:spLocks/>
          </p:cNvSpPr>
          <p:nvPr/>
        </p:nvSpPr>
        <p:spPr bwMode="auto">
          <a:xfrm>
            <a:off x="2970213" y="4013200"/>
            <a:ext cx="3006725" cy="2813050"/>
          </a:xfrm>
          <a:custGeom>
            <a:avLst/>
            <a:gdLst/>
            <a:ahLst/>
            <a:cxnLst>
              <a:cxn ang="0">
                <a:pos x="230" y="1707"/>
              </a:cxn>
              <a:cxn ang="0">
                <a:pos x="101" y="1158"/>
              </a:cxn>
              <a:cxn ang="0">
                <a:pos x="101" y="440"/>
              </a:cxn>
              <a:cxn ang="0">
                <a:pos x="115" y="0"/>
              </a:cxn>
              <a:cxn ang="0">
                <a:pos x="1343" y="2"/>
              </a:cxn>
              <a:cxn ang="0">
                <a:pos x="1491" y="83"/>
              </a:cxn>
              <a:cxn ang="0">
                <a:pos x="1667" y="230"/>
              </a:cxn>
              <a:cxn ang="0">
                <a:pos x="1792" y="418"/>
              </a:cxn>
              <a:cxn ang="0">
                <a:pos x="1894" y="638"/>
              </a:cxn>
              <a:cxn ang="0">
                <a:pos x="1894" y="865"/>
              </a:cxn>
              <a:cxn ang="0">
                <a:pos x="1886" y="1061"/>
              </a:cxn>
              <a:cxn ang="0">
                <a:pos x="1803" y="1273"/>
              </a:cxn>
              <a:cxn ang="0">
                <a:pos x="1622" y="1545"/>
              </a:cxn>
              <a:cxn ang="0">
                <a:pos x="1349" y="1726"/>
              </a:cxn>
              <a:cxn ang="0">
                <a:pos x="1123" y="1772"/>
              </a:cxn>
              <a:cxn ang="0">
                <a:pos x="230" y="1707"/>
              </a:cxn>
            </a:cxnLst>
            <a:rect l="0" t="0" r="r" b="b"/>
            <a:pathLst>
              <a:path w="1894" h="1772">
                <a:moveTo>
                  <a:pt x="230" y="1707"/>
                </a:moveTo>
                <a:cubicBezTo>
                  <a:pt x="144" y="1600"/>
                  <a:pt x="104" y="1358"/>
                  <a:pt x="101" y="1158"/>
                </a:cubicBezTo>
                <a:cubicBezTo>
                  <a:pt x="98" y="958"/>
                  <a:pt x="71" y="640"/>
                  <a:pt x="101" y="440"/>
                </a:cubicBezTo>
                <a:cubicBezTo>
                  <a:pt x="255" y="199"/>
                  <a:pt x="0" y="72"/>
                  <a:pt x="115" y="0"/>
                </a:cubicBezTo>
                <a:lnTo>
                  <a:pt x="1343" y="2"/>
                </a:lnTo>
                <a:lnTo>
                  <a:pt x="1491" y="83"/>
                </a:lnTo>
                <a:lnTo>
                  <a:pt x="1667" y="230"/>
                </a:lnTo>
                <a:lnTo>
                  <a:pt x="1792" y="418"/>
                </a:lnTo>
                <a:lnTo>
                  <a:pt x="1894" y="638"/>
                </a:lnTo>
                <a:lnTo>
                  <a:pt x="1894" y="865"/>
                </a:lnTo>
                <a:lnTo>
                  <a:pt x="1886" y="1061"/>
                </a:lnTo>
                <a:lnTo>
                  <a:pt x="1803" y="1273"/>
                </a:lnTo>
                <a:lnTo>
                  <a:pt x="1622" y="1545"/>
                </a:lnTo>
                <a:cubicBezTo>
                  <a:pt x="1546" y="1620"/>
                  <a:pt x="1464" y="1643"/>
                  <a:pt x="1349" y="1726"/>
                </a:cubicBezTo>
                <a:cubicBezTo>
                  <a:pt x="1223" y="1730"/>
                  <a:pt x="1451" y="1767"/>
                  <a:pt x="1123" y="1772"/>
                </a:cubicBezTo>
                <a:lnTo>
                  <a:pt x="230" y="1707"/>
                </a:ln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4345" name="Freeform 9" descr="Onda"/>
          <p:cNvSpPr>
            <a:spLocks/>
          </p:cNvSpPr>
          <p:nvPr/>
        </p:nvSpPr>
        <p:spPr bwMode="auto">
          <a:xfrm>
            <a:off x="755650" y="919163"/>
            <a:ext cx="3319463" cy="2809875"/>
          </a:xfrm>
          <a:custGeom>
            <a:avLst/>
            <a:gdLst/>
            <a:ahLst/>
            <a:cxnLst>
              <a:cxn ang="0">
                <a:pos x="293" y="10"/>
              </a:cxn>
              <a:cxn ang="0">
                <a:pos x="1871" y="0"/>
              </a:cxn>
              <a:cxn ang="0">
                <a:pos x="1723" y="81"/>
              </a:cxn>
              <a:cxn ang="0">
                <a:pos x="1547" y="228"/>
              </a:cxn>
              <a:cxn ang="0">
                <a:pos x="1422" y="416"/>
              </a:cxn>
              <a:cxn ang="0">
                <a:pos x="1320" y="636"/>
              </a:cxn>
              <a:cxn ang="0">
                <a:pos x="1320" y="863"/>
              </a:cxn>
              <a:cxn ang="0">
                <a:pos x="1328" y="1059"/>
              </a:cxn>
              <a:cxn ang="0">
                <a:pos x="1411" y="1271"/>
              </a:cxn>
              <a:cxn ang="0">
                <a:pos x="1592" y="1543"/>
              </a:cxn>
              <a:cxn ang="0">
                <a:pos x="1865" y="1724"/>
              </a:cxn>
              <a:cxn ang="0">
                <a:pos x="2091" y="1770"/>
              </a:cxn>
              <a:cxn ang="0">
                <a:pos x="300" y="1765"/>
              </a:cxn>
              <a:cxn ang="0">
                <a:pos x="293" y="1209"/>
              </a:cxn>
              <a:cxn ang="0">
                <a:pos x="300" y="666"/>
              </a:cxn>
              <a:cxn ang="0">
                <a:pos x="293" y="10"/>
              </a:cxn>
            </a:cxnLst>
            <a:rect l="0" t="0" r="r" b="b"/>
            <a:pathLst>
              <a:path w="2091" h="1770">
                <a:moveTo>
                  <a:pt x="293" y="10"/>
                </a:moveTo>
                <a:lnTo>
                  <a:pt x="1871" y="0"/>
                </a:lnTo>
                <a:lnTo>
                  <a:pt x="1723" y="81"/>
                </a:lnTo>
                <a:lnTo>
                  <a:pt x="1547" y="228"/>
                </a:lnTo>
                <a:lnTo>
                  <a:pt x="1422" y="416"/>
                </a:lnTo>
                <a:lnTo>
                  <a:pt x="1320" y="636"/>
                </a:lnTo>
                <a:lnTo>
                  <a:pt x="1320" y="863"/>
                </a:lnTo>
                <a:lnTo>
                  <a:pt x="1328" y="1059"/>
                </a:lnTo>
                <a:lnTo>
                  <a:pt x="1411" y="1271"/>
                </a:lnTo>
                <a:lnTo>
                  <a:pt x="1592" y="1543"/>
                </a:lnTo>
                <a:cubicBezTo>
                  <a:pt x="1668" y="1618"/>
                  <a:pt x="1750" y="1641"/>
                  <a:pt x="1865" y="1724"/>
                </a:cubicBezTo>
                <a:cubicBezTo>
                  <a:pt x="1991" y="1728"/>
                  <a:pt x="1864" y="1762"/>
                  <a:pt x="2091" y="1770"/>
                </a:cubicBezTo>
                <a:lnTo>
                  <a:pt x="300" y="1765"/>
                </a:lnTo>
                <a:cubicBezTo>
                  <a:pt x="0" y="1672"/>
                  <a:pt x="380" y="1403"/>
                  <a:pt x="293" y="1209"/>
                </a:cubicBezTo>
                <a:cubicBezTo>
                  <a:pt x="206" y="1015"/>
                  <a:pt x="233" y="880"/>
                  <a:pt x="300" y="666"/>
                </a:cubicBezTo>
                <a:cubicBezTo>
                  <a:pt x="367" y="452"/>
                  <a:pt x="293" y="10"/>
                  <a:pt x="293" y="10"/>
                </a:cubicBez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4346" name="Freeform 10" descr="Diagonal hacia arriba ancha"/>
          <p:cNvSpPr>
            <a:spLocks/>
          </p:cNvSpPr>
          <p:nvPr/>
        </p:nvSpPr>
        <p:spPr bwMode="auto">
          <a:xfrm>
            <a:off x="2860675" y="903288"/>
            <a:ext cx="1300163" cy="2835275"/>
          </a:xfrm>
          <a:custGeom>
            <a:avLst/>
            <a:gdLst/>
            <a:ahLst/>
            <a:cxnLst>
              <a:cxn ang="0">
                <a:pos x="819" y="1694"/>
              </a:cxn>
              <a:cxn ang="0">
                <a:pos x="514" y="1586"/>
              </a:cxn>
              <a:cxn ang="0">
                <a:pos x="229" y="1335"/>
              </a:cxn>
              <a:cxn ang="0">
                <a:pos x="87" y="807"/>
              </a:cxn>
              <a:cxn ang="0">
                <a:pos x="500" y="149"/>
              </a:cxn>
              <a:cxn ang="0">
                <a:pos x="710" y="0"/>
              </a:cxn>
              <a:cxn ang="0">
                <a:pos x="551" y="16"/>
              </a:cxn>
              <a:cxn ang="0">
                <a:pos x="403" y="97"/>
              </a:cxn>
              <a:cxn ang="0">
                <a:pos x="227" y="244"/>
              </a:cxn>
              <a:cxn ang="0">
                <a:pos x="102" y="432"/>
              </a:cxn>
              <a:cxn ang="0">
                <a:pos x="0" y="652"/>
              </a:cxn>
              <a:cxn ang="0">
                <a:pos x="0" y="879"/>
              </a:cxn>
              <a:cxn ang="0">
                <a:pos x="8" y="1075"/>
              </a:cxn>
              <a:cxn ang="0">
                <a:pos x="91" y="1287"/>
              </a:cxn>
              <a:cxn ang="0">
                <a:pos x="272" y="1559"/>
              </a:cxn>
              <a:cxn ang="0">
                <a:pos x="545" y="1740"/>
              </a:cxn>
              <a:cxn ang="0">
                <a:pos x="771" y="1786"/>
              </a:cxn>
            </a:cxnLst>
            <a:rect l="0" t="0" r="r" b="b"/>
            <a:pathLst>
              <a:path w="819" h="1786">
                <a:moveTo>
                  <a:pt x="819" y="1694"/>
                </a:moveTo>
                <a:cubicBezTo>
                  <a:pt x="768" y="1676"/>
                  <a:pt x="612" y="1646"/>
                  <a:pt x="514" y="1586"/>
                </a:cubicBezTo>
                <a:cubicBezTo>
                  <a:pt x="416" y="1526"/>
                  <a:pt x="300" y="1465"/>
                  <a:pt x="229" y="1335"/>
                </a:cubicBezTo>
                <a:cubicBezTo>
                  <a:pt x="158" y="1205"/>
                  <a:pt x="42" y="1005"/>
                  <a:pt x="87" y="807"/>
                </a:cubicBezTo>
                <a:cubicBezTo>
                  <a:pt x="90" y="607"/>
                  <a:pt x="351" y="250"/>
                  <a:pt x="500" y="149"/>
                </a:cubicBezTo>
                <a:cubicBezTo>
                  <a:pt x="649" y="48"/>
                  <a:pt x="701" y="22"/>
                  <a:pt x="710" y="0"/>
                </a:cubicBezTo>
                <a:lnTo>
                  <a:pt x="551" y="16"/>
                </a:lnTo>
                <a:lnTo>
                  <a:pt x="403" y="97"/>
                </a:lnTo>
                <a:lnTo>
                  <a:pt x="227" y="244"/>
                </a:lnTo>
                <a:lnTo>
                  <a:pt x="102" y="432"/>
                </a:lnTo>
                <a:lnTo>
                  <a:pt x="0" y="652"/>
                </a:lnTo>
                <a:lnTo>
                  <a:pt x="0" y="879"/>
                </a:lnTo>
                <a:lnTo>
                  <a:pt x="8" y="1075"/>
                </a:lnTo>
                <a:lnTo>
                  <a:pt x="91" y="1287"/>
                </a:lnTo>
                <a:lnTo>
                  <a:pt x="272" y="1559"/>
                </a:lnTo>
                <a:cubicBezTo>
                  <a:pt x="348" y="1634"/>
                  <a:pt x="430" y="1657"/>
                  <a:pt x="545" y="1740"/>
                </a:cubicBezTo>
                <a:cubicBezTo>
                  <a:pt x="671" y="1744"/>
                  <a:pt x="733" y="1778"/>
                  <a:pt x="771" y="1786"/>
                </a:cubicBezTo>
              </a:path>
            </a:pathLst>
          </a:custGeom>
          <a:pattFill prst="wdUpDiag">
            <a:fgClr>
              <a:srgbClr val="969696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900113" y="0"/>
            <a:ext cx="7793037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_tradnl" sz="3200" dirty="0">
                <a:solidFill>
                  <a:schemeClr val="tx2"/>
                </a:solidFill>
              </a:rPr>
              <a:t>Espejos Esféricos - </a:t>
            </a:r>
            <a:r>
              <a:rPr lang="es-ES_tradnl" sz="2400" dirty="0">
                <a:solidFill>
                  <a:schemeClr val="tx2"/>
                </a:solidFill>
              </a:rPr>
              <a:t>Elementos</a:t>
            </a:r>
          </a:p>
        </p:txBody>
      </p:sp>
      <p:sp>
        <p:nvSpPr>
          <p:cNvPr id="14348" name="Arc 12"/>
          <p:cNvSpPr>
            <a:spLocks noChangeAspect="1"/>
          </p:cNvSpPr>
          <p:nvPr/>
        </p:nvSpPr>
        <p:spPr bwMode="auto">
          <a:xfrm flipH="1">
            <a:off x="2851150" y="885825"/>
            <a:ext cx="1479550" cy="2840038"/>
          </a:xfrm>
          <a:custGeom>
            <a:avLst/>
            <a:gdLst>
              <a:gd name="G0" fmla="+- 0 0 0"/>
              <a:gd name="G1" fmla="+- 20416 0 0"/>
              <a:gd name="G2" fmla="+- 21600 0 0"/>
              <a:gd name="T0" fmla="*/ 7053 w 21600"/>
              <a:gd name="T1" fmla="*/ 0 h 41446"/>
              <a:gd name="T2" fmla="*/ 4930 w 21600"/>
              <a:gd name="T3" fmla="*/ 41446 h 41446"/>
              <a:gd name="T4" fmla="*/ 0 w 21600"/>
              <a:gd name="T5" fmla="*/ 20416 h 4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1446" fill="none" extrusionOk="0">
                <a:moveTo>
                  <a:pt x="7053" y="-1"/>
                </a:moveTo>
                <a:cubicBezTo>
                  <a:pt x="15759" y="3007"/>
                  <a:pt x="21600" y="11205"/>
                  <a:pt x="21600" y="20416"/>
                </a:cubicBezTo>
                <a:cubicBezTo>
                  <a:pt x="21600" y="30446"/>
                  <a:pt x="14695" y="39156"/>
                  <a:pt x="4929" y="41445"/>
                </a:cubicBezTo>
              </a:path>
              <a:path w="21600" h="41446" stroke="0" extrusionOk="0">
                <a:moveTo>
                  <a:pt x="7053" y="-1"/>
                </a:moveTo>
                <a:cubicBezTo>
                  <a:pt x="15759" y="3007"/>
                  <a:pt x="21600" y="11205"/>
                  <a:pt x="21600" y="20416"/>
                </a:cubicBezTo>
                <a:cubicBezTo>
                  <a:pt x="21600" y="30446"/>
                  <a:pt x="14695" y="39156"/>
                  <a:pt x="4929" y="41445"/>
                </a:cubicBezTo>
                <a:lnTo>
                  <a:pt x="0" y="20416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4349" name="Line 13"/>
          <p:cNvSpPr>
            <a:spLocks noChangeShapeType="1"/>
          </p:cNvSpPr>
          <p:nvPr/>
        </p:nvSpPr>
        <p:spPr bwMode="auto">
          <a:xfrm>
            <a:off x="1258888" y="2298700"/>
            <a:ext cx="5834062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4350" name="Line 14"/>
          <p:cNvSpPr>
            <a:spLocks noChangeShapeType="1"/>
          </p:cNvSpPr>
          <p:nvPr/>
        </p:nvSpPr>
        <p:spPr bwMode="auto">
          <a:xfrm flipV="1">
            <a:off x="2860675" y="787400"/>
            <a:ext cx="0" cy="302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4351" name="Oval 15"/>
          <p:cNvSpPr>
            <a:spLocks noChangeArrowheads="1"/>
          </p:cNvSpPr>
          <p:nvPr/>
        </p:nvSpPr>
        <p:spPr bwMode="auto">
          <a:xfrm>
            <a:off x="4267200" y="2254250"/>
            <a:ext cx="71438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4352" name="Oval 16"/>
          <p:cNvSpPr>
            <a:spLocks noChangeArrowheads="1"/>
          </p:cNvSpPr>
          <p:nvPr/>
        </p:nvSpPr>
        <p:spPr bwMode="auto">
          <a:xfrm>
            <a:off x="2817813" y="2265363"/>
            <a:ext cx="71437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4353" name="Text Box 17"/>
          <p:cNvSpPr txBox="1">
            <a:spLocks noChangeArrowheads="1"/>
          </p:cNvSpPr>
          <p:nvPr/>
        </p:nvSpPr>
        <p:spPr bwMode="auto">
          <a:xfrm>
            <a:off x="6588125" y="2298700"/>
            <a:ext cx="357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x</a:t>
            </a:r>
          </a:p>
        </p:txBody>
      </p:sp>
      <p:sp>
        <p:nvSpPr>
          <p:cNvPr id="14354" name="Text Box 18"/>
          <p:cNvSpPr txBox="1">
            <a:spLocks noChangeArrowheads="1"/>
          </p:cNvSpPr>
          <p:nvPr/>
        </p:nvSpPr>
        <p:spPr bwMode="auto">
          <a:xfrm>
            <a:off x="2484438" y="696913"/>
            <a:ext cx="3571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y</a:t>
            </a:r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4932363" y="1938338"/>
            <a:ext cx="1416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Eje principal</a:t>
            </a:r>
          </a:p>
        </p:txBody>
      </p:sp>
      <p:sp>
        <p:nvSpPr>
          <p:cNvPr id="14356" name="Text Box 20"/>
          <p:cNvSpPr txBox="1">
            <a:spLocks noChangeArrowheads="1"/>
          </p:cNvSpPr>
          <p:nvPr/>
        </p:nvSpPr>
        <p:spPr bwMode="auto">
          <a:xfrm>
            <a:off x="7451725" y="1550988"/>
            <a:ext cx="1123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  <a:r>
              <a:rPr lang="es-ES_tradnl">
                <a:latin typeface="Times New Roman" pitchFamily="18" charset="0"/>
              </a:rPr>
              <a:t>: </a:t>
            </a:r>
            <a:r>
              <a:rPr lang="es-ES_tradnl">
                <a:latin typeface="Tahoma" pitchFamily="34" charset="0"/>
              </a:rPr>
              <a:t>Centro</a:t>
            </a:r>
          </a:p>
        </p:txBody>
      </p:sp>
      <p:sp>
        <p:nvSpPr>
          <p:cNvPr id="14357" name="Text Box 21"/>
          <p:cNvSpPr txBox="1">
            <a:spLocks noChangeArrowheads="1"/>
          </p:cNvSpPr>
          <p:nvPr/>
        </p:nvSpPr>
        <p:spPr bwMode="auto">
          <a:xfrm>
            <a:off x="7467600" y="1125538"/>
            <a:ext cx="11699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V</a:t>
            </a:r>
            <a:r>
              <a:rPr lang="es-ES_tradnl">
                <a:latin typeface="Tahoma" pitchFamily="34" charset="0"/>
              </a:rPr>
              <a:t>:</a:t>
            </a:r>
            <a:r>
              <a:rPr lang="es-ES_tradnl" i="1">
                <a:latin typeface="Tahoma" pitchFamily="34" charset="0"/>
              </a:rPr>
              <a:t> </a:t>
            </a:r>
            <a:r>
              <a:rPr lang="es-ES_tradnl">
                <a:latin typeface="Tahoma" pitchFamily="34" charset="0"/>
              </a:rPr>
              <a:t>Vértice</a:t>
            </a:r>
          </a:p>
        </p:txBody>
      </p:sp>
      <p:sp>
        <p:nvSpPr>
          <p:cNvPr id="14358" name="Text Box 22"/>
          <p:cNvSpPr txBox="1">
            <a:spLocks noChangeArrowheads="1"/>
          </p:cNvSpPr>
          <p:nvPr/>
        </p:nvSpPr>
        <p:spPr bwMode="auto">
          <a:xfrm>
            <a:off x="4084638" y="22987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14359" name="Text Box 23"/>
          <p:cNvSpPr txBox="1">
            <a:spLocks noChangeArrowheads="1"/>
          </p:cNvSpPr>
          <p:nvPr/>
        </p:nvSpPr>
        <p:spPr bwMode="auto">
          <a:xfrm>
            <a:off x="2544763" y="2303463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V</a:t>
            </a:r>
          </a:p>
        </p:txBody>
      </p:sp>
      <p:sp>
        <p:nvSpPr>
          <p:cNvPr id="14360" name="Text Box 24"/>
          <p:cNvSpPr txBox="1">
            <a:spLocks noChangeArrowheads="1"/>
          </p:cNvSpPr>
          <p:nvPr/>
        </p:nvSpPr>
        <p:spPr bwMode="auto">
          <a:xfrm>
            <a:off x="3508375" y="1865313"/>
            <a:ext cx="6864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R </a:t>
            </a:r>
            <a:r>
              <a:rPr lang="es-ES_tradnl" dirty="0">
                <a:latin typeface="Times New Roman" pitchFamily="18" charset="0"/>
              </a:rPr>
              <a:t>&gt; 0</a:t>
            </a:r>
          </a:p>
        </p:txBody>
      </p:sp>
      <p:sp>
        <p:nvSpPr>
          <p:cNvPr id="14361" name="Text Box 25"/>
          <p:cNvSpPr txBox="1">
            <a:spLocks noChangeArrowheads="1"/>
          </p:cNvSpPr>
          <p:nvPr/>
        </p:nvSpPr>
        <p:spPr bwMode="auto">
          <a:xfrm>
            <a:off x="7467600" y="1989138"/>
            <a:ext cx="1009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R</a:t>
            </a:r>
            <a:r>
              <a:rPr lang="es-ES_tradnl">
                <a:latin typeface="Times New Roman" pitchFamily="18" charset="0"/>
              </a:rPr>
              <a:t>: </a:t>
            </a:r>
            <a:r>
              <a:rPr lang="es-ES_tradnl">
                <a:latin typeface="Tahoma" pitchFamily="34" charset="0"/>
              </a:rPr>
              <a:t>Radio</a:t>
            </a:r>
          </a:p>
        </p:txBody>
      </p:sp>
      <p:sp>
        <p:nvSpPr>
          <p:cNvPr id="14362" name="Text Box 26"/>
          <p:cNvSpPr txBox="1">
            <a:spLocks noChangeArrowheads="1"/>
          </p:cNvSpPr>
          <p:nvPr/>
        </p:nvSpPr>
        <p:spPr bwMode="auto">
          <a:xfrm>
            <a:off x="2212975" y="323373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14363" name="Line 27"/>
          <p:cNvSpPr>
            <a:spLocks noChangeShapeType="1"/>
          </p:cNvSpPr>
          <p:nvPr/>
        </p:nvSpPr>
        <p:spPr bwMode="auto">
          <a:xfrm>
            <a:off x="1276350" y="1865313"/>
            <a:ext cx="576263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4364" name="Line 28"/>
          <p:cNvSpPr>
            <a:spLocks noChangeShapeType="1"/>
          </p:cNvSpPr>
          <p:nvPr/>
        </p:nvSpPr>
        <p:spPr bwMode="auto">
          <a:xfrm>
            <a:off x="1276350" y="2514600"/>
            <a:ext cx="576263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4365" name="Line 29"/>
          <p:cNvSpPr>
            <a:spLocks noChangeShapeType="1"/>
          </p:cNvSpPr>
          <p:nvPr/>
        </p:nvSpPr>
        <p:spPr bwMode="auto">
          <a:xfrm>
            <a:off x="1276350" y="2154238"/>
            <a:ext cx="576263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773113" y="2009775"/>
            <a:ext cx="527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Luz</a:t>
            </a:r>
          </a:p>
        </p:txBody>
      </p:sp>
      <p:sp>
        <p:nvSpPr>
          <p:cNvPr id="14367" name="Freeform 31" descr="Diagonal hacia arriba ancha"/>
          <p:cNvSpPr>
            <a:spLocks/>
          </p:cNvSpPr>
          <p:nvPr/>
        </p:nvSpPr>
        <p:spPr bwMode="auto">
          <a:xfrm>
            <a:off x="4789488" y="3970338"/>
            <a:ext cx="1444625" cy="2849562"/>
          </a:xfrm>
          <a:custGeom>
            <a:avLst/>
            <a:gdLst/>
            <a:ahLst/>
            <a:cxnLst>
              <a:cxn ang="0">
                <a:pos x="392" y="0"/>
              </a:cxn>
              <a:cxn ang="0">
                <a:pos x="220" y="9"/>
              </a:cxn>
              <a:cxn ang="0">
                <a:pos x="368" y="90"/>
              </a:cxn>
              <a:cxn ang="0">
                <a:pos x="544" y="237"/>
              </a:cxn>
              <a:cxn ang="0">
                <a:pos x="669" y="425"/>
              </a:cxn>
              <a:cxn ang="0">
                <a:pos x="771" y="645"/>
              </a:cxn>
              <a:cxn ang="0">
                <a:pos x="771" y="872"/>
              </a:cxn>
              <a:cxn ang="0">
                <a:pos x="763" y="1068"/>
              </a:cxn>
              <a:cxn ang="0">
                <a:pos x="680" y="1280"/>
              </a:cxn>
              <a:cxn ang="0">
                <a:pos x="499" y="1552"/>
              </a:cxn>
              <a:cxn ang="0">
                <a:pos x="226" y="1733"/>
              </a:cxn>
              <a:cxn ang="0">
                <a:pos x="0" y="1779"/>
              </a:cxn>
              <a:cxn ang="0">
                <a:pos x="303" y="1795"/>
              </a:cxn>
              <a:cxn ang="0">
                <a:pos x="473" y="1714"/>
              </a:cxn>
              <a:cxn ang="0">
                <a:pos x="649" y="1551"/>
              </a:cxn>
              <a:cxn ang="0">
                <a:pos x="886" y="935"/>
              </a:cxn>
              <a:cxn ang="0">
                <a:pos x="805" y="501"/>
              </a:cxn>
              <a:cxn ang="0">
                <a:pos x="636" y="243"/>
              </a:cxn>
              <a:cxn ang="0">
                <a:pos x="520" y="81"/>
              </a:cxn>
              <a:cxn ang="0">
                <a:pos x="392" y="0"/>
              </a:cxn>
            </a:cxnLst>
            <a:rect l="0" t="0" r="r" b="b"/>
            <a:pathLst>
              <a:path w="910" h="1795">
                <a:moveTo>
                  <a:pt x="392" y="0"/>
                </a:moveTo>
                <a:lnTo>
                  <a:pt x="220" y="9"/>
                </a:lnTo>
                <a:lnTo>
                  <a:pt x="368" y="90"/>
                </a:lnTo>
                <a:lnTo>
                  <a:pt x="544" y="237"/>
                </a:lnTo>
                <a:lnTo>
                  <a:pt x="669" y="425"/>
                </a:lnTo>
                <a:lnTo>
                  <a:pt x="771" y="645"/>
                </a:lnTo>
                <a:lnTo>
                  <a:pt x="771" y="872"/>
                </a:lnTo>
                <a:lnTo>
                  <a:pt x="763" y="1068"/>
                </a:lnTo>
                <a:lnTo>
                  <a:pt x="680" y="1280"/>
                </a:lnTo>
                <a:lnTo>
                  <a:pt x="499" y="1552"/>
                </a:lnTo>
                <a:cubicBezTo>
                  <a:pt x="423" y="1627"/>
                  <a:pt x="341" y="1650"/>
                  <a:pt x="226" y="1733"/>
                </a:cubicBezTo>
                <a:cubicBezTo>
                  <a:pt x="100" y="1737"/>
                  <a:pt x="227" y="1771"/>
                  <a:pt x="0" y="1779"/>
                </a:cubicBezTo>
                <a:lnTo>
                  <a:pt x="303" y="1795"/>
                </a:lnTo>
                <a:lnTo>
                  <a:pt x="473" y="1714"/>
                </a:lnTo>
                <a:lnTo>
                  <a:pt x="649" y="1551"/>
                </a:lnTo>
                <a:cubicBezTo>
                  <a:pt x="718" y="1421"/>
                  <a:pt x="860" y="1110"/>
                  <a:pt x="886" y="935"/>
                </a:cubicBezTo>
                <a:cubicBezTo>
                  <a:pt x="910" y="763"/>
                  <a:pt x="846" y="624"/>
                  <a:pt x="805" y="501"/>
                </a:cubicBezTo>
                <a:cubicBezTo>
                  <a:pt x="763" y="386"/>
                  <a:pt x="745" y="392"/>
                  <a:pt x="636" y="243"/>
                </a:cubicBezTo>
                <a:cubicBezTo>
                  <a:pt x="527" y="94"/>
                  <a:pt x="561" y="121"/>
                  <a:pt x="520" y="81"/>
                </a:cubicBezTo>
                <a:cubicBezTo>
                  <a:pt x="479" y="41"/>
                  <a:pt x="419" y="17"/>
                  <a:pt x="392" y="0"/>
                </a:cubicBezTo>
                <a:close/>
              </a:path>
            </a:pathLst>
          </a:custGeom>
          <a:pattFill prst="wdUpDiag">
            <a:fgClr>
              <a:srgbClr val="969696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4368" name="Arc 32"/>
          <p:cNvSpPr>
            <a:spLocks noChangeAspect="1"/>
          </p:cNvSpPr>
          <p:nvPr/>
        </p:nvSpPr>
        <p:spPr bwMode="auto">
          <a:xfrm>
            <a:off x="4537075" y="3975100"/>
            <a:ext cx="1479550" cy="2840038"/>
          </a:xfrm>
          <a:custGeom>
            <a:avLst/>
            <a:gdLst>
              <a:gd name="G0" fmla="+- 0 0 0"/>
              <a:gd name="G1" fmla="+- 20416 0 0"/>
              <a:gd name="G2" fmla="+- 21600 0 0"/>
              <a:gd name="T0" fmla="*/ 7053 w 21600"/>
              <a:gd name="T1" fmla="*/ 0 h 41446"/>
              <a:gd name="T2" fmla="*/ 4930 w 21600"/>
              <a:gd name="T3" fmla="*/ 41446 h 41446"/>
              <a:gd name="T4" fmla="*/ 0 w 21600"/>
              <a:gd name="T5" fmla="*/ 20416 h 4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1446" fill="none" extrusionOk="0">
                <a:moveTo>
                  <a:pt x="7053" y="-1"/>
                </a:moveTo>
                <a:cubicBezTo>
                  <a:pt x="15759" y="3007"/>
                  <a:pt x="21600" y="11205"/>
                  <a:pt x="21600" y="20416"/>
                </a:cubicBezTo>
                <a:cubicBezTo>
                  <a:pt x="21600" y="30446"/>
                  <a:pt x="14695" y="39156"/>
                  <a:pt x="4929" y="41445"/>
                </a:cubicBezTo>
              </a:path>
              <a:path w="21600" h="41446" stroke="0" extrusionOk="0">
                <a:moveTo>
                  <a:pt x="7053" y="-1"/>
                </a:moveTo>
                <a:cubicBezTo>
                  <a:pt x="15759" y="3007"/>
                  <a:pt x="21600" y="11205"/>
                  <a:pt x="21600" y="20416"/>
                </a:cubicBezTo>
                <a:cubicBezTo>
                  <a:pt x="21600" y="30446"/>
                  <a:pt x="14695" y="39156"/>
                  <a:pt x="4929" y="41445"/>
                </a:cubicBezTo>
                <a:lnTo>
                  <a:pt x="0" y="20416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4369" name="Line 33"/>
          <p:cNvSpPr>
            <a:spLocks noChangeShapeType="1"/>
          </p:cNvSpPr>
          <p:nvPr/>
        </p:nvSpPr>
        <p:spPr bwMode="auto">
          <a:xfrm>
            <a:off x="3994150" y="5387975"/>
            <a:ext cx="4681538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4370" name="Line 34"/>
          <p:cNvSpPr>
            <a:spLocks noChangeShapeType="1"/>
          </p:cNvSpPr>
          <p:nvPr/>
        </p:nvSpPr>
        <p:spPr bwMode="auto">
          <a:xfrm flipV="1">
            <a:off x="6048375" y="3876675"/>
            <a:ext cx="0" cy="302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4371" name="Oval 35"/>
          <p:cNvSpPr>
            <a:spLocks noChangeArrowheads="1"/>
          </p:cNvSpPr>
          <p:nvPr/>
        </p:nvSpPr>
        <p:spPr bwMode="auto">
          <a:xfrm>
            <a:off x="4538663" y="5343525"/>
            <a:ext cx="71437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4372" name="Oval 36"/>
          <p:cNvSpPr>
            <a:spLocks noChangeArrowheads="1"/>
          </p:cNvSpPr>
          <p:nvPr/>
        </p:nvSpPr>
        <p:spPr bwMode="auto">
          <a:xfrm>
            <a:off x="6005513" y="5354638"/>
            <a:ext cx="71437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8172450" y="5321300"/>
            <a:ext cx="357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x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5651500" y="3500438"/>
            <a:ext cx="357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y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6908800" y="5027613"/>
            <a:ext cx="1416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Eje principal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4321175" y="5387975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14377" name="Text Box 41"/>
          <p:cNvSpPr txBox="1">
            <a:spLocks noChangeArrowheads="1"/>
          </p:cNvSpPr>
          <p:nvPr/>
        </p:nvSpPr>
        <p:spPr bwMode="auto">
          <a:xfrm>
            <a:off x="5732463" y="5392738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V</a:t>
            </a:r>
          </a:p>
        </p:txBody>
      </p:sp>
      <p:sp>
        <p:nvSpPr>
          <p:cNvPr id="14378" name="Text Box 42"/>
          <p:cNvSpPr txBox="1">
            <a:spLocks noChangeArrowheads="1"/>
          </p:cNvSpPr>
          <p:nvPr/>
        </p:nvSpPr>
        <p:spPr bwMode="auto">
          <a:xfrm>
            <a:off x="4835525" y="4451350"/>
            <a:ext cx="6864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R </a:t>
            </a:r>
            <a:r>
              <a:rPr lang="es-ES_tradnl" dirty="0">
                <a:latin typeface="Times New Roman" pitchFamily="18" charset="0"/>
              </a:rPr>
              <a:t>&lt; 0</a:t>
            </a:r>
          </a:p>
        </p:txBody>
      </p:sp>
      <p:sp>
        <p:nvSpPr>
          <p:cNvPr id="14379" name="Text Box 43"/>
          <p:cNvSpPr txBox="1">
            <a:spLocks noChangeArrowheads="1"/>
          </p:cNvSpPr>
          <p:nvPr/>
        </p:nvSpPr>
        <p:spPr bwMode="auto">
          <a:xfrm>
            <a:off x="4249738" y="63230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14380" name="Line 44"/>
          <p:cNvSpPr>
            <a:spLocks noChangeShapeType="1"/>
          </p:cNvSpPr>
          <p:nvPr/>
        </p:nvSpPr>
        <p:spPr bwMode="auto">
          <a:xfrm>
            <a:off x="3706813" y="4954588"/>
            <a:ext cx="576262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4381" name="Line 45"/>
          <p:cNvSpPr>
            <a:spLocks noChangeShapeType="1"/>
          </p:cNvSpPr>
          <p:nvPr/>
        </p:nvSpPr>
        <p:spPr bwMode="auto">
          <a:xfrm>
            <a:off x="3706813" y="5603875"/>
            <a:ext cx="576262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4382" name="Line 46"/>
          <p:cNvSpPr>
            <a:spLocks noChangeShapeType="1"/>
          </p:cNvSpPr>
          <p:nvPr/>
        </p:nvSpPr>
        <p:spPr bwMode="auto">
          <a:xfrm>
            <a:off x="3706813" y="5243513"/>
            <a:ext cx="576262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3203575" y="5099050"/>
            <a:ext cx="527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Luz</a:t>
            </a:r>
          </a:p>
        </p:txBody>
      </p:sp>
      <p:sp>
        <p:nvSpPr>
          <p:cNvPr id="14384" name="Text Box 48"/>
          <p:cNvSpPr txBox="1">
            <a:spLocks noChangeArrowheads="1"/>
          </p:cNvSpPr>
          <p:nvPr/>
        </p:nvSpPr>
        <p:spPr bwMode="auto">
          <a:xfrm>
            <a:off x="2813050" y="808038"/>
            <a:ext cx="8270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400">
                <a:latin typeface="Times New Roman" pitchFamily="18" charset="0"/>
              </a:rPr>
              <a:t>Convexo</a:t>
            </a:r>
          </a:p>
        </p:txBody>
      </p:sp>
      <p:sp>
        <p:nvSpPr>
          <p:cNvPr id="14385" name="Text Box 49"/>
          <p:cNvSpPr txBox="1">
            <a:spLocks noChangeArrowheads="1"/>
          </p:cNvSpPr>
          <p:nvPr/>
        </p:nvSpPr>
        <p:spPr bwMode="auto">
          <a:xfrm>
            <a:off x="4429124" y="4019550"/>
            <a:ext cx="817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400" dirty="0">
                <a:latin typeface="Times New Roman" pitchFamily="18" charset="0"/>
              </a:rPr>
              <a:t>Cóncavo</a:t>
            </a:r>
          </a:p>
        </p:txBody>
      </p:sp>
      <p:sp>
        <p:nvSpPr>
          <p:cNvPr id="14386" name="Text Box 50"/>
          <p:cNvSpPr txBox="1">
            <a:spLocks noChangeArrowheads="1"/>
          </p:cNvSpPr>
          <p:nvPr/>
        </p:nvSpPr>
        <p:spPr bwMode="auto">
          <a:xfrm>
            <a:off x="8675688" y="6564313"/>
            <a:ext cx="35458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9" name="Freeform 53" descr="Diagonal hacia arriba ancha"/>
          <p:cNvSpPr>
            <a:spLocks/>
          </p:cNvSpPr>
          <p:nvPr/>
        </p:nvSpPr>
        <p:spPr bwMode="auto">
          <a:xfrm>
            <a:off x="5268911" y="1844675"/>
            <a:ext cx="1066801" cy="4627563"/>
          </a:xfrm>
          <a:custGeom>
            <a:avLst/>
            <a:gdLst>
              <a:gd name="connsiteX0" fmla="*/ 462 w 476"/>
              <a:gd name="connsiteY0" fmla="*/ 41 h 2753"/>
              <a:gd name="connsiteX1" fmla="*/ 354 w 476"/>
              <a:gd name="connsiteY1" fmla="*/ 0 h 2753"/>
              <a:gd name="connsiteX2" fmla="*/ 126 w 476"/>
              <a:gd name="connsiteY2" fmla="*/ 10 h 2753"/>
              <a:gd name="connsiteX3" fmla="*/ 228 w 476"/>
              <a:gd name="connsiteY3" fmla="*/ 64 h 2753"/>
              <a:gd name="connsiteX4" fmla="*/ 161 w 476"/>
              <a:gd name="connsiteY4" fmla="*/ 193 h 2753"/>
              <a:gd name="connsiteX5" fmla="*/ 312 w 476"/>
              <a:gd name="connsiteY5" fmla="*/ 1179 h 2753"/>
              <a:gd name="connsiteX6" fmla="*/ 312 w 476"/>
              <a:gd name="connsiteY6" fmla="*/ 1406 h 2753"/>
              <a:gd name="connsiteX7" fmla="*/ 304 w 476"/>
              <a:gd name="connsiteY7" fmla="*/ 1602 h 2753"/>
              <a:gd name="connsiteX8" fmla="*/ 296 w 476"/>
              <a:gd name="connsiteY8" fmla="*/ 2558 h 2753"/>
              <a:gd name="connsiteX9" fmla="*/ 269 w 476"/>
              <a:gd name="connsiteY9" fmla="*/ 2666 h 2753"/>
              <a:gd name="connsiteX10" fmla="*/ 126 w 476"/>
              <a:gd name="connsiteY10" fmla="*/ 2747 h 2753"/>
              <a:gd name="connsiteX11" fmla="*/ 320 w 476"/>
              <a:gd name="connsiteY11" fmla="*/ 2738 h 2753"/>
              <a:gd name="connsiteX12" fmla="*/ 408 w 476"/>
              <a:gd name="connsiteY12" fmla="*/ 2656 h 2753"/>
              <a:gd name="connsiteX13" fmla="*/ 476 w 476"/>
              <a:gd name="connsiteY13" fmla="*/ 2480 h 2753"/>
              <a:gd name="connsiteX14" fmla="*/ 476 w 476"/>
              <a:gd name="connsiteY14" fmla="*/ 1416 h 2753"/>
              <a:gd name="connsiteX15" fmla="*/ 462 w 476"/>
              <a:gd name="connsiteY15" fmla="*/ 41 h 2753"/>
              <a:gd name="connsiteX0" fmla="*/ 462 w 476"/>
              <a:gd name="connsiteY0" fmla="*/ 41 h 2753"/>
              <a:gd name="connsiteX1" fmla="*/ 354 w 476"/>
              <a:gd name="connsiteY1" fmla="*/ 0 h 2753"/>
              <a:gd name="connsiteX2" fmla="*/ 126 w 476"/>
              <a:gd name="connsiteY2" fmla="*/ 10 h 2753"/>
              <a:gd name="connsiteX3" fmla="*/ 228 w 476"/>
              <a:gd name="connsiteY3" fmla="*/ 64 h 2753"/>
              <a:gd name="connsiteX4" fmla="*/ 44 w 476"/>
              <a:gd name="connsiteY4" fmla="*/ 81 h 2753"/>
              <a:gd name="connsiteX5" fmla="*/ 161 w 476"/>
              <a:gd name="connsiteY5" fmla="*/ 193 h 2753"/>
              <a:gd name="connsiteX6" fmla="*/ 312 w 476"/>
              <a:gd name="connsiteY6" fmla="*/ 1179 h 2753"/>
              <a:gd name="connsiteX7" fmla="*/ 312 w 476"/>
              <a:gd name="connsiteY7" fmla="*/ 1406 h 2753"/>
              <a:gd name="connsiteX8" fmla="*/ 304 w 476"/>
              <a:gd name="connsiteY8" fmla="*/ 1602 h 2753"/>
              <a:gd name="connsiteX9" fmla="*/ 296 w 476"/>
              <a:gd name="connsiteY9" fmla="*/ 2558 h 2753"/>
              <a:gd name="connsiteX10" fmla="*/ 269 w 476"/>
              <a:gd name="connsiteY10" fmla="*/ 2666 h 2753"/>
              <a:gd name="connsiteX11" fmla="*/ 126 w 476"/>
              <a:gd name="connsiteY11" fmla="*/ 2747 h 2753"/>
              <a:gd name="connsiteX12" fmla="*/ 320 w 476"/>
              <a:gd name="connsiteY12" fmla="*/ 2738 h 2753"/>
              <a:gd name="connsiteX13" fmla="*/ 408 w 476"/>
              <a:gd name="connsiteY13" fmla="*/ 2656 h 2753"/>
              <a:gd name="connsiteX14" fmla="*/ 476 w 476"/>
              <a:gd name="connsiteY14" fmla="*/ 2480 h 2753"/>
              <a:gd name="connsiteX15" fmla="*/ 476 w 476"/>
              <a:gd name="connsiteY15" fmla="*/ 1416 h 2753"/>
              <a:gd name="connsiteX16" fmla="*/ 462 w 476"/>
              <a:gd name="connsiteY16" fmla="*/ 41 h 2753"/>
              <a:gd name="connsiteX0" fmla="*/ 471 w 485"/>
              <a:gd name="connsiteY0" fmla="*/ 41 h 2753"/>
              <a:gd name="connsiteX1" fmla="*/ 363 w 485"/>
              <a:gd name="connsiteY1" fmla="*/ 0 h 2753"/>
              <a:gd name="connsiteX2" fmla="*/ 0 w 485"/>
              <a:gd name="connsiteY2" fmla="*/ 10 h 2753"/>
              <a:gd name="connsiteX3" fmla="*/ 237 w 485"/>
              <a:gd name="connsiteY3" fmla="*/ 64 h 2753"/>
              <a:gd name="connsiteX4" fmla="*/ 53 w 485"/>
              <a:gd name="connsiteY4" fmla="*/ 81 h 2753"/>
              <a:gd name="connsiteX5" fmla="*/ 170 w 485"/>
              <a:gd name="connsiteY5" fmla="*/ 193 h 2753"/>
              <a:gd name="connsiteX6" fmla="*/ 321 w 485"/>
              <a:gd name="connsiteY6" fmla="*/ 1179 h 2753"/>
              <a:gd name="connsiteX7" fmla="*/ 321 w 485"/>
              <a:gd name="connsiteY7" fmla="*/ 1406 h 2753"/>
              <a:gd name="connsiteX8" fmla="*/ 313 w 485"/>
              <a:gd name="connsiteY8" fmla="*/ 1602 h 2753"/>
              <a:gd name="connsiteX9" fmla="*/ 305 w 485"/>
              <a:gd name="connsiteY9" fmla="*/ 2558 h 2753"/>
              <a:gd name="connsiteX10" fmla="*/ 278 w 485"/>
              <a:gd name="connsiteY10" fmla="*/ 2666 h 2753"/>
              <a:gd name="connsiteX11" fmla="*/ 135 w 485"/>
              <a:gd name="connsiteY11" fmla="*/ 2747 h 2753"/>
              <a:gd name="connsiteX12" fmla="*/ 329 w 485"/>
              <a:gd name="connsiteY12" fmla="*/ 2738 h 2753"/>
              <a:gd name="connsiteX13" fmla="*/ 417 w 485"/>
              <a:gd name="connsiteY13" fmla="*/ 2656 h 2753"/>
              <a:gd name="connsiteX14" fmla="*/ 485 w 485"/>
              <a:gd name="connsiteY14" fmla="*/ 2480 h 2753"/>
              <a:gd name="connsiteX15" fmla="*/ 485 w 485"/>
              <a:gd name="connsiteY15" fmla="*/ 1416 h 2753"/>
              <a:gd name="connsiteX16" fmla="*/ 471 w 485"/>
              <a:gd name="connsiteY16" fmla="*/ 41 h 2753"/>
              <a:gd name="connsiteX0" fmla="*/ 471 w 485"/>
              <a:gd name="connsiteY0" fmla="*/ 41 h 2753"/>
              <a:gd name="connsiteX1" fmla="*/ 363 w 485"/>
              <a:gd name="connsiteY1" fmla="*/ 0 h 2753"/>
              <a:gd name="connsiteX2" fmla="*/ 0 w 485"/>
              <a:gd name="connsiteY2" fmla="*/ 10 h 2753"/>
              <a:gd name="connsiteX3" fmla="*/ 237 w 485"/>
              <a:gd name="connsiteY3" fmla="*/ 64 h 2753"/>
              <a:gd name="connsiteX4" fmla="*/ 53 w 485"/>
              <a:gd name="connsiteY4" fmla="*/ 81 h 2753"/>
              <a:gd name="connsiteX5" fmla="*/ 170 w 485"/>
              <a:gd name="connsiteY5" fmla="*/ 193 h 2753"/>
              <a:gd name="connsiteX6" fmla="*/ 321 w 485"/>
              <a:gd name="connsiteY6" fmla="*/ 1179 h 2753"/>
              <a:gd name="connsiteX7" fmla="*/ 321 w 485"/>
              <a:gd name="connsiteY7" fmla="*/ 1406 h 2753"/>
              <a:gd name="connsiteX8" fmla="*/ 313 w 485"/>
              <a:gd name="connsiteY8" fmla="*/ 1602 h 2753"/>
              <a:gd name="connsiteX9" fmla="*/ 305 w 485"/>
              <a:gd name="connsiteY9" fmla="*/ 2558 h 2753"/>
              <a:gd name="connsiteX10" fmla="*/ 278 w 485"/>
              <a:gd name="connsiteY10" fmla="*/ 2666 h 2753"/>
              <a:gd name="connsiteX11" fmla="*/ 135 w 485"/>
              <a:gd name="connsiteY11" fmla="*/ 2747 h 2753"/>
              <a:gd name="connsiteX12" fmla="*/ 329 w 485"/>
              <a:gd name="connsiteY12" fmla="*/ 2738 h 2753"/>
              <a:gd name="connsiteX13" fmla="*/ 417 w 485"/>
              <a:gd name="connsiteY13" fmla="*/ 2656 h 2753"/>
              <a:gd name="connsiteX14" fmla="*/ 485 w 485"/>
              <a:gd name="connsiteY14" fmla="*/ 2480 h 2753"/>
              <a:gd name="connsiteX15" fmla="*/ 485 w 485"/>
              <a:gd name="connsiteY15" fmla="*/ 1416 h 2753"/>
              <a:gd name="connsiteX16" fmla="*/ 471 w 485"/>
              <a:gd name="connsiteY16" fmla="*/ 41 h 2753"/>
              <a:gd name="connsiteX0" fmla="*/ 471 w 485"/>
              <a:gd name="connsiteY0" fmla="*/ 41 h 2753"/>
              <a:gd name="connsiteX1" fmla="*/ 363 w 485"/>
              <a:gd name="connsiteY1" fmla="*/ 0 h 2753"/>
              <a:gd name="connsiteX2" fmla="*/ 0 w 485"/>
              <a:gd name="connsiteY2" fmla="*/ 10 h 2753"/>
              <a:gd name="connsiteX3" fmla="*/ 102 w 485"/>
              <a:gd name="connsiteY3" fmla="*/ 64 h 2753"/>
              <a:gd name="connsiteX4" fmla="*/ 53 w 485"/>
              <a:gd name="connsiteY4" fmla="*/ 81 h 2753"/>
              <a:gd name="connsiteX5" fmla="*/ 170 w 485"/>
              <a:gd name="connsiteY5" fmla="*/ 193 h 2753"/>
              <a:gd name="connsiteX6" fmla="*/ 321 w 485"/>
              <a:gd name="connsiteY6" fmla="*/ 1179 h 2753"/>
              <a:gd name="connsiteX7" fmla="*/ 321 w 485"/>
              <a:gd name="connsiteY7" fmla="*/ 1406 h 2753"/>
              <a:gd name="connsiteX8" fmla="*/ 313 w 485"/>
              <a:gd name="connsiteY8" fmla="*/ 1602 h 2753"/>
              <a:gd name="connsiteX9" fmla="*/ 305 w 485"/>
              <a:gd name="connsiteY9" fmla="*/ 2558 h 2753"/>
              <a:gd name="connsiteX10" fmla="*/ 278 w 485"/>
              <a:gd name="connsiteY10" fmla="*/ 2666 h 2753"/>
              <a:gd name="connsiteX11" fmla="*/ 135 w 485"/>
              <a:gd name="connsiteY11" fmla="*/ 2747 h 2753"/>
              <a:gd name="connsiteX12" fmla="*/ 329 w 485"/>
              <a:gd name="connsiteY12" fmla="*/ 2738 h 2753"/>
              <a:gd name="connsiteX13" fmla="*/ 417 w 485"/>
              <a:gd name="connsiteY13" fmla="*/ 2656 h 2753"/>
              <a:gd name="connsiteX14" fmla="*/ 485 w 485"/>
              <a:gd name="connsiteY14" fmla="*/ 2480 h 2753"/>
              <a:gd name="connsiteX15" fmla="*/ 485 w 485"/>
              <a:gd name="connsiteY15" fmla="*/ 1416 h 2753"/>
              <a:gd name="connsiteX16" fmla="*/ 471 w 485"/>
              <a:gd name="connsiteY16" fmla="*/ 41 h 2753"/>
              <a:gd name="connsiteX0" fmla="*/ 471 w 485"/>
              <a:gd name="connsiteY0" fmla="*/ 41 h 2753"/>
              <a:gd name="connsiteX1" fmla="*/ 363 w 485"/>
              <a:gd name="connsiteY1" fmla="*/ 0 h 2753"/>
              <a:gd name="connsiteX2" fmla="*/ 0 w 485"/>
              <a:gd name="connsiteY2" fmla="*/ 10 h 2753"/>
              <a:gd name="connsiteX3" fmla="*/ 53 w 485"/>
              <a:gd name="connsiteY3" fmla="*/ 81 h 2753"/>
              <a:gd name="connsiteX4" fmla="*/ 170 w 485"/>
              <a:gd name="connsiteY4" fmla="*/ 193 h 2753"/>
              <a:gd name="connsiteX5" fmla="*/ 321 w 485"/>
              <a:gd name="connsiteY5" fmla="*/ 1179 h 2753"/>
              <a:gd name="connsiteX6" fmla="*/ 321 w 485"/>
              <a:gd name="connsiteY6" fmla="*/ 1406 h 2753"/>
              <a:gd name="connsiteX7" fmla="*/ 313 w 485"/>
              <a:gd name="connsiteY7" fmla="*/ 1602 h 2753"/>
              <a:gd name="connsiteX8" fmla="*/ 305 w 485"/>
              <a:gd name="connsiteY8" fmla="*/ 2558 h 2753"/>
              <a:gd name="connsiteX9" fmla="*/ 278 w 485"/>
              <a:gd name="connsiteY9" fmla="*/ 2666 h 2753"/>
              <a:gd name="connsiteX10" fmla="*/ 135 w 485"/>
              <a:gd name="connsiteY10" fmla="*/ 2747 h 2753"/>
              <a:gd name="connsiteX11" fmla="*/ 329 w 485"/>
              <a:gd name="connsiteY11" fmla="*/ 2738 h 2753"/>
              <a:gd name="connsiteX12" fmla="*/ 417 w 485"/>
              <a:gd name="connsiteY12" fmla="*/ 2656 h 2753"/>
              <a:gd name="connsiteX13" fmla="*/ 485 w 485"/>
              <a:gd name="connsiteY13" fmla="*/ 2480 h 2753"/>
              <a:gd name="connsiteX14" fmla="*/ 485 w 485"/>
              <a:gd name="connsiteY14" fmla="*/ 1416 h 2753"/>
              <a:gd name="connsiteX15" fmla="*/ 471 w 485"/>
              <a:gd name="connsiteY15" fmla="*/ 41 h 2753"/>
              <a:gd name="connsiteX0" fmla="*/ 471 w 485"/>
              <a:gd name="connsiteY0" fmla="*/ 41 h 2753"/>
              <a:gd name="connsiteX1" fmla="*/ 363 w 485"/>
              <a:gd name="connsiteY1" fmla="*/ 0 h 2753"/>
              <a:gd name="connsiteX2" fmla="*/ 0 w 485"/>
              <a:gd name="connsiteY2" fmla="*/ 10 h 2753"/>
              <a:gd name="connsiteX3" fmla="*/ 53 w 485"/>
              <a:gd name="connsiteY3" fmla="*/ 81 h 2753"/>
              <a:gd name="connsiteX4" fmla="*/ 170 w 485"/>
              <a:gd name="connsiteY4" fmla="*/ 193 h 2753"/>
              <a:gd name="connsiteX5" fmla="*/ 321 w 485"/>
              <a:gd name="connsiteY5" fmla="*/ 1179 h 2753"/>
              <a:gd name="connsiteX6" fmla="*/ 321 w 485"/>
              <a:gd name="connsiteY6" fmla="*/ 1406 h 2753"/>
              <a:gd name="connsiteX7" fmla="*/ 313 w 485"/>
              <a:gd name="connsiteY7" fmla="*/ 1602 h 2753"/>
              <a:gd name="connsiteX8" fmla="*/ 305 w 485"/>
              <a:gd name="connsiteY8" fmla="*/ 2558 h 2753"/>
              <a:gd name="connsiteX9" fmla="*/ 278 w 485"/>
              <a:gd name="connsiteY9" fmla="*/ 2666 h 2753"/>
              <a:gd name="connsiteX10" fmla="*/ 135 w 485"/>
              <a:gd name="connsiteY10" fmla="*/ 2747 h 2753"/>
              <a:gd name="connsiteX11" fmla="*/ 329 w 485"/>
              <a:gd name="connsiteY11" fmla="*/ 2738 h 2753"/>
              <a:gd name="connsiteX12" fmla="*/ 417 w 485"/>
              <a:gd name="connsiteY12" fmla="*/ 2656 h 2753"/>
              <a:gd name="connsiteX13" fmla="*/ 485 w 485"/>
              <a:gd name="connsiteY13" fmla="*/ 2480 h 2753"/>
              <a:gd name="connsiteX14" fmla="*/ 485 w 485"/>
              <a:gd name="connsiteY14" fmla="*/ 1416 h 2753"/>
              <a:gd name="connsiteX15" fmla="*/ 471 w 485"/>
              <a:gd name="connsiteY15" fmla="*/ 41 h 2753"/>
              <a:gd name="connsiteX0" fmla="*/ 523 w 537"/>
              <a:gd name="connsiteY0" fmla="*/ 41 h 2753"/>
              <a:gd name="connsiteX1" fmla="*/ 415 w 537"/>
              <a:gd name="connsiteY1" fmla="*/ 0 h 2753"/>
              <a:gd name="connsiteX2" fmla="*/ 52 w 537"/>
              <a:gd name="connsiteY2" fmla="*/ 10 h 2753"/>
              <a:gd name="connsiteX3" fmla="*/ 105 w 537"/>
              <a:gd name="connsiteY3" fmla="*/ 81 h 2753"/>
              <a:gd name="connsiteX4" fmla="*/ 222 w 537"/>
              <a:gd name="connsiteY4" fmla="*/ 193 h 2753"/>
              <a:gd name="connsiteX5" fmla="*/ 373 w 537"/>
              <a:gd name="connsiteY5" fmla="*/ 1179 h 2753"/>
              <a:gd name="connsiteX6" fmla="*/ 373 w 537"/>
              <a:gd name="connsiteY6" fmla="*/ 1406 h 2753"/>
              <a:gd name="connsiteX7" fmla="*/ 365 w 537"/>
              <a:gd name="connsiteY7" fmla="*/ 1602 h 2753"/>
              <a:gd name="connsiteX8" fmla="*/ 357 w 537"/>
              <a:gd name="connsiteY8" fmla="*/ 2558 h 2753"/>
              <a:gd name="connsiteX9" fmla="*/ 330 w 537"/>
              <a:gd name="connsiteY9" fmla="*/ 2666 h 2753"/>
              <a:gd name="connsiteX10" fmla="*/ 187 w 537"/>
              <a:gd name="connsiteY10" fmla="*/ 2747 h 2753"/>
              <a:gd name="connsiteX11" fmla="*/ 381 w 537"/>
              <a:gd name="connsiteY11" fmla="*/ 2738 h 2753"/>
              <a:gd name="connsiteX12" fmla="*/ 469 w 537"/>
              <a:gd name="connsiteY12" fmla="*/ 2656 h 2753"/>
              <a:gd name="connsiteX13" fmla="*/ 537 w 537"/>
              <a:gd name="connsiteY13" fmla="*/ 2480 h 2753"/>
              <a:gd name="connsiteX14" fmla="*/ 537 w 537"/>
              <a:gd name="connsiteY14" fmla="*/ 1416 h 2753"/>
              <a:gd name="connsiteX15" fmla="*/ 523 w 537"/>
              <a:gd name="connsiteY15" fmla="*/ 41 h 2753"/>
              <a:gd name="connsiteX0" fmla="*/ 523 w 537"/>
              <a:gd name="connsiteY0" fmla="*/ 41 h 2753"/>
              <a:gd name="connsiteX1" fmla="*/ 415 w 537"/>
              <a:gd name="connsiteY1" fmla="*/ 0 h 2753"/>
              <a:gd name="connsiteX2" fmla="*/ 52 w 537"/>
              <a:gd name="connsiteY2" fmla="*/ 10 h 2753"/>
              <a:gd name="connsiteX3" fmla="*/ 105 w 537"/>
              <a:gd name="connsiteY3" fmla="*/ 81 h 2753"/>
              <a:gd name="connsiteX4" fmla="*/ 222 w 537"/>
              <a:gd name="connsiteY4" fmla="*/ 193 h 2753"/>
              <a:gd name="connsiteX5" fmla="*/ 373 w 537"/>
              <a:gd name="connsiteY5" fmla="*/ 1179 h 2753"/>
              <a:gd name="connsiteX6" fmla="*/ 373 w 537"/>
              <a:gd name="connsiteY6" fmla="*/ 1406 h 2753"/>
              <a:gd name="connsiteX7" fmla="*/ 365 w 537"/>
              <a:gd name="connsiteY7" fmla="*/ 1602 h 2753"/>
              <a:gd name="connsiteX8" fmla="*/ 357 w 537"/>
              <a:gd name="connsiteY8" fmla="*/ 2558 h 2753"/>
              <a:gd name="connsiteX9" fmla="*/ 330 w 537"/>
              <a:gd name="connsiteY9" fmla="*/ 2666 h 2753"/>
              <a:gd name="connsiteX10" fmla="*/ 187 w 537"/>
              <a:gd name="connsiteY10" fmla="*/ 2747 h 2753"/>
              <a:gd name="connsiteX11" fmla="*/ 381 w 537"/>
              <a:gd name="connsiteY11" fmla="*/ 2738 h 2753"/>
              <a:gd name="connsiteX12" fmla="*/ 469 w 537"/>
              <a:gd name="connsiteY12" fmla="*/ 2656 h 2753"/>
              <a:gd name="connsiteX13" fmla="*/ 537 w 537"/>
              <a:gd name="connsiteY13" fmla="*/ 2480 h 2753"/>
              <a:gd name="connsiteX14" fmla="*/ 537 w 537"/>
              <a:gd name="connsiteY14" fmla="*/ 1416 h 2753"/>
              <a:gd name="connsiteX15" fmla="*/ 523 w 537"/>
              <a:gd name="connsiteY15" fmla="*/ 41 h 2753"/>
              <a:gd name="connsiteX0" fmla="*/ 523 w 537"/>
              <a:gd name="connsiteY0" fmla="*/ 41 h 2753"/>
              <a:gd name="connsiteX1" fmla="*/ 415 w 537"/>
              <a:gd name="connsiteY1" fmla="*/ 0 h 2753"/>
              <a:gd name="connsiteX2" fmla="*/ 52 w 537"/>
              <a:gd name="connsiteY2" fmla="*/ 10 h 2753"/>
              <a:gd name="connsiteX3" fmla="*/ 105 w 537"/>
              <a:gd name="connsiteY3" fmla="*/ 81 h 2753"/>
              <a:gd name="connsiteX4" fmla="*/ 222 w 537"/>
              <a:gd name="connsiteY4" fmla="*/ 193 h 2753"/>
              <a:gd name="connsiteX5" fmla="*/ 373 w 537"/>
              <a:gd name="connsiteY5" fmla="*/ 1179 h 2753"/>
              <a:gd name="connsiteX6" fmla="*/ 373 w 537"/>
              <a:gd name="connsiteY6" fmla="*/ 1406 h 2753"/>
              <a:gd name="connsiteX7" fmla="*/ 365 w 537"/>
              <a:gd name="connsiteY7" fmla="*/ 1602 h 2753"/>
              <a:gd name="connsiteX8" fmla="*/ 357 w 537"/>
              <a:gd name="connsiteY8" fmla="*/ 2558 h 2753"/>
              <a:gd name="connsiteX9" fmla="*/ 330 w 537"/>
              <a:gd name="connsiteY9" fmla="*/ 2666 h 2753"/>
              <a:gd name="connsiteX10" fmla="*/ 187 w 537"/>
              <a:gd name="connsiteY10" fmla="*/ 2747 h 2753"/>
              <a:gd name="connsiteX11" fmla="*/ 381 w 537"/>
              <a:gd name="connsiteY11" fmla="*/ 2738 h 2753"/>
              <a:gd name="connsiteX12" fmla="*/ 469 w 537"/>
              <a:gd name="connsiteY12" fmla="*/ 2656 h 2753"/>
              <a:gd name="connsiteX13" fmla="*/ 537 w 537"/>
              <a:gd name="connsiteY13" fmla="*/ 2480 h 2753"/>
              <a:gd name="connsiteX14" fmla="*/ 537 w 537"/>
              <a:gd name="connsiteY14" fmla="*/ 1416 h 2753"/>
              <a:gd name="connsiteX15" fmla="*/ 523 w 537"/>
              <a:gd name="connsiteY15" fmla="*/ 41 h 2753"/>
              <a:gd name="connsiteX0" fmla="*/ 523 w 537"/>
              <a:gd name="connsiteY0" fmla="*/ 41 h 2753"/>
              <a:gd name="connsiteX1" fmla="*/ 415 w 537"/>
              <a:gd name="connsiteY1" fmla="*/ 0 h 2753"/>
              <a:gd name="connsiteX2" fmla="*/ 52 w 537"/>
              <a:gd name="connsiteY2" fmla="*/ 10 h 2753"/>
              <a:gd name="connsiteX3" fmla="*/ 105 w 537"/>
              <a:gd name="connsiteY3" fmla="*/ 81 h 2753"/>
              <a:gd name="connsiteX4" fmla="*/ 222 w 537"/>
              <a:gd name="connsiteY4" fmla="*/ 193 h 2753"/>
              <a:gd name="connsiteX5" fmla="*/ 373 w 537"/>
              <a:gd name="connsiteY5" fmla="*/ 1179 h 2753"/>
              <a:gd name="connsiteX6" fmla="*/ 373 w 537"/>
              <a:gd name="connsiteY6" fmla="*/ 1406 h 2753"/>
              <a:gd name="connsiteX7" fmla="*/ 365 w 537"/>
              <a:gd name="connsiteY7" fmla="*/ 1602 h 2753"/>
              <a:gd name="connsiteX8" fmla="*/ 357 w 537"/>
              <a:gd name="connsiteY8" fmla="*/ 2558 h 2753"/>
              <a:gd name="connsiteX9" fmla="*/ 330 w 537"/>
              <a:gd name="connsiteY9" fmla="*/ 2666 h 2753"/>
              <a:gd name="connsiteX10" fmla="*/ 187 w 537"/>
              <a:gd name="connsiteY10" fmla="*/ 2747 h 2753"/>
              <a:gd name="connsiteX11" fmla="*/ 381 w 537"/>
              <a:gd name="connsiteY11" fmla="*/ 2738 h 2753"/>
              <a:gd name="connsiteX12" fmla="*/ 469 w 537"/>
              <a:gd name="connsiteY12" fmla="*/ 2656 h 2753"/>
              <a:gd name="connsiteX13" fmla="*/ 537 w 537"/>
              <a:gd name="connsiteY13" fmla="*/ 2480 h 2753"/>
              <a:gd name="connsiteX14" fmla="*/ 537 w 537"/>
              <a:gd name="connsiteY14" fmla="*/ 1416 h 2753"/>
              <a:gd name="connsiteX15" fmla="*/ 523 w 537"/>
              <a:gd name="connsiteY15" fmla="*/ 41 h 2753"/>
              <a:gd name="connsiteX0" fmla="*/ 523 w 537"/>
              <a:gd name="connsiteY0" fmla="*/ 41 h 2753"/>
              <a:gd name="connsiteX1" fmla="*/ 415 w 537"/>
              <a:gd name="connsiteY1" fmla="*/ 0 h 2753"/>
              <a:gd name="connsiteX2" fmla="*/ 52 w 537"/>
              <a:gd name="connsiteY2" fmla="*/ 10 h 2753"/>
              <a:gd name="connsiteX3" fmla="*/ 105 w 537"/>
              <a:gd name="connsiteY3" fmla="*/ 81 h 2753"/>
              <a:gd name="connsiteX4" fmla="*/ 222 w 537"/>
              <a:gd name="connsiteY4" fmla="*/ 193 h 2753"/>
              <a:gd name="connsiteX5" fmla="*/ 373 w 537"/>
              <a:gd name="connsiteY5" fmla="*/ 1179 h 2753"/>
              <a:gd name="connsiteX6" fmla="*/ 373 w 537"/>
              <a:gd name="connsiteY6" fmla="*/ 1406 h 2753"/>
              <a:gd name="connsiteX7" fmla="*/ 365 w 537"/>
              <a:gd name="connsiteY7" fmla="*/ 1602 h 2753"/>
              <a:gd name="connsiteX8" fmla="*/ 357 w 537"/>
              <a:gd name="connsiteY8" fmla="*/ 2558 h 2753"/>
              <a:gd name="connsiteX9" fmla="*/ 340 w 537"/>
              <a:gd name="connsiteY9" fmla="*/ 2550 h 2753"/>
              <a:gd name="connsiteX10" fmla="*/ 330 w 537"/>
              <a:gd name="connsiteY10" fmla="*/ 2666 h 2753"/>
              <a:gd name="connsiteX11" fmla="*/ 187 w 537"/>
              <a:gd name="connsiteY11" fmla="*/ 2747 h 2753"/>
              <a:gd name="connsiteX12" fmla="*/ 381 w 537"/>
              <a:gd name="connsiteY12" fmla="*/ 2738 h 2753"/>
              <a:gd name="connsiteX13" fmla="*/ 469 w 537"/>
              <a:gd name="connsiteY13" fmla="*/ 2656 h 2753"/>
              <a:gd name="connsiteX14" fmla="*/ 537 w 537"/>
              <a:gd name="connsiteY14" fmla="*/ 2480 h 2753"/>
              <a:gd name="connsiteX15" fmla="*/ 537 w 537"/>
              <a:gd name="connsiteY15" fmla="*/ 1416 h 2753"/>
              <a:gd name="connsiteX16" fmla="*/ 523 w 537"/>
              <a:gd name="connsiteY16" fmla="*/ 41 h 2753"/>
              <a:gd name="connsiteX0" fmla="*/ 523 w 537"/>
              <a:gd name="connsiteY0" fmla="*/ 41 h 2753"/>
              <a:gd name="connsiteX1" fmla="*/ 415 w 537"/>
              <a:gd name="connsiteY1" fmla="*/ 0 h 2753"/>
              <a:gd name="connsiteX2" fmla="*/ 52 w 537"/>
              <a:gd name="connsiteY2" fmla="*/ 10 h 2753"/>
              <a:gd name="connsiteX3" fmla="*/ 105 w 537"/>
              <a:gd name="connsiteY3" fmla="*/ 81 h 2753"/>
              <a:gd name="connsiteX4" fmla="*/ 222 w 537"/>
              <a:gd name="connsiteY4" fmla="*/ 193 h 2753"/>
              <a:gd name="connsiteX5" fmla="*/ 373 w 537"/>
              <a:gd name="connsiteY5" fmla="*/ 1179 h 2753"/>
              <a:gd name="connsiteX6" fmla="*/ 373 w 537"/>
              <a:gd name="connsiteY6" fmla="*/ 1406 h 2753"/>
              <a:gd name="connsiteX7" fmla="*/ 365 w 537"/>
              <a:gd name="connsiteY7" fmla="*/ 1602 h 2753"/>
              <a:gd name="connsiteX8" fmla="*/ 357 w 537"/>
              <a:gd name="connsiteY8" fmla="*/ 2558 h 2753"/>
              <a:gd name="connsiteX9" fmla="*/ 340 w 537"/>
              <a:gd name="connsiteY9" fmla="*/ 2550 h 2753"/>
              <a:gd name="connsiteX10" fmla="*/ 330 w 537"/>
              <a:gd name="connsiteY10" fmla="*/ 2666 h 2753"/>
              <a:gd name="connsiteX11" fmla="*/ 187 w 537"/>
              <a:gd name="connsiteY11" fmla="*/ 2660 h 2753"/>
              <a:gd name="connsiteX12" fmla="*/ 187 w 537"/>
              <a:gd name="connsiteY12" fmla="*/ 2747 h 2753"/>
              <a:gd name="connsiteX13" fmla="*/ 381 w 537"/>
              <a:gd name="connsiteY13" fmla="*/ 2738 h 2753"/>
              <a:gd name="connsiteX14" fmla="*/ 469 w 537"/>
              <a:gd name="connsiteY14" fmla="*/ 2656 h 2753"/>
              <a:gd name="connsiteX15" fmla="*/ 537 w 537"/>
              <a:gd name="connsiteY15" fmla="*/ 2480 h 2753"/>
              <a:gd name="connsiteX16" fmla="*/ 537 w 537"/>
              <a:gd name="connsiteY16" fmla="*/ 1416 h 2753"/>
              <a:gd name="connsiteX17" fmla="*/ 523 w 537"/>
              <a:gd name="connsiteY17" fmla="*/ 41 h 2753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357 w 537"/>
              <a:gd name="connsiteY8" fmla="*/ 2558 h 2761"/>
              <a:gd name="connsiteX9" fmla="*/ 340 w 537"/>
              <a:gd name="connsiteY9" fmla="*/ 2550 h 2761"/>
              <a:gd name="connsiteX10" fmla="*/ 330 w 537"/>
              <a:gd name="connsiteY10" fmla="*/ 2666 h 2761"/>
              <a:gd name="connsiteX11" fmla="*/ 187 w 537"/>
              <a:gd name="connsiteY11" fmla="*/ 2660 h 2761"/>
              <a:gd name="connsiteX12" fmla="*/ 187 w 537"/>
              <a:gd name="connsiteY12" fmla="*/ 2747 h 2761"/>
              <a:gd name="connsiteX13" fmla="*/ 41 w 537"/>
              <a:gd name="connsiteY13" fmla="*/ 2742 h 2761"/>
              <a:gd name="connsiteX14" fmla="*/ 381 w 537"/>
              <a:gd name="connsiteY14" fmla="*/ 2738 h 2761"/>
              <a:gd name="connsiteX15" fmla="*/ 469 w 537"/>
              <a:gd name="connsiteY15" fmla="*/ 2656 h 2761"/>
              <a:gd name="connsiteX16" fmla="*/ 537 w 537"/>
              <a:gd name="connsiteY16" fmla="*/ 2480 h 2761"/>
              <a:gd name="connsiteX17" fmla="*/ 537 w 537"/>
              <a:gd name="connsiteY17" fmla="*/ 1416 h 2761"/>
              <a:gd name="connsiteX18" fmla="*/ 523 w 537"/>
              <a:gd name="connsiteY18" fmla="*/ 41 h 2761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357 w 537"/>
              <a:gd name="connsiteY8" fmla="*/ 2558 h 2761"/>
              <a:gd name="connsiteX9" fmla="*/ 340 w 537"/>
              <a:gd name="connsiteY9" fmla="*/ 2550 h 2761"/>
              <a:gd name="connsiteX10" fmla="*/ 330 w 537"/>
              <a:gd name="connsiteY10" fmla="*/ 2666 h 2761"/>
              <a:gd name="connsiteX11" fmla="*/ 169 w 537"/>
              <a:gd name="connsiteY11" fmla="*/ 2660 h 2761"/>
              <a:gd name="connsiteX12" fmla="*/ 187 w 537"/>
              <a:gd name="connsiteY12" fmla="*/ 2660 h 2761"/>
              <a:gd name="connsiteX13" fmla="*/ 187 w 537"/>
              <a:gd name="connsiteY13" fmla="*/ 2747 h 2761"/>
              <a:gd name="connsiteX14" fmla="*/ 41 w 537"/>
              <a:gd name="connsiteY14" fmla="*/ 2742 h 2761"/>
              <a:gd name="connsiteX15" fmla="*/ 381 w 537"/>
              <a:gd name="connsiteY15" fmla="*/ 2738 h 2761"/>
              <a:gd name="connsiteX16" fmla="*/ 469 w 537"/>
              <a:gd name="connsiteY16" fmla="*/ 2656 h 2761"/>
              <a:gd name="connsiteX17" fmla="*/ 537 w 537"/>
              <a:gd name="connsiteY17" fmla="*/ 2480 h 2761"/>
              <a:gd name="connsiteX18" fmla="*/ 537 w 537"/>
              <a:gd name="connsiteY18" fmla="*/ 1416 h 2761"/>
              <a:gd name="connsiteX19" fmla="*/ 523 w 537"/>
              <a:gd name="connsiteY19" fmla="*/ 41 h 2761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357 w 537"/>
              <a:gd name="connsiteY8" fmla="*/ 2558 h 2761"/>
              <a:gd name="connsiteX9" fmla="*/ 340 w 537"/>
              <a:gd name="connsiteY9" fmla="*/ 2550 h 2761"/>
              <a:gd name="connsiteX10" fmla="*/ 331 w 537"/>
              <a:gd name="connsiteY10" fmla="*/ 2559 h 2761"/>
              <a:gd name="connsiteX11" fmla="*/ 330 w 537"/>
              <a:gd name="connsiteY11" fmla="*/ 2666 h 2761"/>
              <a:gd name="connsiteX12" fmla="*/ 169 w 537"/>
              <a:gd name="connsiteY12" fmla="*/ 2660 h 2761"/>
              <a:gd name="connsiteX13" fmla="*/ 187 w 537"/>
              <a:gd name="connsiteY13" fmla="*/ 2660 h 2761"/>
              <a:gd name="connsiteX14" fmla="*/ 187 w 537"/>
              <a:gd name="connsiteY14" fmla="*/ 2747 h 2761"/>
              <a:gd name="connsiteX15" fmla="*/ 41 w 537"/>
              <a:gd name="connsiteY15" fmla="*/ 2742 h 2761"/>
              <a:gd name="connsiteX16" fmla="*/ 381 w 537"/>
              <a:gd name="connsiteY16" fmla="*/ 2738 h 2761"/>
              <a:gd name="connsiteX17" fmla="*/ 469 w 537"/>
              <a:gd name="connsiteY17" fmla="*/ 2656 h 2761"/>
              <a:gd name="connsiteX18" fmla="*/ 537 w 537"/>
              <a:gd name="connsiteY18" fmla="*/ 2480 h 2761"/>
              <a:gd name="connsiteX19" fmla="*/ 537 w 537"/>
              <a:gd name="connsiteY19" fmla="*/ 1416 h 2761"/>
              <a:gd name="connsiteX20" fmla="*/ 523 w 537"/>
              <a:gd name="connsiteY20" fmla="*/ 41 h 2761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357 w 537"/>
              <a:gd name="connsiteY8" fmla="*/ 2558 h 2761"/>
              <a:gd name="connsiteX9" fmla="*/ 340 w 537"/>
              <a:gd name="connsiteY9" fmla="*/ 2550 h 2761"/>
              <a:gd name="connsiteX10" fmla="*/ 331 w 537"/>
              <a:gd name="connsiteY10" fmla="*/ 2559 h 2761"/>
              <a:gd name="connsiteX11" fmla="*/ 330 w 537"/>
              <a:gd name="connsiteY11" fmla="*/ 2666 h 2761"/>
              <a:gd name="connsiteX12" fmla="*/ 169 w 537"/>
              <a:gd name="connsiteY12" fmla="*/ 2660 h 2761"/>
              <a:gd name="connsiteX13" fmla="*/ 187 w 537"/>
              <a:gd name="connsiteY13" fmla="*/ 2660 h 2761"/>
              <a:gd name="connsiteX14" fmla="*/ 187 w 537"/>
              <a:gd name="connsiteY14" fmla="*/ 2747 h 2761"/>
              <a:gd name="connsiteX15" fmla="*/ 41 w 537"/>
              <a:gd name="connsiteY15" fmla="*/ 2742 h 2761"/>
              <a:gd name="connsiteX16" fmla="*/ 381 w 537"/>
              <a:gd name="connsiteY16" fmla="*/ 2738 h 2761"/>
              <a:gd name="connsiteX17" fmla="*/ 469 w 537"/>
              <a:gd name="connsiteY17" fmla="*/ 2656 h 2761"/>
              <a:gd name="connsiteX18" fmla="*/ 537 w 537"/>
              <a:gd name="connsiteY18" fmla="*/ 2480 h 2761"/>
              <a:gd name="connsiteX19" fmla="*/ 537 w 537"/>
              <a:gd name="connsiteY19" fmla="*/ 1416 h 2761"/>
              <a:gd name="connsiteX20" fmla="*/ 523 w 537"/>
              <a:gd name="connsiteY20" fmla="*/ 41 h 2761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357 w 537"/>
              <a:gd name="connsiteY8" fmla="*/ 2558 h 2761"/>
              <a:gd name="connsiteX9" fmla="*/ 340 w 537"/>
              <a:gd name="connsiteY9" fmla="*/ 2550 h 2761"/>
              <a:gd name="connsiteX10" fmla="*/ 331 w 537"/>
              <a:gd name="connsiteY10" fmla="*/ 2559 h 2761"/>
              <a:gd name="connsiteX11" fmla="*/ 330 w 537"/>
              <a:gd name="connsiteY11" fmla="*/ 2666 h 2761"/>
              <a:gd name="connsiteX12" fmla="*/ 169 w 537"/>
              <a:gd name="connsiteY12" fmla="*/ 2660 h 2761"/>
              <a:gd name="connsiteX13" fmla="*/ 187 w 537"/>
              <a:gd name="connsiteY13" fmla="*/ 2660 h 2761"/>
              <a:gd name="connsiteX14" fmla="*/ 187 w 537"/>
              <a:gd name="connsiteY14" fmla="*/ 2747 h 2761"/>
              <a:gd name="connsiteX15" fmla="*/ 41 w 537"/>
              <a:gd name="connsiteY15" fmla="*/ 2742 h 2761"/>
              <a:gd name="connsiteX16" fmla="*/ 381 w 537"/>
              <a:gd name="connsiteY16" fmla="*/ 2738 h 2761"/>
              <a:gd name="connsiteX17" fmla="*/ 469 w 537"/>
              <a:gd name="connsiteY17" fmla="*/ 2656 h 2761"/>
              <a:gd name="connsiteX18" fmla="*/ 537 w 537"/>
              <a:gd name="connsiteY18" fmla="*/ 2480 h 2761"/>
              <a:gd name="connsiteX19" fmla="*/ 537 w 537"/>
              <a:gd name="connsiteY19" fmla="*/ 1416 h 2761"/>
              <a:gd name="connsiteX20" fmla="*/ 523 w 537"/>
              <a:gd name="connsiteY20" fmla="*/ 41 h 2761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357 w 537"/>
              <a:gd name="connsiteY8" fmla="*/ 2558 h 2761"/>
              <a:gd name="connsiteX9" fmla="*/ 340 w 537"/>
              <a:gd name="connsiteY9" fmla="*/ 2550 h 2761"/>
              <a:gd name="connsiteX10" fmla="*/ 331 w 537"/>
              <a:gd name="connsiteY10" fmla="*/ 2559 h 2761"/>
              <a:gd name="connsiteX11" fmla="*/ 169 w 537"/>
              <a:gd name="connsiteY11" fmla="*/ 2660 h 2761"/>
              <a:gd name="connsiteX12" fmla="*/ 187 w 537"/>
              <a:gd name="connsiteY12" fmla="*/ 2660 h 2761"/>
              <a:gd name="connsiteX13" fmla="*/ 187 w 537"/>
              <a:gd name="connsiteY13" fmla="*/ 2747 h 2761"/>
              <a:gd name="connsiteX14" fmla="*/ 41 w 537"/>
              <a:gd name="connsiteY14" fmla="*/ 2742 h 2761"/>
              <a:gd name="connsiteX15" fmla="*/ 381 w 537"/>
              <a:gd name="connsiteY15" fmla="*/ 2738 h 2761"/>
              <a:gd name="connsiteX16" fmla="*/ 469 w 537"/>
              <a:gd name="connsiteY16" fmla="*/ 2656 h 2761"/>
              <a:gd name="connsiteX17" fmla="*/ 537 w 537"/>
              <a:gd name="connsiteY17" fmla="*/ 2480 h 2761"/>
              <a:gd name="connsiteX18" fmla="*/ 537 w 537"/>
              <a:gd name="connsiteY18" fmla="*/ 1416 h 2761"/>
              <a:gd name="connsiteX19" fmla="*/ 523 w 537"/>
              <a:gd name="connsiteY19" fmla="*/ 41 h 2761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357 w 537"/>
              <a:gd name="connsiteY8" fmla="*/ 2558 h 2761"/>
              <a:gd name="connsiteX9" fmla="*/ 340 w 537"/>
              <a:gd name="connsiteY9" fmla="*/ 2550 h 2761"/>
              <a:gd name="connsiteX10" fmla="*/ 331 w 537"/>
              <a:gd name="connsiteY10" fmla="*/ 2424 h 2761"/>
              <a:gd name="connsiteX11" fmla="*/ 169 w 537"/>
              <a:gd name="connsiteY11" fmla="*/ 2660 h 2761"/>
              <a:gd name="connsiteX12" fmla="*/ 187 w 537"/>
              <a:gd name="connsiteY12" fmla="*/ 2660 h 2761"/>
              <a:gd name="connsiteX13" fmla="*/ 187 w 537"/>
              <a:gd name="connsiteY13" fmla="*/ 2747 h 2761"/>
              <a:gd name="connsiteX14" fmla="*/ 41 w 537"/>
              <a:gd name="connsiteY14" fmla="*/ 2742 h 2761"/>
              <a:gd name="connsiteX15" fmla="*/ 381 w 537"/>
              <a:gd name="connsiteY15" fmla="*/ 2738 h 2761"/>
              <a:gd name="connsiteX16" fmla="*/ 469 w 537"/>
              <a:gd name="connsiteY16" fmla="*/ 2656 h 2761"/>
              <a:gd name="connsiteX17" fmla="*/ 537 w 537"/>
              <a:gd name="connsiteY17" fmla="*/ 2480 h 2761"/>
              <a:gd name="connsiteX18" fmla="*/ 537 w 537"/>
              <a:gd name="connsiteY18" fmla="*/ 1416 h 2761"/>
              <a:gd name="connsiteX19" fmla="*/ 523 w 537"/>
              <a:gd name="connsiteY19" fmla="*/ 41 h 2761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357 w 537"/>
              <a:gd name="connsiteY8" fmla="*/ 2558 h 2761"/>
              <a:gd name="connsiteX9" fmla="*/ 205 w 537"/>
              <a:gd name="connsiteY9" fmla="*/ 2550 h 2761"/>
              <a:gd name="connsiteX10" fmla="*/ 331 w 537"/>
              <a:gd name="connsiteY10" fmla="*/ 2424 h 2761"/>
              <a:gd name="connsiteX11" fmla="*/ 169 w 537"/>
              <a:gd name="connsiteY11" fmla="*/ 2660 h 2761"/>
              <a:gd name="connsiteX12" fmla="*/ 187 w 537"/>
              <a:gd name="connsiteY12" fmla="*/ 2660 h 2761"/>
              <a:gd name="connsiteX13" fmla="*/ 187 w 537"/>
              <a:gd name="connsiteY13" fmla="*/ 2747 h 2761"/>
              <a:gd name="connsiteX14" fmla="*/ 41 w 537"/>
              <a:gd name="connsiteY14" fmla="*/ 2742 h 2761"/>
              <a:gd name="connsiteX15" fmla="*/ 381 w 537"/>
              <a:gd name="connsiteY15" fmla="*/ 2738 h 2761"/>
              <a:gd name="connsiteX16" fmla="*/ 469 w 537"/>
              <a:gd name="connsiteY16" fmla="*/ 2656 h 2761"/>
              <a:gd name="connsiteX17" fmla="*/ 537 w 537"/>
              <a:gd name="connsiteY17" fmla="*/ 2480 h 2761"/>
              <a:gd name="connsiteX18" fmla="*/ 537 w 537"/>
              <a:gd name="connsiteY18" fmla="*/ 1416 h 2761"/>
              <a:gd name="connsiteX19" fmla="*/ 523 w 537"/>
              <a:gd name="connsiteY19" fmla="*/ 41 h 2761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222 w 537"/>
              <a:gd name="connsiteY8" fmla="*/ 2558 h 2761"/>
              <a:gd name="connsiteX9" fmla="*/ 205 w 537"/>
              <a:gd name="connsiteY9" fmla="*/ 2550 h 2761"/>
              <a:gd name="connsiteX10" fmla="*/ 331 w 537"/>
              <a:gd name="connsiteY10" fmla="*/ 2424 h 2761"/>
              <a:gd name="connsiteX11" fmla="*/ 169 w 537"/>
              <a:gd name="connsiteY11" fmla="*/ 2660 h 2761"/>
              <a:gd name="connsiteX12" fmla="*/ 187 w 537"/>
              <a:gd name="connsiteY12" fmla="*/ 2660 h 2761"/>
              <a:gd name="connsiteX13" fmla="*/ 187 w 537"/>
              <a:gd name="connsiteY13" fmla="*/ 2747 h 2761"/>
              <a:gd name="connsiteX14" fmla="*/ 41 w 537"/>
              <a:gd name="connsiteY14" fmla="*/ 2742 h 2761"/>
              <a:gd name="connsiteX15" fmla="*/ 381 w 537"/>
              <a:gd name="connsiteY15" fmla="*/ 2738 h 2761"/>
              <a:gd name="connsiteX16" fmla="*/ 469 w 537"/>
              <a:gd name="connsiteY16" fmla="*/ 2656 h 2761"/>
              <a:gd name="connsiteX17" fmla="*/ 537 w 537"/>
              <a:gd name="connsiteY17" fmla="*/ 2480 h 2761"/>
              <a:gd name="connsiteX18" fmla="*/ 537 w 537"/>
              <a:gd name="connsiteY18" fmla="*/ 1416 h 2761"/>
              <a:gd name="connsiteX19" fmla="*/ 523 w 537"/>
              <a:gd name="connsiteY19" fmla="*/ 41 h 2761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222 w 537"/>
              <a:gd name="connsiteY8" fmla="*/ 2558 h 2761"/>
              <a:gd name="connsiteX9" fmla="*/ 205 w 537"/>
              <a:gd name="connsiteY9" fmla="*/ 2550 h 2761"/>
              <a:gd name="connsiteX10" fmla="*/ 331 w 537"/>
              <a:gd name="connsiteY10" fmla="*/ 2424 h 2761"/>
              <a:gd name="connsiteX11" fmla="*/ 169 w 537"/>
              <a:gd name="connsiteY11" fmla="*/ 2660 h 2761"/>
              <a:gd name="connsiteX12" fmla="*/ 187 w 537"/>
              <a:gd name="connsiteY12" fmla="*/ 2660 h 2761"/>
              <a:gd name="connsiteX13" fmla="*/ 187 w 537"/>
              <a:gd name="connsiteY13" fmla="*/ 2747 h 2761"/>
              <a:gd name="connsiteX14" fmla="*/ 41 w 537"/>
              <a:gd name="connsiteY14" fmla="*/ 2742 h 2761"/>
              <a:gd name="connsiteX15" fmla="*/ 381 w 537"/>
              <a:gd name="connsiteY15" fmla="*/ 2738 h 2761"/>
              <a:gd name="connsiteX16" fmla="*/ 469 w 537"/>
              <a:gd name="connsiteY16" fmla="*/ 2656 h 2761"/>
              <a:gd name="connsiteX17" fmla="*/ 537 w 537"/>
              <a:gd name="connsiteY17" fmla="*/ 2480 h 2761"/>
              <a:gd name="connsiteX18" fmla="*/ 537 w 537"/>
              <a:gd name="connsiteY18" fmla="*/ 1416 h 2761"/>
              <a:gd name="connsiteX19" fmla="*/ 523 w 537"/>
              <a:gd name="connsiteY19" fmla="*/ 41 h 2761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222 w 537"/>
              <a:gd name="connsiteY8" fmla="*/ 2558 h 2761"/>
              <a:gd name="connsiteX9" fmla="*/ 205 w 537"/>
              <a:gd name="connsiteY9" fmla="*/ 2550 h 2761"/>
              <a:gd name="connsiteX10" fmla="*/ 331 w 537"/>
              <a:gd name="connsiteY10" fmla="*/ 2424 h 2761"/>
              <a:gd name="connsiteX11" fmla="*/ 169 w 537"/>
              <a:gd name="connsiteY11" fmla="*/ 2660 h 2761"/>
              <a:gd name="connsiteX12" fmla="*/ 187 w 537"/>
              <a:gd name="connsiteY12" fmla="*/ 2660 h 2761"/>
              <a:gd name="connsiteX13" fmla="*/ 187 w 537"/>
              <a:gd name="connsiteY13" fmla="*/ 2747 h 2761"/>
              <a:gd name="connsiteX14" fmla="*/ 41 w 537"/>
              <a:gd name="connsiteY14" fmla="*/ 2742 h 2761"/>
              <a:gd name="connsiteX15" fmla="*/ 381 w 537"/>
              <a:gd name="connsiteY15" fmla="*/ 2738 h 2761"/>
              <a:gd name="connsiteX16" fmla="*/ 469 w 537"/>
              <a:gd name="connsiteY16" fmla="*/ 2656 h 2761"/>
              <a:gd name="connsiteX17" fmla="*/ 537 w 537"/>
              <a:gd name="connsiteY17" fmla="*/ 2480 h 2761"/>
              <a:gd name="connsiteX18" fmla="*/ 537 w 537"/>
              <a:gd name="connsiteY18" fmla="*/ 1416 h 2761"/>
              <a:gd name="connsiteX19" fmla="*/ 523 w 537"/>
              <a:gd name="connsiteY19" fmla="*/ 41 h 2761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222 w 537"/>
              <a:gd name="connsiteY8" fmla="*/ 2558 h 2761"/>
              <a:gd name="connsiteX9" fmla="*/ 205 w 537"/>
              <a:gd name="connsiteY9" fmla="*/ 2550 h 2761"/>
              <a:gd name="connsiteX10" fmla="*/ 331 w 537"/>
              <a:gd name="connsiteY10" fmla="*/ 2424 h 2761"/>
              <a:gd name="connsiteX11" fmla="*/ 169 w 537"/>
              <a:gd name="connsiteY11" fmla="*/ 2660 h 2761"/>
              <a:gd name="connsiteX12" fmla="*/ 187 w 537"/>
              <a:gd name="connsiteY12" fmla="*/ 2660 h 2761"/>
              <a:gd name="connsiteX13" fmla="*/ 187 w 537"/>
              <a:gd name="connsiteY13" fmla="*/ 2747 h 2761"/>
              <a:gd name="connsiteX14" fmla="*/ 41 w 537"/>
              <a:gd name="connsiteY14" fmla="*/ 2742 h 2761"/>
              <a:gd name="connsiteX15" fmla="*/ 381 w 537"/>
              <a:gd name="connsiteY15" fmla="*/ 2738 h 2761"/>
              <a:gd name="connsiteX16" fmla="*/ 469 w 537"/>
              <a:gd name="connsiteY16" fmla="*/ 2656 h 2761"/>
              <a:gd name="connsiteX17" fmla="*/ 537 w 537"/>
              <a:gd name="connsiteY17" fmla="*/ 2480 h 2761"/>
              <a:gd name="connsiteX18" fmla="*/ 537 w 537"/>
              <a:gd name="connsiteY18" fmla="*/ 1416 h 2761"/>
              <a:gd name="connsiteX19" fmla="*/ 523 w 537"/>
              <a:gd name="connsiteY19" fmla="*/ 41 h 2761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222 w 537"/>
              <a:gd name="connsiteY8" fmla="*/ 2558 h 2761"/>
              <a:gd name="connsiteX9" fmla="*/ 205 w 537"/>
              <a:gd name="connsiteY9" fmla="*/ 2550 h 2761"/>
              <a:gd name="connsiteX10" fmla="*/ 331 w 537"/>
              <a:gd name="connsiteY10" fmla="*/ 2424 h 2761"/>
              <a:gd name="connsiteX11" fmla="*/ 169 w 537"/>
              <a:gd name="connsiteY11" fmla="*/ 2660 h 2761"/>
              <a:gd name="connsiteX12" fmla="*/ 187 w 537"/>
              <a:gd name="connsiteY12" fmla="*/ 2660 h 2761"/>
              <a:gd name="connsiteX13" fmla="*/ 187 w 537"/>
              <a:gd name="connsiteY13" fmla="*/ 2747 h 2761"/>
              <a:gd name="connsiteX14" fmla="*/ 41 w 537"/>
              <a:gd name="connsiteY14" fmla="*/ 2742 h 2761"/>
              <a:gd name="connsiteX15" fmla="*/ 381 w 537"/>
              <a:gd name="connsiteY15" fmla="*/ 2738 h 2761"/>
              <a:gd name="connsiteX16" fmla="*/ 469 w 537"/>
              <a:gd name="connsiteY16" fmla="*/ 2656 h 2761"/>
              <a:gd name="connsiteX17" fmla="*/ 537 w 537"/>
              <a:gd name="connsiteY17" fmla="*/ 2480 h 2761"/>
              <a:gd name="connsiteX18" fmla="*/ 537 w 537"/>
              <a:gd name="connsiteY18" fmla="*/ 1416 h 2761"/>
              <a:gd name="connsiteX19" fmla="*/ 523 w 537"/>
              <a:gd name="connsiteY19" fmla="*/ 41 h 2761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222 w 537"/>
              <a:gd name="connsiteY8" fmla="*/ 2558 h 2761"/>
              <a:gd name="connsiteX9" fmla="*/ 205 w 537"/>
              <a:gd name="connsiteY9" fmla="*/ 2550 h 2761"/>
              <a:gd name="connsiteX10" fmla="*/ 331 w 537"/>
              <a:gd name="connsiteY10" fmla="*/ 2424 h 2761"/>
              <a:gd name="connsiteX11" fmla="*/ 169 w 537"/>
              <a:gd name="connsiteY11" fmla="*/ 2660 h 2761"/>
              <a:gd name="connsiteX12" fmla="*/ 187 w 537"/>
              <a:gd name="connsiteY12" fmla="*/ 2660 h 2761"/>
              <a:gd name="connsiteX13" fmla="*/ 187 w 537"/>
              <a:gd name="connsiteY13" fmla="*/ 2747 h 2761"/>
              <a:gd name="connsiteX14" fmla="*/ 41 w 537"/>
              <a:gd name="connsiteY14" fmla="*/ 2742 h 2761"/>
              <a:gd name="connsiteX15" fmla="*/ 381 w 537"/>
              <a:gd name="connsiteY15" fmla="*/ 2738 h 2761"/>
              <a:gd name="connsiteX16" fmla="*/ 469 w 537"/>
              <a:gd name="connsiteY16" fmla="*/ 2656 h 2761"/>
              <a:gd name="connsiteX17" fmla="*/ 537 w 537"/>
              <a:gd name="connsiteY17" fmla="*/ 2480 h 2761"/>
              <a:gd name="connsiteX18" fmla="*/ 537 w 537"/>
              <a:gd name="connsiteY18" fmla="*/ 1416 h 2761"/>
              <a:gd name="connsiteX19" fmla="*/ 523 w 537"/>
              <a:gd name="connsiteY19" fmla="*/ 41 h 2761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222 w 537"/>
              <a:gd name="connsiteY8" fmla="*/ 2558 h 2761"/>
              <a:gd name="connsiteX9" fmla="*/ 205 w 537"/>
              <a:gd name="connsiteY9" fmla="*/ 2550 h 2761"/>
              <a:gd name="connsiteX10" fmla="*/ 331 w 537"/>
              <a:gd name="connsiteY10" fmla="*/ 2424 h 2761"/>
              <a:gd name="connsiteX11" fmla="*/ 169 w 537"/>
              <a:gd name="connsiteY11" fmla="*/ 2660 h 2761"/>
              <a:gd name="connsiteX12" fmla="*/ 187 w 537"/>
              <a:gd name="connsiteY12" fmla="*/ 2660 h 2761"/>
              <a:gd name="connsiteX13" fmla="*/ 187 w 537"/>
              <a:gd name="connsiteY13" fmla="*/ 2747 h 2761"/>
              <a:gd name="connsiteX14" fmla="*/ 41 w 537"/>
              <a:gd name="connsiteY14" fmla="*/ 2742 h 2761"/>
              <a:gd name="connsiteX15" fmla="*/ 381 w 537"/>
              <a:gd name="connsiteY15" fmla="*/ 2738 h 2761"/>
              <a:gd name="connsiteX16" fmla="*/ 469 w 537"/>
              <a:gd name="connsiteY16" fmla="*/ 2656 h 2761"/>
              <a:gd name="connsiteX17" fmla="*/ 537 w 537"/>
              <a:gd name="connsiteY17" fmla="*/ 2480 h 2761"/>
              <a:gd name="connsiteX18" fmla="*/ 537 w 537"/>
              <a:gd name="connsiteY18" fmla="*/ 1416 h 2761"/>
              <a:gd name="connsiteX19" fmla="*/ 523 w 537"/>
              <a:gd name="connsiteY19" fmla="*/ 41 h 2761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222 w 537"/>
              <a:gd name="connsiteY8" fmla="*/ 2558 h 2761"/>
              <a:gd name="connsiteX9" fmla="*/ 205 w 537"/>
              <a:gd name="connsiteY9" fmla="*/ 2550 h 2761"/>
              <a:gd name="connsiteX10" fmla="*/ 331 w 537"/>
              <a:gd name="connsiteY10" fmla="*/ 2424 h 2761"/>
              <a:gd name="connsiteX11" fmla="*/ 169 w 537"/>
              <a:gd name="connsiteY11" fmla="*/ 2660 h 2761"/>
              <a:gd name="connsiteX12" fmla="*/ 187 w 537"/>
              <a:gd name="connsiteY12" fmla="*/ 2660 h 2761"/>
              <a:gd name="connsiteX13" fmla="*/ 187 w 537"/>
              <a:gd name="connsiteY13" fmla="*/ 2747 h 2761"/>
              <a:gd name="connsiteX14" fmla="*/ 41 w 537"/>
              <a:gd name="connsiteY14" fmla="*/ 2742 h 2761"/>
              <a:gd name="connsiteX15" fmla="*/ 381 w 537"/>
              <a:gd name="connsiteY15" fmla="*/ 2738 h 2761"/>
              <a:gd name="connsiteX16" fmla="*/ 469 w 537"/>
              <a:gd name="connsiteY16" fmla="*/ 2656 h 2761"/>
              <a:gd name="connsiteX17" fmla="*/ 537 w 537"/>
              <a:gd name="connsiteY17" fmla="*/ 2480 h 2761"/>
              <a:gd name="connsiteX18" fmla="*/ 537 w 537"/>
              <a:gd name="connsiteY18" fmla="*/ 1416 h 2761"/>
              <a:gd name="connsiteX19" fmla="*/ 523 w 537"/>
              <a:gd name="connsiteY19" fmla="*/ 41 h 2761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222 w 537"/>
              <a:gd name="connsiteY8" fmla="*/ 2558 h 2761"/>
              <a:gd name="connsiteX9" fmla="*/ 205 w 537"/>
              <a:gd name="connsiteY9" fmla="*/ 2550 h 2761"/>
              <a:gd name="connsiteX10" fmla="*/ 331 w 537"/>
              <a:gd name="connsiteY10" fmla="*/ 2424 h 2761"/>
              <a:gd name="connsiteX11" fmla="*/ 169 w 537"/>
              <a:gd name="connsiteY11" fmla="*/ 2660 h 2761"/>
              <a:gd name="connsiteX12" fmla="*/ 187 w 537"/>
              <a:gd name="connsiteY12" fmla="*/ 2660 h 2761"/>
              <a:gd name="connsiteX13" fmla="*/ 187 w 537"/>
              <a:gd name="connsiteY13" fmla="*/ 2747 h 2761"/>
              <a:gd name="connsiteX14" fmla="*/ 41 w 537"/>
              <a:gd name="connsiteY14" fmla="*/ 2742 h 2761"/>
              <a:gd name="connsiteX15" fmla="*/ 381 w 537"/>
              <a:gd name="connsiteY15" fmla="*/ 2738 h 2761"/>
              <a:gd name="connsiteX16" fmla="*/ 469 w 537"/>
              <a:gd name="connsiteY16" fmla="*/ 2656 h 2761"/>
              <a:gd name="connsiteX17" fmla="*/ 537 w 537"/>
              <a:gd name="connsiteY17" fmla="*/ 2480 h 2761"/>
              <a:gd name="connsiteX18" fmla="*/ 537 w 537"/>
              <a:gd name="connsiteY18" fmla="*/ 1416 h 2761"/>
              <a:gd name="connsiteX19" fmla="*/ 523 w 537"/>
              <a:gd name="connsiteY19" fmla="*/ 41 h 2761"/>
              <a:gd name="connsiteX0" fmla="*/ 523 w 537"/>
              <a:gd name="connsiteY0" fmla="*/ 41 h 2761"/>
              <a:gd name="connsiteX1" fmla="*/ 415 w 537"/>
              <a:gd name="connsiteY1" fmla="*/ 0 h 2761"/>
              <a:gd name="connsiteX2" fmla="*/ 52 w 537"/>
              <a:gd name="connsiteY2" fmla="*/ 10 h 2761"/>
              <a:gd name="connsiteX3" fmla="*/ 105 w 537"/>
              <a:gd name="connsiteY3" fmla="*/ 81 h 2761"/>
              <a:gd name="connsiteX4" fmla="*/ 222 w 537"/>
              <a:gd name="connsiteY4" fmla="*/ 193 h 2761"/>
              <a:gd name="connsiteX5" fmla="*/ 373 w 537"/>
              <a:gd name="connsiteY5" fmla="*/ 1179 h 2761"/>
              <a:gd name="connsiteX6" fmla="*/ 373 w 537"/>
              <a:gd name="connsiteY6" fmla="*/ 1406 h 2761"/>
              <a:gd name="connsiteX7" fmla="*/ 365 w 537"/>
              <a:gd name="connsiteY7" fmla="*/ 1602 h 2761"/>
              <a:gd name="connsiteX8" fmla="*/ 222 w 537"/>
              <a:gd name="connsiteY8" fmla="*/ 2558 h 2761"/>
              <a:gd name="connsiteX9" fmla="*/ 205 w 537"/>
              <a:gd name="connsiteY9" fmla="*/ 2550 h 2761"/>
              <a:gd name="connsiteX10" fmla="*/ 331 w 537"/>
              <a:gd name="connsiteY10" fmla="*/ 2424 h 2761"/>
              <a:gd name="connsiteX11" fmla="*/ 169 w 537"/>
              <a:gd name="connsiteY11" fmla="*/ 2660 h 2761"/>
              <a:gd name="connsiteX12" fmla="*/ 187 w 537"/>
              <a:gd name="connsiteY12" fmla="*/ 2660 h 2761"/>
              <a:gd name="connsiteX13" fmla="*/ 187 w 537"/>
              <a:gd name="connsiteY13" fmla="*/ 2747 h 2761"/>
              <a:gd name="connsiteX14" fmla="*/ 41 w 537"/>
              <a:gd name="connsiteY14" fmla="*/ 2742 h 2761"/>
              <a:gd name="connsiteX15" fmla="*/ 381 w 537"/>
              <a:gd name="connsiteY15" fmla="*/ 2738 h 2761"/>
              <a:gd name="connsiteX16" fmla="*/ 469 w 537"/>
              <a:gd name="connsiteY16" fmla="*/ 2656 h 2761"/>
              <a:gd name="connsiteX17" fmla="*/ 537 w 537"/>
              <a:gd name="connsiteY17" fmla="*/ 2480 h 2761"/>
              <a:gd name="connsiteX18" fmla="*/ 537 w 537"/>
              <a:gd name="connsiteY18" fmla="*/ 1416 h 2761"/>
              <a:gd name="connsiteX19" fmla="*/ 523 w 537"/>
              <a:gd name="connsiteY19" fmla="*/ 41 h 2761"/>
              <a:gd name="connsiteX0" fmla="*/ 553 w 567"/>
              <a:gd name="connsiteY0" fmla="*/ 41 h 2761"/>
              <a:gd name="connsiteX1" fmla="*/ 445 w 567"/>
              <a:gd name="connsiteY1" fmla="*/ 0 h 2761"/>
              <a:gd name="connsiteX2" fmla="*/ 82 w 567"/>
              <a:gd name="connsiteY2" fmla="*/ 10 h 2761"/>
              <a:gd name="connsiteX3" fmla="*/ 135 w 567"/>
              <a:gd name="connsiteY3" fmla="*/ 81 h 2761"/>
              <a:gd name="connsiteX4" fmla="*/ 252 w 567"/>
              <a:gd name="connsiteY4" fmla="*/ 193 h 2761"/>
              <a:gd name="connsiteX5" fmla="*/ 403 w 567"/>
              <a:gd name="connsiteY5" fmla="*/ 1179 h 2761"/>
              <a:gd name="connsiteX6" fmla="*/ 403 w 567"/>
              <a:gd name="connsiteY6" fmla="*/ 1406 h 2761"/>
              <a:gd name="connsiteX7" fmla="*/ 395 w 567"/>
              <a:gd name="connsiteY7" fmla="*/ 1602 h 2761"/>
              <a:gd name="connsiteX8" fmla="*/ 252 w 567"/>
              <a:gd name="connsiteY8" fmla="*/ 2558 h 2761"/>
              <a:gd name="connsiteX9" fmla="*/ 235 w 567"/>
              <a:gd name="connsiteY9" fmla="*/ 2550 h 2761"/>
              <a:gd name="connsiteX10" fmla="*/ 361 w 567"/>
              <a:gd name="connsiteY10" fmla="*/ 2424 h 2761"/>
              <a:gd name="connsiteX11" fmla="*/ 199 w 567"/>
              <a:gd name="connsiteY11" fmla="*/ 2660 h 2761"/>
              <a:gd name="connsiteX12" fmla="*/ 217 w 567"/>
              <a:gd name="connsiteY12" fmla="*/ 2660 h 2761"/>
              <a:gd name="connsiteX13" fmla="*/ 217 w 567"/>
              <a:gd name="connsiteY13" fmla="*/ 2747 h 2761"/>
              <a:gd name="connsiteX14" fmla="*/ 71 w 567"/>
              <a:gd name="connsiteY14" fmla="*/ 2742 h 2761"/>
              <a:gd name="connsiteX15" fmla="*/ 411 w 567"/>
              <a:gd name="connsiteY15" fmla="*/ 2738 h 2761"/>
              <a:gd name="connsiteX16" fmla="*/ 499 w 567"/>
              <a:gd name="connsiteY16" fmla="*/ 2656 h 2761"/>
              <a:gd name="connsiteX17" fmla="*/ 567 w 567"/>
              <a:gd name="connsiteY17" fmla="*/ 2480 h 2761"/>
              <a:gd name="connsiteX18" fmla="*/ 567 w 567"/>
              <a:gd name="connsiteY18" fmla="*/ 1416 h 2761"/>
              <a:gd name="connsiteX19" fmla="*/ 553 w 567"/>
              <a:gd name="connsiteY19" fmla="*/ 41 h 2761"/>
              <a:gd name="connsiteX0" fmla="*/ 658 w 672"/>
              <a:gd name="connsiteY0" fmla="*/ 41 h 2761"/>
              <a:gd name="connsiteX1" fmla="*/ 550 w 672"/>
              <a:gd name="connsiteY1" fmla="*/ 0 h 2761"/>
              <a:gd name="connsiteX2" fmla="*/ 187 w 672"/>
              <a:gd name="connsiteY2" fmla="*/ 10 h 2761"/>
              <a:gd name="connsiteX3" fmla="*/ 240 w 672"/>
              <a:gd name="connsiteY3" fmla="*/ 81 h 2761"/>
              <a:gd name="connsiteX4" fmla="*/ 222 w 672"/>
              <a:gd name="connsiteY4" fmla="*/ 193 h 2761"/>
              <a:gd name="connsiteX5" fmla="*/ 508 w 672"/>
              <a:gd name="connsiteY5" fmla="*/ 1179 h 2761"/>
              <a:gd name="connsiteX6" fmla="*/ 508 w 672"/>
              <a:gd name="connsiteY6" fmla="*/ 1406 h 2761"/>
              <a:gd name="connsiteX7" fmla="*/ 500 w 672"/>
              <a:gd name="connsiteY7" fmla="*/ 1602 h 2761"/>
              <a:gd name="connsiteX8" fmla="*/ 357 w 672"/>
              <a:gd name="connsiteY8" fmla="*/ 2558 h 2761"/>
              <a:gd name="connsiteX9" fmla="*/ 340 w 672"/>
              <a:gd name="connsiteY9" fmla="*/ 2550 h 2761"/>
              <a:gd name="connsiteX10" fmla="*/ 466 w 672"/>
              <a:gd name="connsiteY10" fmla="*/ 2424 h 2761"/>
              <a:gd name="connsiteX11" fmla="*/ 304 w 672"/>
              <a:gd name="connsiteY11" fmla="*/ 2660 h 2761"/>
              <a:gd name="connsiteX12" fmla="*/ 322 w 672"/>
              <a:gd name="connsiteY12" fmla="*/ 2660 h 2761"/>
              <a:gd name="connsiteX13" fmla="*/ 322 w 672"/>
              <a:gd name="connsiteY13" fmla="*/ 2747 h 2761"/>
              <a:gd name="connsiteX14" fmla="*/ 176 w 672"/>
              <a:gd name="connsiteY14" fmla="*/ 2742 h 2761"/>
              <a:gd name="connsiteX15" fmla="*/ 516 w 672"/>
              <a:gd name="connsiteY15" fmla="*/ 2738 h 2761"/>
              <a:gd name="connsiteX16" fmla="*/ 604 w 672"/>
              <a:gd name="connsiteY16" fmla="*/ 2656 h 2761"/>
              <a:gd name="connsiteX17" fmla="*/ 672 w 672"/>
              <a:gd name="connsiteY17" fmla="*/ 2480 h 2761"/>
              <a:gd name="connsiteX18" fmla="*/ 672 w 672"/>
              <a:gd name="connsiteY18" fmla="*/ 1416 h 2761"/>
              <a:gd name="connsiteX19" fmla="*/ 658 w 672"/>
              <a:gd name="connsiteY19" fmla="*/ 41 h 2761"/>
              <a:gd name="connsiteX0" fmla="*/ 658 w 672"/>
              <a:gd name="connsiteY0" fmla="*/ 41 h 2761"/>
              <a:gd name="connsiteX1" fmla="*/ 550 w 672"/>
              <a:gd name="connsiteY1" fmla="*/ 0 h 2761"/>
              <a:gd name="connsiteX2" fmla="*/ 187 w 672"/>
              <a:gd name="connsiteY2" fmla="*/ 10 h 2761"/>
              <a:gd name="connsiteX3" fmla="*/ 240 w 672"/>
              <a:gd name="connsiteY3" fmla="*/ 81 h 2761"/>
              <a:gd name="connsiteX4" fmla="*/ 222 w 672"/>
              <a:gd name="connsiteY4" fmla="*/ 193 h 2761"/>
              <a:gd name="connsiteX5" fmla="*/ 508 w 672"/>
              <a:gd name="connsiteY5" fmla="*/ 1179 h 2761"/>
              <a:gd name="connsiteX6" fmla="*/ 508 w 672"/>
              <a:gd name="connsiteY6" fmla="*/ 1406 h 2761"/>
              <a:gd name="connsiteX7" fmla="*/ 500 w 672"/>
              <a:gd name="connsiteY7" fmla="*/ 1602 h 2761"/>
              <a:gd name="connsiteX8" fmla="*/ 357 w 672"/>
              <a:gd name="connsiteY8" fmla="*/ 2558 h 2761"/>
              <a:gd name="connsiteX9" fmla="*/ 340 w 672"/>
              <a:gd name="connsiteY9" fmla="*/ 2550 h 2761"/>
              <a:gd name="connsiteX10" fmla="*/ 466 w 672"/>
              <a:gd name="connsiteY10" fmla="*/ 2424 h 2761"/>
              <a:gd name="connsiteX11" fmla="*/ 304 w 672"/>
              <a:gd name="connsiteY11" fmla="*/ 2660 h 2761"/>
              <a:gd name="connsiteX12" fmla="*/ 322 w 672"/>
              <a:gd name="connsiteY12" fmla="*/ 2660 h 2761"/>
              <a:gd name="connsiteX13" fmla="*/ 322 w 672"/>
              <a:gd name="connsiteY13" fmla="*/ 2747 h 2761"/>
              <a:gd name="connsiteX14" fmla="*/ 176 w 672"/>
              <a:gd name="connsiteY14" fmla="*/ 2742 h 2761"/>
              <a:gd name="connsiteX15" fmla="*/ 516 w 672"/>
              <a:gd name="connsiteY15" fmla="*/ 2738 h 2761"/>
              <a:gd name="connsiteX16" fmla="*/ 604 w 672"/>
              <a:gd name="connsiteY16" fmla="*/ 2656 h 2761"/>
              <a:gd name="connsiteX17" fmla="*/ 672 w 672"/>
              <a:gd name="connsiteY17" fmla="*/ 2480 h 2761"/>
              <a:gd name="connsiteX18" fmla="*/ 672 w 672"/>
              <a:gd name="connsiteY18" fmla="*/ 1416 h 2761"/>
              <a:gd name="connsiteX19" fmla="*/ 658 w 672"/>
              <a:gd name="connsiteY19" fmla="*/ 41 h 2761"/>
              <a:gd name="connsiteX0" fmla="*/ 658 w 672"/>
              <a:gd name="connsiteY0" fmla="*/ 41 h 2761"/>
              <a:gd name="connsiteX1" fmla="*/ 550 w 672"/>
              <a:gd name="connsiteY1" fmla="*/ 0 h 2761"/>
              <a:gd name="connsiteX2" fmla="*/ 187 w 672"/>
              <a:gd name="connsiteY2" fmla="*/ 10 h 2761"/>
              <a:gd name="connsiteX3" fmla="*/ 240 w 672"/>
              <a:gd name="connsiteY3" fmla="*/ 81 h 2761"/>
              <a:gd name="connsiteX4" fmla="*/ 222 w 672"/>
              <a:gd name="connsiteY4" fmla="*/ 193 h 2761"/>
              <a:gd name="connsiteX5" fmla="*/ 210 w 672"/>
              <a:gd name="connsiteY5" fmla="*/ 200 h 2761"/>
              <a:gd name="connsiteX6" fmla="*/ 508 w 672"/>
              <a:gd name="connsiteY6" fmla="*/ 1179 h 2761"/>
              <a:gd name="connsiteX7" fmla="*/ 508 w 672"/>
              <a:gd name="connsiteY7" fmla="*/ 1406 h 2761"/>
              <a:gd name="connsiteX8" fmla="*/ 500 w 672"/>
              <a:gd name="connsiteY8" fmla="*/ 1602 h 2761"/>
              <a:gd name="connsiteX9" fmla="*/ 357 w 672"/>
              <a:gd name="connsiteY9" fmla="*/ 2558 h 2761"/>
              <a:gd name="connsiteX10" fmla="*/ 340 w 672"/>
              <a:gd name="connsiteY10" fmla="*/ 2550 h 2761"/>
              <a:gd name="connsiteX11" fmla="*/ 466 w 672"/>
              <a:gd name="connsiteY11" fmla="*/ 2424 h 2761"/>
              <a:gd name="connsiteX12" fmla="*/ 304 w 672"/>
              <a:gd name="connsiteY12" fmla="*/ 2660 h 2761"/>
              <a:gd name="connsiteX13" fmla="*/ 322 w 672"/>
              <a:gd name="connsiteY13" fmla="*/ 2660 h 2761"/>
              <a:gd name="connsiteX14" fmla="*/ 322 w 672"/>
              <a:gd name="connsiteY14" fmla="*/ 2747 h 2761"/>
              <a:gd name="connsiteX15" fmla="*/ 176 w 672"/>
              <a:gd name="connsiteY15" fmla="*/ 2742 h 2761"/>
              <a:gd name="connsiteX16" fmla="*/ 516 w 672"/>
              <a:gd name="connsiteY16" fmla="*/ 2738 h 2761"/>
              <a:gd name="connsiteX17" fmla="*/ 604 w 672"/>
              <a:gd name="connsiteY17" fmla="*/ 2656 h 2761"/>
              <a:gd name="connsiteX18" fmla="*/ 672 w 672"/>
              <a:gd name="connsiteY18" fmla="*/ 2480 h 2761"/>
              <a:gd name="connsiteX19" fmla="*/ 672 w 672"/>
              <a:gd name="connsiteY19" fmla="*/ 1416 h 2761"/>
              <a:gd name="connsiteX20" fmla="*/ 658 w 672"/>
              <a:gd name="connsiteY20" fmla="*/ 41 h 2761"/>
              <a:gd name="connsiteX0" fmla="*/ 658 w 672"/>
              <a:gd name="connsiteY0" fmla="*/ 41 h 2761"/>
              <a:gd name="connsiteX1" fmla="*/ 550 w 672"/>
              <a:gd name="connsiteY1" fmla="*/ 0 h 2761"/>
              <a:gd name="connsiteX2" fmla="*/ 187 w 672"/>
              <a:gd name="connsiteY2" fmla="*/ 10 h 2761"/>
              <a:gd name="connsiteX3" fmla="*/ 240 w 672"/>
              <a:gd name="connsiteY3" fmla="*/ 81 h 2761"/>
              <a:gd name="connsiteX4" fmla="*/ 222 w 672"/>
              <a:gd name="connsiteY4" fmla="*/ 193 h 2761"/>
              <a:gd name="connsiteX5" fmla="*/ 210 w 672"/>
              <a:gd name="connsiteY5" fmla="*/ 200 h 2761"/>
              <a:gd name="connsiteX6" fmla="*/ 508 w 672"/>
              <a:gd name="connsiteY6" fmla="*/ 1179 h 2761"/>
              <a:gd name="connsiteX7" fmla="*/ 508 w 672"/>
              <a:gd name="connsiteY7" fmla="*/ 1406 h 2761"/>
              <a:gd name="connsiteX8" fmla="*/ 500 w 672"/>
              <a:gd name="connsiteY8" fmla="*/ 1602 h 2761"/>
              <a:gd name="connsiteX9" fmla="*/ 357 w 672"/>
              <a:gd name="connsiteY9" fmla="*/ 2558 h 2761"/>
              <a:gd name="connsiteX10" fmla="*/ 340 w 672"/>
              <a:gd name="connsiteY10" fmla="*/ 2550 h 2761"/>
              <a:gd name="connsiteX11" fmla="*/ 466 w 672"/>
              <a:gd name="connsiteY11" fmla="*/ 2424 h 2761"/>
              <a:gd name="connsiteX12" fmla="*/ 304 w 672"/>
              <a:gd name="connsiteY12" fmla="*/ 2660 h 2761"/>
              <a:gd name="connsiteX13" fmla="*/ 322 w 672"/>
              <a:gd name="connsiteY13" fmla="*/ 2660 h 2761"/>
              <a:gd name="connsiteX14" fmla="*/ 322 w 672"/>
              <a:gd name="connsiteY14" fmla="*/ 2747 h 2761"/>
              <a:gd name="connsiteX15" fmla="*/ 176 w 672"/>
              <a:gd name="connsiteY15" fmla="*/ 2742 h 2761"/>
              <a:gd name="connsiteX16" fmla="*/ 516 w 672"/>
              <a:gd name="connsiteY16" fmla="*/ 2738 h 2761"/>
              <a:gd name="connsiteX17" fmla="*/ 604 w 672"/>
              <a:gd name="connsiteY17" fmla="*/ 2656 h 2761"/>
              <a:gd name="connsiteX18" fmla="*/ 672 w 672"/>
              <a:gd name="connsiteY18" fmla="*/ 2480 h 2761"/>
              <a:gd name="connsiteX19" fmla="*/ 672 w 672"/>
              <a:gd name="connsiteY19" fmla="*/ 1416 h 2761"/>
              <a:gd name="connsiteX20" fmla="*/ 658 w 672"/>
              <a:gd name="connsiteY20" fmla="*/ 41 h 2761"/>
              <a:gd name="connsiteX0" fmla="*/ 658 w 672"/>
              <a:gd name="connsiteY0" fmla="*/ 41 h 2761"/>
              <a:gd name="connsiteX1" fmla="*/ 550 w 672"/>
              <a:gd name="connsiteY1" fmla="*/ 0 h 2761"/>
              <a:gd name="connsiteX2" fmla="*/ 187 w 672"/>
              <a:gd name="connsiteY2" fmla="*/ 10 h 2761"/>
              <a:gd name="connsiteX3" fmla="*/ 240 w 672"/>
              <a:gd name="connsiteY3" fmla="*/ 81 h 2761"/>
              <a:gd name="connsiteX4" fmla="*/ 222 w 672"/>
              <a:gd name="connsiteY4" fmla="*/ 193 h 2761"/>
              <a:gd name="connsiteX5" fmla="*/ 210 w 672"/>
              <a:gd name="connsiteY5" fmla="*/ 200 h 2761"/>
              <a:gd name="connsiteX6" fmla="*/ 508 w 672"/>
              <a:gd name="connsiteY6" fmla="*/ 1179 h 2761"/>
              <a:gd name="connsiteX7" fmla="*/ 508 w 672"/>
              <a:gd name="connsiteY7" fmla="*/ 1406 h 2761"/>
              <a:gd name="connsiteX8" fmla="*/ 500 w 672"/>
              <a:gd name="connsiteY8" fmla="*/ 1602 h 2761"/>
              <a:gd name="connsiteX9" fmla="*/ 357 w 672"/>
              <a:gd name="connsiteY9" fmla="*/ 2558 h 2761"/>
              <a:gd name="connsiteX10" fmla="*/ 340 w 672"/>
              <a:gd name="connsiteY10" fmla="*/ 2550 h 2761"/>
              <a:gd name="connsiteX11" fmla="*/ 466 w 672"/>
              <a:gd name="connsiteY11" fmla="*/ 2424 h 2761"/>
              <a:gd name="connsiteX12" fmla="*/ 304 w 672"/>
              <a:gd name="connsiteY12" fmla="*/ 2660 h 2761"/>
              <a:gd name="connsiteX13" fmla="*/ 322 w 672"/>
              <a:gd name="connsiteY13" fmla="*/ 2660 h 2761"/>
              <a:gd name="connsiteX14" fmla="*/ 322 w 672"/>
              <a:gd name="connsiteY14" fmla="*/ 2747 h 2761"/>
              <a:gd name="connsiteX15" fmla="*/ 176 w 672"/>
              <a:gd name="connsiteY15" fmla="*/ 2742 h 2761"/>
              <a:gd name="connsiteX16" fmla="*/ 183 w 672"/>
              <a:gd name="connsiteY16" fmla="*/ 2733 h 2761"/>
              <a:gd name="connsiteX17" fmla="*/ 516 w 672"/>
              <a:gd name="connsiteY17" fmla="*/ 2738 h 2761"/>
              <a:gd name="connsiteX18" fmla="*/ 604 w 672"/>
              <a:gd name="connsiteY18" fmla="*/ 2656 h 2761"/>
              <a:gd name="connsiteX19" fmla="*/ 672 w 672"/>
              <a:gd name="connsiteY19" fmla="*/ 2480 h 2761"/>
              <a:gd name="connsiteX20" fmla="*/ 672 w 672"/>
              <a:gd name="connsiteY20" fmla="*/ 1416 h 2761"/>
              <a:gd name="connsiteX21" fmla="*/ 658 w 672"/>
              <a:gd name="connsiteY21" fmla="*/ 41 h 2761"/>
              <a:gd name="connsiteX0" fmla="*/ 658 w 672"/>
              <a:gd name="connsiteY0" fmla="*/ 41 h 2761"/>
              <a:gd name="connsiteX1" fmla="*/ 550 w 672"/>
              <a:gd name="connsiteY1" fmla="*/ 0 h 2761"/>
              <a:gd name="connsiteX2" fmla="*/ 187 w 672"/>
              <a:gd name="connsiteY2" fmla="*/ 10 h 2761"/>
              <a:gd name="connsiteX3" fmla="*/ 240 w 672"/>
              <a:gd name="connsiteY3" fmla="*/ 81 h 2761"/>
              <a:gd name="connsiteX4" fmla="*/ 222 w 672"/>
              <a:gd name="connsiteY4" fmla="*/ 193 h 2761"/>
              <a:gd name="connsiteX5" fmla="*/ 210 w 672"/>
              <a:gd name="connsiteY5" fmla="*/ 200 h 2761"/>
              <a:gd name="connsiteX6" fmla="*/ 508 w 672"/>
              <a:gd name="connsiteY6" fmla="*/ 1179 h 2761"/>
              <a:gd name="connsiteX7" fmla="*/ 508 w 672"/>
              <a:gd name="connsiteY7" fmla="*/ 1406 h 2761"/>
              <a:gd name="connsiteX8" fmla="*/ 500 w 672"/>
              <a:gd name="connsiteY8" fmla="*/ 1602 h 2761"/>
              <a:gd name="connsiteX9" fmla="*/ 357 w 672"/>
              <a:gd name="connsiteY9" fmla="*/ 2558 h 2761"/>
              <a:gd name="connsiteX10" fmla="*/ 340 w 672"/>
              <a:gd name="connsiteY10" fmla="*/ 2550 h 2761"/>
              <a:gd name="connsiteX11" fmla="*/ 466 w 672"/>
              <a:gd name="connsiteY11" fmla="*/ 2424 h 2761"/>
              <a:gd name="connsiteX12" fmla="*/ 304 w 672"/>
              <a:gd name="connsiteY12" fmla="*/ 2660 h 2761"/>
              <a:gd name="connsiteX13" fmla="*/ 322 w 672"/>
              <a:gd name="connsiteY13" fmla="*/ 2660 h 2761"/>
              <a:gd name="connsiteX14" fmla="*/ 322 w 672"/>
              <a:gd name="connsiteY14" fmla="*/ 2747 h 2761"/>
              <a:gd name="connsiteX15" fmla="*/ 176 w 672"/>
              <a:gd name="connsiteY15" fmla="*/ 2742 h 2761"/>
              <a:gd name="connsiteX16" fmla="*/ 183 w 672"/>
              <a:gd name="connsiteY16" fmla="*/ 2733 h 2761"/>
              <a:gd name="connsiteX17" fmla="*/ 516 w 672"/>
              <a:gd name="connsiteY17" fmla="*/ 2738 h 2761"/>
              <a:gd name="connsiteX18" fmla="*/ 604 w 672"/>
              <a:gd name="connsiteY18" fmla="*/ 2656 h 2761"/>
              <a:gd name="connsiteX19" fmla="*/ 672 w 672"/>
              <a:gd name="connsiteY19" fmla="*/ 2480 h 2761"/>
              <a:gd name="connsiteX20" fmla="*/ 672 w 672"/>
              <a:gd name="connsiteY20" fmla="*/ 1416 h 2761"/>
              <a:gd name="connsiteX21" fmla="*/ 658 w 672"/>
              <a:gd name="connsiteY21" fmla="*/ 41 h 2761"/>
              <a:gd name="connsiteX0" fmla="*/ 658 w 672"/>
              <a:gd name="connsiteY0" fmla="*/ 41 h 2915"/>
              <a:gd name="connsiteX1" fmla="*/ 550 w 672"/>
              <a:gd name="connsiteY1" fmla="*/ 0 h 2915"/>
              <a:gd name="connsiteX2" fmla="*/ 187 w 672"/>
              <a:gd name="connsiteY2" fmla="*/ 10 h 2915"/>
              <a:gd name="connsiteX3" fmla="*/ 240 w 672"/>
              <a:gd name="connsiteY3" fmla="*/ 81 h 2915"/>
              <a:gd name="connsiteX4" fmla="*/ 222 w 672"/>
              <a:gd name="connsiteY4" fmla="*/ 193 h 2915"/>
              <a:gd name="connsiteX5" fmla="*/ 210 w 672"/>
              <a:gd name="connsiteY5" fmla="*/ 200 h 2915"/>
              <a:gd name="connsiteX6" fmla="*/ 508 w 672"/>
              <a:gd name="connsiteY6" fmla="*/ 1179 h 2915"/>
              <a:gd name="connsiteX7" fmla="*/ 508 w 672"/>
              <a:gd name="connsiteY7" fmla="*/ 1406 h 2915"/>
              <a:gd name="connsiteX8" fmla="*/ 500 w 672"/>
              <a:gd name="connsiteY8" fmla="*/ 1602 h 2915"/>
              <a:gd name="connsiteX9" fmla="*/ 357 w 672"/>
              <a:gd name="connsiteY9" fmla="*/ 2558 h 2915"/>
              <a:gd name="connsiteX10" fmla="*/ 340 w 672"/>
              <a:gd name="connsiteY10" fmla="*/ 2550 h 2915"/>
              <a:gd name="connsiteX11" fmla="*/ 466 w 672"/>
              <a:gd name="connsiteY11" fmla="*/ 2424 h 2915"/>
              <a:gd name="connsiteX12" fmla="*/ 304 w 672"/>
              <a:gd name="connsiteY12" fmla="*/ 2660 h 2915"/>
              <a:gd name="connsiteX13" fmla="*/ 322 w 672"/>
              <a:gd name="connsiteY13" fmla="*/ 2660 h 2915"/>
              <a:gd name="connsiteX14" fmla="*/ 322 w 672"/>
              <a:gd name="connsiteY14" fmla="*/ 2747 h 2915"/>
              <a:gd name="connsiteX15" fmla="*/ 176 w 672"/>
              <a:gd name="connsiteY15" fmla="*/ 2742 h 2915"/>
              <a:gd name="connsiteX16" fmla="*/ 183 w 672"/>
              <a:gd name="connsiteY16" fmla="*/ 2733 h 2915"/>
              <a:gd name="connsiteX17" fmla="*/ 516 w 672"/>
              <a:gd name="connsiteY17" fmla="*/ 2738 h 2915"/>
              <a:gd name="connsiteX18" fmla="*/ 604 w 672"/>
              <a:gd name="connsiteY18" fmla="*/ 2656 h 2915"/>
              <a:gd name="connsiteX19" fmla="*/ 672 w 672"/>
              <a:gd name="connsiteY19" fmla="*/ 2480 h 2915"/>
              <a:gd name="connsiteX20" fmla="*/ 672 w 672"/>
              <a:gd name="connsiteY20" fmla="*/ 1416 h 2915"/>
              <a:gd name="connsiteX21" fmla="*/ 658 w 672"/>
              <a:gd name="connsiteY21" fmla="*/ 41 h 2915"/>
              <a:gd name="connsiteX0" fmla="*/ 658 w 672"/>
              <a:gd name="connsiteY0" fmla="*/ 41 h 2915"/>
              <a:gd name="connsiteX1" fmla="*/ 550 w 672"/>
              <a:gd name="connsiteY1" fmla="*/ 0 h 2915"/>
              <a:gd name="connsiteX2" fmla="*/ 187 w 672"/>
              <a:gd name="connsiteY2" fmla="*/ 10 h 2915"/>
              <a:gd name="connsiteX3" fmla="*/ 240 w 672"/>
              <a:gd name="connsiteY3" fmla="*/ 81 h 2915"/>
              <a:gd name="connsiteX4" fmla="*/ 222 w 672"/>
              <a:gd name="connsiteY4" fmla="*/ 193 h 2915"/>
              <a:gd name="connsiteX5" fmla="*/ 210 w 672"/>
              <a:gd name="connsiteY5" fmla="*/ 200 h 2915"/>
              <a:gd name="connsiteX6" fmla="*/ 508 w 672"/>
              <a:gd name="connsiteY6" fmla="*/ 1179 h 2915"/>
              <a:gd name="connsiteX7" fmla="*/ 508 w 672"/>
              <a:gd name="connsiteY7" fmla="*/ 1406 h 2915"/>
              <a:gd name="connsiteX8" fmla="*/ 500 w 672"/>
              <a:gd name="connsiteY8" fmla="*/ 1602 h 2915"/>
              <a:gd name="connsiteX9" fmla="*/ 357 w 672"/>
              <a:gd name="connsiteY9" fmla="*/ 2558 h 2915"/>
              <a:gd name="connsiteX10" fmla="*/ 340 w 672"/>
              <a:gd name="connsiteY10" fmla="*/ 2550 h 2915"/>
              <a:gd name="connsiteX11" fmla="*/ 466 w 672"/>
              <a:gd name="connsiteY11" fmla="*/ 2424 h 2915"/>
              <a:gd name="connsiteX12" fmla="*/ 304 w 672"/>
              <a:gd name="connsiteY12" fmla="*/ 2660 h 2915"/>
              <a:gd name="connsiteX13" fmla="*/ 322 w 672"/>
              <a:gd name="connsiteY13" fmla="*/ 2660 h 2915"/>
              <a:gd name="connsiteX14" fmla="*/ 322 w 672"/>
              <a:gd name="connsiteY14" fmla="*/ 2747 h 2915"/>
              <a:gd name="connsiteX15" fmla="*/ 176 w 672"/>
              <a:gd name="connsiteY15" fmla="*/ 2742 h 2915"/>
              <a:gd name="connsiteX16" fmla="*/ 183 w 672"/>
              <a:gd name="connsiteY16" fmla="*/ 2733 h 2915"/>
              <a:gd name="connsiteX17" fmla="*/ 516 w 672"/>
              <a:gd name="connsiteY17" fmla="*/ 2738 h 2915"/>
              <a:gd name="connsiteX18" fmla="*/ 604 w 672"/>
              <a:gd name="connsiteY18" fmla="*/ 2656 h 2915"/>
              <a:gd name="connsiteX19" fmla="*/ 672 w 672"/>
              <a:gd name="connsiteY19" fmla="*/ 2480 h 2915"/>
              <a:gd name="connsiteX20" fmla="*/ 672 w 672"/>
              <a:gd name="connsiteY20" fmla="*/ 1416 h 2915"/>
              <a:gd name="connsiteX21" fmla="*/ 658 w 672"/>
              <a:gd name="connsiteY21" fmla="*/ 41 h 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72" h="2915">
                <a:moveTo>
                  <a:pt x="658" y="41"/>
                </a:moveTo>
                <a:lnTo>
                  <a:pt x="550" y="0"/>
                </a:lnTo>
                <a:lnTo>
                  <a:pt x="187" y="10"/>
                </a:lnTo>
                <a:cubicBezTo>
                  <a:pt x="105" y="43"/>
                  <a:pt x="222" y="57"/>
                  <a:pt x="240" y="81"/>
                </a:cubicBezTo>
                <a:cubicBezTo>
                  <a:pt x="251" y="103"/>
                  <a:pt x="0" y="74"/>
                  <a:pt x="222" y="193"/>
                </a:cubicBezTo>
                <a:cubicBezTo>
                  <a:pt x="217" y="213"/>
                  <a:pt x="162" y="36"/>
                  <a:pt x="210" y="200"/>
                </a:cubicBezTo>
                <a:cubicBezTo>
                  <a:pt x="379" y="315"/>
                  <a:pt x="458" y="978"/>
                  <a:pt x="508" y="1179"/>
                </a:cubicBezTo>
                <a:lnTo>
                  <a:pt x="508" y="1406"/>
                </a:lnTo>
                <a:cubicBezTo>
                  <a:pt x="505" y="1471"/>
                  <a:pt x="503" y="1537"/>
                  <a:pt x="500" y="1602"/>
                </a:cubicBezTo>
                <a:cubicBezTo>
                  <a:pt x="497" y="1921"/>
                  <a:pt x="360" y="2239"/>
                  <a:pt x="357" y="2558"/>
                </a:cubicBezTo>
                <a:cubicBezTo>
                  <a:pt x="353" y="2716"/>
                  <a:pt x="344" y="2532"/>
                  <a:pt x="340" y="2550"/>
                </a:cubicBezTo>
                <a:cubicBezTo>
                  <a:pt x="336" y="2550"/>
                  <a:pt x="382" y="2381"/>
                  <a:pt x="466" y="2424"/>
                </a:cubicBezTo>
                <a:cubicBezTo>
                  <a:pt x="438" y="2442"/>
                  <a:pt x="328" y="2643"/>
                  <a:pt x="304" y="2660"/>
                </a:cubicBezTo>
                <a:cubicBezTo>
                  <a:pt x="280" y="2659"/>
                  <a:pt x="341" y="2646"/>
                  <a:pt x="322" y="2660"/>
                </a:cubicBezTo>
                <a:cubicBezTo>
                  <a:pt x="298" y="2674"/>
                  <a:pt x="312" y="2734"/>
                  <a:pt x="322" y="2747"/>
                </a:cubicBezTo>
                <a:cubicBezTo>
                  <a:pt x="320" y="2761"/>
                  <a:pt x="144" y="2744"/>
                  <a:pt x="176" y="2742"/>
                </a:cubicBezTo>
                <a:cubicBezTo>
                  <a:pt x="153" y="2740"/>
                  <a:pt x="7" y="2915"/>
                  <a:pt x="183" y="2733"/>
                </a:cubicBezTo>
                <a:cubicBezTo>
                  <a:pt x="240" y="2732"/>
                  <a:pt x="446" y="2751"/>
                  <a:pt x="516" y="2738"/>
                </a:cubicBezTo>
                <a:lnTo>
                  <a:pt x="604" y="2656"/>
                </a:lnTo>
                <a:cubicBezTo>
                  <a:pt x="630" y="2613"/>
                  <a:pt x="661" y="2687"/>
                  <a:pt x="672" y="2480"/>
                </a:cubicBezTo>
                <a:lnTo>
                  <a:pt x="672" y="1416"/>
                </a:lnTo>
                <a:cubicBezTo>
                  <a:pt x="667" y="958"/>
                  <a:pt x="663" y="499"/>
                  <a:pt x="658" y="41"/>
                </a:cubicBezTo>
                <a:close/>
              </a:path>
            </a:pathLst>
          </a:custGeom>
          <a:pattFill prst="wdUpDiag">
            <a:fgClr>
              <a:srgbClr val="C0C0C0">
                <a:alpha val="57001"/>
              </a:srgbClr>
            </a:fgClr>
            <a:bgClr>
              <a:schemeClr val="bg1">
                <a:alpha val="57001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 dirty="0"/>
          </a:p>
        </p:txBody>
      </p:sp>
      <p:sp>
        <p:nvSpPr>
          <p:cNvPr id="9221" name="Freeform 5" descr="Onda"/>
          <p:cNvSpPr>
            <a:spLocks/>
          </p:cNvSpPr>
          <p:nvPr/>
        </p:nvSpPr>
        <p:spPr bwMode="auto">
          <a:xfrm flipH="1">
            <a:off x="704850" y="1828800"/>
            <a:ext cx="5334000" cy="4484688"/>
          </a:xfrm>
          <a:custGeom>
            <a:avLst/>
            <a:gdLst>
              <a:gd name="connsiteX0" fmla="*/ 3090 w 3363"/>
              <a:gd name="connsiteY0" fmla="*/ 2541 h 2825"/>
              <a:gd name="connsiteX1" fmla="*/ 3171 w 3363"/>
              <a:gd name="connsiteY1" fmla="*/ 1999 h 2825"/>
              <a:gd name="connsiteX2" fmla="*/ 3063 w 3363"/>
              <a:gd name="connsiteY2" fmla="*/ 1003 h 2825"/>
              <a:gd name="connsiteX3" fmla="*/ 3015 w 3363"/>
              <a:gd name="connsiteY3" fmla="*/ 20 h 2825"/>
              <a:gd name="connsiteX4" fmla="*/ 976 w 3363"/>
              <a:gd name="connsiteY4" fmla="*/ 6 h 2825"/>
              <a:gd name="connsiteX5" fmla="*/ 657 w 3363"/>
              <a:gd name="connsiteY5" fmla="*/ 0 h 2825"/>
              <a:gd name="connsiteX6" fmla="*/ 169 w 3363"/>
              <a:gd name="connsiteY6" fmla="*/ 20 h 2825"/>
              <a:gd name="connsiteX7" fmla="*/ 210 w 3363"/>
              <a:gd name="connsiteY7" fmla="*/ 108 h 2825"/>
              <a:gd name="connsiteX8" fmla="*/ 0 w 3363"/>
              <a:gd name="connsiteY8" fmla="*/ 271 h 2825"/>
              <a:gd name="connsiteX9" fmla="*/ 20 w 3363"/>
              <a:gd name="connsiteY9" fmla="*/ 840 h 2825"/>
              <a:gd name="connsiteX10" fmla="*/ 3 w 3363"/>
              <a:gd name="connsiteY10" fmla="*/ 1202 h 2825"/>
              <a:gd name="connsiteX11" fmla="*/ 3 w 3363"/>
              <a:gd name="connsiteY11" fmla="*/ 1429 h 2825"/>
              <a:gd name="connsiteX12" fmla="*/ 11 w 3363"/>
              <a:gd name="connsiteY12" fmla="*/ 1625 h 2825"/>
              <a:gd name="connsiteX13" fmla="*/ 20 w 3363"/>
              <a:gd name="connsiteY13" fmla="*/ 1985 h 2825"/>
              <a:gd name="connsiteX14" fmla="*/ 27 w 3363"/>
              <a:gd name="connsiteY14" fmla="*/ 2460 h 2825"/>
              <a:gd name="connsiteX15" fmla="*/ 101 w 3363"/>
              <a:gd name="connsiteY15" fmla="*/ 2717 h 2825"/>
              <a:gd name="connsiteX16" fmla="*/ 237 w 3363"/>
              <a:gd name="connsiteY16" fmla="*/ 2792 h 2825"/>
              <a:gd name="connsiteX17" fmla="*/ 894 w 3363"/>
              <a:gd name="connsiteY17" fmla="*/ 2825 h 2825"/>
              <a:gd name="connsiteX18" fmla="*/ 1152 w 3363"/>
              <a:gd name="connsiteY18" fmla="*/ 2825 h 2825"/>
              <a:gd name="connsiteX19" fmla="*/ 2934 w 3363"/>
              <a:gd name="connsiteY19" fmla="*/ 2825 h 2825"/>
              <a:gd name="connsiteX20" fmla="*/ 3090 w 3363"/>
              <a:gd name="connsiteY20" fmla="*/ 2541 h 2825"/>
              <a:gd name="connsiteX0" fmla="*/ 3087 w 3360"/>
              <a:gd name="connsiteY0" fmla="*/ 2541 h 2825"/>
              <a:gd name="connsiteX1" fmla="*/ 3168 w 3360"/>
              <a:gd name="connsiteY1" fmla="*/ 1999 h 2825"/>
              <a:gd name="connsiteX2" fmla="*/ 3060 w 3360"/>
              <a:gd name="connsiteY2" fmla="*/ 1003 h 2825"/>
              <a:gd name="connsiteX3" fmla="*/ 3012 w 3360"/>
              <a:gd name="connsiteY3" fmla="*/ 20 h 2825"/>
              <a:gd name="connsiteX4" fmla="*/ 973 w 3360"/>
              <a:gd name="connsiteY4" fmla="*/ 6 h 2825"/>
              <a:gd name="connsiteX5" fmla="*/ 654 w 3360"/>
              <a:gd name="connsiteY5" fmla="*/ 0 h 2825"/>
              <a:gd name="connsiteX6" fmla="*/ 166 w 3360"/>
              <a:gd name="connsiteY6" fmla="*/ 20 h 2825"/>
              <a:gd name="connsiteX7" fmla="*/ 207 w 3360"/>
              <a:gd name="connsiteY7" fmla="*/ 108 h 2825"/>
              <a:gd name="connsiteX8" fmla="*/ 153 w 3360"/>
              <a:gd name="connsiteY8" fmla="*/ 271 h 2825"/>
              <a:gd name="connsiteX9" fmla="*/ 17 w 3360"/>
              <a:gd name="connsiteY9" fmla="*/ 840 h 2825"/>
              <a:gd name="connsiteX10" fmla="*/ 0 w 3360"/>
              <a:gd name="connsiteY10" fmla="*/ 1202 h 2825"/>
              <a:gd name="connsiteX11" fmla="*/ 0 w 3360"/>
              <a:gd name="connsiteY11" fmla="*/ 1429 h 2825"/>
              <a:gd name="connsiteX12" fmla="*/ 8 w 3360"/>
              <a:gd name="connsiteY12" fmla="*/ 1625 h 2825"/>
              <a:gd name="connsiteX13" fmla="*/ 17 w 3360"/>
              <a:gd name="connsiteY13" fmla="*/ 1985 h 2825"/>
              <a:gd name="connsiteX14" fmla="*/ 24 w 3360"/>
              <a:gd name="connsiteY14" fmla="*/ 2460 h 2825"/>
              <a:gd name="connsiteX15" fmla="*/ 98 w 3360"/>
              <a:gd name="connsiteY15" fmla="*/ 2717 h 2825"/>
              <a:gd name="connsiteX16" fmla="*/ 234 w 3360"/>
              <a:gd name="connsiteY16" fmla="*/ 2792 h 2825"/>
              <a:gd name="connsiteX17" fmla="*/ 891 w 3360"/>
              <a:gd name="connsiteY17" fmla="*/ 2825 h 2825"/>
              <a:gd name="connsiteX18" fmla="*/ 1149 w 3360"/>
              <a:gd name="connsiteY18" fmla="*/ 2825 h 2825"/>
              <a:gd name="connsiteX19" fmla="*/ 2931 w 3360"/>
              <a:gd name="connsiteY19" fmla="*/ 2825 h 2825"/>
              <a:gd name="connsiteX20" fmla="*/ 3087 w 3360"/>
              <a:gd name="connsiteY20" fmla="*/ 2541 h 2825"/>
              <a:gd name="connsiteX0" fmla="*/ 3087 w 3360"/>
              <a:gd name="connsiteY0" fmla="*/ 2541 h 2825"/>
              <a:gd name="connsiteX1" fmla="*/ 3168 w 3360"/>
              <a:gd name="connsiteY1" fmla="*/ 1999 h 2825"/>
              <a:gd name="connsiteX2" fmla="*/ 3060 w 3360"/>
              <a:gd name="connsiteY2" fmla="*/ 1003 h 2825"/>
              <a:gd name="connsiteX3" fmla="*/ 3012 w 3360"/>
              <a:gd name="connsiteY3" fmla="*/ 20 h 2825"/>
              <a:gd name="connsiteX4" fmla="*/ 973 w 3360"/>
              <a:gd name="connsiteY4" fmla="*/ 6 h 2825"/>
              <a:gd name="connsiteX5" fmla="*/ 654 w 3360"/>
              <a:gd name="connsiteY5" fmla="*/ 0 h 2825"/>
              <a:gd name="connsiteX6" fmla="*/ 166 w 3360"/>
              <a:gd name="connsiteY6" fmla="*/ 20 h 2825"/>
              <a:gd name="connsiteX7" fmla="*/ 207 w 3360"/>
              <a:gd name="connsiteY7" fmla="*/ 108 h 2825"/>
              <a:gd name="connsiteX8" fmla="*/ 153 w 3360"/>
              <a:gd name="connsiteY8" fmla="*/ 271 h 2825"/>
              <a:gd name="connsiteX9" fmla="*/ 17 w 3360"/>
              <a:gd name="connsiteY9" fmla="*/ 840 h 2825"/>
              <a:gd name="connsiteX10" fmla="*/ 0 w 3360"/>
              <a:gd name="connsiteY10" fmla="*/ 1202 h 2825"/>
              <a:gd name="connsiteX11" fmla="*/ 0 w 3360"/>
              <a:gd name="connsiteY11" fmla="*/ 1429 h 2825"/>
              <a:gd name="connsiteX12" fmla="*/ 8 w 3360"/>
              <a:gd name="connsiteY12" fmla="*/ 1625 h 2825"/>
              <a:gd name="connsiteX13" fmla="*/ 17 w 3360"/>
              <a:gd name="connsiteY13" fmla="*/ 1985 h 2825"/>
              <a:gd name="connsiteX14" fmla="*/ 24 w 3360"/>
              <a:gd name="connsiteY14" fmla="*/ 2460 h 2825"/>
              <a:gd name="connsiteX15" fmla="*/ 98 w 3360"/>
              <a:gd name="connsiteY15" fmla="*/ 2717 h 2825"/>
              <a:gd name="connsiteX16" fmla="*/ 234 w 3360"/>
              <a:gd name="connsiteY16" fmla="*/ 2792 h 2825"/>
              <a:gd name="connsiteX17" fmla="*/ 891 w 3360"/>
              <a:gd name="connsiteY17" fmla="*/ 2825 h 2825"/>
              <a:gd name="connsiteX18" fmla="*/ 1149 w 3360"/>
              <a:gd name="connsiteY18" fmla="*/ 2825 h 2825"/>
              <a:gd name="connsiteX19" fmla="*/ 2931 w 3360"/>
              <a:gd name="connsiteY19" fmla="*/ 2825 h 2825"/>
              <a:gd name="connsiteX20" fmla="*/ 3087 w 3360"/>
              <a:gd name="connsiteY20" fmla="*/ 2541 h 2825"/>
              <a:gd name="connsiteX0" fmla="*/ 3087 w 3360"/>
              <a:gd name="connsiteY0" fmla="*/ 2541 h 2825"/>
              <a:gd name="connsiteX1" fmla="*/ 3168 w 3360"/>
              <a:gd name="connsiteY1" fmla="*/ 1999 h 2825"/>
              <a:gd name="connsiteX2" fmla="*/ 3060 w 3360"/>
              <a:gd name="connsiteY2" fmla="*/ 1003 h 2825"/>
              <a:gd name="connsiteX3" fmla="*/ 3012 w 3360"/>
              <a:gd name="connsiteY3" fmla="*/ 20 h 2825"/>
              <a:gd name="connsiteX4" fmla="*/ 973 w 3360"/>
              <a:gd name="connsiteY4" fmla="*/ 6 h 2825"/>
              <a:gd name="connsiteX5" fmla="*/ 654 w 3360"/>
              <a:gd name="connsiteY5" fmla="*/ 0 h 2825"/>
              <a:gd name="connsiteX6" fmla="*/ 166 w 3360"/>
              <a:gd name="connsiteY6" fmla="*/ 20 h 2825"/>
              <a:gd name="connsiteX7" fmla="*/ 315 w 3360"/>
              <a:gd name="connsiteY7" fmla="*/ 108 h 2825"/>
              <a:gd name="connsiteX8" fmla="*/ 153 w 3360"/>
              <a:gd name="connsiteY8" fmla="*/ 271 h 2825"/>
              <a:gd name="connsiteX9" fmla="*/ 17 w 3360"/>
              <a:gd name="connsiteY9" fmla="*/ 840 h 2825"/>
              <a:gd name="connsiteX10" fmla="*/ 0 w 3360"/>
              <a:gd name="connsiteY10" fmla="*/ 1202 h 2825"/>
              <a:gd name="connsiteX11" fmla="*/ 0 w 3360"/>
              <a:gd name="connsiteY11" fmla="*/ 1429 h 2825"/>
              <a:gd name="connsiteX12" fmla="*/ 8 w 3360"/>
              <a:gd name="connsiteY12" fmla="*/ 1625 h 2825"/>
              <a:gd name="connsiteX13" fmla="*/ 17 w 3360"/>
              <a:gd name="connsiteY13" fmla="*/ 1985 h 2825"/>
              <a:gd name="connsiteX14" fmla="*/ 24 w 3360"/>
              <a:gd name="connsiteY14" fmla="*/ 2460 h 2825"/>
              <a:gd name="connsiteX15" fmla="*/ 98 w 3360"/>
              <a:gd name="connsiteY15" fmla="*/ 2717 h 2825"/>
              <a:gd name="connsiteX16" fmla="*/ 234 w 3360"/>
              <a:gd name="connsiteY16" fmla="*/ 2792 h 2825"/>
              <a:gd name="connsiteX17" fmla="*/ 891 w 3360"/>
              <a:gd name="connsiteY17" fmla="*/ 2825 h 2825"/>
              <a:gd name="connsiteX18" fmla="*/ 1149 w 3360"/>
              <a:gd name="connsiteY18" fmla="*/ 2825 h 2825"/>
              <a:gd name="connsiteX19" fmla="*/ 2931 w 3360"/>
              <a:gd name="connsiteY19" fmla="*/ 2825 h 2825"/>
              <a:gd name="connsiteX20" fmla="*/ 3087 w 3360"/>
              <a:gd name="connsiteY20" fmla="*/ 2541 h 2825"/>
              <a:gd name="connsiteX0" fmla="*/ 3087 w 3360"/>
              <a:gd name="connsiteY0" fmla="*/ 2541 h 2825"/>
              <a:gd name="connsiteX1" fmla="*/ 3168 w 3360"/>
              <a:gd name="connsiteY1" fmla="*/ 1999 h 2825"/>
              <a:gd name="connsiteX2" fmla="*/ 3060 w 3360"/>
              <a:gd name="connsiteY2" fmla="*/ 1003 h 2825"/>
              <a:gd name="connsiteX3" fmla="*/ 3012 w 3360"/>
              <a:gd name="connsiteY3" fmla="*/ 20 h 2825"/>
              <a:gd name="connsiteX4" fmla="*/ 973 w 3360"/>
              <a:gd name="connsiteY4" fmla="*/ 6 h 2825"/>
              <a:gd name="connsiteX5" fmla="*/ 654 w 3360"/>
              <a:gd name="connsiteY5" fmla="*/ 0 h 2825"/>
              <a:gd name="connsiteX6" fmla="*/ 499 w 3360"/>
              <a:gd name="connsiteY6" fmla="*/ 20 h 2825"/>
              <a:gd name="connsiteX7" fmla="*/ 315 w 3360"/>
              <a:gd name="connsiteY7" fmla="*/ 108 h 2825"/>
              <a:gd name="connsiteX8" fmla="*/ 153 w 3360"/>
              <a:gd name="connsiteY8" fmla="*/ 271 h 2825"/>
              <a:gd name="connsiteX9" fmla="*/ 17 w 3360"/>
              <a:gd name="connsiteY9" fmla="*/ 840 h 2825"/>
              <a:gd name="connsiteX10" fmla="*/ 0 w 3360"/>
              <a:gd name="connsiteY10" fmla="*/ 1202 h 2825"/>
              <a:gd name="connsiteX11" fmla="*/ 0 w 3360"/>
              <a:gd name="connsiteY11" fmla="*/ 1429 h 2825"/>
              <a:gd name="connsiteX12" fmla="*/ 8 w 3360"/>
              <a:gd name="connsiteY12" fmla="*/ 1625 h 2825"/>
              <a:gd name="connsiteX13" fmla="*/ 17 w 3360"/>
              <a:gd name="connsiteY13" fmla="*/ 1985 h 2825"/>
              <a:gd name="connsiteX14" fmla="*/ 24 w 3360"/>
              <a:gd name="connsiteY14" fmla="*/ 2460 h 2825"/>
              <a:gd name="connsiteX15" fmla="*/ 98 w 3360"/>
              <a:gd name="connsiteY15" fmla="*/ 2717 h 2825"/>
              <a:gd name="connsiteX16" fmla="*/ 234 w 3360"/>
              <a:gd name="connsiteY16" fmla="*/ 2792 h 2825"/>
              <a:gd name="connsiteX17" fmla="*/ 891 w 3360"/>
              <a:gd name="connsiteY17" fmla="*/ 2825 h 2825"/>
              <a:gd name="connsiteX18" fmla="*/ 1149 w 3360"/>
              <a:gd name="connsiteY18" fmla="*/ 2825 h 2825"/>
              <a:gd name="connsiteX19" fmla="*/ 2931 w 3360"/>
              <a:gd name="connsiteY19" fmla="*/ 2825 h 2825"/>
              <a:gd name="connsiteX20" fmla="*/ 3087 w 3360"/>
              <a:gd name="connsiteY20" fmla="*/ 2541 h 2825"/>
              <a:gd name="connsiteX0" fmla="*/ 3087 w 3360"/>
              <a:gd name="connsiteY0" fmla="*/ 2541 h 2825"/>
              <a:gd name="connsiteX1" fmla="*/ 3168 w 3360"/>
              <a:gd name="connsiteY1" fmla="*/ 1999 h 2825"/>
              <a:gd name="connsiteX2" fmla="*/ 3060 w 3360"/>
              <a:gd name="connsiteY2" fmla="*/ 1003 h 2825"/>
              <a:gd name="connsiteX3" fmla="*/ 3012 w 3360"/>
              <a:gd name="connsiteY3" fmla="*/ 20 h 2825"/>
              <a:gd name="connsiteX4" fmla="*/ 973 w 3360"/>
              <a:gd name="connsiteY4" fmla="*/ 6 h 2825"/>
              <a:gd name="connsiteX5" fmla="*/ 654 w 3360"/>
              <a:gd name="connsiteY5" fmla="*/ 0 h 2825"/>
              <a:gd name="connsiteX6" fmla="*/ 499 w 3360"/>
              <a:gd name="connsiteY6" fmla="*/ 20 h 2825"/>
              <a:gd name="connsiteX7" fmla="*/ 315 w 3360"/>
              <a:gd name="connsiteY7" fmla="*/ 108 h 2825"/>
              <a:gd name="connsiteX8" fmla="*/ 153 w 3360"/>
              <a:gd name="connsiteY8" fmla="*/ 271 h 2825"/>
              <a:gd name="connsiteX9" fmla="*/ 17 w 3360"/>
              <a:gd name="connsiteY9" fmla="*/ 840 h 2825"/>
              <a:gd name="connsiteX10" fmla="*/ 0 w 3360"/>
              <a:gd name="connsiteY10" fmla="*/ 1202 h 2825"/>
              <a:gd name="connsiteX11" fmla="*/ 0 w 3360"/>
              <a:gd name="connsiteY11" fmla="*/ 1429 h 2825"/>
              <a:gd name="connsiteX12" fmla="*/ 8 w 3360"/>
              <a:gd name="connsiteY12" fmla="*/ 1625 h 2825"/>
              <a:gd name="connsiteX13" fmla="*/ 17 w 3360"/>
              <a:gd name="connsiteY13" fmla="*/ 1985 h 2825"/>
              <a:gd name="connsiteX14" fmla="*/ 24 w 3360"/>
              <a:gd name="connsiteY14" fmla="*/ 2460 h 2825"/>
              <a:gd name="connsiteX15" fmla="*/ 91 w 3360"/>
              <a:gd name="connsiteY15" fmla="*/ 2469 h 2825"/>
              <a:gd name="connsiteX16" fmla="*/ 98 w 3360"/>
              <a:gd name="connsiteY16" fmla="*/ 2717 h 2825"/>
              <a:gd name="connsiteX17" fmla="*/ 234 w 3360"/>
              <a:gd name="connsiteY17" fmla="*/ 2792 h 2825"/>
              <a:gd name="connsiteX18" fmla="*/ 891 w 3360"/>
              <a:gd name="connsiteY18" fmla="*/ 2825 h 2825"/>
              <a:gd name="connsiteX19" fmla="*/ 1149 w 3360"/>
              <a:gd name="connsiteY19" fmla="*/ 2825 h 2825"/>
              <a:gd name="connsiteX20" fmla="*/ 2931 w 3360"/>
              <a:gd name="connsiteY20" fmla="*/ 2825 h 2825"/>
              <a:gd name="connsiteX21" fmla="*/ 3087 w 3360"/>
              <a:gd name="connsiteY21" fmla="*/ 2541 h 2825"/>
              <a:gd name="connsiteX0" fmla="*/ 3087 w 3360"/>
              <a:gd name="connsiteY0" fmla="*/ 2541 h 2825"/>
              <a:gd name="connsiteX1" fmla="*/ 3168 w 3360"/>
              <a:gd name="connsiteY1" fmla="*/ 1999 h 2825"/>
              <a:gd name="connsiteX2" fmla="*/ 3060 w 3360"/>
              <a:gd name="connsiteY2" fmla="*/ 1003 h 2825"/>
              <a:gd name="connsiteX3" fmla="*/ 3012 w 3360"/>
              <a:gd name="connsiteY3" fmla="*/ 20 h 2825"/>
              <a:gd name="connsiteX4" fmla="*/ 973 w 3360"/>
              <a:gd name="connsiteY4" fmla="*/ 6 h 2825"/>
              <a:gd name="connsiteX5" fmla="*/ 654 w 3360"/>
              <a:gd name="connsiteY5" fmla="*/ 0 h 2825"/>
              <a:gd name="connsiteX6" fmla="*/ 499 w 3360"/>
              <a:gd name="connsiteY6" fmla="*/ 20 h 2825"/>
              <a:gd name="connsiteX7" fmla="*/ 315 w 3360"/>
              <a:gd name="connsiteY7" fmla="*/ 108 h 2825"/>
              <a:gd name="connsiteX8" fmla="*/ 153 w 3360"/>
              <a:gd name="connsiteY8" fmla="*/ 271 h 2825"/>
              <a:gd name="connsiteX9" fmla="*/ 17 w 3360"/>
              <a:gd name="connsiteY9" fmla="*/ 840 h 2825"/>
              <a:gd name="connsiteX10" fmla="*/ 0 w 3360"/>
              <a:gd name="connsiteY10" fmla="*/ 1202 h 2825"/>
              <a:gd name="connsiteX11" fmla="*/ 0 w 3360"/>
              <a:gd name="connsiteY11" fmla="*/ 1429 h 2825"/>
              <a:gd name="connsiteX12" fmla="*/ 8 w 3360"/>
              <a:gd name="connsiteY12" fmla="*/ 1625 h 2825"/>
              <a:gd name="connsiteX13" fmla="*/ 17 w 3360"/>
              <a:gd name="connsiteY13" fmla="*/ 1985 h 2825"/>
              <a:gd name="connsiteX14" fmla="*/ 24 w 3360"/>
              <a:gd name="connsiteY14" fmla="*/ 2460 h 2825"/>
              <a:gd name="connsiteX15" fmla="*/ 91 w 3360"/>
              <a:gd name="connsiteY15" fmla="*/ 2469 h 2825"/>
              <a:gd name="connsiteX16" fmla="*/ 98 w 3360"/>
              <a:gd name="connsiteY16" fmla="*/ 2717 h 2825"/>
              <a:gd name="connsiteX17" fmla="*/ 164 w 3360"/>
              <a:gd name="connsiteY17" fmla="*/ 2715 h 2825"/>
              <a:gd name="connsiteX18" fmla="*/ 234 w 3360"/>
              <a:gd name="connsiteY18" fmla="*/ 2792 h 2825"/>
              <a:gd name="connsiteX19" fmla="*/ 891 w 3360"/>
              <a:gd name="connsiteY19" fmla="*/ 2825 h 2825"/>
              <a:gd name="connsiteX20" fmla="*/ 1149 w 3360"/>
              <a:gd name="connsiteY20" fmla="*/ 2825 h 2825"/>
              <a:gd name="connsiteX21" fmla="*/ 2931 w 3360"/>
              <a:gd name="connsiteY21" fmla="*/ 2825 h 2825"/>
              <a:gd name="connsiteX22" fmla="*/ 3087 w 3360"/>
              <a:gd name="connsiteY22" fmla="*/ 2541 h 2825"/>
              <a:gd name="connsiteX0" fmla="*/ 3087 w 3360"/>
              <a:gd name="connsiteY0" fmla="*/ 2541 h 2825"/>
              <a:gd name="connsiteX1" fmla="*/ 3168 w 3360"/>
              <a:gd name="connsiteY1" fmla="*/ 1999 h 2825"/>
              <a:gd name="connsiteX2" fmla="*/ 3060 w 3360"/>
              <a:gd name="connsiteY2" fmla="*/ 1003 h 2825"/>
              <a:gd name="connsiteX3" fmla="*/ 3012 w 3360"/>
              <a:gd name="connsiteY3" fmla="*/ 20 h 2825"/>
              <a:gd name="connsiteX4" fmla="*/ 973 w 3360"/>
              <a:gd name="connsiteY4" fmla="*/ 6 h 2825"/>
              <a:gd name="connsiteX5" fmla="*/ 654 w 3360"/>
              <a:gd name="connsiteY5" fmla="*/ 0 h 2825"/>
              <a:gd name="connsiteX6" fmla="*/ 499 w 3360"/>
              <a:gd name="connsiteY6" fmla="*/ 20 h 2825"/>
              <a:gd name="connsiteX7" fmla="*/ 315 w 3360"/>
              <a:gd name="connsiteY7" fmla="*/ 108 h 2825"/>
              <a:gd name="connsiteX8" fmla="*/ 153 w 3360"/>
              <a:gd name="connsiteY8" fmla="*/ 271 h 2825"/>
              <a:gd name="connsiteX9" fmla="*/ 17 w 3360"/>
              <a:gd name="connsiteY9" fmla="*/ 840 h 2825"/>
              <a:gd name="connsiteX10" fmla="*/ 0 w 3360"/>
              <a:gd name="connsiteY10" fmla="*/ 1202 h 2825"/>
              <a:gd name="connsiteX11" fmla="*/ 0 w 3360"/>
              <a:gd name="connsiteY11" fmla="*/ 1429 h 2825"/>
              <a:gd name="connsiteX12" fmla="*/ 8 w 3360"/>
              <a:gd name="connsiteY12" fmla="*/ 1625 h 2825"/>
              <a:gd name="connsiteX13" fmla="*/ 17 w 3360"/>
              <a:gd name="connsiteY13" fmla="*/ 1985 h 2825"/>
              <a:gd name="connsiteX14" fmla="*/ 24 w 3360"/>
              <a:gd name="connsiteY14" fmla="*/ 2460 h 2825"/>
              <a:gd name="connsiteX15" fmla="*/ 91 w 3360"/>
              <a:gd name="connsiteY15" fmla="*/ 2469 h 2825"/>
              <a:gd name="connsiteX16" fmla="*/ 251 w 3360"/>
              <a:gd name="connsiteY16" fmla="*/ 2717 h 2825"/>
              <a:gd name="connsiteX17" fmla="*/ 164 w 3360"/>
              <a:gd name="connsiteY17" fmla="*/ 2715 h 2825"/>
              <a:gd name="connsiteX18" fmla="*/ 234 w 3360"/>
              <a:gd name="connsiteY18" fmla="*/ 2792 h 2825"/>
              <a:gd name="connsiteX19" fmla="*/ 891 w 3360"/>
              <a:gd name="connsiteY19" fmla="*/ 2825 h 2825"/>
              <a:gd name="connsiteX20" fmla="*/ 1149 w 3360"/>
              <a:gd name="connsiteY20" fmla="*/ 2825 h 2825"/>
              <a:gd name="connsiteX21" fmla="*/ 2931 w 3360"/>
              <a:gd name="connsiteY21" fmla="*/ 2825 h 2825"/>
              <a:gd name="connsiteX22" fmla="*/ 3087 w 3360"/>
              <a:gd name="connsiteY22" fmla="*/ 2541 h 2825"/>
              <a:gd name="connsiteX0" fmla="*/ 3087 w 3360"/>
              <a:gd name="connsiteY0" fmla="*/ 2541 h 2825"/>
              <a:gd name="connsiteX1" fmla="*/ 3168 w 3360"/>
              <a:gd name="connsiteY1" fmla="*/ 1999 h 2825"/>
              <a:gd name="connsiteX2" fmla="*/ 3060 w 3360"/>
              <a:gd name="connsiteY2" fmla="*/ 1003 h 2825"/>
              <a:gd name="connsiteX3" fmla="*/ 3012 w 3360"/>
              <a:gd name="connsiteY3" fmla="*/ 20 h 2825"/>
              <a:gd name="connsiteX4" fmla="*/ 973 w 3360"/>
              <a:gd name="connsiteY4" fmla="*/ 6 h 2825"/>
              <a:gd name="connsiteX5" fmla="*/ 654 w 3360"/>
              <a:gd name="connsiteY5" fmla="*/ 0 h 2825"/>
              <a:gd name="connsiteX6" fmla="*/ 499 w 3360"/>
              <a:gd name="connsiteY6" fmla="*/ 20 h 2825"/>
              <a:gd name="connsiteX7" fmla="*/ 315 w 3360"/>
              <a:gd name="connsiteY7" fmla="*/ 108 h 2825"/>
              <a:gd name="connsiteX8" fmla="*/ 153 w 3360"/>
              <a:gd name="connsiteY8" fmla="*/ 271 h 2825"/>
              <a:gd name="connsiteX9" fmla="*/ 17 w 3360"/>
              <a:gd name="connsiteY9" fmla="*/ 840 h 2825"/>
              <a:gd name="connsiteX10" fmla="*/ 0 w 3360"/>
              <a:gd name="connsiteY10" fmla="*/ 1202 h 2825"/>
              <a:gd name="connsiteX11" fmla="*/ 0 w 3360"/>
              <a:gd name="connsiteY11" fmla="*/ 1429 h 2825"/>
              <a:gd name="connsiteX12" fmla="*/ 8 w 3360"/>
              <a:gd name="connsiteY12" fmla="*/ 1625 h 2825"/>
              <a:gd name="connsiteX13" fmla="*/ 17 w 3360"/>
              <a:gd name="connsiteY13" fmla="*/ 1985 h 2825"/>
              <a:gd name="connsiteX14" fmla="*/ 24 w 3360"/>
              <a:gd name="connsiteY14" fmla="*/ 2460 h 2825"/>
              <a:gd name="connsiteX15" fmla="*/ 91 w 3360"/>
              <a:gd name="connsiteY15" fmla="*/ 2469 h 2825"/>
              <a:gd name="connsiteX16" fmla="*/ 251 w 3360"/>
              <a:gd name="connsiteY16" fmla="*/ 2717 h 2825"/>
              <a:gd name="connsiteX17" fmla="*/ 164 w 3360"/>
              <a:gd name="connsiteY17" fmla="*/ 2715 h 2825"/>
              <a:gd name="connsiteX18" fmla="*/ 234 w 3360"/>
              <a:gd name="connsiteY18" fmla="*/ 2792 h 2825"/>
              <a:gd name="connsiteX19" fmla="*/ 891 w 3360"/>
              <a:gd name="connsiteY19" fmla="*/ 2825 h 2825"/>
              <a:gd name="connsiteX20" fmla="*/ 1149 w 3360"/>
              <a:gd name="connsiteY20" fmla="*/ 2825 h 2825"/>
              <a:gd name="connsiteX21" fmla="*/ 2931 w 3360"/>
              <a:gd name="connsiteY21" fmla="*/ 2825 h 2825"/>
              <a:gd name="connsiteX22" fmla="*/ 3087 w 3360"/>
              <a:gd name="connsiteY22" fmla="*/ 2541 h 2825"/>
              <a:gd name="connsiteX0" fmla="*/ 3087 w 3360"/>
              <a:gd name="connsiteY0" fmla="*/ 2541 h 2825"/>
              <a:gd name="connsiteX1" fmla="*/ 3168 w 3360"/>
              <a:gd name="connsiteY1" fmla="*/ 1999 h 2825"/>
              <a:gd name="connsiteX2" fmla="*/ 3060 w 3360"/>
              <a:gd name="connsiteY2" fmla="*/ 1003 h 2825"/>
              <a:gd name="connsiteX3" fmla="*/ 3012 w 3360"/>
              <a:gd name="connsiteY3" fmla="*/ 20 h 2825"/>
              <a:gd name="connsiteX4" fmla="*/ 973 w 3360"/>
              <a:gd name="connsiteY4" fmla="*/ 6 h 2825"/>
              <a:gd name="connsiteX5" fmla="*/ 654 w 3360"/>
              <a:gd name="connsiteY5" fmla="*/ 0 h 2825"/>
              <a:gd name="connsiteX6" fmla="*/ 499 w 3360"/>
              <a:gd name="connsiteY6" fmla="*/ 20 h 2825"/>
              <a:gd name="connsiteX7" fmla="*/ 315 w 3360"/>
              <a:gd name="connsiteY7" fmla="*/ 108 h 2825"/>
              <a:gd name="connsiteX8" fmla="*/ 153 w 3360"/>
              <a:gd name="connsiteY8" fmla="*/ 271 h 2825"/>
              <a:gd name="connsiteX9" fmla="*/ 17 w 3360"/>
              <a:gd name="connsiteY9" fmla="*/ 840 h 2825"/>
              <a:gd name="connsiteX10" fmla="*/ 0 w 3360"/>
              <a:gd name="connsiteY10" fmla="*/ 1202 h 2825"/>
              <a:gd name="connsiteX11" fmla="*/ 0 w 3360"/>
              <a:gd name="connsiteY11" fmla="*/ 1429 h 2825"/>
              <a:gd name="connsiteX12" fmla="*/ 8 w 3360"/>
              <a:gd name="connsiteY12" fmla="*/ 1625 h 2825"/>
              <a:gd name="connsiteX13" fmla="*/ 17 w 3360"/>
              <a:gd name="connsiteY13" fmla="*/ 1985 h 2825"/>
              <a:gd name="connsiteX14" fmla="*/ 24 w 3360"/>
              <a:gd name="connsiteY14" fmla="*/ 2460 h 2825"/>
              <a:gd name="connsiteX15" fmla="*/ 91 w 3360"/>
              <a:gd name="connsiteY15" fmla="*/ 2469 h 2825"/>
              <a:gd name="connsiteX16" fmla="*/ 251 w 3360"/>
              <a:gd name="connsiteY16" fmla="*/ 2717 h 2825"/>
              <a:gd name="connsiteX17" fmla="*/ 164 w 3360"/>
              <a:gd name="connsiteY17" fmla="*/ 2715 h 2825"/>
              <a:gd name="connsiteX18" fmla="*/ 387 w 3360"/>
              <a:gd name="connsiteY18" fmla="*/ 2792 h 2825"/>
              <a:gd name="connsiteX19" fmla="*/ 891 w 3360"/>
              <a:gd name="connsiteY19" fmla="*/ 2825 h 2825"/>
              <a:gd name="connsiteX20" fmla="*/ 1149 w 3360"/>
              <a:gd name="connsiteY20" fmla="*/ 2825 h 2825"/>
              <a:gd name="connsiteX21" fmla="*/ 2931 w 3360"/>
              <a:gd name="connsiteY21" fmla="*/ 2825 h 2825"/>
              <a:gd name="connsiteX22" fmla="*/ 3087 w 3360"/>
              <a:gd name="connsiteY22" fmla="*/ 2541 h 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360" h="2825">
                <a:moveTo>
                  <a:pt x="3087" y="2541"/>
                </a:moveTo>
                <a:cubicBezTo>
                  <a:pt x="3080" y="2481"/>
                  <a:pt x="3165" y="2199"/>
                  <a:pt x="3168" y="1999"/>
                </a:cubicBezTo>
                <a:cubicBezTo>
                  <a:pt x="3171" y="1799"/>
                  <a:pt x="3090" y="1203"/>
                  <a:pt x="3060" y="1003"/>
                </a:cubicBezTo>
                <a:cubicBezTo>
                  <a:pt x="2906" y="762"/>
                  <a:pt x="3360" y="186"/>
                  <a:pt x="3012" y="20"/>
                </a:cubicBezTo>
                <a:lnTo>
                  <a:pt x="973" y="6"/>
                </a:lnTo>
                <a:lnTo>
                  <a:pt x="654" y="0"/>
                </a:lnTo>
                <a:lnTo>
                  <a:pt x="499" y="20"/>
                </a:lnTo>
                <a:cubicBezTo>
                  <a:pt x="513" y="49"/>
                  <a:pt x="301" y="79"/>
                  <a:pt x="315" y="108"/>
                </a:cubicBezTo>
                <a:cubicBezTo>
                  <a:pt x="297" y="162"/>
                  <a:pt x="171" y="217"/>
                  <a:pt x="153" y="271"/>
                </a:cubicBezTo>
                <a:cubicBezTo>
                  <a:pt x="111" y="433"/>
                  <a:pt x="10" y="650"/>
                  <a:pt x="17" y="840"/>
                </a:cubicBezTo>
                <a:cubicBezTo>
                  <a:pt x="11" y="961"/>
                  <a:pt x="6" y="1081"/>
                  <a:pt x="0" y="1202"/>
                </a:cubicBezTo>
                <a:lnTo>
                  <a:pt x="0" y="1429"/>
                </a:lnTo>
                <a:cubicBezTo>
                  <a:pt x="3" y="1494"/>
                  <a:pt x="5" y="1560"/>
                  <a:pt x="8" y="1625"/>
                </a:cubicBezTo>
                <a:lnTo>
                  <a:pt x="17" y="1985"/>
                </a:lnTo>
                <a:cubicBezTo>
                  <a:pt x="19" y="2143"/>
                  <a:pt x="22" y="2302"/>
                  <a:pt x="24" y="2460"/>
                </a:cubicBezTo>
                <a:cubicBezTo>
                  <a:pt x="26" y="2541"/>
                  <a:pt x="53" y="2426"/>
                  <a:pt x="91" y="2469"/>
                </a:cubicBezTo>
                <a:cubicBezTo>
                  <a:pt x="129" y="2512"/>
                  <a:pt x="239" y="2676"/>
                  <a:pt x="251" y="2717"/>
                </a:cubicBezTo>
                <a:cubicBezTo>
                  <a:pt x="353" y="2729"/>
                  <a:pt x="141" y="2703"/>
                  <a:pt x="164" y="2715"/>
                </a:cubicBezTo>
                <a:cubicBezTo>
                  <a:pt x="187" y="2728"/>
                  <a:pt x="266" y="2774"/>
                  <a:pt x="387" y="2792"/>
                </a:cubicBezTo>
                <a:cubicBezTo>
                  <a:pt x="508" y="2810"/>
                  <a:pt x="739" y="2820"/>
                  <a:pt x="891" y="2825"/>
                </a:cubicBezTo>
                <a:lnTo>
                  <a:pt x="1149" y="2825"/>
                </a:lnTo>
                <a:lnTo>
                  <a:pt x="2931" y="2825"/>
                </a:lnTo>
                <a:lnTo>
                  <a:pt x="3087" y="2541"/>
                </a:ln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900113" y="44450"/>
            <a:ext cx="7793037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s-ES_tradnl" sz="3200" dirty="0">
                <a:solidFill>
                  <a:schemeClr val="tx2"/>
                </a:solidFill>
              </a:rPr>
              <a:t>Espejo Esférico - </a:t>
            </a:r>
            <a:r>
              <a:rPr lang="es-ES_tradnl" dirty="0">
                <a:solidFill>
                  <a:schemeClr val="tx2"/>
                </a:solidFill>
              </a:rPr>
              <a:t>Deducción de un modelo analítico</a:t>
            </a:r>
            <a:endParaRPr lang="es-ES_tradnl" sz="3200" dirty="0">
              <a:solidFill>
                <a:schemeClr val="tx2"/>
              </a:solidFill>
            </a:endParaRPr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>
            <a:off x="539750" y="4137025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 flipV="1">
            <a:off x="6083980" y="1562100"/>
            <a:ext cx="0" cy="464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25" name="Oval 9"/>
          <p:cNvSpPr>
            <a:spLocks noChangeArrowheads="1"/>
          </p:cNvSpPr>
          <p:nvPr/>
        </p:nvSpPr>
        <p:spPr bwMode="auto">
          <a:xfrm>
            <a:off x="3394075" y="4103688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8388350" y="4005263"/>
            <a:ext cx="357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x</a:t>
            </a:r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5662613" y="1506538"/>
            <a:ext cx="3571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y</a:t>
            </a:r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3121025" y="414178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5003800" y="5661025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1187450" y="4098925"/>
            <a:ext cx="71438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32" name="Freeform 16"/>
          <p:cNvSpPr>
            <a:spLocks/>
          </p:cNvSpPr>
          <p:nvPr/>
        </p:nvSpPr>
        <p:spPr bwMode="auto">
          <a:xfrm>
            <a:off x="1214415" y="2428868"/>
            <a:ext cx="4643470" cy="1693861"/>
          </a:xfrm>
          <a:custGeom>
            <a:avLst/>
            <a:gdLst/>
            <a:ahLst/>
            <a:cxnLst>
              <a:cxn ang="0">
                <a:pos x="0" y="1157"/>
              </a:cxn>
              <a:cxn ang="0">
                <a:pos x="3026" y="0"/>
              </a:cxn>
            </a:cxnLst>
            <a:rect l="0" t="0" r="r" b="b"/>
            <a:pathLst>
              <a:path w="3026" h="1157">
                <a:moveTo>
                  <a:pt x="0" y="1157"/>
                </a:moveTo>
                <a:lnTo>
                  <a:pt x="3026" y="0"/>
                </a:ln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33" name="Arc 17"/>
          <p:cNvSpPr>
            <a:spLocks/>
          </p:cNvSpPr>
          <p:nvPr/>
        </p:nvSpPr>
        <p:spPr bwMode="auto">
          <a:xfrm rot="7712054" flipV="1">
            <a:off x="4983163" y="2581275"/>
            <a:ext cx="280988" cy="325437"/>
          </a:xfrm>
          <a:custGeom>
            <a:avLst/>
            <a:gdLst>
              <a:gd name="G0" fmla="+- 0 0 0"/>
              <a:gd name="G1" fmla="+- 15821 0 0"/>
              <a:gd name="G2" fmla="+- 21600 0 0"/>
              <a:gd name="T0" fmla="*/ 14706 w 21600"/>
              <a:gd name="T1" fmla="*/ 0 h 23937"/>
              <a:gd name="T2" fmla="*/ 20017 w 21600"/>
              <a:gd name="T3" fmla="*/ 23937 h 23937"/>
              <a:gd name="T4" fmla="*/ 0 w 21600"/>
              <a:gd name="T5" fmla="*/ 15821 h 23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3937" fill="none" extrusionOk="0">
                <a:moveTo>
                  <a:pt x="14705" y="0"/>
                </a:moveTo>
                <a:cubicBezTo>
                  <a:pt x="19102" y="4086"/>
                  <a:pt x="21600" y="9818"/>
                  <a:pt x="21600" y="15821"/>
                </a:cubicBezTo>
                <a:cubicBezTo>
                  <a:pt x="21600" y="18603"/>
                  <a:pt x="21062" y="21358"/>
                  <a:pt x="20017" y="23937"/>
                </a:cubicBezTo>
              </a:path>
              <a:path w="21600" h="23937" stroke="0" extrusionOk="0">
                <a:moveTo>
                  <a:pt x="14705" y="0"/>
                </a:moveTo>
                <a:cubicBezTo>
                  <a:pt x="19102" y="4086"/>
                  <a:pt x="21600" y="9818"/>
                  <a:pt x="21600" y="15821"/>
                </a:cubicBezTo>
                <a:cubicBezTo>
                  <a:pt x="21600" y="18603"/>
                  <a:pt x="21062" y="21358"/>
                  <a:pt x="20017" y="23937"/>
                </a:cubicBezTo>
                <a:lnTo>
                  <a:pt x="0" y="1582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34" name="Text Box 18"/>
          <p:cNvSpPr txBox="1">
            <a:spLocks noChangeArrowheads="1"/>
          </p:cNvSpPr>
          <p:nvPr/>
        </p:nvSpPr>
        <p:spPr bwMode="auto">
          <a:xfrm>
            <a:off x="4357686" y="4175133"/>
            <a:ext cx="409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000" dirty="0">
                <a:latin typeface="Times New Roman" pitchFamily="18" charset="0"/>
              </a:rPr>
              <a:t>P’</a:t>
            </a:r>
          </a:p>
        </p:txBody>
      </p:sp>
      <p:sp>
        <p:nvSpPr>
          <p:cNvPr id="9235" name="Text Box 19"/>
          <p:cNvSpPr txBox="1">
            <a:spLocks noChangeArrowheads="1"/>
          </p:cNvSpPr>
          <p:nvPr/>
        </p:nvSpPr>
        <p:spPr bwMode="auto">
          <a:xfrm>
            <a:off x="5831807" y="2071678"/>
            <a:ext cx="268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000" dirty="0">
                <a:latin typeface="Times New Roman" pitchFamily="18" charset="0"/>
              </a:rPr>
              <a:t>I</a:t>
            </a:r>
          </a:p>
        </p:txBody>
      </p:sp>
      <p:sp>
        <p:nvSpPr>
          <p:cNvPr id="9238" name="Freeform 22"/>
          <p:cNvSpPr>
            <a:spLocks noChangeAspect="1"/>
          </p:cNvSpPr>
          <p:nvPr/>
        </p:nvSpPr>
        <p:spPr bwMode="auto">
          <a:xfrm>
            <a:off x="3001496" y="2013622"/>
            <a:ext cx="3436618" cy="2443353"/>
          </a:xfrm>
          <a:custGeom>
            <a:avLst/>
            <a:gdLst/>
            <a:ahLst/>
            <a:cxnLst>
              <a:cxn ang="0">
                <a:pos x="1640" y="0"/>
              </a:cxn>
              <a:cxn ang="0">
                <a:pos x="0" y="1166"/>
              </a:cxn>
            </a:cxnLst>
            <a:rect l="0" t="0" r="r" b="b"/>
            <a:pathLst>
              <a:path w="1640" h="1166">
                <a:moveTo>
                  <a:pt x="1640" y="0"/>
                </a:moveTo>
                <a:lnTo>
                  <a:pt x="0" y="1166"/>
                </a:lnTo>
              </a:path>
            </a:pathLst>
          </a:custGeom>
          <a:noFill/>
          <a:ln w="9525" cap="flat">
            <a:solidFill>
              <a:srgbClr val="96969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39" name="Text Box 23"/>
          <p:cNvSpPr txBox="1">
            <a:spLocks noChangeArrowheads="1"/>
          </p:cNvSpPr>
          <p:nvPr/>
        </p:nvSpPr>
        <p:spPr bwMode="auto">
          <a:xfrm>
            <a:off x="5076825" y="2565400"/>
            <a:ext cx="24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i</a:t>
            </a:r>
          </a:p>
        </p:txBody>
      </p:sp>
      <p:sp>
        <p:nvSpPr>
          <p:cNvPr id="9240" name="Text Box 24"/>
          <p:cNvSpPr txBox="1">
            <a:spLocks noChangeArrowheads="1"/>
          </p:cNvSpPr>
          <p:nvPr/>
        </p:nvSpPr>
        <p:spPr bwMode="auto">
          <a:xfrm>
            <a:off x="1095375" y="4157663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000" dirty="0">
                <a:latin typeface="Times New Roman" pitchFamily="18" charset="0"/>
              </a:rPr>
              <a:t>P</a:t>
            </a:r>
          </a:p>
        </p:txBody>
      </p:sp>
      <p:sp>
        <p:nvSpPr>
          <p:cNvPr id="9241" name="Arc 25"/>
          <p:cNvSpPr>
            <a:spLocks/>
          </p:cNvSpPr>
          <p:nvPr/>
        </p:nvSpPr>
        <p:spPr bwMode="auto">
          <a:xfrm rot="9164973" flipH="1" flipV="1">
            <a:off x="1835150" y="3844925"/>
            <a:ext cx="280988" cy="293688"/>
          </a:xfrm>
          <a:custGeom>
            <a:avLst/>
            <a:gdLst>
              <a:gd name="G0" fmla="+- 0 0 0"/>
              <a:gd name="G1" fmla="+- 4849 0 0"/>
              <a:gd name="G2" fmla="+- 21600 0 0"/>
              <a:gd name="T0" fmla="*/ 21049 w 21600"/>
              <a:gd name="T1" fmla="*/ 0 h 21636"/>
              <a:gd name="T2" fmla="*/ 13593 w 21600"/>
              <a:gd name="T3" fmla="*/ 21636 h 21636"/>
              <a:gd name="T4" fmla="*/ 0 w 21600"/>
              <a:gd name="T5" fmla="*/ 4849 h 21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36" fill="none" extrusionOk="0">
                <a:moveTo>
                  <a:pt x="21048" y="0"/>
                </a:moveTo>
                <a:cubicBezTo>
                  <a:pt x="21415" y="1590"/>
                  <a:pt x="21600" y="3217"/>
                  <a:pt x="21600" y="4849"/>
                </a:cubicBezTo>
                <a:cubicBezTo>
                  <a:pt x="21600" y="11366"/>
                  <a:pt x="18657" y="17534"/>
                  <a:pt x="13592" y="21635"/>
                </a:cubicBezTo>
              </a:path>
              <a:path w="21600" h="21636" stroke="0" extrusionOk="0">
                <a:moveTo>
                  <a:pt x="21048" y="0"/>
                </a:moveTo>
                <a:cubicBezTo>
                  <a:pt x="21415" y="1590"/>
                  <a:pt x="21600" y="3217"/>
                  <a:pt x="21600" y="4849"/>
                </a:cubicBezTo>
                <a:cubicBezTo>
                  <a:pt x="21600" y="11366"/>
                  <a:pt x="18657" y="17534"/>
                  <a:pt x="13592" y="21635"/>
                </a:cubicBezTo>
                <a:lnTo>
                  <a:pt x="0" y="484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42" name="Text Box 26"/>
          <p:cNvSpPr txBox="1">
            <a:spLocks noChangeArrowheads="1"/>
          </p:cNvSpPr>
          <p:nvPr/>
        </p:nvSpPr>
        <p:spPr bwMode="auto">
          <a:xfrm>
            <a:off x="1681163" y="378936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u</a:t>
            </a:r>
          </a:p>
        </p:txBody>
      </p:sp>
      <p:sp>
        <p:nvSpPr>
          <p:cNvPr id="9243" name="Arc 27"/>
          <p:cNvSpPr>
            <a:spLocks/>
          </p:cNvSpPr>
          <p:nvPr/>
        </p:nvSpPr>
        <p:spPr bwMode="auto">
          <a:xfrm rot="9680985" flipH="1">
            <a:off x="3924300" y="3798888"/>
            <a:ext cx="157163" cy="350837"/>
          </a:xfrm>
          <a:custGeom>
            <a:avLst/>
            <a:gdLst>
              <a:gd name="G0" fmla="+- 1642 0 0"/>
              <a:gd name="G1" fmla="+- 14682 0 0"/>
              <a:gd name="G2" fmla="+- 21600 0 0"/>
              <a:gd name="T0" fmla="*/ 17485 w 23242"/>
              <a:gd name="T1" fmla="*/ 0 h 36282"/>
              <a:gd name="T2" fmla="*/ 0 w 23242"/>
              <a:gd name="T3" fmla="*/ 36220 h 36282"/>
              <a:gd name="T4" fmla="*/ 1642 w 23242"/>
              <a:gd name="T5" fmla="*/ 14682 h 36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242" h="36282" fill="none" extrusionOk="0">
                <a:moveTo>
                  <a:pt x="17484" y="0"/>
                </a:moveTo>
                <a:cubicBezTo>
                  <a:pt x="21185" y="3993"/>
                  <a:pt x="23242" y="9237"/>
                  <a:pt x="23242" y="14682"/>
                </a:cubicBezTo>
                <a:cubicBezTo>
                  <a:pt x="23242" y="26611"/>
                  <a:pt x="13571" y="36282"/>
                  <a:pt x="1642" y="36282"/>
                </a:cubicBezTo>
                <a:cubicBezTo>
                  <a:pt x="1094" y="36282"/>
                  <a:pt x="546" y="36261"/>
                  <a:pt x="0" y="36219"/>
                </a:cubicBezTo>
              </a:path>
              <a:path w="23242" h="36282" stroke="0" extrusionOk="0">
                <a:moveTo>
                  <a:pt x="17484" y="0"/>
                </a:moveTo>
                <a:cubicBezTo>
                  <a:pt x="21185" y="3993"/>
                  <a:pt x="23242" y="9237"/>
                  <a:pt x="23242" y="14682"/>
                </a:cubicBezTo>
                <a:cubicBezTo>
                  <a:pt x="23242" y="26611"/>
                  <a:pt x="13571" y="36282"/>
                  <a:pt x="1642" y="36282"/>
                </a:cubicBezTo>
                <a:cubicBezTo>
                  <a:pt x="1094" y="36282"/>
                  <a:pt x="546" y="36261"/>
                  <a:pt x="0" y="36219"/>
                </a:cubicBezTo>
                <a:lnTo>
                  <a:pt x="1642" y="1468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44" name="Freeform 28"/>
          <p:cNvSpPr>
            <a:spLocks noChangeAspect="1"/>
          </p:cNvSpPr>
          <p:nvPr/>
        </p:nvSpPr>
        <p:spPr bwMode="auto">
          <a:xfrm>
            <a:off x="3700230" y="2444076"/>
            <a:ext cx="2176708" cy="2727332"/>
          </a:xfrm>
          <a:custGeom>
            <a:avLst/>
            <a:gdLst>
              <a:gd name="connsiteX0" fmla="*/ 914 w 914"/>
              <a:gd name="connsiteY0" fmla="*/ 0 h 1145"/>
              <a:gd name="connsiteX1" fmla="*/ 0 w 914"/>
              <a:gd name="connsiteY1" fmla="*/ 1145 h 1145"/>
              <a:gd name="connsiteX0" fmla="*/ 914 w 914"/>
              <a:gd name="connsiteY0" fmla="*/ 0 h 1145"/>
              <a:gd name="connsiteX1" fmla="*/ 0 w 914"/>
              <a:gd name="connsiteY1" fmla="*/ 1145 h 1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" h="1145">
                <a:moveTo>
                  <a:pt x="914" y="0"/>
                </a:moveTo>
                <a:lnTo>
                  <a:pt x="0" y="1145"/>
                </a:ln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47" name="Arc 31"/>
          <p:cNvSpPr>
            <a:spLocks/>
          </p:cNvSpPr>
          <p:nvPr/>
        </p:nvSpPr>
        <p:spPr bwMode="auto">
          <a:xfrm rot="9626522" flipH="1" flipV="1">
            <a:off x="4878388" y="3727450"/>
            <a:ext cx="150812" cy="419100"/>
          </a:xfrm>
          <a:custGeom>
            <a:avLst/>
            <a:gdLst>
              <a:gd name="G0" fmla="+- 0 0 0"/>
              <a:gd name="G1" fmla="+- 18393 0 0"/>
              <a:gd name="G2" fmla="+- 21600 0 0"/>
              <a:gd name="T0" fmla="*/ 11326 w 21600"/>
              <a:gd name="T1" fmla="*/ 0 h 37627"/>
              <a:gd name="T2" fmla="*/ 9830 w 21600"/>
              <a:gd name="T3" fmla="*/ 37627 h 37627"/>
              <a:gd name="T4" fmla="*/ 0 w 21600"/>
              <a:gd name="T5" fmla="*/ 18393 h 37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7627" fill="none" extrusionOk="0">
                <a:moveTo>
                  <a:pt x="11325" y="0"/>
                </a:moveTo>
                <a:cubicBezTo>
                  <a:pt x="17710" y="3932"/>
                  <a:pt x="21600" y="10894"/>
                  <a:pt x="21600" y="18393"/>
                </a:cubicBezTo>
                <a:cubicBezTo>
                  <a:pt x="21600" y="26505"/>
                  <a:pt x="17053" y="33934"/>
                  <a:pt x="9829" y="37626"/>
                </a:cubicBezTo>
              </a:path>
              <a:path w="21600" h="37627" stroke="0" extrusionOk="0">
                <a:moveTo>
                  <a:pt x="11325" y="0"/>
                </a:moveTo>
                <a:cubicBezTo>
                  <a:pt x="17710" y="3932"/>
                  <a:pt x="21600" y="10894"/>
                  <a:pt x="21600" y="18393"/>
                </a:cubicBezTo>
                <a:cubicBezTo>
                  <a:pt x="21600" y="26505"/>
                  <a:pt x="17053" y="33934"/>
                  <a:pt x="9829" y="37626"/>
                </a:cubicBezTo>
                <a:lnTo>
                  <a:pt x="0" y="1839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4676775" y="381635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u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9249" name="Text Box 33"/>
          <p:cNvSpPr txBox="1">
            <a:spLocks noChangeArrowheads="1"/>
          </p:cNvSpPr>
          <p:nvPr/>
        </p:nvSpPr>
        <p:spPr bwMode="auto">
          <a:xfrm>
            <a:off x="3702050" y="3811588"/>
            <a:ext cx="3286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  <a:sym typeface="Symbol" pitchFamily="18" charset="2"/>
              </a:rPr>
              <a:t></a:t>
            </a:r>
          </a:p>
        </p:txBody>
      </p:sp>
      <p:sp>
        <p:nvSpPr>
          <p:cNvPr id="9251" name="AutoShape 35"/>
          <p:cNvSpPr>
            <a:spLocks/>
          </p:cNvSpPr>
          <p:nvPr/>
        </p:nvSpPr>
        <p:spPr bwMode="auto">
          <a:xfrm flipH="1">
            <a:off x="5357818" y="1946712"/>
            <a:ext cx="714380" cy="4392613"/>
          </a:xfrm>
          <a:prstGeom prst="leftBracket">
            <a:avLst>
              <a:gd name="adj" fmla="val 226173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1147763" y="1052513"/>
            <a:ext cx="10493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  <a:sym typeface="Symbol" pitchFamily="18" charset="2"/>
              </a:rPr>
              <a:t></a:t>
            </a:r>
            <a:r>
              <a:rPr lang="es-ES_tradnl" i="1">
                <a:latin typeface="Times New Roman" pitchFamily="18" charset="0"/>
              </a:rPr>
              <a:t> </a:t>
            </a:r>
            <a:r>
              <a:rPr lang="es-ES_tradnl">
                <a:latin typeface="Times New Roman" pitchFamily="18" charset="0"/>
              </a:rPr>
              <a:t>= </a:t>
            </a:r>
            <a:r>
              <a:rPr lang="es-ES_tradnl" i="1">
                <a:latin typeface="Times New Roman" pitchFamily="18" charset="0"/>
              </a:rPr>
              <a:t>u</a:t>
            </a:r>
            <a:r>
              <a:rPr lang="es-ES_tradnl">
                <a:latin typeface="Times New Roman" pitchFamily="18" charset="0"/>
              </a:rPr>
              <a:t> + </a:t>
            </a:r>
            <a:r>
              <a:rPr lang="es-ES_tradnl" i="1">
                <a:latin typeface="Times New Roman" pitchFamily="18" charset="0"/>
                <a:sym typeface="Symbol" pitchFamily="18" charset="2"/>
              </a:rPr>
              <a:t>i</a:t>
            </a: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1211263" y="1341438"/>
            <a:ext cx="11699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u</a:t>
            </a:r>
            <a:r>
              <a:rPr lang="es-ES_tradnl">
                <a:latin typeface="Times New Roman" pitchFamily="18" charset="0"/>
              </a:rPr>
              <a:t>’ </a:t>
            </a:r>
            <a:r>
              <a:rPr lang="es-ES_tradnl" i="1">
                <a:latin typeface="Times New Roman" pitchFamily="18" charset="0"/>
              </a:rPr>
              <a:t>= </a:t>
            </a:r>
            <a:r>
              <a:rPr lang="es-ES_tradnl">
                <a:latin typeface="Times New Roman" pitchFamily="18" charset="0"/>
                <a:sym typeface="Symbol" pitchFamily="18" charset="2"/>
              </a:rPr>
              <a:t></a:t>
            </a:r>
            <a:r>
              <a:rPr lang="es-ES_tradnl">
                <a:latin typeface="Times New Roman" pitchFamily="18" charset="0"/>
              </a:rPr>
              <a:t> + </a:t>
            </a:r>
            <a:r>
              <a:rPr lang="es-ES_tradnl" i="1">
                <a:latin typeface="Times New Roman" pitchFamily="18" charset="0"/>
              </a:rPr>
              <a:t>i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graphicFrame>
        <p:nvGraphicFramePr>
          <p:cNvPr id="9257" name="Object 41"/>
          <p:cNvGraphicFramePr>
            <a:graphicFrameLocks noChangeAspect="1"/>
          </p:cNvGraphicFramePr>
          <p:nvPr/>
        </p:nvGraphicFramePr>
        <p:xfrm>
          <a:off x="1260475" y="765175"/>
          <a:ext cx="5080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0" name="Ecuación" r:id="rId3" imgW="317160" imgH="203040" progId="Equation.3">
                  <p:embed/>
                </p:oleObj>
              </mc:Choice>
              <mc:Fallback>
                <p:oleObj name="Ecuación" r:id="rId3" imgW="317160" imgH="20304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765175"/>
                        <a:ext cx="508000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8" name="AutoShape 42"/>
          <p:cNvSpPr>
            <a:spLocks/>
          </p:cNvSpPr>
          <p:nvPr/>
        </p:nvSpPr>
        <p:spPr bwMode="auto">
          <a:xfrm>
            <a:off x="1116013" y="692150"/>
            <a:ext cx="73025" cy="1081088"/>
          </a:xfrm>
          <a:prstGeom prst="leftBrace">
            <a:avLst>
              <a:gd name="adj1" fmla="val 12337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60" name="Freeform 44"/>
          <p:cNvSpPr>
            <a:spLocks/>
          </p:cNvSpPr>
          <p:nvPr/>
        </p:nvSpPr>
        <p:spPr bwMode="auto">
          <a:xfrm>
            <a:off x="4614863" y="5157788"/>
            <a:ext cx="1411287" cy="1587"/>
          </a:xfrm>
          <a:custGeom>
            <a:avLst/>
            <a:gdLst/>
            <a:ahLst/>
            <a:cxnLst>
              <a:cxn ang="0">
                <a:pos x="865" y="0"/>
              </a:cxn>
              <a:cxn ang="0">
                <a:pos x="0" y="10"/>
              </a:cxn>
            </a:cxnLst>
            <a:rect l="0" t="0" r="r" b="b"/>
            <a:pathLst>
              <a:path w="865" h="10">
                <a:moveTo>
                  <a:pt x="865" y="0"/>
                </a:moveTo>
                <a:lnTo>
                  <a:pt x="0" y="1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61" name="Freeform 45"/>
          <p:cNvSpPr>
            <a:spLocks/>
          </p:cNvSpPr>
          <p:nvPr/>
        </p:nvSpPr>
        <p:spPr bwMode="auto">
          <a:xfrm>
            <a:off x="1247775" y="4518025"/>
            <a:ext cx="4765675" cy="1588"/>
          </a:xfrm>
          <a:custGeom>
            <a:avLst/>
            <a:gdLst/>
            <a:ahLst/>
            <a:cxnLst>
              <a:cxn ang="0">
                <a:pos x="3002" y="14"/>
              </a:cxn>
              <a:cxn ang="0">
                <a:pos x="0" y="0"/>
              </a:cxn>
            </a:cxnLst>
            <a:rect l="0" t="0" r="r" b="b"/>
            <a:pathLst>
              <a:path w="3002" h="14">
                <a:moveTo>
                  <a:pt x="3002" y="1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62" name="Text Box 46"/>
          <p:cNvSpPr txBox="1">
            <a:spLocks noChangeArrowheads="1"/>
          </p:cNvSpPr>
          <p:nvPr/>
        </p:nvSpPr>
        <p:spPr bwMode="auto">
          <a:xfrm>
            <a:off x="2411413" y="4508500"/>
            <a:ext cx="7254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s</a:t>
            </a:r>
            <a:r>
              <a:rPr lang="es-ES_tradnl">
                <a:latin typeface="Times New Roman" pitchFamily="18" charset="0"/>
              </a:rPr>
              <a:t> (&lt;0)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9263" name="Text Box 47"/>
          <p:cNvSpPr txBox="1">
            <a:spLocks noChangeArrowheads="1"/>
          </p:cNvSpPr>
          <p:nvPr/>
        </p:nvSpPr>
        <p:spPr bwMode="auto">
          <a:xfrm>
            <a:off x="4859338" y="5118100"/>
            <a:ext cx="801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s</a:t>
            </a:r>
            <a:r>
              <a:rPr lang="es-ES_tradnl">
                <a:latin typeface="Times New Roman" pitchFamily="18" charset="0"/>
              </a:rPr>
              <a:t>’ (&lt;0)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9266" name="Arc 50"/>
          <p:cNvSpPr>
            <a:spLocks/>
          </p:cNvSpPr>
          <p:nvPr/>
        </p:nvSpPr>
        <p:spPr bwMode="auto">
          <a:xfrm rot="7712054" flipV="1">
            <a:off x="5165725" y="2808288"/>
            <a:ext cx="280987" cy="325438"/>
          </a:xfrm>
          <a:custGeom>
            <a:avLst/>
            <a:gdLst>
              <a:gd name="G0" fmla="+- 0 0 0"/>
              <a:gd name="G1" fmla="+- 15821 0 0"/>
              <a:gd name="G2" fmla="+- 21600 0 0"/>
              <a:gd name="T0" fmla="*/ 14706 w 21600"/>
              <a:gd name="T1" fmla="*/ 0 h 23937"/>
              <a:gd name="T2" fmla="*/ 20017 w 21600"/>
              <a:gd name="T3" fmla="*/ 23937 h 23937"/>
              <a:gd name="T4" fmla="*/ 0 w 21600"/>
              <a:gd name="T5" fmla="*/ 15821 h 23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3937" fill="none" extrusionOk="0">
                <a:moveTo>
                  <a:pt x="14705" y="0"/>
                </a:moveTo>
                <a:cubicBezTo>
                  <a:pt x="19102" y="4086"/>
                  <a:pt x="21600" y="9818"/>
                  <a:pt x="21600" y="15821"/>
                </a:cubicBezTo>
                <a:cubicBezTo>
                  <a:pt x="21600" y="18603"/>
                  <a:pt x="21062" y="21358"/>
                  <a:pt x="20017" y="23937"/>
                </a:cubicBezTo>
              </a:path>
              <a:path w="21600" h="23937" stroke="0" extrusionOk="0">
                <a:moveTo>
                  <a:pt x="14705" y="0"/>
                </a:moveTo>
                <a:cubicBezTo>
                  <a:pt x="19102" y="4086"/>
                  <a:pt x="21600" y="9818"/>
                  <a:pt x="21600" y="15821"/>
                </a:cubicBezTo>
                <a:cubicBezTo>
                  <a:pt x="21600" y="18603"/>
                  <a:pt x="21062" y="21358"/>
                  <a:pt x="20017" y="23937"/>
                </a:cubicBezTo>
                <a:lnTo>
                  <a:pt x="0" y="1582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67" name="Text Box 51"/>
          <p:cNvSpPr txBox="1">
            <a:spLocks noChangeArrowheads="1"/>
          </p:cNvSpPr>
          <p:nvPr/>
        </p:nvSpPr>
        <p:spPr bwMode="auto">
          <a:xfrm>
            <a:off x="5259388" y="2770188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i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9270" name="Text Box 54"/>
          <p:cNvSpPr txBox="1">
            <a:spLocks noChangeArrowheads="1"/>
          </p:cNvSpPr>
          <p:nvPr/>
        </p:nvSpPr>
        <p:spPr bwMode="auto">
          <a:xfrm>
            <a:off x="1908175" y="5949950"/>
            <a:ext cx="5667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R</a:t>
            </a:r>
            <a:r>
              <a:rPr lang="es-ES_tradnl">
                <a:latin typeface="Times New Roman" pitchFamily="18" charset="0"/>
              </a:rPr>
              <a:t>&lt;0</a:t>
            </a:r>
          </a:p>
        </p:txBody>
      </p:sp>
      <p:sp>
        <p:nvSpPr>
          <p:cNvPr id="9271" name="Line 55"/>
          <p:cNvSpPr>
            <a:spLocks noChangeShapeType="1"/>
          </p:cNvSpPr>
          <p:nvPr/>
        </p:nvSpPr>
        <p:spPr bwMode="auto">
          <a:xfrm>
            <a:off x="1187450" y="4149725"/>
            <a:ext cx="4824413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72" name="Line 56"/>
          <p:cNvSpPr>
            <a:spLocks noChangeShapeType="1"/>
          </p:cNvSpPr>
          <p:nvPr/>
        </p:nvSpPr>
        <p:spPr bwMode="auto">
          <a:xfrm>
            <a:off x="4251325" y="4149725"/>
            <a:ext cx="1763713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triangle" w="lg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73" name="Freeform 57"/>
          <p:cNvSpPr>
            <a:spLocks/>
          </p:cNvSpPr>
          <p:nvPr/>
        </p:nvSpPr>
        <p:spPr bwMode="auto">
          <a:xfrm>
            <a:off x="1243442" y="2484443"/>
            <a:ext cx="4538663" cy="1658937"/>
          </a:xfrm>
          <a:custGeom>
            <a:avLst/>
            <a:gdLst>
              <a:gd name="connsiteX0" fmla="*/ 0 w 2859"/>
              <a:gd name="connsiteY0" fmla="*/ 1045 h 1045"/>
              <a:gd name="connsiteX1" fmla="*/ 2859 w 2859"/>
              <a:gd name="connsiteY1" fmla="*/ 0 h 1045"/>
              <a:gd name="connsiteX2" fmla="*/ 1406 w 2859"/>
              <a:gd name="connsiteY2" fmla="*/ 1045 h 1045"/>
              <a:gd name="connsiteX3" fmla="*/ 0 w 2859"/>
              <a:gd name="connsiteY3" fmla="*/ 1045 h 1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9" h="1045">
                <a:moveTo>
                  <a:pt x="0" y="1045"/>
                </a:moveTo>
                <a:lnTo>
                  <a:pt x="2859" y="0"/>
                </a:lnTo>
                <a:lnTo>
                  <a:pt x="1406" y="1045"/>
                </a:lnTo>
                <a:lnTo>
                  <a:pt x="0" y="1045"/>
                </a:lnTo>
                <a:close/>
              </a:path>
            </a:pathLst>
          </a:custGeom>
          <a:solidFill>
            <a:schemeClr val="hlink">
              <a:alpha val="23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74" name="Freeform 58"/>
          <p:cNvSpPr>
            <a:spLocks/>
          </p:cNvSpPr>
          <p:nvPr/>
        </p:nvSpPr>
        <p:spPr bwMode="auto">
          <a:xfrm>
            <a:off x="3415610" y="2514820"/>
            <a:ext cx="2379663" cy="1625600"/>
          </a:xfrm>
          <a:custGeom>
            <a:avLst/>
            <a:gdLst>
              <a:gd name="connsiteX0" fmla="*/ 719 w 1634"/>
              <a:gd name="connsiteY0" fmla="*/ 1159 h 1159"/>
              <a:gd name="connsiteX1" fmla="*/ 1634 w 1634"/>
              <a:gd name="connsiteY1" fmla="*/ 0 h 1159"/>
              <a:gd name="connsiteX2" fmla="*/ 0 w 1634"/>
              <a:gd name="connsiteY2" fmla="*/ 1159 h 1159"/>
              <a:gd name="connsiteX3" fmla="*/ 719 w 1634"/>
              <a:gd name="connsiteY3" fmla="*/ 1159 h 1159"/>
              <a:gd name="connsiteX0" fmla="*/ 719 w 1499"/>
              <a:gd name="connsiteY0" fmla="*/ 1024 h 1024"/>
              <a:gd name="connsiteX1" fmla="*/ 1499 w 1499"/>
              <a:gd name="connsiteY1" fmla="*/ 0 h 1024"/>
              <a:gd name="connsiteX2" fmla="*/ 0 w 1499"/>
              <a:gd name="connsiteY2" fmla="*/ 1024 h 1024"/>
              <a:gd name="connsiteX3" fmla="*/ 719 w 1499"/>
              <a:gd name="connsiteY3" fmla="*/ 1024 h 1024"/>
              <a:gd name="connsiteX0" fmla="*/ 719 w 1499"/>
              <a:gd name="connsiteY0" fmla="*/ 1024 h 1024"/>
              <a:gd name="connsiteX1" fmla="*/ 1499 w 1499"/>
              <a:gd name="connsiteY1" fmla="*/ 0 h 1024"/>
              <a:gd name="connsiteX2" fmla="*/ 0 w 1499"/>
              <a:gd name="connsiteY2" fmla="*/ 1024 h 1024"/>
              <a:gd name="connsiteX3" fmla="*/ 719 w 1499"/>
              <a:gd name="connsiteY3" fmla="*/ 1024 h 1024"/>
              <a:gd name="connsiteX0" fmla="*/ 719 w 1499"/>
              <a:gd name="connsiteY0" fmla="*/ 1024 h 1024"/>
              <a:gd name="connsiteX1" fmla="*/ 1499 w 1499"/>
              <a:gd name="connsiteY1" fmla="*/ 0 h 1024"/>
              <a:gd name="connsiteX2" fmla="*/ 0 w 1499"/>
              <a:gd name="connsiteY2" fmla="*/ 1024 h 1024"/>
              <a:gd name="connsiteX3" fmla="*/ 719 w 1499"/>
              <a:gd name="connsiteY3" fmla="*/ 1024 h 1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9" h="1024">
                <a:moveTo>
                  <a:pt x="719" y="1024"/>
                </a:moveTo>
                <a:lnTo>
                  <a:pt x="1499" y="0"/>
                </a:lnTo>
                <a:lnTo>
                  <a:pt x="0" y="1024"/>
                </a:lnTo>
                <a:lnTo>
                  <a:pt x="719" y="1024"/>
                </a:lnTo>
                <a:close/>
              </a:path>
            </a:pathLst>
          </a:custGeom>
          <a:solidFill>
            <a:schemeClr val="hlink">
              <a:alpha val="2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75" name="Text Box 59"/>
          <p:cNvSpPr txBox="1">
            <a:spLocks noChangeArrowheads="1"/>
          </p:cNvSpPr>
          <p:nvPr/>
        </p:nvSpPr>
        <p:spPr bwMode="auto">
          <a:xfrm>
            <a:off x="2411413" y="69215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imes New Roman" pitchFamily="18" charset="0"/>
              </a:rPr>
              <a:t>en </a:t>
            </a:r>
            <a:r>
              <a:rPr lang="es-ES_tradnl" i="1">
                <a:latin typeface="Times New Roman" pitchFamily="18" charset="0"/>
              </a:rPr>
              <a:t>I</a:t>
            </a:r>
          </a:p>
        </p:txBody>
      </p:sp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2411413" y="1014413"/>
            <a:ext cx="825500" cy="371475"/>
            <a:chOff x="1519" y="639"/>
            <a:chExt cx="520" cy="234"/>
          </a:xfrm>
        </p:grpSpPr>
        <p:sp>
          <p:nvSpPr>
            <p:cNvPr id="9276" name="Text Box 60"/>
            <p:cNvSpPr txBox="1">
              <a:spLocks noChangeArrowheads="1"/>
            </p:cNvSpPr>
            <p:nvPr/>
          </p:nvSpPr>
          <p:spPr bwMode="auto">
            <a:xfrm>
              <a:off x="1519" y="642"/>
              <a:ext cx="5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>
                  <a:latin typeface="Times New Roman" pitchFamily="18" charset="0"/>
                </a:rPr>
                <a:t>en </a:t>
              </a:r>
              <a:r>
                <a:rPr lang="es-ES_tradnl" i="1">
                  <a:latin typeface="Times New Roman" pitchFamily="18" charset="0"/>
                </a:rPr>
                <a:t>PIC</a:t>
              </a:r>
            </a:p>
          </p:txBody>
        </p:sp>
        <p:sp>
          <p:nvSpPr>
            <p:cNvPr id="9278" name="AutoShape 62"/>
            <p:cNvSpPr>
              <a:spLocks noChangeArrowheads="1"/>
            </p:cNvSpPr>
            <p:nvPr/>
          </p:nvSpPr>
          <p:spPr bwMode="auto">
            <a:xfrm>
              <a:off x="1830" y="639"/>
              <a:ext cx="91" cy="45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grpSp>
        <p:nvGrpSpPr>
          <p:cNvPr id="3" name="Group 65"/>
          <p:cNvGrpSpPr>
            <a:grpSpLocks/>
          </p:cNvGrpSpPr>
          <p:nvPr/>
        </p:nvGrpSpPr>
        <p:grpSpPr bwMode="auto">
          <a:xfrm>
            <a:off x="2411413" y="1333500"/>
            <a:ext cx="977900" cy="366713"/>
            <a:chOff x="1519" y="840"/>
            <a:chExt cx="616" cy="231"/>
          </a:xfrm>
        </p:grpSpPr>
        <p:sp>
          <p:nvSpPr>
            <p:cNvPr id="9277" name="Text Box 61"/>
            <p:cNvSpPr txBox="1">
              <a:spLocks noChangeArrowheads="1"/>
            </p:cNvSpPr>
            <p:nvPr/>
          </p:nvSpPr>
          <p:spPr bwMode="auto">
            <a:xfrm>
              <a:off x="1519" y="840"/>
              <a:ext cx="6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>
                  <a:latin typeface="Times New Roman" pitchFamily="18" charset="0"/>
                </a:rPr>
                <a:t>en </a:t>
              </a:r>
              <a:r>
                <a:rPr lang="es-ES_tradnl" i="1">
                  <a:latin typeface="Times New Roman" pitchFamily="18" charset="0"/>
                </a:rPr>
                <a:t>P</a:t>
              </a:r>
              <a:r>
                <a:rPr lang="es-ES_tradnl">
                  <a:latin typeface="Times New Roman" pitchFamily="18" charset="0"/>
                </a:rPr>
                <a:t>’</a:t>
              </a:r>
              <a:r>
                <a:rPr lang="es-ES_tradnl" i="1">
                  <a:latin typeface="Times New Roman" pitchFamily="18" charset="0"/>
                </a:rPr>
                <a:t>IC</a:t>
              </a:r>
              <a:r>
                <a:rPr lang="es-ES_tradnl">
                  <a:latin typeface="Times New Roman" pitchFamily="18" charset="0"/>
                </a:rPr>
                <a:t>’</a:t>
              </a:r>
            </a:p>
          </p:txBody>
        </p:sp>
        <p:sp>
          <p:nvSpPr>
            <p:cNvPr id="9279" name="AutoShape 63"/>
            <p:cNvSpPr>
              <a:spLocks noChangeArrowheads="1"/>
            </p:cNvSpPr>
            <p:nvPr/>
          </p:nvSpPr>
          <p:spPr bwMode="auto">
            <a:xfrm>
              <a:off x="1868" y="845"/>
              <a:ext cx="91" cy="45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6078538" y="3805238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V</a:t>
            </a:r>
          </a:p>
        </p:txBody>
      </p:sp>
      <p:sp>
        <p:nvSpPr>
          <p:cNvPr id="9250" name="Oval 34"/>
          <p:cNvSpPr>
            <a:spLocks noChangeArrowheads="1"/>
          </p:cNvSpPr>
          <p:nvPr/>
        </p:nvSpPr>
        <p:spPr bwMode="auto">
          <a:xfrm>
            <a:off x="6031366" y="4103688"/>
            <a:ext cx="71437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82" name="Text Box 66"/>
          <p:cNvSpPr txBox="1">
            <a:spLocks noChangeArrowheads="1"/>
          </p:cNvSpPr>
          <p:nvPr/>
        </p:nvSpPr>
        <p:spPr bwMode="auto">
          <a:xfrm>
            <a:off x="8675688" y="6564313"/>
            <a:ext cx="35458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13</a:t>
            </a:r>
          </a:p>
        </p:txBody>
      </p:sp>
      <p:sp>
        <p:nvSpPr>
          <p:cNvPr id="9252" name="Oval 36"/>
          <p:cNvSpPr>
            <a:spLocks noChangeArrowheads="1"/>
          </p:cNvSpPr>
          <p:nvPr/>
        </p:nvSpPr>
        <p:spPr bwMode="auto">
          <a:xfrm>
            <a:off x="5814342" y="2414355"/>
            <a:ext cx="71437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36" name="Oval 20"/>
          <p:cNvSpPr>
            <a:spLocks noChangeArrowheads="1"/>
          </p:cNvSpPr>
          <p:nvPr/>
        </p:nvSpPr>
        <p:spPr bwMode="auto">
          <a:xfrm>
            <a:off x="4498069" y="4098925"/>
            <a:ext cx="71438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59" name="58 CuadroTexto"/>
          <p:cNvSpPr txBox="1"/>
          <p:nvPr/>
        </p:nvSpPr>
        <p:spPr>
          <a:xfrm>
            <a:off x="1500166" y="6286520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Espejo Cóncavo</a:t>
            </a:r>
          </a:p>
        </p:txBody>
      </p:sp>
      <p:sp>
        <p:nvSpPr>
          <p:cNvPr id="60" name="59 CuadroTexto"/>
          <p:cNvSpPr txBox="1"/>
          <p:nvPr/>
        </p:nvSpPr>
        <p:spPr>
          <a:xfrm>
            <a:off x="714348" y="4643446"/>
            <a:ext cx="1369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Objeto Puntual</a:t>
            </a:r>
          </a:p>
        </p:txBody>
      </p:sp>
      <p:sp>
        <p:nvSpPr>
          <p:cNvPr id="61" name="60 CuadroTexto"/>
          <p:cNvSpPr txBox="1"/>
          <p:nvPr/>
        </p:nvSpPr>
        <p:spPr>
          <a:xfrm>
            <a:off x="4143372" y="4572008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Imagen Puntual</a:t>
            </a:r>
          </a:p>
        </p:txBody>
      </p:sp>
      <p:sp>
        <p:nvSpPr>
          <p:cNvPr id="62" name="61 CuadroTexto"/>
          <p:cNvSpPr txBox="1"/>
          <p:nvPr/>
        </p:nvSpPr>
        <p:spPr>
          <a:xfrm>
            <a:off x="6072198" y="2214554"/>
            <a:ext cx="1757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Punto de Incidencia</a:t>
            </a:r>
          </a:p>
        </p:txBody>
      </p:sp>
      <p:sp>
        <p:nvSpPr>
          <p:cNvPr id="63" name="62 CuadroTexto"/>
          <p:cNvSpPr txBox="1"/>
          <p:nvPr/>
        </p:nvSpPr>
        <p:spPr>
          <a:xfrm>
            <a:off x="6215074" y="1785926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Normal en 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2000"/>
                                        <p:tgtEl>
                                          <p:spTgt spid="9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0"/>
                                        <p:tgtEl>
                                          <p:spTgt spid="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2000"/>
                                        <p:tgtEl>
                                          <p:spTgt spid="9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2000"/>
                                        <p:tgtEl>
                                          <p:spTgt spid="92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1" grpId="0" animBg="1"/>
      <p:bldP spid="9232" grpId="0" animBg="1"/>
      <p:bldP spid="9233" grpId="0" animBg="1"/>
      <p:bldP spid="9234" grpId="0"/>
      <p:bldP spid="9235" grpId="0"/>
      <p:bldP spid="9238" grpId="0" animBg="1"/>
      <p:bldP spid="9239" grpId="0"/>
      <p:bldP spid="9240" grpId="0"/>
      <p:bldP spid="9241" grpId="0" animBg="1"/>
      <p:bldP spid="9242" grpId="0"/>
      <p:bldP spid="9243" grpId="0" animBg="1"/>
      <p:bldP spid="9244" grpId="0" animBg="1"/>
      <p:bldP spid="9247" grpId="0" animBg="1"/>
      <p:bldP spid="9248" grpId="0"/>
      <p:bldP spid="9249" grpId="0"/>
      <p:bldP spid="9255" grpId="0"/>
      <p:bldP spid="9256" grpId="0"/>
      <p:bldP spid="9258" grpId="0" animBg="1"/>
      <p:bldP spid="9260" grpId="0" animBg="1"/>
      <p:bldP spid="9261" grpId="0" animBg="1"/>
      <p:bldP spid="9262" grpId="0"/>
      <p:bldP spid="9263" grpId="0"/>
      <p:bldP spid="9266" grpId="0" animBg="1"/>
      <p:bldP spid="9267" grpId="0"/>
      <p:bldP spid="9271" grpId="0" animBg="1"/>
      <p:bldP spid="9272" grpId="0" animBg="1"/>
      <p:bldP spid="9273" grpId="0" animBg="1"/>
      <p:bldP spid="9273" grpId="1" animBg="1"/>
      <p:bldP spid="9274" grpId="0" animBg="1"/>
      <p:bldP spid="9274" grpId="1" animBg="1"/>
      <p:bldP spid="9275" grpId="0"/>
      <p:bldP spid="9275" grpId="1"/>
      <p:bldP spid="9282" grpId="0"/>
      <p:bldP spid="9252" grpId="0" animBg="1"/>
      <p:bldP spid="9236" grpId="0" animBg="1"/>
      <p:bldP spid="60" grpId="0"/>
      <p:bldP spid="61" grpId="0"/>
      <p:bldP spid="62" grpId="0"/>
      <p:bldP spid="6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9" name="Freeform 53" descr="Diagonal hacia arriba ancha"/>
          <p:cNvSpPr>
            <a:spLocks/>
          </p:cNvSpPr>
          <p:nvPr/>
        </p:nvSpPr>
        <p:spPr bwMode="auto">
          <a:xfrm>
            <a:off x="4665681" y="1844675"/>
            <a:ext cx="755650" cy="4370388"/>
          </a:xfrm>
          <a:custGeom>
            <a:avLst/>
            <a:gdLst/>
            <a:ahLst/>
            <a:cxnLst>
              <a:cxn ang="0">
                <a:pos x="462" y="41"/>
              </a:cxn>
              <a:cxn ang="0">
                <a:pos x="354" y="0"/>
              </a:cxn>
              <a:cxn ang="0">
                <a:pos x="126" y="10"/>
              </a:cxn>
              <a:cxn ang="0">
                <a:pos x="228" y="64"/>
              </a:cxn>
              <a:cxn ang="0">
                <a:pos x="296" y="193"/>
              </a:cxn>
              <a:cxn ang="0">
                <a:pos x="312" y="1179"/>
              </a:cxn>
              <a:cxn ang="0">
                <a:pos x="312" y="1406"/>
              </a:cxn>
              <a:cxn ang="0">
                <a:pos x="304" y="1602"/>
              </a:cxn>
              <a:cxn ang="0">
                <a:pos x="296" y="2558"/>
              </a:cxn>
              <a:cxn ang="0">
                <a:pos x="269" y="2666"/>
              </a:cxn>
              <a:cxn ang="0">
                <a:pos x="126" y="2747"/>
              </a:cxn>
              <a:cxn ang="0">
                <a:pos x="320" y="2738"/>
              </a:cxn>
              <a:cxn ang="0">
                <a:pos x="408" y="2656"/>
              </a:cxn>
              <a:cxn ang="0">
                <a:pos x="476" y="2480"/>
              </a:cxn>
              <a:cxn ang="0">
                <a:pos x="476" y="1416"/>
              </a:cxn>
              <a:cxn ang="0">
                <a:pos x="462" y="41"/>
              </a:cxn>
            </a:cxnLst>
            <a:rect l="0" t="0" r="r" b="b"/>
            <a:pathLst>
              <a:path w="476" h="2753">
                <a:moveTo>
                  <a:pt x="462" y="41"/>
                </a:moveTo>
                <a:lnTo>
                  <a:pt x="354" y="0"/>
                </a:lnTo>
                <a:lnTo>
                  <a:pt x="126" y="10"/>
                </a:lnTo>
                <a:lnTo>
                  <a:pt x="228" y="64"/>
                </a:lnTo>
                <a:lnTo>
                  <a:pt x="296" y="193"/>
                </a:lnTo>
                <a:lnTo>
                  <a:pt x="312" y="1179"/>
                </a:lnTo>
                <a:lnTo>
                  <a:pt x="312" y="1406"/>
                </a:lnTo>
                <a:lnTo>
                  <a:pt x="304" y="1602"/>
                </a:lnTo>
                <a:lnTo>
                  <a:pt x="296" y="2558"/>
                </a:lnTo>
                <a:lnTo>
                  <a:pt x="269" y="2666"/>
                </a:lnTo>
                <a:cubicBezTo>
                  <a:pt x="241" y="2697"/>
                  <a:pt x="117" y="2735"/>
                  <a:pt x="126" y="2747"/>
                </a:cubicBezTo>
                <a:cubicBezTo>
                  <a:pt x="0" y="2751"/>
                  <a:pt x="273" y="2753"/>
                  <a:pt x="320" y="2738"/>
                </a:cubicBezTo>
                <a:lnTo>
                  <a:pt x="408" y="2656"/>
                </a:lnTo>
                <a:cubicBezTo>
                  <a:pt x="434" y="2613"/>
                  <a:pt x="465" y="2687"/>
                  <a:pt x="476" y="2480"/>
                </a:cubicBezTo>
                <a:lnTo>
                  <a:pt x="476" y="1416"/>
                </a:lnTo>
                <a:lnTo>
                  <a:pt x="462" y="41"/>
                </a:lnTo>
                <a:close/>
              </a:path>
            </a:pathLst>
          </a:custGeom>
          <a:pattFill prst="wdUpDiag">
            <a:fgClr>
              <a:srgbClr val="C0C0C0">
                <a:alpha val="57001"/>
              </a:srgbClr>
            </a:fgClr>
            <a:bgClr>
              <a:schemeClr val="bg1">
                <a:alpha val="57001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21" name="Freeform 5" descr="Onda"/>
          <p:cNvSpPr>
            <a:spLocks/>
          </p:cNvSpPr>
          <p:nvPr/>
        </p:nvSpPr>
        <p:spPr bwMode="auto">
          <a:xfrm flipH="1">
            <a:off x="-209532" y="1828800"/>
            <a:ext cx="5338763" cy="4484688"/>
          </a:xfrm>
          <a:custGeom>
            <a:avLst/>
            <a:gdLst/>
            <a:ahLst/>
            <a:cxnLst>
              <a:cxn ang="0">
                <a:pos x="3090" y="2541"/>
              </a:cxn>
              <a:cxn ang="0">
                <a:pos x="3171" y="1999"/>
              </a:cxn>
              <a:cxn ang="0">
                <a:pos x="3063" y="1003"/>
              </a:cxn>
              <a:cxn ang="0">
                <a:pos x="3015" y="20"/>
              </a:cxn>
              <a:cxn ang="0">
                <a:pos x="976" y="6"/>
              </a:cxn>
              <a:cxn ang="0">
                <a:pos x="657" y="0"/>
              </a:cxn>
              <a:cxn ang="0">
                <a:pos x="169" y="20"/>
              </a:cxn>
              <a:cxn ang="0">
                <a:pos x="54" y="108"/>
              </a:cxn>
              <a:cxn ang="0">
                <a:pos x="0" y="271"/>
              </a:cxn>
              <a:cxn ang="0">
                <a:pos x="20" y="840"/>
              </a:cxn>
              <a:cxn ang="0">
                <a:pos x="3" y="1202"/>
              </a:cxn>
              <a:cxn ang="0">
                <a:pos x="3" y="1429"/>
              </a:cxn>
              <a:cxn ang="0">
                <a:pos x="11" y="1625"/>
              </a:cxn>
              <a:cxn ang="0">
                <a:pos x="20" y="1985"/>
              </a:cxn>
              <a:cxn ang="0">
                <a:pos x="27" y="2460"/>
              </a:cxn>
              <a:cxn ang="0">
                <a:pos x="101" y="2717"/>
              </a:cxn>
              <a:cxn ang="0">
                <a:pos x="237" y="2792"/>
              </a:cxn>
              <a:cxn ang="0">
                <a:pos x="894" y="2825"/>
              </a:cxn>
              <a:cxn ang="0">
                <a:pos x="1152" y="2825"/>
              </a:cxn>
              <a:cxn ang="0">
                <a:pos x="2934" y="2825"/>
              </a:cxn>
              <a:cxn ang="0">
                <a:pos x="3090" y="2541"/>
              </a:cxn>
            </a:cxnLst>
            <a:rect l="0" t="0" r="r" b="b"/>
            <a:pathLst>
              <a:path w="3363" h="2825">
                <a:moveTo>
                  <a:pt x="3090" y="2541"/>
                </a:moveTo>
                <a:cubicBezTo>
                  <a:pt x="3083" y="2481"/>
                  <a:pt x="3168" y="2199"/>
                  <a:pt x="3171" y="1999"/>
                </a:cubicBezTo>
                <a:cubicBezTo>
                  <a:pt x="3174" y="1799"/>
                  <a:pt x="3093" y="1203"/>
                  <a:pt x="3063" y="1003"/>
                </a:cubicBezTo>
                <a:cubicBezTo>
                  <a:pt x="2909" y="762"/>
                  <a:pt x="3363" y="186"/>
                  <a:pt x="3015" y="20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090" y="2541"/>
                </a:ln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900113" y="44450"/>
            <a:ext cx="7793037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s-ES_tradnl" sz="3200" dirty="0">
                <a:solidFill>
                  <a:schemeClr val="tx2"/>
                </a:solidFill>
              </a:rPr>
              <a:t>Espejo esférico - </a:t>
            </a:r>
            <a:r>
              <a:rPr lang="es-ES_tradnl" dirty="0">
                <a:solidFill>
                  <a:schemeClr val="tx2"/>
                </a:solidFill>
              </a:rPr>
              <a:t>Deducción de un modelo analítico</a:t>
            </a:r>
            <a:endParaRPr lang="es-ES_tradnl" sz="3200" dirty="0">
              <a:solidFill>
                <a:schemeClr val="tx2"/>
              </a:solidFill>
            </a:endParaRPr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>
            <a:off x="-374631" y="4137024"/>
            <a:ext cx="680402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 flipV="1">
            <a:off x="5126056" y="1562100"/>
            <a:ext cx="0" cy="464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25" name="Oval 9"/>
          <p:cNvSpPr>
            <a:spLocks noChangeArrowheads="1"/>
          </p:cNvSpPr>
          <p:nvPr/>
        </p:nvSpPr>
        <p:spPr bwMode="auto">
          <a:xfrm>
            <a:off x="2479693" y="4103688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5929322" y="4143380"/>
            <a:ext cx="357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>
                <a:latin typeface="Tahoma" pitchFamily="34" charset="0"/>
              </a:rPr>
              <a:t> </a:t>
            </a:r>
            <a:r>
              <a:rPr lang="es-ES_tradnl" i="1" dirty="0">
                <a:latin typeface="Times New Roman" pitchFamily="18" charset="0"/>
              </a:rPr>
              <a:t>x</a:t>
            </a:r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4748231" y="1506538"/>
            <a:ext cx="3571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y</a:t>
            </a:r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2206643" y="414178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4089418" y="5661025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273068" y="4098925"/>
            <a:ext cx="71438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32" name="Freeform 16"/>
          <p:cNvSpPr>
            <a:spLocks/>
          </p:cNvSpPr>
          <p:nvPr/>
        </p:nvSpPr>
        <p:spPr bwMode="auto">
          <a:xfrm>
            <a:off x="295293" y="2290763"/>
            <a:ext cx="4803775" cy="1836737"/>
          </a:xfrm>
          <a:custGeom>
            <a:avLst/>
            <a:gdLst/>
            <a:ahLst/>
            <a:cxnLst>
              <a:cxn ang="0">
                <a:pos x="0" y="1157"/>
              </a:cxn>
              <a:cxn ang="0">
                <a:pos x="3026" y="0"/>
              </a:cxn>
            </a:cxnLst>
            <a:rect l="0" t="0" r="r" b="b"/>
            <a:pathLst>
              <a:path w="3026" h="1157">
                <a:moveTo>
                  <a:pt x="0" y="1157"/>
                </a:moveTo>
                <a:lnTo>
                  <a:pt x="3026" y="0"/>
                </a:ln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33" name="Arc 17"/>
          <p:cNvSpPr>
            <a:spLocks/>
          </p:cNvSpPr>
          <p:nvPr/>
        </p:nvSpPr>
        <p:spPr bwMode="auto">
          <a:xfrm rot="7712054" flipV="1">
            <a:off x="4068781" y="2581275"/>
            <a:ext cx="280988" cy="325437"/>
          </a:xfrm>
          <a:custGeom>
            <a:avLst/>
            <a:gdLst>
              <a:gd name="G0" fmla="+- 0 0 0"/>
              <a:gd name="G1" fmla="+- 15821 0 0"/>
              <a:gd name="G2" fmla="+- 21600 0 0"/>
              <a:gd name="T0" fmla="*/ 14706 w 21600"/>
              <a:gd name="T1" fmla="*/ 0 h 23937"/>
              <a:gd name="T2" fmla="*/ 20017 w 21600"/>
              <a:gd name="T3" fmla="*/ 23937 h 23937"/>
              <a:gd name="T4" fmla="*/ 0 w 21600"/>
              <a:gd name="T5" fmla="*/ 15821 h 23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3937" fill="none" extrusionOk="0">
                <a:moveTo>
                  <a:pt x="14705" y="0"/>
                </a:moveTo>
                <a:cubicBezTo>
                  <a:pt x="19102" y="4086"/>
                  <a:pt x="21600" y="9818"/>
                  <a:pt x="21600" y="15821"/>
                </a:cubicBezTo>
                <a:cubicBezTo>
                  <a:pt x="21600" y="18603"/>
                  <a:pt x="21062" y="21358"/>
                  <a:pt x="20017" y="23937"/>
                </a:cubicBezTo>
              </a:path>
              <a:path w="21600" h="23937" stroke="0" extrusionOk="0">
                <a:moveTo>
                  <a:pt x="14705" y="0"/>
                </a:moveTo>
                <a:cubicBezTo>
                  <a:pt x="19102" y="4086"/>
                  <a:pt x="21600" y="9818"/>
                  <a:pt x="21600" y="15821"/>
                </a:cubicBezTo>
                <a:cubicBezTo>
                  <a:pt x="21600" y="18603"/>
                  <a:pt x="21062" y="21358"/>
                  <a:pt x="20017" y="23937"/>
                </a:cubicBezTo>
                <a:lnTo>
                  <a:pt x="0" y="1582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34" name="Text Box 18"/>
          <p:cNvSpPr txBox="1">
            <a:spLocks noChangeArrowheads="1"/>
          </p:cNvSpPr>
          <p:nvPr/>
        </p:nvSpPr>
        <p:spPr bwMode="auto">
          <a:xfrm>
            <a:off x="3586181" y="4110038"/>
            <a:ext cx="409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000">
                <a:latin typeface="Times New Roman" pitchFamily="18" charset="0"/>
              </a:rPr>
              <a:t>P’</a:t>
            </a:r>
          </a:p>
        </p:txBody>
      </p:sp>
      <p:sp>
        <p:nvSpPr>
          <p:cNvPr id="9235" name="Text Box 19"/>
          <p:cNvSpPr txBox="1">
            <a:spLocks noChangeArrowheads="1"/>
          </p:cNvSpPr>
          <p:nvPr/>
        </p:nvSpPr>
        <p:spPr bwMode="auto">
          <a:xfrm>
            <a:off x="5122881" y="2089150"/>
            <a:ext cx="268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000">
                <a:latin typeface="Times New Roman" pitchFamily="18" charset="0"/>
              </a:rPr>
              <a:t>I</a:t>
            </a:r>
          </a:p>
        </p:txBody>
      </p:sp>
      <p:sp>
        <p:nvSpPr>
          <p:cNvPr id="9236" name="Oval 20"/>
          <p:cNvSpPr>
            <a:spLocks noChangeArrowheads="1"/>
          </p:cNvSpPr>
          <p:nvPr/>
        </p:nvSpPr>
        <p:spPr bwMode="auto">
          <a:xfrm>
            <a:off x="3641743" y="4098925"/>
            <a:ext cx="71438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38" name="Freeform 22"/>
          <p:cNvSpPr>
            <a:spLocks/>
          </p:cNvSpPr>
          <p:nvPr/>
        </p:nvSpPr>
        <p:spPr bwMode="auto">
          <a:xfrm>
            <a:off x="2517793" y="2301875"/>
            <a:ext cx="2603500" cy="1851025"/>
          </a:xfrm>
          <a:custGeom>
            <a:avLst/>
            <a:gdLst/>
            <a:ahLst/>
            <a:cxnLst>
              <a:cxn ang="0">
                <a:pos x="1640" y="0"/>
              </a:cxn>
              <a:cxn ang="0">
                <a:pos x="0" y="1166"/>
              </a:cxn>
            </a:cxnLst>
            <a:rect l="0" t="0" r="r" b="b"/>
            <a:pathLst>
              <a:path w="1640" h="1166">
                <a:moveTo>
                  <a:pt x="1640" y="0"/>
                </a:moveTo>
                <a:lnTo>
                  <a:pt x="0" y="1166"/>
                </a:lnTo>
              </a:path>
            </a:pathLst>
          </a:custGeom>
          <a:noFill/>
          <a:ln w="9525" cap="flat">
            <a:solidFill>
              <a:srgbClr val="96969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39" name="Text Box 23"/>
          <p:cNvSpPr txBox="1">
            <a:spLocks noChangeArrowheads="1"/>
          </p:cNvSpPr>
          <p:nvPr/>
        </p:nvSpPr>
        <p:spPr bwMode="auto">
          <a:xfrm>
            <a:off x="4162443" y="2565400"/>
            <a:ext cx="24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i</a:t>
            </a:r>
          </a:p>
        </p:txBody>
      </p:sp>
      <p:sp>
        <p:nvSpPr>
          <p:cNvPr id="9240" name="Text Box 24"/>
          <p:cNvSpPr txBox="1">
            <a:spLocks noChangeArrowheads="1"/>
          </p:cNvSpPr>
          <p:nvPr/>
        </p:nvSpPr>
        <p:spPr bwMode="auto">
          <a:xfrm>
            <a:off x="180993" y="4157663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000">
                <a:latin typeface="Times New Roman" pitchFamily="18" charset="0"/>
              </a:rPr>
              <a:t>P</a:t>
            </a:r>
          </a:p>
        </p:txBody>
      </p:sp>
      <p:sp>
        <p:nvSpPr>
          <p:cNvPr id="9241" name="Arc 25"/>
          <p:cNvSpPr>
            <a:spLocks/>
          </p:cNvSpPr>
          <p:nvPr/>
        </p:nvSpPr>
        <p:spPr bwMode="auto">
          <a:xfrm rot="9164973" flipH="1" flipV="1">
            <a:off x="920768" y="3844925"/>
            <a:ext cx="280988" cy="293688"/>
          </a:xfrm>
          <a:custGeom>
            <a:avLst/>
            <a:gdLst>
              <a:gd name="G0" fmla="+- 0 0 0"/>
              <a:gd name="G1" fmla="+- 4849 0 0"/>
              <a:gd name="G2" fmla="+- 21600 0 0"/>
              <a:gd name="T0" fmla="*/ 21049 w 21600"/>
              <a:gd name="T1" fmla="*/ 0 h 21636"/>
              <a:gd name="T2" fmla="*/ 13593 w 21600"/>
              <a:gd name="T3" fmla="*/ 21636 h 21636"/>
              <a:gd name="T4" fmla="*/ 0 w 21600"/>
              <a:gd name="T5" fmla="*/ 4849 h 21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36" fill="none" extrusionOk="0">
                <a:moveTo>
                  <a:pt x="21048" y="0"/>
                </a:moveTo>
                <a:cubicBezTo>
                  <a:pt x="21415" y="1590"/>
                  <a:pt x="21600" y="3217"/>
                  <a:pt x="21600" y="4849"/>
                </a:cubicBezTo>
                <a:cubicBezTo>
                  <a:pt x="21600" y="11366"/>
                  <a:pt x="18657" y="17534"/>
                  <a:pt x="13592" y="21635"/>
                </a:cubicBezTo>
              </a:path>
              <a:path w="21600" h="21636" stroke="0" extrusionOk="0">
                <a:moveTo>
                  <a:pt x="21048" y="0"/>
                </a:moveTo>
                <a:cubicBezTo>
                  <a:pt x="21415" y="1590"/>
                  <a:pt x="21600" y="3217"/>
                  <a:pt x="21600" y="4849"/>
                </a:cubicBezTo>
                <a:cubicBezTo>
                  <a:pt x="21600" y="11366"/>
                  <a:pt x="18657" y="17534"/>
                  <a:pt x="13592" y="21635"/>
                </a:cubicBezTo>
                <a:lnTo>
                  <a:pt x="0" y="484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42" name="Text Box 26"/>
          <p:cNvSpPr txBox="1">
            <a:spLocks noChangeArrowheads="1"/>
          </p:cNvSpPr>
          <p:nvPr/>
        </p:nvSpPr>
        <p:spPr bwMode="auto">
          <a:xfrm>
            <a:off x="766781" y="378936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u</a:t>
            </a:r>
          </a:p>
        </p:txBody>
      </p:sp>
      <p:sp>
        <p:nvSpPr>
          <p:cNvPr id="9243" name="Arc 27"/>
          <p:cNvSpPr>
            <a:spLocks/>
          </p:cNvSpPr>
          <p:nvPr/>
        </p:nvSpPr>
        <p:spPr bwMode="auto">
          <a:xfrm rot="9680985" flipH="1">
            <a:off x="3009918" y="3798888"/>
            <a:ext cx="157163" cy="350837"/>
          </a:xfrm>
          <a:custGeom>
            <a:avLst/>
            <a:gdLst>
              <a:gd name="G0" fmla="+- 1642 0 0"/>
              <a:gd name="G1" fmla="+- 14682 0 0"/>
              <a:gd name="G2" fmla="+- 21600 0 0"/>
              <a:gd name="T0" fmla="*/ 17485 w 23242"/>
              <a:gd name="T1" fmla="*/ 0 h 36282"/>
              <a:gd name="T2" fmla="*/ 0 w 23242"/>
              <a:gd name="T3" fmla="*/ 36220 h 36282"/>
              <a:gd name="T4" fmla="*/ 1642 w 23242"/>
              <a:gd name="T5" fmla="*/ 14682 h 36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242" h="36282" fill="none" extrusionOk="0">
                <a:moveTo>
                  <a:pt x="17484" y="0"/>
                </a:moveTo>
                <a:cubicBezTo>
                  <a:pt x="21185" y="3993"/>
                  <a:pt x="23242" y="9237"/>
                  <a:pt x="23242" y="14682"/>
                </a:cubicBezTo>
                <a:cubicBezTo>
                  <a:pt x="23242" y="26611"/>
                  <a:pt x="13571" y="36282"/>
                  <a:pt x="1642" y="36282"/>
                </a:cubicBezTo>
                <a:cubicBezTo>
                  <a:pt x="1094" y="36282"/>
                  <a:pt x="546" y="36261"/>
                  <a:pt x="0" y="36219"/>
                </a:cubicBezTo>
              </a:path>
              <a:path w="23242" h="36282" stroke="0" extrusionOk="0">
                <a:moveTo>
                  <a:pt x="17484" y="0"/>
                </a:moveTo>
                <a:cubicBezTo>
                  <a:pt x="21185" y="3993"/>
                  <a:pt x="23242" y="9237"/>
                  <a:pt x="23242" y="14682"/>
                </a:cubicBezTo>
                <a:cubicBezTo>
                  <a:pt x="23242" y="26611"/>
                  <a:pt x="13571" y="36282"/>
                  <a:pt x="1642" y="36282"/>
                </a:cubicBezTo>
                <a:cubicBezTo>
                  <a:pt x="1094" y="36282"/>
                  <a:pt x="546" y="36261"/>
                  <a:pt x="0" y="36219"/>
                </a:cubicBezTo>
                <a:lnTo>
                  <a:pt x="1642" y="1468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44" name="Freeform 28"/>
          <p:cNvSpPr>
            <a:spLocks noChangeAspect="1"/>
          </p:cNvSpPr>
          <p:nvPr/>
        </p:nvSpPr>
        <p:spPr bwMode="auto">
          <a:xfrm>
            <a:off x="2860693" y="2301875"/>
            <a:ext cx="2278063" cy="2854325"/>
          </a:xfrm>
          <a:custGeom>
            <a:avLst/>
            <a:gdLst/>
            <a:ahLst/>
            <a:cxnLst>
              <a:cxn ang="0">
                <a:pos x="914" y="0"/>
              </a:cxn>
              <a:cxn ang="0">
                <a:pos x="0" y="1145"/>
              </a:cxn>
            </a:cxnLst>
            <a:rect l="0" t="0" r="r" b="b"/>
            <a:pathLst>
              <a:path w="914" h="1145">
                <a:moveTo>
                  <a:pt x="914" y="0"/>
                </a:moveTo>
                <a:lnTo>
                  <a:pt x="0" y="1145"/>
                </a:ln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47" name="Arc 31"/>
          <p:cNvSpPr>
            <a:spLocks/>
          </p:cNvSpPr>
          <p:nvPr/>
        </p:nvSpPr>
        <p:spPr bwMode="auto">
          <a:xfrm rot="9626522" flipH="1" flipV="1">
            <a:off x="3964006" y="3727450"/>
            <a:ext cx="150812" cy="419100"/>
          </a:xfrm>
          <a:custGeom>
            <a:avLst/>
            <a:gdLst>
              <a:gd name="G0" fmla="+- 0 0 0"/>
              <a:gd name="G1" fmla="+- 18393 0 0"/>
              <a:gd name="G2" fmla="+- 21600 0 0"/>
              <a:gd name="T0" fmla="*/ 11326 w 21600"/>
              <a:gd name="T1" fmla="*/ 0 h 37627"/>
              <a:gd name="T2" fmla="*/ 9830 w 21600"/>
              <a:gd name="T3" fmla="*/ 37627 h 37627"/>
              <a:gd name="T4" fmla="*/ 0 w 21600"/>
              <a:gd name="T5" fmla="*/ 18393 h 37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7627" fill="none" extrusionOk="0">
                <a:moveTo>
                  <a:pt x="11325" y="0"/>
                </a:moveTo>
                <a:cubicBezTo>
                  <a:pt x="17710" y="3932"/>
                  <a:pt x="21600" y="10894"/>
                  <a:pt x="21600" y="18393"/>
                </a:cubicBezTo>
                <a:cubicBezTo>
                  <a:pt x="21600" y="26505"/>
                  <a:pt x="17053" y="33934"/>
                  <a:pt x="9829" y="37626"/>
                </a:cubicBezTo>
              </a:path>
              <a:path w="21600" h="37627" stroke="0" extrusionOk="0">
                <a:moveTo>
                  <a:pt x="11325" y="0"/>
                </a:moveTo>
                <a:cubicBezTo>
                  <a:pt x="17710" y="3932"/>
                  <a:pt x="21600" y="10894"/>
                  <a:pt x="21600" y="18393"/>
                </a:cubicBezTo>
                <a:cubicBezTo>
                  <a:pt x="21600" y="26505"/>
                  <a:pt x="17053" y="33934"/>
                  <a:pt x="9829" y="37626"/>
                </a:cubicBezTo>
                <a:lnTo>
                  <a:pt x="0" y="1839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3762393" y="381635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u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9249" name="Text Box 33"/>
          <p:cNvSpPr txBox="1">
            <a:spLocks noChangeArrowheads="1"/>
          </p:cNvSpPr>
          <p:nvPr/>
        </p:nvSpPr>
        <p:spPr bwMode="auto">
          <a:xfrm>
            <a:off x="2787668" y="3811588"/>
            <a:ext cx="3286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  <a:sym typeface="Symbol" pitchFamily="18" charset="2"/>
              </a:rPr>
              <a:t></a:t>
            </a:r>
          </a:p>
        </p:txBody>
      </p:sp>
      <p:sp>
        <p:nvSpPr>
          <p:cNvPr id="9252" name="Oval 36"/>
          <p:cNvSpPr>
            <a:spLocks noChangeArrowheads="1"/>
          </p:cNvSpPr>
          <p:nvPr/>
        </p:nvSpPr>
        <p:spPr bwMode="auto">
          <a:xfrm>
            <a:off x="5081606" y="2265363"/>
            <a:ext cx="71437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54" name="Text Box 38"/>
          <p:cNvSpPr txBox="1">
            <a:spLocks noChangeArrowheads="1"/>
          </p:cNvSpPr>
          <p:nvPr/>
        </p:nvSpPr>
        <p:spPr bwMode="auto">
          <a:xfrm>
            <a:off x="5097481" y="2997200"/>
            <a:ext cx="352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000" i="1">
                <a:latin typeface="Times New Roman" pitchFamily="18" charset="0"/>
              </a:rPr>
              <a:t>y</a:t>
            </a:r>
            <a:r>
              <a:rPr lang="es-ES_tradnl" sz="2000" baseline="-25000">
                <a:latin typeface="Times New Roman" pitchFamily="18" charset="0"/>
              </a:rPr>
              <a:t>I</a:t>
            </a:r>
            <a:endParaRPr lang="es-ES_tradnl" sz="2000">
              <a:latin typeface="Times New Roman" pitchFamily="18" charset="0"/>
            </a:endParaRPr>
          </a:p>
        </p:txBody>
      </p: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1147763" y="1052513"/>
            <a:ext cx="10493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  <a:sym typeface="Symbol" pitchFamily="18" charset="2"/>
              </a:rPr>
              <a:t></a:t>
            </a:r>
            <a:r>
              <a:rPr lang="es-ES_tradnl" i="1" dirty="0">
                <a:latin typeface="Times New Roman" pitchFamily="18" charset="0"/>
              </a:rPr>
              <a:t> </a:t>
            </a:r>
            <a:r>
              <a:rPr lang="es-ES_tradnl" dirty="0">
                <a:latin typeface="Times New Roman" pitchFamily="18" charset="0"/>
              </a:rPr>
              <a:t>= </a:t>
            </a:r>
            <a:r>
              <a:rPr lang="es-ES_tradnl" i="1" dirty="0">
                <a:latin typeface="Times New Roman" pitchFamily="18" charset="0"/>
              </a:rPr>
              <a:t>u</a:t>
            </a:r>
            <a:r>
              <a:rPr lang="es-ES_tradnl" dirty="0">
                <a:latin typeface="Times New Roman" pitchFamily="18" charset="0"/>
              </a:rPr>
              <a:t> + </a:t>
            </a:r>
            <a:r>
              <a:rPr lang="es-ES_tradnl" i="1" dirty="0">
                <a:latin typeface="Times New Roman" pitchFamily="18" charset="0"/>
                <a:sym typeface="Symbol" pitchFamily="18" charset="2"/>
              </a:rPr>
              <a:t>i</a:t>
            </a: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1211263" y="1341438"/>
            <a:ext cx="11699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u</a:t>
            </a:r>
            <a:r>
              <a:rPr lang="es-ES_tradnl">
                <a:latin typeface="Times New Roman" pitchFamily="18" charset="0"/>
              </a:rPr>
              <a:t>’ </a:t>
            </a:r>
            <a:r>
              <a:rPr lang="es-ES_tradnl" i="1">
                <a:latin typeface="Times New Roman" pitchFamily="18" charset="0"/>
              </a:rPr>
              <a:t>= </a:t>
            </a:r>
            <a:r>
              <a:rPr lang="es-ES_tradnl">
                <a:latin typeface="Times New Roman" pitchFamily="18" charset="0"/>
                <a:sym typeface="Symbol" pitchFamily="18" charset="2"/>
              </a:rPr>
              <a:t></a:t>
            </a:r>
            <a:r>
              <a:rPr lang="es-ES_tradnl">
                <a:latin typeface="Times New Roman" pitchFamily="18" charset="0"/>
              </a:rPr>
              <a:t> + </a:t>
            </a:r>
            <a:r>
              <a:rPr lang="es-ES_tradnl" i="1">
                <a:latin typeface="Times New Roman" pitchFamily="18" charset="0"/>
              </a:rPr>
              <a:t>i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graphicFrame>
        <p:nvGraphicFramePr>
          <p:cNvPr id="9257" name="Object 41"/>
          <p:cNvGraphicFramePr>
            <a:graphicFrameLocks noChangeAspect="1"/>
          </p:cNvGraphicFramePr>
          <p:nvPr/>
        </p:nvGraphicFramePr>
        <p:xfrm>
          <a:off x="1260475" y="765175"/>
          <a:ext cx="5080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2" name="Ecuación" r:id="rId3" imgW="317160" imgH="203040" progId="Equation.3">
                  <p:embed/>
                </p:oleObj>
              </mc:Choice>
              <mc:Fallback>
                <p:oleObj name="Ecuación" r:id="rId3" imgW="317160" imgH="203040" progId="Equation.3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765175"/>
                        <a:ext cx="508000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8" name="AutoShape 42"/>
          <p:cNvSpPr>
            <a:spLocks/>
          </p:cNvSpPr>
          <p:nvPr/>
        </p:nvSpPr>
        <p:spPr bwMode="auto">
          <a:xfrm>
            <a:off x="1116013" y="692150"/>
            <a:ext cx="73025" cy="1081088"/>
          </a:xfrm>
          <a:prstGeom prst="leftBrace">
            <a:avLst>
              <a:gd name="adj1" fmla="val 12337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59" name="Rectangle 43"/>
          <p:cNvSpPr>
            <a:spLocks noChangeArrowheads="1"/>
          </p:cNvSpPr>
          <p:nvPr/>
        </p:nvSpPr>
        <p:spPr bwMode="auto">
          <a:xfrm>
            <a:off x="1928794" y="785794"/>
            <a:ext cx="2614607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es-ES_tradnl" sz="1600" dirty="0">
                <a:solidFill>
                  <a:schemeClr val="tx2"/>
                </a:solidFill>
              </a:rPr>
              <a:t>Aproximación paraxial:</a:t>
            </a:r>
          </a:p>
        </p:txBody>
      </p:sp>
      <p:sp>
        <p:nvSpPr>
          <p:cNvPr id="9260" name="Freeform 44"/>
          <p:cNvSpPr>
            <a:spLocks/>
          </p:cNvSpPr>
          <p:nvPr/>
        </p:nvSpPr>
        <p:spPr bwMode="auto">
          <a:xfrm>
            <a:off x="3700481" y="5157788"/>
            <a:ext cx="1411287" cy="1587"/>
          </a:xfrm>
          <a:custGeom>
            <a:avLst/>
            <a:gdLst/>
            <a:ahLst/>
            <a:cxnLst>
              <a:cxn ang="0">
                <a:pos x="865" y="0"/>
              </a:cxn>
              <a:cxn ang="0">
                <a:pos x="0" y="10"/>
              </a:cxn>
            </a:cxnLst>
            <a:rect l="0" t="0" r="r" b="b"/>
            <a:pathLst>
              <a:path w="865" h="10">
                <a:moveTo>
                  <a:pt x="865" y="0"/>
                </a:moveTo>
                <a:lnTo>
                  <a:pt x="0" y="1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61" name="Freeform 45"/>
          <p:cNvSpPr>
            <a:spLocks/>
          </p:cNvSpPr>
          <p:nvPr/>
        </p:nvSpPr>
        <p:spPr bwMode="auto">
          <a:xfrm>
            <a:off x="333393" y="4518025"/>
            <a:ext cx="4765675" cy="1588"/>
          </a:xfrm>
          <a:custGeom>
            <a:avLst/>
            <a:gdLst/>
            <a:ahLst/>
            <a:cxnLst>
              <a:cxn ang="0">
                <a:pos x="3002" y="14"/>
              </a:cxn>
              <a:cxn ang="0">
                <a:pos x="0" y="0"/>
              </a:cxn>
            </a:cxnLst>
            <a:rect l="0" t="0" r="r" b="b"/>
            <a:pathLst>
              <a:path w="3002" h="14">
                <a:moveTo>
                  <a:pt x="3002" y="1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62" name="Text Box 46"/>
          <p:cNvSpPr txBox="1">
            <a:spLocks noChangeArrowheads="1"/>
          </p:cNvSpPr>
          <p:nvPr/>
        </p:nvSpPr>
        <p:spPr bwMode="auto">
          <a:xfrm>
            <a:off x="1497031" y="4508500"/>
            <a:ext cx="7889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s</a:t>
            </a:r>
            <a:r>
              <a:rPr lang="es-ES_tradnl" dirty="0">
                <a:latin typeface="Times New Roman" pitchFamily="18" charset="0"/>
              </a:rPr>
              <a:t> (&lt; 0)</a:t>
            </a:r>
            <a:endParaRPr lang="es-ES_tradnl" i="1" dirty="0">
              <a:latin typeface="Times New Roman" pitchFamily="18" charset="0"/>
            </a:endParaRPr>
          </a:p>
        </p:txBody>
      </p:sp>
      <p:sp>
        <p:nvSpPr>
          <p:cNvPr id="9263" name="Text Box 47"/>
          <p:cNvSpPr txBox="1">
            <a:spLocks noChangeArrowheads="1"/>
          </p:cNvSpPr>
          <p:nvPr/>
        </p:nvSpPr>
        <p:spPr bwMode="auto">
          <a:xfrm>
            <a:off x="3944956" y="5118100"/>
            <a:ext cx="8488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s</a:t>
            </a:r>
            <a:r>
              <a:rPr lang="es-ES_tradnl" dirty="0">
                <a:latin typeface="Times New Roman" pitchFamily="18" charset="0"/>
              </a:rPr>
              <a:t>’ (&lt; 0)</a:t>
            </a:r>
            <a:endParaRPr lang="es-ES_tradnl" i="1" dirty="0">
              <a:latin typeface="Times New Roman" pitchFamily="18" charset="0"/>
            </a:endParaRPr>
          </a:p>
        </p:txBody>
      </p:sp>
      <p:sp>
        <p:nvSpPr>
          <p:cNvPr id="9266" name="Arc 50"/>
          <p:cNvSpPr>
            <a:spLocks/>
          </p:cNvSpPr>
          <p:nvPr/>
        </p:nvSpPr>
        <p:spPr bwMode="auto">
          <a:xfrm rot="7712054" flipV="1">
            <a:off x="4251343" y="2808288"/>
            <a:ext cx="280987" cy="325438"/>
          </a:xfrm>
          <a:custGeom>
            <a:avLst/>
            <a:gdLst>
              <a:gd name="G0" fmla="+- 0 0 0"/>
              <a:gd name="G1" fmla="+- 15821 0 0"/>
              <a:gd name="G2" fmla="+- 21600 0 0"/>
              <a:gd name="T0" fmla="*/ 14706 w 21600"/>
              <a:gd name="T1" fmla="*/ 0 h 23937"/>
              <a:gd name="T2" fmla="*/ 20017 w 21600"/>
              <a:gd name="T3" fmla="*/ 23937 h 23937"/>
              <a:gd name="T4" fmla="*/ 0 w 21600"/>
              <a:gd name="T5" fmla="*/ 15821 h 23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3937" fill="none" extrusionOk="0">
                <a:moveTo>
                  <a:pt x="14705" y="0"/>
                </a:moveTo>
                <a:cubicBezTo>
                  <a:pt x="19102" y="4086"/>
                  <a:pt x="21600" y="9818"/>
                  <a:pt x="21600" y="15821"/>
                </a:cubicBezTo>
                <a:cubicBezTo>
                  <a:pt x="21600" y="18603"/>
                  <a:pt x="21062" y="21358"/>
                  <a:pt x="20017" y="23937"/>
                </a:cubicBezTo>
              </a:path>
              <a:path w="21600" h="23937" stroke="0" extrusionOk="0">
                <a:moveTo>
                  <a:pt x="14705" y="0"/>
                </a:moveTo>
                <a:cubicBezTo>
                  <a:pt x="19102" y="4086"/>
                  <a:pt x="21600" y="9818"/>
                  <a:pt x="21600" y="15821"/>
                </a:cubicBezTo>
                <a:cubicBezTo>
                  <a:pt x="21600" y="18603"/>
                  <a:pt x="21062" y="21358"/>
                  <a:pt x="20017" y="23937"/>
                </a:cubicBezTo>
                <a:lnTo>
                  <a:pt x="0" y="1582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67" name="Text Box 51"/>
          <p:cNvSpPr txBox="1">
            <a:spLocks noChangeArrowheads="1"/>
          </p:cNvSpPr>
          <p:nvPr/>
        </p:nvSpPr>
        <p:spPr bwMode="auto">
          <a:xfrm>
            <a:off x="4345006" y="2770188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i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graphicFrame>
        <p:nvGraphicFramePr>
          <p:cNvPr id="9268" name="Object 52"/>
          <p:cNvGraphicFramePr>
            <a:graphicFrameLocks noChangeAspect="1"/>
          </p:cNvGraphicFramePr>
          <p:nvPr/>
        </p:nvGraphicFramePr>
        <p:xfrm>
          <a:off x="6815606" y="4286256"/>
          <a:ext cx="107791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3" name="Ecuación" r:id="rId5" imgW="672840" imgH="393480" progId="Equation.3">
                  <p:embed/>
                </p:oleObj>
              </mc:Choice>
              <mc:Fallback>
                <p:oleObj name="Ecuación" r:id="rId5" imgW="672840" imgH="393480" progId="Equation.3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5606" y="4286256"/>
                        <a:ext cx="1077913" cy="6286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0" name="Text Box 54"/>
          <p:cNvSpPr txBox="1">
            <a:spLocks noChangeArrowheads="1"/>
          </p:cNvSpPr>
          <p:nvPr/>
        </p:nvSpPr>
        <p:spPr bwMode="auto">
          <a:xfrm>
            <a:off x="993793" y="5949950"/>
            <a:ext cx="6864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R </a:t>
            </a:r>
            <a:r>
              <a:rPr lang="es-ES_tradnl" dirty="0">
                <a:latin typeface="Times New Roman" pitchFamily="18" charset="0"/>
              </a:rPr>
              <a:t>&lt; 0</a:t>
            </a:r>
          </a:p>
        </p:txBody>
      </p:sp>
      <p:sp>
        <p:nvSpPr>
          <p:cNvPr id="9271" name="Line 55"/>
          <p:cNvSpPr>
            <a:spLocks noChangeShapeType="1"/>
          </p:cNvSpPr>
          <p:nvPr/>
        </p:nvSpPr>
        <p:spPr bwMode="auto">
          <a:xfrm>
            <a:off x="273068" y="4149725"/>
            <a:ext cx="4824413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72" name="Line 56"/>
          <p:cNvSpPr>
            <a:spLocks noChangeShapeType="1"/>
          </p:cNvSpPr>
          <p:nvPr/>
        </p:nvSpPr>
        <p:spPr bwMode="auto">
          <a:xfrm>
            <a:off x="3336943" y="4149725"/>
            <a:ext cx="1763713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triangle" w="lg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5164156" y="3805238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V</a:t>
            </a:r>
          </a:p>
        </p:txBody>
      </p:sp>
      <p:sp>
        <p:nvSpPr>
          <p:cNvPr id="9250" name="Oval 34"/>
          <p:cNvSpPr>
            <a:spLocks noChangeArrowheads="1"/>
          </p:cNvSpPr>
          <p:nvPr/>
        </p:nvSpPr>
        <p:spPr bwMode="auto">
          <a:xfrm>
            <a:off x="5087956" y="4103688"/>
            <a:ext cx="71437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82" name="Text Box 66"/>
          <p:cNvSpPr txBox="1">
            <a:spLocks noChangeArrowheads="1"/>
          </p:cNvSpPr>
          <p:nvPr/>
        </p:nvSpPr>
        <p:spPr bwMode="auto">
          <a:xfrm>
            <a:off x="8675688" y="6564313"/>
            <a:ext cx="35458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14</a:t>
            </a:r>
          </a:p>
        </p:txBody>
      </p:sp>
      <p:sp>
        <p:nvSpPr>
          <p:cNvPr id="59" name="AutoShape 30"/>
          <p:cNvSpPr>
            <a:spLocks/>
          </p:cNvSpPr>
          <p:nvPr/>
        </p:nvSpPr>
        <p:spPr bwMode="auto">
          <a:xfrm flipH="1">
            <a:off x="4768425" y="1857364"/>
            <a:ext cx="360363" cy="4392613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60" name="59 CuadroTexto"/>
          <p:cNvSpPr txBox="1"/>
          <p:nvPr/>
        </p:nvSpPr>
        <p:spPr>
          <a:xfrm>
            <a:off x="571472" y="6357958"/>
            <a:ext cx="16754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/>
              <a:t>Espejo Cóncavo</a:t>
            </a:r>
          </a:p>
        </p:txBody>
      </p:sp>
      <p:graphicFrame>
        <p:nvGraphicFramePr>
          <p:cNvPr id="11314" name="Object 50"/>
          <p:cNvGraphicFramePr>
            <a:graphicFrameLocks noChangeAspect="1"/>
          </p:cNvGraphicFramePr>
          <p:nvPr/>
        </p:nvGraphicFramePr>
        <p:xfrm>
          <a:off x="6014583" y="785572"/>
          <a:ext cx="1379537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4" name="Ecuación" r:id="rId7" imgW="863280" imgH="393480" progId="Equation.3">
                  <p:embed/>
                </p:oleObj>
              </mc:Choice>
              <mc:Fallback>
                <p:oleObj name="Ecuación" r:id="rId7" imgW="863280" imgH="39348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4583" y="785572"/>
                        <a:ext cx="1379537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5" name="Object 51"/>
          <p:cNvGraphicFramePr>
            <a:graphicFrameLocks noChangeAspect="1"/>
          </p:cNvGraphicFramePr>
          <p:nvPr/>
        </p:nvGraphicFramePr>
        <p:xfrm>
          <a:off x="4556134" y="785794"/>
          <a:ext cx="13017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5" name="Ecuación" r:id="rId9" imgW="812520" imgH="393480" progId="Equation.3">
                  <p:embed/>
                </p:oleObj>
              </mc:Choice>
              <mc:Fallback>
                <p:oleObj name="Ecuación" r:id="rId9" imgW="812520" imgH="39348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6134" y="785794"/>
                        <a:ext cx="1301750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6" name="Object 52"/>
          <p:cNvGraphicFramePr>
            <a:graphicFrameLocks noChangeAspect="1"/>
          </p:cNvGraphicFramePr>
          <p:nvPr/>
        </p:nvGraphicFramePr>
        <p:xfrm>
          <a:off x="7550182" y="785794"/>
          <a:ext cx="152241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6" name="Ecuación" r:id="rId11" imgW="952200" imgH="393480" progId="Equation.3">
                  <p:embed/>
                </p:oleObj>
              </mc:Choice>
              <mc:Fallback>
                <p:oleObj name="Ecuación" r:id="rId11" imgW="952200" imgH="39348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0182" y="785794"/>
                        <a:ext cx="1522412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3" name="Line 37"/>
          <p:cNvSpPr>
            <a:spLocks noChangeShapeType="1"/>
          </p:cNvSpPr>
          <p:nvPr/>
        </p:nvSpPr>
        <p:spPr bwMode="auto">
          <a:xfrm flipV="1">
            <a:off x="5126056" y="2349500"/>
            <a:ext cx="0" cy="172878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4" name="Text Box 39"/>
          <p:cNvSpPr txBox="1">
            <a:spLocks noChangeArrowheads="1"/>
          </p:cNvSpPr>
          <p:nvPr/>
        </p:nvSpPr>
        <p:spPr bwMode="auto">
          <a:xfrm>
            <a:off x="6715140" y="1428736"/>
            <a:ext cx="105509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  <a:sym typeface="Symbol" pitchFamily="18" charset="2"/>
              </a:rPr>
              <a:t></a:t>
            </a:r>
            <a:r>
              <a:rPr lang="es-ES_tradnl" i="1" dirty="0">
                <a:latin typeface="Times New Roman" pitchFamily="18" charset="0"/>
              </a:rPr>
              <a:t> </a:t>
            </a:r>
            <a:r>
              <a:rPr lang="es-ES_tradnl" dirty="0">
                <a:latin typeface="Times New Roman" pitchFamily="18" charset="0"/>
                <a:sym typeface="Symbol"/>
              </a:rPr>
              <a:t></a:t>
            </a:r>
            <a:r>
              <a:rPr lang="es-ES_tradnl" dirty="0">
                <a:latin typeface="Times New Roman" pitchFamily="18" charset="0"/>
              </a:rPr>
              <a:t> </a:t>
            </a:r>
            <a:r>
              <a:rPr lang="es-ES_tradnl" i="1" dirty="0">
                <a:latin typeface="Times New Roman" pitchFamily="18" charset="0"/>
              </a:rPr>
              <a:t>u</a:t>
            </a:r>
            <a:r>
              <a:rPr lang="es-ES_tradnl" dirty="0">
                <a:latin typeface="Times New Roman" pitchFamily="18" charset="0"/>
              </a:rPr>
              <a:t> = </a:t>
            </a:r>
            <a:r>
              <a:rPr lang="es-ES_tradnl" i="1" dirty="0">
                <a:latin typeface="Times New Roman" pitchFamily="18" charset="0"/>
                <a:sym typeface="Symbol" pitchFamily="18" charset="2"/>
              </a:rPr>
              <a:t>i</a:t>
            </a:r>
          </a:p>
        </p:txBody>
      </p:sp>
      <p:sp>
        <p:nvSpPr>
          <p:cNvPr id="65" name="Text Box 40"/>
          <p:cNvSpPr txBox="1">
            <a:spLocks noChangeArrowheads="1"/>
          </p:cNvSpPr>
          <p:nvPr/>
        </p:nvSpPr>
        <p:spPr bwMode="auto">
          <a:xfrm>
            <a:off x="6786578" y="1785926"/>
            <a:ext cx="113415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u</a:t>
            </a:r>
            <a:r>
              <a:rPr lang="es-ES_tradnl" dirty="0">
                <a:latin typeface="Times New Roman" pitchFamily="18" charset="0"/>
              </a:rPr>
              <a:t>’ </a:t>
            </a:r>
            <a:r>
              <a:rPr lang="es-ES_tradnl" i="1" dirty="0">
                <a:latin typeface="Times New Roman" pitchFamily="18" charset="0"/>
                <a:sym typeface="Symbol"/>
              </a:rPr>
              <a:t></a:t>
            </a:r>
            <a:r>
              <a:rPr lang="es-ES_tradnl" i="1" dirty="0">
                <a:latin typeface="Times New Roman" pitchFamily="18" charset="0"/>
              </a:rPr>
              <a:t> </a:t>
            </a:r>
            <a:r>
              <a:rPr lang="es-ES_tradnl" dirty="0">
                <a:latin typeface="Times New Roman" pitchFamily="18" charset="0"/>
                <a:sym typeface="Symbol" pitchFamily="18" charset="2"/>
              </a:rPr>
              <a:t></a:t>
            </a:r>
            <a:r>
              <a:rPr lang="es-ES_tradnl" dirty="0">
                <a:latin typeface="Times New Roman" pitchFamily="18" charset="0"/>
              </a:rPr>
              <a:t> = </a:t>
            </a:r>
            <a:r>
              <a:rPr lang="es-ES_tradnl" i="1" dirty="0">
                <a:latin typeface="Times New Roman" pitchFamily="18" charset="0"/>
              </a:rPr>
              <a:t>i</a:t>
            </a:r>
            <a:r>
              <a:rPr lang="es-ES_tradnl" dirty="0">
                <a:latin typeface="Times New Roman" pitchFamily="18" charset="0"/>
              </a:rPr>
              <a:t>’</a:t>
            </a:r>
            <a:endParaRPr lang="es-ES_tradnl" i="1" dirty="0">
              <a:latin typeface="Times New Roman" pitchFamily="18" charset="0"/>
            </a:endParaRPr>
          </a:p>
        </p:txBody>
      </p:sp>
      <p:sp>
        <p:nvSpPr>
          <p:cNvPr id="66" name="65 Elipse"/>
          <p:cNvSpPr/>
          <p:nvPr/>
        </p:nvSpPr>
        <p:spPr>
          <a:xfrm>
            <a:off x="1099434" y="1070414"/>
            <a:ext cx="1285884" cy="714380"/>
          </a:xfrm>
          <a:prstGeom prst="ellipse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66 Elipse"/>
          <p:cNvSpPr/>
          <p:nvPr/>
        </p:nvSpPr>
        <p:spPr>
          <a:xfrm>
            <a:off x="1071538" y="714356"/>
            <a:ext cx="857256" cy="428628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9" name="68 Conector angular"/>
          <p:cNvCxnSpPr>
            <a:stCxn id="66" idx="6"/>
          </p:cNvCxnSpPr>
          <p:nvPr/>
        </p:nvCxnSpPr>
        <p:spPr>
          <a:xfrm>
            <a:off x="2385318" y="1427604"/>
            <a:ext cx="4186946" cy="144008"/>
          </a:xfrm>
          <a:prstGeom prst="bentConnector3">
            <a:avLst>
              <a:gd name="adj1" fmla="val 50000"/>
            </a:avLst>
          </a:prstGeom>
          <a:ln>
            <a:solidFill>
              <a:srgbClr val="FF9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69 Elipse"/>
          <p:cNvSpPr/>
          <p:nvPr/>
        </p:nvSpPr>
        <p:spPr>
          <a:xfrm>
            <a:off x="6643702" y="1500174"/>
            <a:ext cx="1357322" cy="642942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2" name="71 Conector recto de flecha"/>
          <p:cNvCxnSpPr>
            <a:stCxn id="70" idx="4"/>
          </p:cNvCxnSpPr>
          <p:nvPr/>
        </p:nvCxnSpPr>
        <p:spPr>
          <a:xfrm rot="5400000">
            <a:off x="7143768" y="2321711"/>
            <a:ext cx="357190" cy="0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 Box 40"/>
          <p:cNvSpPr txBox="1">
            <a:spLocks noChangeArrowheads="1"/>
          </p:cNvSpPr>
          <p:nvPr/>
        </p:nvSpPr>
        <p:spPr bwMode="auto">
          <a:xfrm>
            <a:off x="6704267" y="2571744"/>
            <a:ext cx="1368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u</a:t>
            </a:r>
            <a:r>
              <a:rPr lang="es-ES_tradnl" dirty="0">
                <a:latin typeface="Times New Roman" pitchFamily="18" charset="0"/>
              </a:rPr>
              <a:t>’  + </a:t>
            </a:r>
            <a:r>
              <a:rPr lang="es-ES_tradnl" i="1" dirty="0">
                <a:latin typeface="Times New Roman" pitchFamily="18" charset="0"/>
                <a:sym typeface="Symbol"/>
              </a:rPr>
              <a:t>u = </a:t>
            </a:r>
            <a:r>
              <a:rPr lang="es-ES_tradnl" dirty="0">
                <a:latin typeface="Times New Roman" pitchFamily="18" charset="0"/>
                <a:sym typeface="Symbol"/>
              </a:rPr>
              <a:t>2</a:t>
            </a:r>
            <a:r>
              <a:rPr lang="es-ES_tradnl" i="1" dirty="0">
                <a:latin typeface="Times New Roman" pitchFamily="18" charset="0"/>
              </a:rPr>
              <a:t> </a:t>
            </a:r>
            <a:r>
              <a:rPr lang="es-ES_tradnl" dirty="0">
                <a:latin typeface="Times New Roman" pitchFamily="18" charset="0"/>
                <a:sym typeface="Symbol" pitchFamily="18" charset="2"/>
              </a:rPr>
              <a:t></a:t>
            </a:r>
            <a:endParaRPr lang="es-ES_tradnl" i="1" dirty="0">
              <a:latin typeface="Times New Roman" pitchFamily="18" charset="0"/>
            </a:endParaRPr>
          </a:p>
        </p:txBody>
      </p:sp>
      <p:graphicFrame>
        <p:nvGraphicFramePr>
          <p:cNvPr id="2" name="Object 52"/>
          <p:cNvGraphicFramePr>
            <a:graphicFrameLocks noChangeAspect="1"/>
          </p:cNvGraphicFramePr>
          <p:nvPr/>
        </p:nvGraphicFramePr>
        <p:xfrm>
          <a:off x="6461152" y="3240091"/>
          <a:ext cx="19685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7" name="Ecuación" r:id="rId13" imgW="1231560" imgH="431640" progId="Equation.3">
                  <p:embed/>
                </p:oleObj>
              </mc:Choice>
              <mc:Fallback>
                <p:oleObj name="Ecuación" r:id="rId13" imgW="1231560" imgH="431640" progId="Equation.3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52" y="3240091"/>
                        <a:ext cx="1968500" cy="688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80 Elipse"/>
          <p:cNvSpPr/>
          <p:nvPr/>
        </p:nvSpPr>
        <p:spPr>
          <a:xfrm>
            <a:off x="4500562" y="714356"/>
            <a:ext cx="4643438" cy="785818"/>
          </a:xfrm>
          <a:prstGeom prst="ellipse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3" name="82 Conector angular"/>
          <p:cNvCxnSpPr/>
          <p:nvPr/>
        </p:nvCxnSpPr>
        <p:spPr>
          <a:xfrm rot="5400000">
            <a:off x="7786710" y="1643050"/>
            <a:ext cx="1143008" cy="714380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20000"/>
                <a:lumOff val="8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84 Conector recto de flecha"/>
          <p:cNvCxnSpPr/>
          <p:nvPr/>
        </p:nvCxnSpPr>
        <p:spPr>
          <a:xfrm rot="5400000">
            <a:off x="7180281" y="3106735"/>
            <a:ext cx="356396" cy="794"/>
          </a:xfrm>
          <a:prstGeom prst="straightConnector1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57"/>
          <p:cNvGraphicFramePr>
            <a:graphicFrameLocks noChangeAspect="1"/>
          </p:cNvGraphicFramePr>
          <p:nvPr/>
        </p:nvGraphicFramePr>
        <p:xfrm>
          <a:off x="6215074" y="6000768"/>
          <a:ext cx="2033587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8" name="Ecuación" r:id="rId15" imgW="1269720" imgH="419040" progId="Equation.3">
                  <p:embed/>
                </p:oleObj>
              </mc:Choice>
              <mc:Fallback>
                <p:oleObj name="Ecuación" r:id="rId15" imgW="1269720" imgH="419040" progId="Equation.3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74" y="6000768"/>
                        <a:ext cx="2033587" cy="6699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9" name="88 Conector recto de flecha"/>
          <p:cNvCxnSpPr/>
          <p:nvPr/>
        </p:nvCxnSpPr>
        <p:spPr>
          <a:xfrm rot="5400000">
            <a:off x="7214082" y="4073066"/>
            <a:ext cx="28800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89 CuadroTexto"/>
          <p:cNvSpPr txBox="1"/>
          <p:nvPr/>
        </p:nvSpPr>
        <p:spPr>
          <a:xfrm>
            <a:off x="5601160" y="5072074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= f </a:t>
            </a:r>
            <a:r>
              <a:rPr lang="es-ES" dirty="0">
                <a:latin typeface="Times New Roman" pitchFamily="18" charset="0"/>
                <a:cs typeface="Times New Roman" pitchFamily="18" charset="0"/>
                <a:sym typeface="Symbol"/>
              </a:rPr>
              <a:t> s’</a:t>
            </a:r>
            <a:endParaRPr lang="es-E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1" name="90 CuadroTexto"/>
          <p:cNvSpPr txBox="1"/>
          <p:nvPr/>
        </p:nvSpPr>
        <p:spPr>
          <a:xfrm>
            <a:off x="7428127" y="5072074"/>
            <a:ext cx="1744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latin typeface="Times New Roman" pitchFamily="18" charset="0"/>
                <a:cs typeface="Times New Roman" pitchFamily="18" charset="0"/>
                <a:sym typeface="Symbol"/>
              </a:rPr>
              <a:t>s</a:t>
            </a:r>
            <a:r>
              <a:rPr lang="es-ES" dirty="0">
                <a:latin typeface="Times New Roman" pitchFamily="18" charset="0"/>
                <a:cs typeface="Times New Roman" pitchFamily="18" charset="0"/>
                <a:sym typeface="Symbol"/>
              </a:rPr>
              <a:t>’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= f 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‘ </a:t>
            </a:r>
            <a:r>
              <a:rPr lang="es-ES" dirty="0">
                <a:latin typeface="Times New Roman" pitchFamily="18" charset="0"/>
                <a:cs typeface="Times New Roman" pitchFamily="18" charset="0"/>
                <a:sym typeface="Symbol"/>
              </a:rPr>
              <a:t> 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s-ES" dirty="0">
                <a:latin typeface="Times New Roman" pitchFamily="18" charset="0"/>
                <a:cs typeface="Times New Roman" pitchFamily="18" charset="0"/>
                <a:sym typeface="Symbol"/>
              </a:rPr>
              <a:t> </a:t>
            </a:r>
            <a:endParaRPr lang="es-E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91 CuadroTexto"/>
          <p:cNvSpPr txBox="1"/>
          <p:nvPr/>
        </p:nvSpPr>
        <p:spPr>
          <a:xfrm>
            <a:off x="6072198" y="5500702"/>
            <a:ext cx="2368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Distancia focal  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f  = f’</a:t>
            </a:r>
            <a:endParaRPr lang="es-E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2" grpId="0"/>
      <p:bldP spid="64" grpId="0"/>
      <p:bldP spid="65" grpId="0"/>
      <p:bldP spid="66" grpId="0" animBg="1"/>
      <p:bldP spid="67" grpId="0" animBg="1"/>
      <p:bldP spid="70" grpId="0" animBg="1"/>
      <p:bldP spid="73" grpId="0"/>
      <p:bldP spid="81" grpId="0" animBg="1"/>
      <p:bldP spid="90" grpId="0"/>
      <p:bldP spid="91" grpId="0"/>
      <p:bldP spid="9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reeform 2" descr="Diagonal hacia arriba ancha"/>
          <p:cNvSpPr>
            <a:spLocks/>
          </p:cNvSpPr>
          <p:nvPr/>
        </p:nvSpPr>
        <p:spPr bwMode="auto">
          <a:xfrm>
            <a:off x="5580063" y="1552559"/>
            <a:ext cx="755650" cy="4370388"/>
          </a:xfrm>
          <a:custGeom>
            <a:avLst/>
            <a:gdLst/>
            <a:ahLst/>
            <a:cxnLst>
              <a:cxn ang="0">
                <a:pos x="462" y="41"/>
              </a:cxn>
              <a:cxn ang="0">
                <a:pos x="354" y="0"/>
              </a:cxn>
              <a:cxn ang="0">
                <a:pos x="126" y="10"/>
              </a:cxn>
              <a:cxn ang="0">
                <a:pos x="228" y="64"/>
              </a:cxn>
              <a:cxn ang="0">
                <a:pos x="296" y="193"/>
              </a:cxn>
              <a:cxn ang="0">
                <a:pos x="312" y="1179"/>
              </a:cxn>
              <a:cxn ang="0">
                <a:pos x="312" y="1406"/>
              </a:cxn>
              <a:cxn ang="0">
                <a:pos x="304" y="1602"/>
              </a:cxn>
              <a:cxn ang="0">
                <a:pos x="296" y="2558"/>
              </a:cxn>
              <a:cxn ang="0">
                <a:pos x="269" y="2666"/>
              </a:cxn>
              <a:cxn ang="0">
                <a:pos x="126" y="2747"/>
              </a:cxn>
              <a:cxn ang="0">
                <a:pos x="320" y="2738"/>
              </a:cxn>
              <a:cxn ang="0">
                <a:pos x="408" y="2656"/>
              </a:cxn>
              <a:cxn ang="0">
                <a:pos x="476" y="2480"/>
              </a:cxn>
              <a:cxn ang="0">
                <a:pos x="476" y="1416"/>
              </a:cxn>
              <a:cxn ang="0">
                <a:pos x="462" y="41"/>
              </a:cxn>
            </a:cxnLst>
            <a:rect l="0" t="0" r="r" b="b"/>
            <a:pathLst>
              <a:path w="476" h="2753">
                <a:moveTo>
                  <a:pt x="462" y="41"/>
                </a:moveTo>
                <a:lnTo>
                  <a:pt x="354" y="0"/>
                </a:lnTo>
                <a:lnTo>
                  <a:pt x="126" y="10"/>
                </a:lnTo>
                <a:lnTo>
                  <a:pt x="228" y="64"/>
                </a:lnTo>
                <a:lnTo>
                  <a:pt x="296" y="193"/>
                </a:lnTo>
                <a:lnTo>
                  <a:pt x="312" y="1179"/>
                </a:lnTo>
                <a:lnTo>
                  <a:pt x="312" y="1406"/>
                </a:lnTo>
                <a:lnTo>
                  <a:pt x="304" y="1602"/>
                </a:lnTo>
                <a:lnTo>
                  <a:pt x="296" y="2558"/>
                </a:lnTo>
                <a:lnTo>
                  <a:pt x="269" y="2666"/>
                </a:lnTo>
                <a:cubicBezTo>
                  <a:pt x="241" y="2697"/>
                  <a:pt x="117" y="2735"/>
                  <a:pt x="126" y="2747"/>
                </a:cubicBezTo>
                <a:cubicBezTo>
                  <a:pt x="0" y="2751"/>
                  <a:pt x="273" y="2753"/>
                  <a:pt x="320" y="2738"/>
                </a:cubicBezTo>
                <a:lnTo>
                  <a:pt x="408" y="2656"/>
                </a:lnTo>
                <a:cubicBezTo>
                  <a:pt x="434" y="2613"/>
                  <a:pt x="465" y="2687"/>
                  <a:pt x="476" y="2480"/>
                </a:cubicBezTo>
                <a:lnTo>
                  <a:pt x="476" y="1416"/>
                </a:lnTo>
                <a:lnTo>
                  <a:pt x="462" y="41"/>
                </a:lnTo>
                <a:close/>
              </a:path>
            </a:pathLst>
          </a:custGeom>
          <a:pattFill prst="wdUpDiag">
            <a:fgClr>
              <a:srgbClr val="C0C0C0">
                <a:alpha val="57001"/>
              </a:srgbClr>
            </a:fgClr>
            <a:bgClr>
              <a:schemeClr val="bg1">
                <a:alpha val="57001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243" name="Freeform 3" descr="Onda"/>
          <p:cNvSpPr>
            <a:spLocks/>
          </p:cNvSpPr>
          <p:nvPr/>
        </p:nvSpPr>
        <p:spPr bwMode="auto">
          <a:xfrm flipH="1">
            <a:off x="704850" y="1536684"/>
            <a:ext cx="5338763" cy="4484688"/>
          </a:xfrm>
          <a:custGeom>
            <a:avLst/>
            <a:gdLst/>
            <a:ahLst/>
            <a:cxnLst>
              <a:cxn ang="0">
                <a:pos x="3090" y="2541"/>
              </a:cxn>
              <a:cxn ang="0">
                <a:pos x="3171" y="1999"/>
              </a:cxn>
              <a:cxn ang="0">
                <a:pos x="3063" y="1003"/>
              </a:cxn>
              <a:cxn ang="0">
                <a:pos x="3015" y="20"/>
              </a:cxn>
              <a:cxn ang="0">
                <a:pos x="976" y="6"/>
              </a:cxn>
              <a:cxn ang="0">
                <a:pos x="657" y="0"/>
              </a:cxn>
              <a:cxn ang="0">
                <a:pos x="169" y="20"/>
              </a:cxn>
              <a:cxn ang="0">
                <a:pos x="54" y="108"/>
              </a:cxn>
              <a:cxn ang="0">
                <a:pos x="0" y="271"/>
              </a:cxn>
              <a:cxn ang="0">
                <a:pos x="20" y="840"/>
              </a:cxn>
              <a:cxn ang="0">
                <a:pos x="3" y="1202"/>
              </a:cxn>
              <a:cxn ang="0">
                <a:pos x="3" y="1429"/>
              </a:cxn>
              <a:cxn ang="0">
                <a:pos x="11" y="1625"/>
              </a:cxn>
              <a:cxn ang="0">
                <a:pos x="20" y="1985"/>
              </a:cxn>
              <a:cxn ang="0">
                <a:pos x="27" y="2460"/>
              </a:cxn>
              <a:cxn ang="0">
                <a:pos x="101" y="2717"/>
              </a:cxn>
              <a:cxn ang="0">
                <a:pos x="237" y="2792"/>
              </a:cxn>
              <a:cxn ang="0">
                <a:pos x="894" y="2825"/>
              </a:cxn>
              <a:cxn ang="0">
                <a:pos x="1152" y="2825"/>
              </a:cxn>
              <a:cxn ang="0">
                <a:pos x="2934" y="2825"/>
              </a:cxn>
              <a:cxn ang="0">
                <a:pos x="3090" y="2541"/>
              </a:cxn>
            </a:cxnLst>
            <a:rect l="0" t="0" r="r" b="b"/>
            <a:pathLst>
              <a:path w="3363" h="2825">
                <a:moveTo>
                  <a:pt x="3090" y="2541"/>
                </a:moveTo>
                <a:cubicBezTo>
                  <a:pt x="3083" y="2481"/>
                  <a:pt x="3168" y="2199"/>
                  <a:pt x="3171" y="1999"/>
                </a:cubicBezTo>
                <a:cubicBezTo>
                  <a:pt x="3174" y="1799"/>
                  <a:pt x="3093" y="1203"/>
                  <a:pt x="3063" y="1003"/>
                </a:cubicBezTo>
                <a:cubicBezTo>
                  <a:pt x="2909" y="762"/>
                  <a:pt x="3363" y="186"/>
                  <a:pt x="3015" y="20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090" y="2541"/>
                </a:ln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900113" y="44450"/>
            <a:ext cx="7793037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s-ES_tradnl" sz="3200" dirty="0">
                <a:solidFill>
                  <a:schemeClr val="tx2"/>
                </a:solidFill>
              </a:rPr>
              <a:t>Espejo esférico  </a:t>
            </a: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539750" y="3844909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 flipV="1">
            <a:off x="6040438" y="1269984"/>
            <a:ext cx="0" cy="464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8388350" y="3713147"/>
            <a:ext cx="357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x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5662613" y="1214422"/>
            <a:ext cx="3571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y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3121025" y="3849672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5003800" y="5368909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10253" name="Freeform 13"/>
          <p:cNvSpPr>
            <a:spLocks/>
          </p:cNvSpPr>
          <p:nvPr/>
        </p:nvSpPr>
        <p:spPr bwMode="auto">
          <a:xfrm>
            <a:off x="1473200" y="2849547"/>
            <a:ext cx="4572000" cy="1387475"/>
          </a:xfrm>
          <a:custGeom>
            <a:avLst/>
            <a:gdLst/>
            <a:ahLst/>
            <a:cxnLst>
              <a:cxn ang="0">
                <a:pos x="2880" y="874"/>
              </a:cxn>
              <a:cxn ang="0">
                <a:pos x="0" y="0"/>
              </a:cxn>
            </a:cxnLst>
            <a:rect l="0" t="0" r="r" b="b"/>
            <a:pathLst>
              <a:path w="2880" h="874">
                <a:moveTo>
                  <a:pt x="2880" y="874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93366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258" name="Text Box 18"/>
          <p:cNvSpPr txBox="1">
            <a:spLocks noChangeArrowheads="1"/>
          </p:cNvSpPr>
          <p:nvPr/>
        </p:nvSpPr>
        <p:spPr bwMode="auto">
          <a:xfrm>
            <a:off x="6078538" y="3513122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V</a:t>
            </a:r>
          </a:p>
        </p:txBody>
      </p:sp>
      <p:sp>
        <p:nvSpPr>
          <p:cNvPr id="10265" name="Freeform 25"/>
          <p:cNvSpPr>
            <a:spLocks noChangeAspect="1"/>
          </p:cNvSpPr>
          <p:nvPr/>
        </p:nvSpPr>
        <p:spPr bwMode="auto">
          <a:xfrm>
            <a:off x="3205163" y="2849547"/>
            <a:ext cx="2852737" cy="2162175"/>
          </a:xfrm>
          <a:custGeom>
            <a:avLst/>
            <a:gdLst/>
            <a:ahLst/>
            <a:cxnLst>
              <a:cxn ang="0">
                <a:pos x="1797" y="0"/>
              </a:cxn>
              <a:cxn ang="0">
                <a:pos x="0" y="1362"/>
              </a:cxn>
            </a:cxnLst>
            <a:rect l="0" t="0" r="r" b="b"/>
            <a:pathLst>
              <a:path w="1797" h="1362">
                <a:moveTo>
                  <a:pt x="1797" y="0"/>
                </a:moveTo>
                <a:lnTo>
                  <a:pt x="0" y="1362"/>
                </a:ln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269" name="Oval 29"/>
          <p:cNvSpPr>
            <a:spLocks noChangeArrowheads="1"/>
          </p:cNvSpPr>
          <p:nvPr/>
        </p:nvSpPr>
        <p:spPr bwMode="auto">
          <a:xfrm>
            <a:off x="6002338" y="3811572"/>
            <a:ext cx="71437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270" name="AutoShape 30"/>
          <p:cNvSpPr>
            <a:spLocks/>
          </p:cNvSpPr>
          <p:nvPr/>
        </p:nvSpPr>
        <p:spPr bwMode="auto">
          <a:xfrm flipH="1">
            <a:off x="5673725" y="1536684"/>
            <a:ext cx="360363" cy="4392613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278" name="Rectangle 38"/>
          <p:cNvSpPr>
            <a:spLocks noChangeArrowheads="1"/>
          </p:cNvSpPr>
          <p:nvPr/>
        </p:nvSpPr>
        <p:spPr bwMode="auto">
          <a:xfrm>
            <a:off x="2928926" y="642918"/>
            <a:ext cx="3471863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es-ES_tradnl" sz="2400" dirty="0">
                <a:solidFill>
                  <a:schemeClr val="tx2"/>
                </a:solidFill>
              </a:rPr>
              <a:t>Aproximación paraxial:</a:t>
            </a:r>
          </a:p>
        </p:txBody>
      </p:sp>
      <p:graphicFrame>
        <p:nvGraphicFramePr>
          <p:cNvPr id="10285" name="Object 45"/>
          <p:cNvGraphicFramePr>
            <a:graphicFrameLocks noChangeAspect="1"/>
          </p:cNvGraphicFramePr>
          <p:nvPr/>
        </p:nvGraphicFramePr>
        <p:xfrm>
          <a:off x="6715140" y="642918"/>
          <a:ext cx="203358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" name="Ecuación" r:id="rId3" imgW="1269720" imgH="419040" progId="Equation.3">
                  <p:embed/>
                </p:oleObj>
              </mc:Choice>
              <mc:Fallback>
                <p:oleObj name="Ecuación" r:id="rId3" imgW="1269720" imgH="41904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40" y="642918"/>
                        <a:ext cx="2033588" cy="6699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6" name="Text Box 46"/>
          <p:cNvSpPr txBox="1">
            <a:spLocks noChangeArrowheads="1"/>
          </p:cNvSpPr>
          <p:nvPr/>
        </p:nvSpPr>
        <p:spPr bwMode="auto">
          <a:xfrm>
            <a:off x="1908175" y="5657834"/>
            <a:ext cx="6864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R </a:t>
            </a:r>
            <a:r>
              <a:rPr lang="es-ES_tradnl" dirty="0">
                <a:latin typeface="Times New Roman" pitchFamily="18" charset="0"/>
              </a:rPr>
              <a:t>&lt; 0</a:t>
            </a:r>
          </a:p>
        </p:txBody>
      </p:sp>
      <p:sp>
        <p:nvSpPr>
          <p:cNvPr id="10287" name="Line 47"/>
          <p:cNvSpPr>
            <a:spLocks noChangeShapeType="1"/>
          </p:cNvSpPr>
          <p:nvPr/>
        </p:nvSpPr>
        <p:spPr bwMode="auto">
          <a:xfrm>
            <a:off x="1476375" y="2838434"/>
            <a:ext cx="4573588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288" name="Line 48"/>
          <p:cNvSpPr>
            <a:spLocks noChangeShapeType="1"/>
          </p:cNvSpPr>
          <p:nvPr/>
        </p:nvSpPr>
        <p:spPr bwMode="auto">
          <a:xfrm>
            <a:off x="1797050" y="4244959"/>
            <a:ext cx="4213225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triangle" w="lg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grpSp>
        <p:nvGrpSpPr>
          <p:cNvPr id="10292" name="Group 52"/>
          <p:cNvGrpSpPr>
            <a:grpSpLocks/>
          </p:cNvGrpSpPr>
          <p:nvPr/>
        </p:nvGrpSpPr>
        <p:grpSpPr bwMode="auto">
          <a:xfrm>
            <a:off x="1187450" y="2462197"/>
            <a:ext cx="520700" cy="1682750"/>
            <a:chOff x="396" y="1480"/>
            <a:chExt cx="328" cy="1060"/>
          </a:xfrm>
        </p:grpSpPr>
        <p:sp>
          <p:nvSpPr>
            <p:cNvPr id="10293" name="Line 53"/>
            <p:cNvSpPr>
              <a:spLocks noChangeShapeType="1"/>
            </p:cNvSpPr>
            <p:nvPr/>
          </p:nvSpPr>
          <p:spPr bwMode="auto">
            <a:xfrm flipV="1">
              <a:off x="577" y="1706"/>
              <a:ext cx="0" cy="63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0294" name="Text Box 54"/>
            <p:cNvSpPr txBox="1">
              <a:spLocks noChangeArrowheads="1"/>
            </p:cNvSpPr>
            <p:nvPr/>
          </p:nvSpPr>
          <p:spPr bwMode="auto">
            <a:xfrm>
              <a:off x="464" y="2309"/>
              <a:ext cx="2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0295" name="Text Box 55"/>
            <p:cNvSpPr txBox="1">
              <a:spLocks noChangeArrowheads="1"/>
            </p:cNvSpPr>
            <p:nvPr/>
          </p:nvSpPr>
          <p:spPr bwMode="auto">
            <a:xfrm>
              <a:off x="487" y="1480"/>
              <a:ext cx="23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0296" name="Text Box 56"/>
            <p:cNvSpPr txBox="1">
              <a:spLocks noChangeArrowheads="1"/>
            </p:cNvSpPr>
            <p:nvPr/>
          </p:nvSpPr>
          <p:spPr bwMode="auto">
            <a:xfrm>
              <a:off x="396" y="1888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h</a:t>
              </a:r>
            </a:p>
          </p:txBody>
        </p:sp>
      </p:grpSp>
      <p:sp>
        <p:nvSpPr>
          <p:cNvPr id="10297" name="Line 57"/>
          <p:cNvSpPr>
            <a:spLocks noChangeShapeType="1"/>
          </p:cNvSpPr>
          <p:nvPr/>
        </p:nvSpPr>
        <p:spPr bwMode="auto">
          <a:xfrm>
            <a:off x="1476375" y="2849547"/>
            <a:ext cx="4535488" cy="2303462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298" name="Freeform 58"/>
          <p:cNvSpPr>
            <a:spLocks noChangeAspect="1"/>
          </p:cNvSpPr>
          <p:nvPr/>
        </p:nvSpPr>
        <p:spPr bwMode="auto">
          <a:xfrm>
            <a:off x="3913188" y="4084622"/>
            <a:ext cx="2108200" cy="10699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71" y="797"/>
              </a:cxn>
            </a:cxnLst>
            <a:rect l="0" t="0" r="r" b="b"/>
            <a:pathLst>
              <a:path w="1571" h="797">
                <a:moveTo>
                  <a:pt x="0" y="0"/>
                </a:moveTo>
                <a:lnTo>
                  <a:pt x="1571" y="797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 type="triangle" w="lg" len="med"/>
            <a:tailEnd type="non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252" name="Oval 12"/>
          <p:cNvSpPr>
            <a:spLocks noChangeArrowheads="1"/>
          </p:cNvSpPr>
          <p:nvPr/>
        </p:nvSpPr>
        <p:spPr bwMode="auto">
          <a:xfrm>
            <a:off x="4705350" y="3806809"/>
            <a:ext cx="71438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247" name="Oval 7"/>
          <p:cNvSpPr>
            <a:spLocks noChangeArrowheads="1"/>
          </p:cNvSpPr>
          <p:nvPr/>
        </p:nvSpPr>
        <p:spPr bwMode="auto">
          <a:xfrm>
            <a:off x="3394075" y="3811572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grpSp>
        <p:nvGrpSpPr>
          <p:cNvPr id="10304" name="Group 64"/>
          <p:cNvGrpSpPr>
            <a:grpSpLocks/>
          </p:cNvGrpSpPr>
          <p:nvPr/>
        </p:nvGrpSpPr>
        <p:grpSpPr bwMode="auto">
          <a:xfrm>
            <a:off x="4040188" y="3541697"/>
            <a:ext cx="496887" cy="1058862"/>
            <a:chOff x="2545" y="2415"/>
            <a:chExt cx="313" cy="667"/>
          </a:xfrm>
        </p:grpSpPr>
        <p:sp>
          <p:nvSpPr>
            <p:cNvPr id="10300" name="Freeform 60"/>
            <p:cNvSpPr>
              <a:spLocks/>
            </p:cNvSpPr>
            <p:nvPr/>
          </p:nvSpPr>
          <p:spPr bwMode="auto">
            <a:xfrm>
              <a:off x="2653" y="2614"/>
              <a:ext cx="1" cy="2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570"/>
                </a:cxn>
              </a:cxnLst>
              <a:rect l="0" t="0" r="r" b="b"/>
              <a:pathLst>
                <a:path w="14" h="570">
                  <a:moveTo>
                    <a:pt x="0" y="0"/>
                  </a:moveTo>
                  <a:lnTo>
                    <a:pt x="14" y="570"/>
                  </a:lnTo>
                </a:path>
              </a:pathLst>
            </a:custGeom>
            <a:noFill/>
            <a:ln w="25400">
              <a:solidFill>
                <a:srgbClr val="339966"/>
              </a:solidFill>
              <a:round/>
              <a:headEnd type="none" w="med" len="med"/>
              <a:tailEnd type="triangle" w="lg" len="lg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0301" name="Text Box 61"/>
            <p:cNvSpPr txBox="1">
              <a:spLocks noChangeArrowheads="1"/>
            </p:cNvSpPr>
            <p:nvPr/>
          </p:nvSpPr>
          <p:spPr bwMode="auto">
            <a:xfrm>
              <a:off x="2549" y="2415"/>
              <a:ext cx="2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A</a:t>
              </a:r>
              <a:r>
                <a:rPr lang="es-ES_tradnl">
                  <a:latin typeface="Times New Roman" pitchFamily="18" charset="0"/>
                </a:rPr>
                <a:t>’</a:t>
              </a:r>
              <a:endParaRPr lang="es-ES_tradnl" i="1">
                <a:latin typeface="Times New Roman" pitchFamily="18" charset="0"/>
              </a:endParaRPr>
            </a:p>
          </p:txBody>
        </p:sp>
        <p:sp>
          <p:nvSpPr>
            <p:cNvPr id="10302" name="Text Box 62"/>
            <p:cNvSpPr txBox="1">
              <a:spLocks noChangeArrowheads="1"/>
            </p:cNvSpPr>
            <p:nvPr/>
          </p:nvSpPr>
          <p:spPr bwMode="auto">
            <a:xfrm>
              <a:off x="2545" y="2851"/>
              <a:ext cx="2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B</a:t>
              </a:r>
              <a:r>
                <a:rPr lang="es-ES_tradnl">
                  <a:latin typeface="Times New Roman" pitchFamily="18" charset="0"/>
                </a:rPr>
                <a:t>’</a:t>
              </a:r>
            </a:p>
          </p:txBody>
        </p:sp>
        <p:sp>
          <p:nvSpPr>
            <p:cNvPr id="10303" name="Text Box 63"/>
            <p:cNvSpPr txBox="1">
              <a:spLocks noChangeArrowheads="1"/>
            </p:cNvSpPr>
            <p:nvPr/>
          </p:nvSpPr>
          <p:spPr bwMode="auto">
            <a:xfrm>
              <a:off x="2622" y="2593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i="1">
                  <a:latin typeface="Times New Roman" pitchFamily="18" charset="0"/>
                </a:rPr>
                <a:t>h</a:t>
              </a:r>
              <a:r>
                <a:rPr lang="es-ES_tradnl">
                  <a:latin typeface="Times New Roman" pitchFamily="18" charset="0"/>
                </a:rPr>
                <a:t>’</a:t>
              </a:r>
              <a:endParaRPr lang="es-ES_tradnl" i="1">
                <a:latin typeface="Times New Roman" pitchFamily="18" charset="0"/>
              </a:endParaRPr>
            </a:p>
          </p:txBody>
        </p:sp>
      </p:grpSp>
      <p:sp>
        <p:nvSpPr>
          <p:cNvPr id="10305" name="Freeform 65"/>
          <p:cNvSpPr>
            <a:spLocks/>
          </p:cNvSpPr>
          <p:nvPr/>
        </p:nvSpPr>
        <p:spPr bwMode="auto">
          <a:xfrm>
            <a:off x="1476375" y="2849547"/>
            <a:ext cx="4568825" cy="9779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78" y="616"/>
              </a:cxn>
            </a:cxnLst>
            <a:rect l="0" t="0" r="r" b="b"/>
            <a:pathLst>
              <a:path w="2878" h="616">
                <a:moveTo>
                  <a:pt x="0" y="0"/>
                </a:moveTo>
                <a:lnTo>
                  <a:pt x="2878" y="616"/>
                </a:lnTo>
              </a:path>
            </a:pathLst>
          </a:custGeom>
          <a:noFill/>
          <a:ln w="25400">
            <a:solidFill>
              <a:srgbClr val="FF00FF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306" name="Freeform 66"/>
          <p:cNvSpPr>
            <a:spLocks/>
          </p:cNvSpPr>
          <p:nvPr/>
        </p:nvSpPr>
        <p:spPr bwMode="auto">
          <a:xfrm>
            <a:off x="3538538" y="3857609"/>
            <a:ext cx="2474912" cy="550863"/>
          </a:xfrm>
          <a:custGeom>
            <a:avLst/>
            <a:gdLst/>
            <a:ahLst/>
            <a:cxnLst>
              <a:cxn ang="0">
                <a:pos x="1559" y="0"/>
              </a:cxn>
              <a:cxn ang="0">
                <a:pos x="0" y="347"/>
              </a:cxn>
            </a:cxnLst>
            <a:rect l="0" t="0" r="r" b="b"/>
            <a:pathLst>
              <a:path w="1559" h="347">
                <a:moveTo>
                  <a:pt x="1559" y="0"/>
                </a:moveTo>
                <a:lnTo>
                  <a:pt x="0" y="347"/>
                </a:lnTo>
              </a:path>
            </a:pathLst>
          </a:custGeom>
          <a:noFill/>
          <a:ln w="25400">
            <a:solidFill>
              <a:srgbClr val="FF00FF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4365625" y="3387709"/>
            <a:ext cx="7826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000" i="1">
                <a:latin typeface="Times New Roman" pitchFamily="18" charset="0"/>
              </a:rPr>
              <a:t>F</a:t>
            </a:r>
            <a:r>
              <a:rPr lang="es-ES_tradnl" sz="2000">
                <a:latin typeface="Times New Roman" pitchFamily="18" charset="0"/>
                <a:sym typeface="Symbol" pitchFamily="18" charset="2"/>
              </a:rPr>
              <a:t></a:t>
            </a:r>
            <a:r>
              <a:rPr lang="es-ES_tradnl" sz="2000" i="1">
                <a:latin typeface="Times New Roman" pitchFamily="18" charset="0"/>
                <a:sym typeface="Symbol" pitchFamily="18" charset="2"/>
              </a:rPr>
              <a:t>F</a:t>
            </a:r>
            <a:r>
              <a:rPr lang="es-ES_tradnl" sz="2000">
                <a:latin typeface="Times New Roman" pitchFamily="18" charset="0"/>
                <a:sym typeface="Symbol" pitchFamily="18" charset="2"/>
              </a:rPr>
              <a:t>’</a:t>
            </a:r>
            <a:endParaRPr lang="es-ES_tradnl" sz="2000" i="1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0307" name="Text Box 67"/>
          <p:cNvSpPr txBox="1">
            <a:spLocks noChangeArrowheads="1"/>
          </p:cNvSpPr>
          <p:nvPr/>
        </p:nvSpPr>
        <p:spPr bwMode="auto">
          <a:xfrm>
            <a:off x="8675688" y="6564313"/>
            <a:ext cx="35458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15</a:t>
            </a:r>
          </a:p>
        </p:txBody>
      </p:sp>
      <p:sp>
        <p:nvSpPr>
          <p:cNvPr id="39" name="38 CuadroTexto"/>
          <p:cNvSpPr txBox="1">
            <a:spLocks noChangeArrowheads="1"/>
          </p:cNvSpPr>
          <p:nvPr/>
        </p:nvSpPr>
        <p:spPr bwMode="auto">
          <a:xfrm>
            <a:off x="357188" y="6072210"/>
            <a:ext cx="77444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 dirty="0">
                <a:solidFill>
                  <a:srgbClr val="0000FF"/>
                </a:solidFill>
              </a:rPr>
              <a:t>(1) Incidente: dirección paralela al eje principal. Reflejado: dirección que pasa por foco principal</a:t>
            </a:r>
          </a:p>
        </p:txBody>
      </p:sp>
      <p:sp>
        <p:nvSpPr>
          <p:cNvPr id="40" name="39 CuadroTexto"/>
          <p:cNvSpPr txBox="1">
            <a:spLocks noChangeArrowheads="1"/>
          </p:cNvSpPr>
          <p:nvPr/>
        </p:nvSpPr>
        <p:spPr bwMode="auto">
          <a:xfrm>
            <a:off x="357188" y="6335735"/>
            <a:ext cx="758573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 dirty="0">
                <a:solidFill>
                  <a:srgbClr val="A50021"/>
                </a:solidFill>
              </a:rPr>
              <a:t>(2) Incidente: dirección pasa por el foco principal. Reflejado: dirección paralela al eje principal</a:t>
            </a:r>
          </a:p>
        </p:txBody>
      </p:sp>
      <p:sp>
        <p:nvSpPr>
          <p:cNvPr id="41" name="40 CuadroTexto"/>
          <p:cNvSpPr txBox="1">
            <a:spLocks noChangeArrowheads="1"/>
          </p:cNvSpPr>
          <p:nvPr/>
        </p:nvSpPr>
        <p:spPr bwMode="auto">
          <a:xfrm>
            <a:off x="3500430" y="2500306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42" name="41 CuadroTexto"/>
          <p:cNvSpPr txBox="1">
            <a:spLocks noChangeArrowheads="1"/>
          </p:cNvSpPr>
          <p:nvPr/>
        </p:nvSpPr>
        <p:spPr bwMode="auto">
          <a:xfrm>
            <a:off x="3071802" y="3357562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43" name="42 CuadroTexto"/>
          <p:cNvSpPr txBox="1">
            <a:spLocks noChangeArrowheads="1"/>
          </p:cNvSpPr>
          <p:nvPr/>
        </p:nvSpPr>
        <p:spPr bwMode="auto">
          <a:xfrm>
            <a:off x="357158" y="6550049"/>
            <a:ext cx="700544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 dirty="0">
                <a:solidFill>
                  <a:srgbClr val="00CCFF"/>
                </a:solidFill>
              </a:rPr>
              <a:t>(3) Incidente: dirección que pasa por el centro de curvatura., se refleja sobre sí mismo</a:t>
            </a:r>
          </a:p>
        </p:txBody>
      </p:sp>
      <p:sp>
        <p:nvSpPr>
          <p:cNvPr id="44" name="43 CuadroTexto"/>
          <p:cNvSpPr txBox="1">
            <a:spLocks noChangeArrowheads="1"/>
          </p:cNvSpPr>
          <p:nvPr/>
        </p:nvSpPr>
        <p:spPr bwMode="auto">
          <a:xfrm>
            <a:off x="2143108" y="3357562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CCFF"/>
                </a:solidFill>
              </a:rPr>
              <a:t>(3)</a:t>
            </a:r>
          </a:p>
        </p:txBody>
      </p:sp>
      <p:sp>
        <p:nvSpPr>
          <p:cNvPr id="45" name="44 CuadroTexto"/>
          <p:cNvSpPr txBox="1"/>
          <p:nvPr/>
        </p:nvSpPr>
        <p:spPr>
          <a:xfrm>
            <a:off x="3913818" y="-40380"/>
            <a:ext cx="46346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2"/>
                </a:solidFill>
              </a:rPr>
              <a:t>-  Marcha de rayos, formación de imágenes</a:t>
            </a:r>
            <a:endParaRPr lang="es-ES_tradnl" sz="3600" dirty="0">
              <a:solidFill>
                <a:schemeClr val="tx2"/>
              </a:solidFill>
            </a:endParaRPr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0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3" grpId="0" animBg="1"/>
      <p:bldP spid="10265" grpId="0" animBg="1"/>
      <p:bldP spid="10287" grpId="0" animBg="1"/>
      <p:bldP spid="10288" grpId="0" animBg="1"/>
      <p:bldP spid="10297" grpId="0" animBg="1"/>
      <p:bldP spid="10298" grpId="0" animBg="1"/>
      <p:bldP spid="10252" grpId="0" animBg="1"/>
      <p:bldP spid="10305" grpId="0" animBg="1"/>
      <p:bldP spid="10306" grpId="0" animBg="1"/>
      <p:bldP spid="10261" grpId="0"/>
      <p:bldP spid="10307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reeform 2" descr="Diagonal hacia arriba ancha"/>
          <p:cNvSpPr>
            <a:spLocks/>
          </p:cNvSpPr>
          <p:nvPr/>
        </p:nvSpPr>
        <p:spPr bwMode="auto">
          <a:xfrm>
            <a:off x="5580063" y="1844675"/>
            <a:ext cx="755650" cy="4370388"/>
          </a:xfrm>
          <a:custGeom>
            <a:avLst/>
            <a:gdLst/>
            <a:ahLst/>
            <a:cxnLst>
              <a:cxn ang="0">
                <a:pos x="462" y="41"/>
              </a:cxn>
              <a:cxn ang="0">
                <a:pos x="354" y="0"/>
              </a:cxn>
              <a:cxn ang="0">
                <a:pos x="126" y="10"/>
              </a:cxn>
              <a:cxn ang="0">
                <a:pos x="228" y="64"/>
              </a:cxn>
              <a:cxn ang="0">
                <a:pos x="296" y="193"/>
              </a:cxn>
              <a:cxn ang="0">
                <a:pos x="312" y="1179"/>
              </a:cxn>
              <a:cxn ang="0">
                <a:pos x="312" y="1406"/>
              </a:cxn>
              <a:cxn ang="0">
                <a:pos x="304" y="1602"/>
              </a:cxn>
              <a:cxn ang="0">
                <a:pos x="296" y="2558"/>
              </a:cxn>
              <a:cxn ang="0">
                <a:pos x="269" y="2666"/>
              </a:cxn>
              <a:cxn ang="0">
                <a:pos x="126" y="2747"/>
              </a:cxn>
              <a:cxn ang="0">
                <a:pos x="320" y="2738"/>
              </a:cxn>
              <a:cxn ang="0">
                <a:pos x="408" y="2656"/>
              </a:cxn>
              <a:cxn ang="0">
                <a:pos x="476" y="2480"/>
              </a:cxn>
              <a:cxn ang="0">
                <a:pos x="476" y="1416"/>
              </a:cxn>
              <a:cxn ang="0">
                <a:pos x="462" y="41"/>
              </a:cxn>
            </a:cxnLst>
            <a:rect l="0" t="0" r="r" b="b"/>
            <a:pathLst>
              <a:path w="476" h="2753">
                <a:moveTo>
                  <a:pt x="462" y="41"/>
                </a:moveTo>
                <a:lnTo>
                  <a:pt x="354" y="0"/>
                </a:lnTo>
                <a:lnTo>
                  <a:pt x="126" y="10"/>
                </a:lnTo>
                <a:lnTo>
                  <a:pt x="228" y="64"/>
                </a:lnTo>
                <a:lnTo>
                  <a:pt x="296" y="193"/>
                </a:lnTo>
                <a:lnTo>
                  <a:pt x="312" y="1179"/>
                </a:lnTo>
                <a:lnTo>
                  <a:pt x="312" y="1406"/>
                </a:lnTo>
                <a:lnTo>
                  <a:pt x="304" y="1602"/>
                </a:lnTo>
                <a:lnTo>
                  <a:pt x="296" y="2558"/>
                </a:lnTo>
                <a:lnTo>
                  <a:pt x="269" y="2666"/>
                </a:lnTo>
                <a:cubicBezTo>
                  <a:pt x="241" y="2697"/>
                  <a:pt x="117" y="2735"/>
                  <a:pt x="126" y="2747"/>
                </a:cubicBezTo>
                <a:cubicBezTo>
                  <a:pt x="0" y="2751"/>
                  <a:pt x="273" y="2753"/>
                  <a:pt x="320" y="2738"/>
                </a:cubicBezTo>
                <a:lnTo>
                  <a:pt x="408" y="2656"/>
                </a:lnTo>
                <a:cubicBezTo>
                  <a:pt x="434" y="2613"/>
                  <a:pt x="465" y="2687"/>
                  <a:pt x="476" y="2480"/>
                </a:cubicBezTo>
                <a:lnTo>
                  <a:pt x="476" y="1416"/>
                </a:lnTo>
                <a:lnTo>
                  <a:pt x="462" y="41"/>
                </a:lnTo>
                <a:close/>
              </a:path>
            </a:pathLst>
          </a:custGeom>
          <a:pattFill prst="wdUpDiag">
            <a:fgClr>
              <a:srgbClr val="C0C0C0">
                <a:alpha val="57001"/>
              </a:srgbClr>
            </a:fgClr>
            <a:bgClr>
              <a:schemeClr val="bg1">
                <a:alpha val="57001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267" name="Freeform 3" descr="Onda"/>
          <p:cNvSpPr>
            <a:spLocks/>
          </p:cNvSpPr>
          <p:nvPr/>
        </p:nvSpPr>
        <p:spPr bwMode="auto">
          <a:xfrm flipH="1">
            <a:off x="704850" y="1828800"/>
            <a:ext cx="5338763" cy="4484688"/>
          </a:xfrm>
          <a:custGeom>
            <a:avLst/>
            <a:gdLst/>
            <a:ahLst/>
            <a:cxnLst>
              <a:cxn ang="0">
                <a:pos x="3090" y="2541"/>
              </a:cxn>
              <a:cxn ang="0">
                <a:pos x="3171" y="1999"/>
              </a:cxn>
              <a:cxn ang="0">
                <a:pos x="3063" y="1003"/>
              </a:cxn>
              <a:cxn ang="0">
                <a:pos x="3015" y="20"/>
              </a:cxn>
              <a:cxn ang="0">
                <a:pos x="976" y="6"/>
              </a:cxn>
              <a:cxn ang="0">
                <a:pos x="657" y="0"/>
              </a:cxn>
              <a:cxn ang="0">
                <a:pos x="169" y="20"/>
              </a:cxn>
              <a:cxn ang="0">
                <a:pos x="54" y="108"/>
              </a:cxn>
              <a:cxn ang="0">
                <a:pos x="0" y="271"/>
              </a:cxn>
              <a:cxn ang="0">
                <a:pos x="20" y="840"/>
              </a:cxn>
              <a:cxn ang="0">
                <a:pos x="3" y="1202"/>
              </a:cxn>
              <a:cxn ang="0">
                <a:pos x="3" y="1429"/>
              </a:cxn>
              <a:cxn ang="0">
                <a:pos x="11" y="1625"/>
              </a:cxn>
              <a:cxn ang="0">
                <a:pos x="20" y="1985"/>
              </a:cxn>
              <a:cxn ang="0">
                <a:pos x="27" y="2460"/>
              </a:cxn>
              <a:cxn ang="0">
                <a:pos x="101" y="2717"/>
              </a:cxn>
              <a:cxn ang="0">
                <a:pos x="237" y="2792"/>
              </a:cxn>
              <a:cxn ang="0">
                <a:pos x="894" y="2825"/>
              </a:cxn>
              <a:cxn ang="0">
                <a:pos x="1152" y="2825"/>
              </a:cxn>
              <a:cxn ang="0">
                <a:pos x="2934" y="2825"/>
              </a:cxn>
              <a:cxn ang="0">
                <a:pos x="3090" y="2541"/>
              </a:cxn>
            </a:cxnLst>
            <a:rect l="0" t="0" r="r" b="b"/>
            <a:pathLst>
              <a:path w="3363" h="2825">
                <a:moveTo>
                  <a:pt x="3090" y="2541"/>
                </a:moveTo>
                <a:cubicBezTo>
                  <a:pt x="3083" y="2481"/>
                  <a:pt x="3168" y="2199"/>
                  <a:pt x="3171" y="1999"/>
                </a:cubicBezTo>
                <a:cubicBezTo>
                  <a:pt x="3174" y="1799"/>
                  <a:pt x="3093" y="1203"/>
                  <a:pt x="3063" y="1003"/>
                </a:cubicBezTo>
                <a:cubicBezTo>
                  <a:pt x="2909" y="762"/>
                  <a:pt x="3363" y="186"/>
                  <a:pt x="3015" y="20"/>
                </a:cubicBezTo>
                <a:lnTo>
                  <a:pt x="976" y="6"/>
                </a:lnTo>
                <a:lnTo>
                  <a:pt x="657" y="0"/>
                </a:lnTo>
                <a:lnTo>
                  <a:pt x="169" y="20"/>
                </a:lnTo>
                <a:lnTo>
                  <a:pt x="54" y="108"/>
                </a:lnTo>
                <a:lnTo>
                  <a:pt x="0" y="271"/>
                </a:lnTo>
                <a:lnTo>
                  <a:pt x="20" y="840"/>
                </a:lnTo>
                <a:lnTo>
                  <a:pt x="3" y="1202"/>
                </a:lnTo>
                <a:lnTo>
                  <a:pt x="3" y="1429"/>
                </a:lnTo>
                <a:lnTo>
                  <a:pt x="11" y="1625"/>
                </a:lnTo>
                <a:lnTo>
                  <a:pt x="20" y="1985"/>
                </a:lnTo>
                <a:lnTo>
                  <a:pt x="27" y="2460"/>
                </a:lnTo>
                <a:cubicBezTo>
                  <a:pt x="40" y="2582"/>
                  <a:pt x="66" y="2662"/>
                  <a:pt x="101" y="2717"/>
                </a:cubicBezTo>
                <a:cubicBezTo>
                  <a:pt x="174" y="2786"/>
                  <a:pt x="105" y="2774"/>
                  <a:pt x="237" y="2792"/>
                </a:cubicBezTo>
                <a:cubicBezTo>
                  <a:pt x="369" y="2810"/>
                  <a:pt x="742" y="2820"/>
                  <a:pt x="894" y="2825"/>
                </a:cubicBezTo>
                <a:lnTo>
                  <a:pt x="1152" y="2825"/>
                </a:lnTo>
                <a:lnTo>
                  <a:pt x="2934" y="2825"/>
                </a:lnTo>
                <a:lnTo>
                  <a:pt x="3090" y="2541"/>
                </a:lnTo>
                <a:close/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900113" y="44450"/>
            <a:ext cx="7793037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s-ES_tradnl" sz="3200">
                <a:solidFill>
                  <a:schemeClr val="tx2"/>
                </a:solidFill>
              </a:rPr>
              <a:t>Espejo esférico</a:t>
            </a:r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539750" y="4137025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 flipV="1">
            <a:off x="6040438" y="1562100"/>
            <a:ext cx="0" cy="464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8388350" y="4005263"/>
            <a:ext cx="357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x</a:t>
            </a: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5662613" y="1506538"/>
            <a:ext cx="3571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y</a:t>
            </a: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3121025" y="414178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C</a:t>
            </a:r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5003800" y="5661025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11275" name="Freeform 11"/>
          <p:cNvSpPr>
            <a:spLocks/>
          </p:cNvSpPr>
          <p:nvPr/>
        </p:nvSpPr>
        <p:spPr bwMode="auto">
          <a:xfrm>
            <a:off x="1473200" y="3141663"/>
            <a:ext cx="4572000" cy="1387475"/>
          </a:xfrm>
          <a:custGeom>
            <a:avLst/>
            <a:gdLst/>
            <a:ahLst/>
            <a:cxnLst>
              <a:cxn ang="0">
                <a:pos x="2880" y="874"/>
              </a:cxn>
              <a:cxn ang="0">
                <a:pos x="0" y="0"/>
              </a:cxn>
            </a:cxnLst>
            <a:rect l="0" t="0" r="r" b="b"/>
            <a:pathLst>
              <a:path w="2880" h="874">
                <a:moveTo>
                  <a:pt x="2880" y="874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93366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282" name="Freeform 18"/>
          <p:cNvSpPr>
            <a:spLocks noChangeAspect="1"/>
          </p:cNvSpPr>
          <p:nvPr/>
        </p:nvSpPr>
        <p:spPr bwMode="auto">
          <a:xfrm>
            <a:off x="3205163" y="3141663"/>
            <a:ext cx="2852737" cy="2162175"/>
          </a:xfrm>
          <a:custGeom>
            <a:avLst/>
            <a:gdLst/>
            <a:ahLst/>
            <a:cxnLst>
              <a:cxn ang="0">
                <a:pos x="1797" y="0"/>
              </a:cxn>
              <a:cxn ang="0">
                <a:pos x="0" y="1362"/>
              </a:cxn>
            </a:cxnLst>
            <a:rect l="0" t="0" r="r" b="b"/>
            <a:pathLst>
              <a:path w="1797" h="1362">
                <a:moveTo>
                  <a:pt x="1797" y="0"/>
                </a:moveTo>
                <a:lnTo>
                  <a:pt x="0" y="1362"/>
                </a:ln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287" name="AutoShape 23"/>
          <p:cNvSpPr>
            <a:spLocks/>
          </p:cNvSpPr>
          <p:nvPr/>
        </p:nvSpPr>
        <p:spPr bwMode="auto">
          <a:xfrm flipH="1">
            <a:off x="5673725" y="1828800"/>
            <a:ext cx="360363" cy="4392613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1288" name="Rectangle 24"/>
          <p:cNvSpPr>
            <a:spLocks noChangeArrowheads="1"/>
          </p:cNvSpPr>
          <p:nvPr/>
        </p:nvSpPr>
        <p:spPr bwMode="auto">
          <a:xfrm>
            <a:off x="34925" y="692150"/>
            <a:ext cx="3471863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es-ES_tradnl" sz="2400">
                <a:solidFill>
                  <a:schemeClr val="tx2"/>
                </a:solidFill>
              </a:rPr>
              <a:t>Aproximación paraxial:</a:t>
            </a:r>
          </a:p>
        </p:txBody>
      </p:sp>
      <p:sp>
        <p:nvSpPr>
          <p:cNvPr id="11289" name="Freeform 25"/>
          <p:cNvSpPr>
            <a:spLocks/>
          </p:cNvSpPr>
          <p:nvPr/>
        </p:nvSpPr>
        <p:spPr bwMode="auto">
          <a:xfrm>
            <a:off x="4205288" y="4927600"/>
            <a:ext cx="1806575" cy="1588"/>
          </a:xfrm>
          <a:custGeom>
            <a:avLst/>
            <a:gdLst/>
            <a:ahLst/>
            <a:cxnLst>
              <a:cxn ang="0">
                <a:pos x="865" y="0"/>
              </a:cxn>
              <a:cxn ang="0">
                <a:pos x="0" y="10"/>
              </a:cxn>
            </a:cxnLst>
            <a:rect l="0" t="0" r="r" b="b"/>
            <a:pathLst>
              <a:path w="865" h="10">
                <a:moveTo>
                  <a:pt x="865" y="0"/>
                </a:moveTo>
                <a:lnTo>
                  <a:pt x="0" y="1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290" name="Freeform 26"/>
          <p:cNvSpPr>
            <a:spLocks/>
          </p:cNvSpPr>
          <p:nvPr/>
        </p:nvSpPr>
        <p:spPr bwMode="auto">
          <a:xfrm>
            <a:off x="1463675" y="5267325"/>
            <a:ext cx="4548188" cy="1588"/>
          </a:xfrm>
          <a:custGeom>
            <a:avLst/>
            <a:gdLst/>
            <a:ahLst/>
            <a:cxnLst>
              <a:cxn ang="0">
                <a:pos x="3002" y="14"/>
              </a:cxn>
              <a:cxn ang="0">
                <a:pos x="0" y="0"/>
              </a:cxn>
            </a:cxnLst>
            <a:rect l="0" t="0" r="r" b="b"/>
            <a:pathLst>
              <a:path w="3002" h="14">
                <a:moveTo>
                  <a:pt x="3002" y="1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291" name="Text Box 27"/>
          <p:cNvSpPr txBox="1">
            <a:spLocks noChangeArrowheads="1"/>
          </p:cNvSpPr>
          <p:nvPr/>
        </p:nvSpPr>
        <p:spPr bwMode="auto">
          <a:xfrm>
            <a:off x="1835150" y="5195888"/>
            <a:ext cx="7254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s</a:t>
            </a:r>
            <a:r>
              <a:rPr lang="es-ES_tradnl">
                <a:latin typeface="Times New Roman" pitchFamily="18" charset="0"/>
              </a:rPr>
              <a:t> (&lt;0)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1292" name="Text Box 28"/>
          <p:cNvSpPr txBox="1">
            <a:spLocks noChangeArrowheads="1"/>
          </p:cNvSpPr>
          <p:nvPr/>
        </p:nvSpPr>
        <p:spPr bwMode="auto">
          <a:xfrm>
            <a:off x="4471988" y="4862513"/>
            <a:ext cx="8016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s</a:t>
            </a:r>
            <a:r>
              <a:rPr lang="es-ES_tradnl">
                <a:latin typeface="Times New Roman" pitchFamily="18" charset="0"/>
              </a:rPr>
              <a:t>’ (&lt;0)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1293" name="Arc 29"/>
          <p:cNvSpPr>
            <a:spLocks/>
          </p:cNvSpPr>
          <p:nvPr/>
        </p:nvSpPr>
        <p:spPr bwMode="auto">
          <a:xfrm rot="9764590" flipV="1">
            <a:off x="4859338" y="3883025"/>
            <a:ext cx="280987" cy="231775"/>
          </a:xfrm>
          <a:custGeom>
            <a:avLst/>
            <a:gdLst>
              <a:gd name="G0" fmla="+- 0 0 0"/>
              <a:gd name="G1" fmla="+- 15821 0 0"/>
              <a:gd name="G2" fmla="+- 21600 0 0"/>
              <a:gd name="T0" fmla="*/ 14706 w 21600"/>
              <a:gd name="T1" fmla="*/ 0 h 23937"/>
              <a:gd name="T2" fmla="*/ 20017 w 21600"/>
              <a:gd name="T3" fmla="*/ 23937 h 23937"/>
              <a:gd name="T4" fmla="*/ 0 w 21600"/>
              <a:gd name="T5" fmla="*/ 15821 h 23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3937" fill="none" extrusionOk="0">
                <a:moveTo>
                  <a:pt x="14705" y="0"/>
                </a:moveTo>
                <a:cubicBezTo>
                  <a:pt x="19102" y="4086"/>
                  <a:pt x="21600" y="9818"/>
                  <a:pt x="21600" y="15821"/>
                </a:cubicBezTo>
                <a:cubicBezTo>
                  <a:pt x="21600" y="18603"/>
                  <a:pt x="21062" y="21358"/>
                  <a:pt x="20017" y="23937"/>
                </a:cubicBezTo>
              </a:path>
              <a:path w="21600" h="23937" stroke="0" extrusionOk="0">
                <a:moveTo>
                  <a:pt x="14705" y="0"/>
                </a:moveTo>
                <a:cubicBezTo>
                  <a:pt x="19102" y="4086"/>
                  <a:pt x="21600" y="9818"/>
                  <a:pt x="21600" y="15821"/>
                </a:cubicBezTo>
                <a:cubicBezTo>
                  <a:pt x="21600" y="18603"/>
                  <a:pt x="21062" y="21358"/>
                  <a:pt x="20017" y="23937"/>
                </a:cubicBezTo>
                <a:lnTo>
                  <a:pt x="0" y="1582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1294" name="Text Box 30"/>
          <p:cNvSpPr txBox="1">
            <a:spLocks noChangeArrowheads="1"/>
          </p:cNvSpPr>
          <p:nvPr/>
        </p:nvSpPr>
        <p:spPr bwMode="auto">
          <a:xfrm>
            <a:off x="5003800" y="4048125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i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graphicFrame>
        <p:nvGraphicFramePr>
          <p:cNvPr id="11295" name="Object 31"/>
          <p:cNvGraphicFramePr>
            <a:graphicFrameLocks noChangeAspect="1"/>
          </p:cNvGraphicFramePr>
          <p:nvPr/>
        </p:nvGraphicFramePr>
        <p:xfrm>
          <a:off x="3635375" y="692150"/>
          <a:ext cx="203358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2" name="Ecuación" r:id="rId3" imgW="1269720" imgH="419040" progId="Equation.3">
                  <p:embed/>
                </p:oleObj>
              </mc:Choice>
              <mc:Fallback>
                <p:oleObj name="Ecuación" r:id="rId3" imgW="1269720" imgH="41904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692150"/>
                        <a:ext cx="2033588" cy="6699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6" name="Text Box 32"/>
          <p:cNvSpPr txBox="1">
            <a:spLocks noChangeArrowheads="1"/>
          </p:cNvSpPr>
          <p:nvPr/>
        </p:nvSpPr>
        <p:spPr bwMode="auto">
          <a:xfrm>
            <a:off x="1908175" y="5949950"/>
            <a:ext cx="6864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R </a:t>
            </a:r>
            <a:r>
              <a:rPr lang="es-ES_tradnl" dirty="0">
                <a:latin typeface="Times New Roman" pitchFamily="18" charset="0"/>
              </a:rPr>
              <a:t>&lt; 0</a:t>
            </a:r>
          </a:p>
        </p:txBody>
      </p:sp>
      <p:sp>
        <p:nvSpPr>
          <p:cNvPr id="11297" name="Line 33"/>
          <p:cNvSpPr>
            <a:spLocks noChangeShapeType="1"/>
          </p:cNvSpPr>
          <p:nvPr/>
        </p:nvSpPr>
        <p:spPr bwMode="auto">
          <a:xfrm>
            <a:off x="1476375" y="3141663"/>
            <a:ext cx="4573588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298" name="Line 34"/>
          <p:cNvSpPr>
            <a:spLocks noChangeShapeType="1"/>
          </p:cNvSpPr>
          <p:nvPr/>
        </p:nvSpPr>
        <p:spPr bwMode="auto">
          <a:xfrm>
            <a:off x="1797050" y="4537075"/>
            <a:ext cx="4213225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triangle" w="lg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graphicFrame>
        <p:nvGraphicFramePr>
          <p:cNvPr id="11299" name="Object 35"/>
          <p:cNvGraphicFramePr>
            <a:graphicFrameLocks noChangeAspect="1"/>
          </p:cNvGraphicFramePr>
          <p:nvPr/>
        </p:nvGraphicFramePr>
        <p:xfrm>
          <a:off x="6186488" y="692150"/>
          <a:ext cx="1279525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3" name="Ecuación" r:id="rId5" imgW="799920" imgH="393480" progId="Equation.3">
                  <p:embed/>
                </p:oleObj>
              </mc:Choice>
              <mc:Fallback>
                <p:oleObj name="Ecuación" r:id="rId5" imgW="799920" imgH="39348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6488" y="692150"/>
                        <a:ext cx="1279525" cy="63023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1" name="Line 37"/>
          <p:cNvSpPr>
            <a:spLocks noChangeShapeType="1"/>
          </p:cNvSpPr>
          <p:nvPr/>
        </p:nvSpPr>
        <p:spPr bwMode="auto">
          <a:xfrm flipV="1">
            <a:off x="1474788" y="3113088"/>
            <a:ext cx="0" cy="10080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302" name="Text Box 38"/>
          <p:cNvSpPr txBox="1">
            <a:spLocks noChangeArrowheads="1"/>
          </p:cNvSpPr>
          <p:nvPr/>
        </p:nvSpPr>
        <p:spPr bwMode="auto">
          <a:xfrm>
            <a:off x="1295400" y="4070350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</a:p>
        </p:txBody>
      </p:sp>
      <p:sp>
        <p:nvSpPr>
          <p:cNvPr id="11303" name="Text Box 39"/>
          <p:cNvSpPr txBox="1">
            <a:spLocks noChangeArrowheads="1"/>
          </p:cNvSpPr>
          <p:nvPr/>
        </p:nvSpPr>
        <p:spPr bwMode="auto">
          <a:xfrm>
            <a:off x="1331913" y="2754313"/>
            <a:ext cx="3762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11304" name="Text Box 40"/>
          <p:cNvSpPr txBox="1">
            <a:spLocks noChangeArrowheads="1"/>
          </p:cNvSpPr>
          <p:nvPr/>
        </p:nvSpPr>
        <p:spPr bwMode="auto">
          <a:xfrm>
            <a:off x="1187450" y="34020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h</a:t>
            </a:r>
          </a:p>
        </p:txBody>
      </p:sp>
      <p:sp>
        <p:nvSpPr>
          <p:cNvPr id="11305" name="Line 41"/>
          <p:cNvSpPr>
            <a:spLocks noChangeShapeType="1"/>
          </p:cNvSpPr>
          <p:nvPr/>
        </p:nvSpPr>
        <p:spPr bwMode="auto">
          <a:xfrm>
            <a:off x="1476375" y="3141663"/>
            <a:ext cx="4535488" cy="2303462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306" name="Freeform 42"/>
          <p:cNvSpPr>
            <a:spLocks noChangeAspect="1"/>
          </p:cNvSpPr>
          <p:nvPr/>
        </p:nvSpPr>
        <p:spPr bwMode="auto">
          <a:xfrm>
            <a:off x="3913188" y="4376738"/>
            <a:ext cx="2108200" cy="10699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71" y="797"/>
              </a:cxn>
            </a:cxnLst>
            <a:rect l="0" t="0" r="r" b="b"/>
            <a:pathLst>
              <a:path w="1571" h="797">
                <a:moveTo>
                  <a:pt x="0" y="0"/>
                </a:moveTo>
                <a:lnTo>
                  <a:pt x="1571" y="797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 type="triangle" w="lg" len="med"/>
            <a:tailEnd type="non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307" name="Oval 43"/>
          <p:cNvSpPr>
            <a:spLocks noChangeArrowheads="1"/>
          </p:cNvSpPr>
          <p:nvPr/>
        </p:nvSpPr>
        <p:spPr bwMode="auto">
          <a:xfrm>
            <a:off x="4705350" y="4098925"/>
            <a:ext cx="71438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1309" name="Text Box 45"/>
          <p:cNvSpPr txBox="1">
            <a:spLocks noChangeArrowheads="1"/>
          </p:cNvSpPr>
          <p:nvPr/>
        </p:nvSpPr>
        <p:spPr bwMode="auto">
          <a:xfrm>
            <a:off x="5032375" y="3838575"/>
            <a:ext cx="24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i</a:t>
            </a:r>
          </a:p>
        </p:txBody>
      </p:sp>
      <p:sp>
        <p:nvSpPr>
          <p:cNvPr id="11311" name="Oval 47"/>
          <p:cNvSpPr>
            <a:spLocks noChangeArrowheads="1"/>
          </p:cNvSpPr>
          <p:nvPr/>
        </p:nvSpPr>
        <p:spPr bwMode="auto">
          <a:xfrm>
            <a:off x="3394075" y="4103688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1312" name="Freeform 48"/>
          <p:cNvSpPr>
            <a:spLocks/>
          </p:cNvSpPr>
          <p:nvPr/>
        </p:nvSpPr>
        <p:spPr bwMode="auto">
          <a:xfrm>
            <a:off x="4211638" y="4149725"/>
            <a:ext cx="1587" cy="4254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" y="570"/>
              </a:cxn>
            </a:cxnLst>
            <a:rect l="0" t="0" r="r" b="b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313" name="Text Box 49"/>
          <p:cNvSpPr txBox="1">
            <a:spLocks noChangeArrowheads="1"/>
          </p:cNvSpPr>
          <p:nvPr/>
        </p:nvSpPr>
        <p:spPr bwMode="auto">
          <a:xfrm>
            <a:off x="4046538" y="3833813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A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1314" name="Text Box 50"/>
          <p:cNvSpPr txBox="1">
            <a:spLocks noChangeArrowheads="1"/>
          </p:cNvSpPr>
          <p:nvPr/>
        </p:nvSpPr>
        <p:spPr bwMode="auto">
          <a:xfrm>
            <a:off x="4040188" y="4525963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1315" name="Text Box 51"/>
          <p:cNvSpPr txBox="1">
            <a:spLocks noChangeArrowheads="1"/>
          </p:cNvSpPr>
          <p:nvPr/>
        </p:nvSpPr>
        <p:spPr bwMode="auto">
          <a:xfrm>
            <a:off x="4162425" y="411638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h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1316" name="Freeform 52"/>
          <p:cNvSpPr>
            <a:spLocks/>
          </p:cNvSpPr>
          <p:nvPr/>
        </p:nvSpPr>
        <p:spPr bwMode="auto">
          <a:xfrm>
            <a:off x="1476375" y="3141663"/>
            <a:ext cx="4568825" cy="9779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78" y="616"/>
              </a:cxn>
            </a:cxnLst>
            <a:rect l="0" t="0" r="r" b="b"/>
            <a:pathLst>
              <a:path w="2878" h="616">
                <a:moveTo>
                  <a:pt x="0" y="0"/>
                </a:moveTo>
                <a:lnTo>
                  <a:pt x="2878" y="616"/>
                </a:lnTo>
              </a:path>
            </a:pathLst>
          </a:custGeom>
          <a:noFill/>
          <a:ln w="25400">
            <a:solidFill>
              <a:srgbClr val="FF00FF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317" name="Freeform 53"/>
          <p:cNvSpPr>
            <a:spLocks/>
          </p:cNvSpPr>
          <p:nvPr/>
        </p:nvSpPr>
        <p:spPr bwMode="auto">
          <a:xfrm>
            <a:off x="3538538" y="4149725"/>
            <a:ext cx="2474912" cy="550863"/>
          </a:xfrm>
          <a:custGeom>
            <a:avLst/>
            <a:gdLst/>
            <a:ahLst/>
            <a:cxnLst>
              <a:cxn ang="0">
                <a:pos x="1559" y="0"/>
              </a:cxn>
              <a:cxn ang="0">
                <a:pos x="0" y="347"/>
              </a:cxn>
            </a:cxnLst>
            <a:rect l="0" t="0" r="r" b="b"/>
            <a:pathLst>
              <a:path w="1559" h="347">
                <a:moveTo>
                  <a:pt x="1559" y="0"/>
                </a:moveTo>
                <a:lnTo>
                  <a:pt x="0" y="347"/>
                </a:lnTo>
              </a:path>
            </a:pathLst>
          </a:custGeom>
          <a:noFill/>
          <a:ln w="25400">
            <a:solidFill>
              <a:srgbClr val="FF00FF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310" name="Text Box 46"/>
          <p:cNvSpPr txBox="1">
            <a:spLocks noChangeArrowheads="1"/>
          </p:cNvSpPr>
          <p:nvPr/>
        </p:nvSpPr>
        <p:spPr bwMode="auto">
          <a:xfrm>
            <a:off x="4365625" y="3679825"/>
            <a:ext cx="7826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000" i="1">
                <a:latin typeface="Times New Roman" pitchFamily="18" charset="0"/>
              </a:rPr>
              <a:t>F</a:t>
            </a:r>
            <a:r>
              <a:rPr lang="es-ES_tradnl" sz="2000">
                <a:latin typeface="Times New Roman" pitchFamily="18" charset="0"/>
                <a:sym typeface="Symbol" pitchFamily="18" charset="2"/>
              </a:rPr>
              <a:t></a:t>
            </a:r>
            <a:r>
              <a:rPr lang="es-ES_tradnl" sz="2000" i="1">
                <a:latin typeface="Times New Roman" pitchFamily="18" charset="0"/>
                <a:sym typeface="Symbol" pitchFamily="18" charset="2"/>
              </a:rPr>
              <a:t>F</a:t>
            </a:r>
            <a:r>
              <a:rPr lang="es-ES_tradnl" sz="2000">
                <a:latin typeface="Times New Roman" pitchFamily="18" charset="0"/>
                <a:sym typeface="Symbol" pitchFamily="18" charset="2"/>
              </a:rPr>
              <a:t>’</a:t>
            </a:r>
            <a:endParaRPr lang="es-ES_tradnl" sz="2000" i="1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6078538" y="3805238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V</a:t>
            </a:r>
          </a:p>
        </p:txBody>
      </p:sp>
      <p:sp>
        <p:nvSpPr>
          <p:cNvPr id="11286" name="Oval 22"/>
          <p:cNvSpPr>
            <a:spLocks noChangeArrowheads="1"/>
          </p:cNvSpPr>
          <p:nvPr/>
        </p:nvSpPr>
        <p:spPr bwMode="auto">
          <a:xfrm>
            <a:off x="6002338" y="4103688"/>
            <a:ext cx="71437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1318" name="Arc 54"/>
          <p:cNvSpPr>
            <a:spLocks/>
          </p:cNvSpPr>
          <p:nvPr/>
        </p:nvSpPr>
        <p:spPr bwMode="auto">
          <a:xfrm rot="9764590" flipV="1">
            <a:off x="4876800" y="4149725"/>
            <a:ext cx="280988" cy="231775"/>
          </a:xfrm>
          <a:custGeom>
            <a:avLst/>
            <a:gdLst>
              <a:gd name="G0" fmla="+- 0 0 0"/>
              <a:gd name="G1" fmla="+- 15821 0 0"/>
              <a:gd name="G2" fmla="+- 21600 0 0"/>
              <a:gd name="T0" fmla="*/ 14706 w 21600"/>
              <a:gd name="T1" fmla="*/ 0 h 23937"/>
              <a:gd name="T2" fmla="*/ 20017 w 21600"/>
              <a:gd name="T3" fmla="*/ 23937 h 23937"/>
              <a:gd name="T4" fmla="*/ 0 w 21600"/>
              <a:gd name="T5" fmla="*/ 15821 h 23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3937" fill="none" extrusionOk="0">
                <a:moveTo>
                  <a:pt x="14705" y="0"/>
                </a:moveTo>
                <a:cubicBezTo>
                  <a:pt x="19102" y="4086"/>
                  <a:pt x="21600" y="9818"/>
                  <a:pt x="21600" y="15821"/>
                </a:cubicBezTo>
                <a:cubicBezTo>
                  <a:pt x="21600" y="18603"/>
                  <a:pt x="21062" y="21358"/>
                  <a:pt x="20017" y="23937"/>
                </a:cubicBezTo>
              </a:path>
              <a:path w="21600" h="23937" stroke="0" extrusionOk="0">
                <a:moveTo>
                  <a:pt x="14705" y="0"/>
                </a:moveTo>
                <a:cubicBezTo>
                  <a:pt x="19102" y="4086"/>
                  <a:pt x="21600" y="9818"/>
                  <a:pt x="21600" y="15821"/>
                </a:cubicBezTo>
                <a:cubicBezTo>
                  <a:pt x="21600" y="18603"/>
                  <a:pt x="21062" y="21358"/>
                  <a:pt x="20017" y="23937"/>
                </a:cubicBezTo>
                <a:lnTo>
                  <a:pt x="0" y="1582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1319" name="Oval 55"/>
          <p:cNvSpPr>
            <a:spLocks noChangeArrowheads="1"/>
          </p:cNvSpPr>
          <p:nvPr/>
        </p:nvSpPr>
        <p:spPr bwMode="auto">
          <a:xfrm>
            <a:off x="4705350" y="4103688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1320" name="Text Box 56"/>
          <p:cNvSpPr txBox="1">
            <a:spLocks noChangeArrowheads="1"/>
          </p:cNvSpPr>
          <p:nvPr/>
        </p:nvSpPr>
        <p:spPr bwMode="auto">
          <a:xfrm>
            <a:off x="8675688" y="6564313"/>
            <a:ext cx="35458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16</a:t>
            </a:r>
          </a:p>
        </p:txBody>
      </p:sp>
      <p:sp>
        <p:nvSpPr>
          <p:cNvPr id="47" name="46 CuadroTexto"/>
          <p:cNvSpPr txBox="1"/>
          <p:nvPr/>
        </p:nvSpPr>
        <p:spPr>
          <a:xfrm>
            <a:off x="4071934" y="214290"/>
            <a:ext cx="2133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-   Aumento Lateral</a:t>
            </a:r>
          </a:p>
        </p:txBody>
      </p:sp>
      <p:sp>
        <p:nvSpPr>
          <p:cNvPr id="48" name="47 CuadroTexto"/>
          <p:cNvSpPr txBox="1"/>
          <p:nvPr/>
        </p:nvSpPr>
        <p:spPr>
          <a:xfrm>
            <a:off x="6572264" y="1785926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Ley de </a:t>
            </a:r>
            <a:r>
              <a:rPr lang="es-ES" dirty="0" err="1"/>
              <a:t>Snell</a:t>
            </a:r>
            <a:r>
              <a:rPr lang="es-ES" dirty="0"/>
              <a:t> en 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49" name="48 CuadroTexto"/>
          <p:cNvSpPr txBox="1"/>
          <p:nvPr/>
        </p:nvSpPr>
        <p:spPr>
          <a:xfrm>
            <a:off x="7143768" y="2130974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latin typeface="Times New Roman" pitchFamily="18" charset="0"/>
                <a:cs typeface="Times New Roman" pitchFamily="18" charset="0"/>
              </a:rPr>
              <a:t>i  =  i’</a:t>
            </a:r>
          </a:p>
        </p:txBody>
      </p:sp>
      <p:cxnSp>
        <p:nvCxnSpPr>
          <p:cNvPr id="51" name="50 Conector recto de flecha"/>
          <p:cNvCxnSpPr/>
          <p:nvPr/>
        </p:nvCxnSpPr>
        <p:spPr>
          <a:xfrm rot="5400000">
            <a:off x="7374958" y="2554868"/>
            <a:ext cx="252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51 CuadroTexto"/>
          <p:cNvSpPr txBox="1"/>
          <p:nvPr/>
        </p:nvSpPr>
        <p:spPr>
          <a:xfrm>
            <a:off x="6786578" y="32146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graphicFrame>
        <p:nvGraphicFramePr>
          <p:cNvPr id="53" name="52 Objeto"/>
          <p:cNvGraphicFramePr>
            <a:graphicFrameLocks noChangeAspect="1"/>
          </p:cNvGraphicFramePr>
          <p:nvPr/>
        </p:nvGraphicFramePr>
        <p:xfrm>
          <a:off x="7072972" y="2786058"/>
          <a:ext cx="95091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4" name="Ecuación" r:id="rId7" imgW="583920" imgH="203040" progId="Equation.3">
                  <p:embed/>
                </p:oleObj>
              </mc:Choice>
              <mc:Fallback>
                <p:oleObj name="Ecuación" r:id="rId7" imgW="583920" imgH="20304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972" y="2786058"/>
                        <a:ext cx="950912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5" name="54 Conector recto de flecha"/>
          <p:cNvCxnSpPr/>
          <p:nvPr/>
        </p:nvCxnSpPr>
        <p:spPr>
          <a:xfrm rot="5400000">
            <a:off x="7389246" y="3197810"/>
            <a:ext cx="252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Object 37"/>
          <p:cNvGraphicFramePr>
            <a:graphicFrameLocks noChangeAspect="1"/>
          </p:cNvGraphicFramePr>
          <p:nvPr/>
        </p:nvGraphicFramePr>
        <p:xfrm>
          <a:off x="7000892" y="3357562"/>
          <a:ext cx="101282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5" name="Ecuación" r:id="rId9" imgW="622080" imgH="393480" progId="Equation.3">
                  <p:embed/>
                </p:oleObj>
              </mc:Choice>
              <mc:Fallback>
                <p:oleObj name="Ecuación" r:id="rId9" imgW="622080" imgH="393480" progId="Equation.3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92" y="3357562"/>
                        <a:ext cx="1012825" cy="639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55 Elipse"/>
          <p:cNvSpPr/>
          <p:nvPr/>
        </p:nvSpPr>
        <p:spPr>
          <a:xfrm>
            <a:off x="6858016" y="3286124"/>
            <a:ext cx="1285884" cy="78581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8" name="57 Conector angular"/>
          <p:cNvCxnSpPr/>
          <p:nvPr/>
        </p:nvCxnSpPr>
        <p:spPr>
          <a:xfrm rot="16200000" flipV="1">
            <a:off x="6855487" y="1645579"/>
            <a:ext cx="2196562" cy="1620000"/>
          </a:xfrm>
          <a:prstGeom prst="bentConnector3">
            <a:avLst>
              <a:gd name="adj1" fmla="val 8694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69 Conector recto de flecha"/>
          <p:cNvCxnSpPr/>
          <p:nvPr/>
        </p:nvCxnSpPr>
        <p:spPr>
          <a:xfrm flipV="1">
            <a:off x="8215338" y="3571876"/>
            <a:ext cx="5715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1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12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11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1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1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1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1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5" grpId="0" animBg="1"/>
      <p:bldP spid="11282" grpId="0" animBg="1"/>
      <p:bldP spid="11289" grpId="0" animBg="1"/>
      <p:bldP spid="11290" grpId="0" animBg="1"/>
      <p:bldP spid="11291" grpId="0"/>
      <p:bldP spid="11292" grpId="0"/>
      <p:bldP spid="11293" grpId="0" animBg="1"/>
      <p:bldP spid="11294" grpId="0"/>
      <p:bldP spid="11297" grpId="0" animBg="1"/>
      <p:bldP spid="11298" grpId="0" animBg="1"/>
      <p:bldP spid="11305" grpId="0" animBg="1"/>
      <p:bldP spid="11306" grpId="0" animBg="1"/>
      <p:bldP spid="11307" grpId="0" animBg="1"/>
      <p:bldP spid="11309" grpId="0"/>
      <p:bldP spid="11310" grpId="0"/>
      <p:bldP spid="11318" grpId="0" animBg="1"/>
      <p:bldP spid="11320" grpId="0"/>
      <p:bldP spid="48" grpId="0"/>
      <p:bldP spid="49" grpId="0"/>
      <p:bldP spid="5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61 CuadroTexto"/>
          <p:cNvSpPr txBox="1"/>
          <p:nvPr/>
        </p:nvSpPr>
        <p:spPr>
          <a:xfrm>
            <a:off x="82167" y="4640635"/>
            <a:ext cx="11095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Objeto real </a:t>
            </a:r>
          </a:p>
          <a:p>
            <a:r>
              <a:rPr lang="es-ES" sz="1400" dirty="0"/>
              <a:t>entre </a:t>
            </a:r>
            <a:r>
              <a:rPr lang="es-ES" sz="1400" i="1" dirty="0">
                <a:latin typeface="Times New Roman" pitchFamily="18" charset="0"/>
                <a:cs typeface="Times New Roman" pitchFamily="18" charset="0"/>
                <a:sym typeface="Symbol"/>
              </a:rPr>
              <a:t>C </a:t>
            </a:r>
            <a:r>
              <a:rPr lang="es-ES" sz="1400" dirty="0">
                <a:latin typeface="Times New Roman" pitchFamily="18" charset="0"/>
                <a:cs typeface="Times New Roman" pitchFamily="18" charset="0"/>
                <a:sym typeface="Symbol"/>
              </a:rPr>
              <a:t>y</a:t>
            </a:r>
            <a:r>
              <a:rPr lang="es-ES" sz="1400" i="1" dirty="0">
                <a:latin typeface="Times New Roman" pitchFamily="18" charset="0"/>
                <a:cs typeface="Times New Roman" pitchFamily="18" charset="0"/>
                <a:sym typeface="Symbol"/>
              </a:rPr>
              <a:t> F</a:t>
            </a:r>
            <a:endParaRPr lang="es-E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1 CuadroTexto"/>
          <p:cNvSpPr txBox="1"/>
          <p:nvPr/>
        </p:nvSpPr>
        <p:spPr>
          <a:xfrm>
            <a:off x="285720" y="142852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Imágenes en Espejos Cóncavos</a:t>
            </a:r>
          </a:p>
        </p:txBody>
      </p:sp>
      <p:sp>
        <p:nvSpPr>
          <p:cNvPr id="3" name="Freeform 2" descr="Diagonal hacia arriba ancha"/>
          <p:cNvSpPr>
            <a:spLocks/>
          </p:cNvSpPr>
          <p:nvPr/>
        </p:nvSpPr>
        <p:spPr bwMode="auto">
          <a:xfrm>
            <a:off x="4015814" y="480372"/>
            <a:ext cx="755650" cy="2520000"/>
          </a:xfrm>
          <a:custGeom>
            <a:avLst/>
            <a:gdLst/>
            <a:ahLst/>
            <a:cxnLst>
              <a:cxn ang="0">
                <a:pos x="462" y="41"/>
              </a:cxn>
              <a:cxn ang="0">
                <a:pos x="354" y="0"/>
              </a:cxn>
              <a:cxn ang="0">
                <a:pos x="126" y="10"/>
              </a:cxn>
              <a:cxn ang="0">
                <a:pos x="228" y="64"/>
              </a:cxn>
              <a:cxn ang="0">
                <a:pos x="296" y="193"/>
              </a:cxn>
              <a:cxn ang="0">
                <a:pos x="312" y="1179"/>
              </a:cxn>
              <a:cxn ang="0">
                <a:pos x="312" y="1406"/>
              </a:cxn>
              <a:cxn ang="0">
                <a:pos x="304" y="1602"/>
              </a:cxn>
              <a:cxn ang="0">
                <a:pos x="296" y="2558"/>
              </a:cxn>
              <a:cxn ang="0">
                <a:pos x="269" y="2666"/>
              </a:cxn>
              <a:cxn ang="0">
                <a:pos x="126" y="2747"/>
              </a:cxn>
              <a:cxn ang="0">
                <a:pos x="320" y="2738"/>
              </a:cxn>
              <a:cxn ang="0">
                <a:pos x="408" y="2656"/>
              </a:cxn>
              <a:cxn ang="0">
                <a:pos x="476" y="2480"/>
              </a:cxn>
              <a:cxn ang="0">
                <a:pos x="476" y="1416"/>
              </a:cxn>
              <a:cxn ang="0">
                <a:pos x="462" y="41"/>
              </a:cxn>
            </a:cxnLst>
            <a:rect l="0" t="0" r="r" b="b"/>
            <a:pathLst>
              <a:path w="476" h="2753">
                <a:moveTo>
                  <a:pt x="462" y="41"/>
                </a:moveTo>
                <a:lnTo>
                  <a:pt x="354" y="0"/>
                </a:lnTo>
                <a:lnTo>
                  <a:pt x="126" y="10"/>
                </a:lnTo>
                <a:lnTo>
                  <a:pt x="228" y="64"/>
                </a:lnTo>
                <a:lnTo>
                  <a:pt x="296" y="193"/>
                </a:lnTo>
                <a:lnTo>
                  <a:pt x="312" y="1179"/>
                </a:lnTo>
                <a:lnTo>
                  <a:pt x="312" y="1406"/>
                </a:lnTo>
                <a:lnTo>
                  <a:pt x="304" y="1602"/>
                </a:lnTo>
                <a:lnTo>
                  <a:pt x="296" y="2558"/>
                </a:lnTo>
                <a:lnTo>
                  <a:pt x="269" y="2666"/>
                </a:lnTo>
                <a:cubicBezTo>
                  <a:pt x="241" y="2697"/>
                  <a:pt x="117" y="2735"/>
                  <a:pt x="126" y="2747"/>
                </a:cubicBezTo>
                <a:cubicBezTo>
                  <a:pt x="0" y="2751"/>
                  <a:pt x="273" y="2753"/>
                  <a:pt x="320" y="2738"/>
                </a:cubicBezTo>
                <a:lnTo>
                  <a:pt x="408" y="2656"/>
                </a:lnTo>
                <a:cubicBezTo>
                  <a:pt x="434" y="2613"/>
                  <a:pt x="465" y="2687"/>
                  <a:pt x="476" y="2480"/>
                </a:cubicBezTo>
                <a:lnTo>
                  <a:pt x="476" y="1416"/>
                </a:lnTo>
                <a:lnTo>
                  <a:pt x="462" y="41"/>
                </a:lnTo>
                <a:close/>
              </a:path>
            </a:pathLst>
          </a:custGeom>
          <a:pattFill prst="wdUpDiag">
            <a:fgClr>
              <a:srgbClr val="C0C0C0">
                <a:alpha val="57001"/>
              </a:srgbClr>
            </a:fgClr>
            <a:bgClr>
              <a:schemeClr val="bg1">
                <a:alpha val="57001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285720" y="1714488"/>
            <a:ext cx="4680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285720" y="3071810"/>
            <a:ext cx="2568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>
                <a:latin typeface="Tahoma" pitchFamily="34" charset="0"/>
              </a:rPr>
              <a:t> </a:t>
            </a:r>
            <a:endParaRPr lang="es-ES_tradnl" i="1" dirty="0">
              <a:latin typeface="Times New Roman" pitchFamily="18" charset="0"/>
            </a:endParaRPr>
          </a:p>
        </p:txBody>
      </p:sp>
      <p:sp>
        <p:nvSpPr>
          <p:cNvPr id="7" name="Freeform 25"/>
          <p:cNvSpPr>
            <a:spLocks/>
          </p:cNvSpPr>
          <p:nvPr/>
        </p:nvSpPr>
        <p:spPr bwMode="auto">
          <a:xfrm>
            <a:off x="1785918" y="1214421"/>
            <a:ext cx="2730110" cy="1285885"/>
          </a:xfrm>
          <a:custGeom>
            <a:avLst/>
            <a:gdLst/>
            <a:ahLst/>
            <a:cxnLst>
              <a:cxn ang="0">
                <a:pos x="1797" y="0"/>
              </a:cxn>
              <a:cxn ang="0">
                <a:pos x="0" y="1362"/>
              </a:cxn>
            </a:cxnLst>
            <a:rect l="0" t="0" r="r" b="b"/>
            <a:pathLst>
              <a:path w="1797" h="1362">
                <a:moveTo>
                  <a:pt x="1797" y="0"/>
                </a:moveTo>
                <a:lnTo>
                  <a:pt x="0" y="1362"/>
                </a:ln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" name="AutoShape 30"/>
          <p:cNvSpPr>
            <a:spLocks/>
          </p:cNvSpPr>
          <p:nvPr/>
        </p:nvSpPr>
        <p:spPr bwMode="auto">
          <a:xfrm flipH="1">
            <a:off x="4143372" y="480372"/>
            <a:ext cx="360363" cy="2520000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" name="Line 47"/>
          <p:cNvSpPr>
            <a:spLocks noChangeShapeType="1"/>
          </p:cNvSpPr>
          <p:nvPr/>
        </p:nvSpPr>
        <p:spPr bwMode="auto">
          <a:xfrm>
            <a:off x="928662" y="1214422"/>
            <a:ext cx="36000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" name="Line 48"/>
          <p:cNvSpPr>
            <a:spLocks noChangeShapeType="1"/>
          </p:cNvSpPr>
          <p:nvPr/>
        </p:nvSpPr>
        <p:spPr bwMode="auto">
          <a:xfrm>
            <a:off x="1500166" y="1941328"/>
            <a:ext cx="29880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triangle" w="lg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" name="Line 53"/>
          <p:cNvSpPr>
            <a:spLocks noChangeShapeType="1"/>
          </p:cNvSpPr>
          <p:nvPr/>
        </p:nvSpPr>
        <p:spPr bwMode="auto">
          <a:xfrm flipV="1">
            <a:off x="938078" y="1190260"/>
            <a:ext cx="0" cy="53427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3" name="Text Box 54"/>
          <p:cNvSpPr txBox="1">
            <a:spLocks noChangeArrowheads="1"/>
          </p:cNvSpPr>
          <p:nvPr/>
        </p:nvSpPr>
        <p:spPr bwMode="auto">
          <a:xfrm>
            <a:off x="785786" y="1697609"/>
            <a:ext cx="171641" cy="194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A</a:t>
            </a:r>
          </a:p>
        </p:txBody>
      </p:sp>
      <p:sp>
        <p:nvSpPr>
          <p:cNvPr id="14" name="Text Box 55"/>
          <p:cNvSpPr txBox="1">
            <a:spLocks noChangeArrowheads="1"/>
          </p:cNvSpPr>
          <p:nvPr/>
        </p:nvSpPr>
        <p:spPr bwMode="auto">
          <a:xfrm>
            <a:off x="800694" y="857232"/>
            <a:ext cx="199406" cy="194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B</a:t>
            </a:r>
          </a:p>
        </p:txBody>
      </p:sp>
      <p:sp>
        <p:nvSpPr>
          <p:cNvPr id="16" name="Line 57"/>
          <p:cNvSpPr>
            <a:spLocks noChangeShapeType="1"/>
          </p:cNvSpPr>
          <p:nvPr/>
        </p:nvSpPr>
        <p:spPr bwMode="auto">
          <a:xfrm>
            <a:off x="928662" y="1214422"/>
            <a:ext cx="3571900" cy="128588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7" name="Freeform 58"/>
          <p:cNvSpPr>
            <a:spLocks/>
          </p:cNvSpPr>
          <p:nvPr/>
        </p:nvSpPr>
        <p:spPr bwMode="auto">
          <a:xfrm>
            <a:off x="3643306" y="2187740"/>
            <a:ext cx="500066" cy="18236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71" y="797"/>
              </a:cxn>
            </a:cxnLst>
            <a:rect l="0" t="0" r="r" b="b"/>
            <a:pathLst>
              <a:path w="1571" h="797">
                <a:moveTo>
                  <a:pt x="0" y="0"/>
                </a:moveTo>
                <a:lnTo>
                  <a:pt x="1571" y="797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 type="triangle" w="lg" len="med"/>
            <a:tailEnd type="non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8" name="17 CuadroTexto"/>
          <p:cNvSpPr txBox="1">
            <a:spLocks noChangeArrowheads="1"/>
          </p:cNvSpPr>
          <p:nvPr/>
        </p:nvSpPr>
        <p:spPr bwMode="auto">
          <a:xfrm>
            <a:off x="923719" y="5913186"/>
            <a:ext cx="77444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 dirty="0">
                <a:solidFill>
                  <a:srgbClr val="0000FF"/>
                </a:solidFill>
              </a:rPr>
              <a:t>(1) Incidente: dirección paralela al eje principal. Reflejado: dirección que pasa por foco principal</a:t>
            </a:r>
          </a:p>
        </p:txBody>
      </p:sp>
      <p:sp>
        <p:nvSpPr>
          <p:cNvPr id="19" name="18 CuadroTexto"/>
          <p:cNvSpPr txBox="1">
            <a:spLocks noChangeArrowheads="1"/>
          </p:cNvSpPr>
          <p:nvPr/>
        </p:nvSpPr>
        <p:spPr bwMode="auto">
          <a:xfrm>
            <a:off x="923719" y="6176711"/>
            <a:ext cx="758573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 dirty="0">
                <a:solidFill>
                  <a:srgbClr val="A50021"/>
                </a:solidFill>
              </a:rPr>
              <a:t>(2) Incidente: dirección pasa por el foco principal. Reflejado: dirección paralela al eje principal</a:t>
            </a:r>
          </a:p>
        </p:txBody>
      </p:sp>
      <p:sp>
        <p:nvSpPr>
          <p:cNvPr id="20" name="19 CuadroTexto"/>
          <p:cNvSpPr txBox="1">
            <a:spLocks noChangeArrowheads="1"/>
          </p:cNvSpPr>
          <p:nvPr/>
        </p:nvSpPr>
        <p:spPr bwMode="auto">
          <a:xfrm>
            <a:off x="3500430" y="857232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21" name="20 CuadroTexto"/>
          <p:cNvSpPr txBox="1">
            <a:spLocks noChangeArrowheads="1"/>
          </p:cNvSpPr>
          <p:nvPr/>
        </p:nvSpPr>
        <p:spPr bwMode="auto">
          <a:xfrm>
            <a:off x="2420926" y="1189370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22" name="21 CuadroTexto"/>
          <p:cNvSpPr txBox="1">
            <a:spLocks noChangeArrowheads="1"/>
          </p:cNvSpPr>
          <p:nvPr/>
        </p:nvSpPr>
        <p:spPr bwMode="auto">
          <a:xfrm>
            <a:off x="923689" y="6433591"/>
            <a:ext cx="700544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 dirty="0">
                <a:solidFill>
                  <a:srgbClr val="00CCFF"/>
                </a:solidFill>
              </a:rPr>
              <a:t>(3) Incidente: dirección que pasa por el centro de curvatura., se refleja sobre sí mismo</a:t>
            </a:r>
          </a:p>
        </p:txBody>
      </p:sp>
      <p:sp>
        <p:nvSpPr>
          <p:cNvPr id="23" name="22 CuadroTexto"/>
          <p:cNvSpPr txBox="1">
            <a:spLocks noChangeArrowheads="1"/>
          </p:cNvSpPr>
          <p:nvPr/>
        </p:nvSpPr>
        <p:spPr bwMode="auto">
          <a:xfrm>
            <a:off x="3714744" y="2357430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CCFF"/>
                </a:solidFill>
              </a:rPr>
              <a:t>(3)</a:t>
            </a:r>
          </a:p>
        </p:txBody>
      </p:sp>
      <p:sp>
        <p:nvSpPr>
          <p:cNvPr id="24" name="Freeform 11"/>
          <p:cNvSpPr>
            <a:spLocks/>
          </p:cNvSpPr>
          <p:nvPr/>
        </p:nvSpPr>
        <p:spPr bwMode="auto">
          <a:xfrm>
            <a:off x="928662" y="1214423"/>
            <a:ext cx="3571900" cy="714380"/>
          </a:xfrm>
          <a:custGeom>
            <a:avLst/>
            <a:gdLst/>
            <a:ahLst/>
            <a:cxnLst>
              <a:cxn ang="0">
                <a:pos x="2880" y="874"/>
              </a:cxn>
              <a:cxn ang="0">
                <a:pos x="0" y="0"/>
              </a:cxn>
            </a:cxnLst>
            <a:rect l="0" t="0" r="r" b="b"/>
            <a:pathLst>
              <a:path w="2880" h="874">
                <a:moveTo>
                  <a:pt x="2880" y="874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93366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2071670" y="1654862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C</a:t>
            </a:r>
          </a:p>
        </p:txBody>
      </p:sp>
      <p:sp>
        <p:nvSpPr>
          <p:cNvPr id="26" name="Oval 47"/>
          <p:cNvSpPr>
            <a:spLocks noChangeArrowheads="1"/>
          </p:cNvSpPr>
          <p:nvPr/>
        </p:nvSpPr>
        <p:spPr bwMode="auto">
          <a:xfrm>
            <a:off x="2285984" y="1689436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27" name="Freeform 48"/>
          <p:cNvSpPr>
            <a:spLocks/>
          </p:cNvSpPr>
          <p:nvPr/>
        </p:nvSpPr>
        <p:spPr bwMode="auto">
          <a:xfrm>
            <a:off x="2961199" y="1714493"/>
            <a:ext cx="1587" cy="25527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" y="570"/>
              </a:cxn>
            </a:cxnLst>
            <a:rect l="0" t="0" r="r" b="b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8" name="Text Box 49"/>
          <p:cNvSpPr txBox="1">
            <a:spLocks noChangeArrowheads="1"/>
          </p:cNvSpPr>
          <p:nvPr/>
        </p:nvSpPr>
        <p:spPr bwMode="auto">
          <a:xfrm>
            <a:off x="2814628" y="1419214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A</a:t>
            </a:r>
            <a:r>
              <a:rPr lang="es-ES_tradnl" dirty="0">
                <a:latin typeface="Times New Roman" pitchFamily="18" charset="0"/>
              </a:rPr>
              <a:t>’</a:t>
            </a:r>
            <a:endParaRPr lang="es-ES_tradnl" i="1" dirty="0">
              <a:latin typeface="Times New Roman" pitchFamily="18" charset="0"/>
            </a:endParaRPr>
          </a:p>
        </p:txBody>
      </p:sp>
      <p:sp>
        <p:nvSpPr>
          <p:cNvPr id="29" name="Text Box 50"/>
          <p:cNvSpPr txBox="1">
            <a:spLocks noChangeArrowheads="1"/>
          </p:cNvSpPr>
          <p:nvPr/>
        </p:nvSpPr>
        <p:spPr bwMode="auto">
          <a:xfrm>
            <a:off x="2789576" y="1983996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B</a:t>
            </a:r>
            <a:r>
              <a:rPr lang="es-ES_tradnl" dirty="0">
                <a:latin typeface="Times New Roman" pitchFamily="18" charset="0"/>
              </a:rPr>
              <a:t>’</a:t>
            </a:r>
          </a:p>
        </p:txBody>
      </p: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3286116" y="135729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F</a:t>
            </a:r>
          </a:p>
        </p:txBody>
      </p:sp>
      <p:sp>
        <p:nvSpPr>
          <p:cNvPr id="31" name="Oval 47"/>
          <p:cNvSpPr>
            <a:spLocks noChangeArrowheads="1"/>
          </p:cNvSpPr>
          <p:nvPr/>
        </p:nvSpPr>
        <p:spPr bwMode="auto">
          <a:xfrm>
            <a:off x="3403940" y="1684347"/>
            <a:ext cx="71438" cy="7143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34" name="33 CuadroTexto"/>
          <p:cNvSpPr txBox="1"/>
          <p:nvPr/>
        </p:nvSpPr>
        <p:spPr>
          <a:xfrm>
            <a:off x="142844" y="2500306"/>
            <a:ext cx="2101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Objeto real entre </a:t>
            </a:r>
            <a:r>
              <a:rPr lang="es-ES" sz="1400" dirty="0">
                <a:sym typeface="Symbol"/>
              </a:rPr>
              <a:t> y </a:t>
            </a:r>
            <a:r>
              <a:rPr lang="es-ES" sz="1400" i="1" dirty="0">
                <a:latin typeface="Times New Roman" pitchFamily="18" charset="0"/>
                <a:cs typeface="Times New Roman" pitchFamily="18" charset="0"/>
                <a:sym typeface="Symbol"/>
              </a:rPr>
              <a:t>C</a:t>
            </a:r>
          </a:p>
        </p:txBody>
      </p:sp>
      <p:sp>
        <p:nvSpPr>
          <p:cNvPr id="37" name="Text Box 9"/>
          <p:cNvSpPr txBox="1">
            <a:spLocks noChangeArrowheads="1"/>
          </p:cNvSpPr>
          <p:nvPr/>
        </p:nvSpPr>
        <p:spPr bwMode="auto">
          <a:xfrm>
            <a:off x="4521202" y="135729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V</a:t>
            </a:r>
          </a:p>
        </p:txBody>
      </p:sp>
      <p:sp>
        <p:nvSpPr>
          <p:cNvPr id="39" name="Freeform 2" descr="Diagonal hacia arriba ancha"/>
          <p:cNvSpPr>
            <a:spLocks/>
          </p:cNvSpPr>
          <p:nvPr/>
        </p:nvSpPr>
        <p:spPr bwMode="auto">
          <a:xfrm>
            <a:off x="8434743" y="480372"/>
            <a:ext cx="755650" cy="2520000"/>
          </a:xfrm>
          <a:custGeom>
            <a:avLst/>
            <a:gdLst/>
            <a:ahLst/>
            <a:cxnLst>
              <a:cxn ang="0">
                <a:pos x="462" y="41"/>
              </a:cxn>
              <a:cxn ang="0">
                <a:pos x="354" y="0"/>
              </a:cxn>
              <a:cxn ang="0">
                <a:pos x="126" y="10"/>
              </a:cxn>
              <a:cxn ang="0">
                <a:pos x="228" y="64"/>
              </a:cxn>
              <a:cxn ang="0">
                <a:pos x="296" y="193"/>
              </a:cxn>
              <a:cxn ang="0">
                <a:pos x="312" y="1179"/>
              </a:cxn>
              <a:cxn ang="0">
                <a:pos x="312" y="1406"/>
              </a:cxn>
              <a:cxn ang="0">
                <a:pos x="304" y="1602"/>
              </a:cxn>
              <a:cxn ang="0">
                <a:pos x="296" y="2558"/>
              </a:cxn>
              <a:cxn ang="0">
                <a:pos x="269" y="2666"/>
              </a:cxn>
              <a:cxn ang="0">
                <a:pos x="126" y="2747"/>
              </a:cxn>
              <a:cxn ang="0">
                <a:pos x="320" y="2738"/>
              </a:cxn>
              <a:cxn ang="0">
                <a:pos x="408" y="2656"/>
              </a:cxn>
              <a:cxn ang="0">
                <a:pos x="476" y="2480"/>
              </a:cxn>
              <a:cxn ang="0">
                <a:pos x="476" y="1416"/>
              </a:cxn>
              <a:cxn ang="0">
                <a:pos x="462" y="41"/>
              </a:cxn>
            </a:cxnLst>
            <a:rect l="0" t="0" r="r" b="b"/>
            <a:pathLst>
              <a:path w="476" h="2753">
                <a:moveTo>
                  <a:pt x="462" y="41"/>
                </a:moveTo>
                <a:lnTo>
                  <a:pt x="354" y="0"/>
                </a:lnTo>
                <a:lnTo>
                  <a:pt x="126" y="10"/>
                </a:lnTo>
                <a:lnTo>
                  <a:pt x="228" y="64"/>
                </a:lnTo>
                <a:lnTo>
                  <a:pt x="296" y="193"/>
                </a:lnTo>
                <a:lnTo>
                  <a:pt x="312" y="1179"/>
                </a:lnTo>
                <a:lnTo>
                  <a:pt x="312" y="1406"/>
                </a:lnTo>
                <a:lnTo>
                  <a:pt x="304" y="1602"/>
                </a:lnTo>
                <a:lnTo>
                  <a:pt x="296" y="2558"/>
                </a:lnTo>
                <a:lnTo>
                  <a:pt x="269" y="2666"/>
                </a:lnTo>
                <a:cubicBezTo>
                  <a:pt x="241" y="2697"/>
                  <a:pt x="117" y="2735"/>
                  <a:pt x="126" y="2747"/>
                </a:cubicBezTo>
                <a:cubicBezTo>
                  <a:pt x="0" y="2751"/>
                  <a:pt x="273" y="2753"/>
                  <a:pt x="320" y="2738"/>
                </a:cubicBezTo>
                <a:lnTo>
                  <a:pt x="408" y="2656"/>
                </a:lnTo>
                <a:cubicBezTo>
                  <a:pt x="434" y="2613"/>
                  <a:pt x="465" y="2687"/>
                  <a:pt x="476" y="2480"/>
                </a:cubicBezTo>
                <a:lnTo>
                  <a:pt x="476" y="1416"/>
                </a:lnTo>
                <a:lnTo>
                  <a:pt x="462" y="41"/>
                </a:lnTo>
                <a:close/>
              </a:path>
            </a:pathLst>
          </a:custGeom>
          <a:pattFill prst="wdUpDiag">
            <a:fgClr>
              <a:srgbClr val="C0C0C0">
                <a:alpha val="57001"/>
              </a:srgbClr>
            </a:fgClr>
            <a:bgClr>
              <a:schemeClr val="bg1">
                <a:alpha val="57001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0" name="Line 5"/>
          <p:cNvSpPr>
            <a:spLocks noChangeShapeType="1"/>
          </p:cNvSpPr>
          <p:nvPr/>
        </p:nvSpPr>
        <p:spPr bwMode="auto">
          <a:xfrm>
            <a:off x="5014443" y="1714488"/>
            <a:ext cx="4104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1" name="Text Box 8"/>
          <p:cNvSpPr txBox="1">
            <a:spLocks noChangeArrowheads="1"/>
          </p:cNvSpPr>
          <p:nvPr/>
        </p:nvSpPr>
        <p:spPr bwMode="auto">
          <a:xfrm>
            <a:off x="4678346" y="3071810"/>
            <a:ext cx="2568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>
                <a:latin typeface="Tahoma" pitchFamily="34" charset="0"/>
              </a:rPr>
              <a:t> </a:t>
            </a:r>
            <a:endParaRPr lang="es-ES_tradnl" i="1" dirty="0">
              <a:latin typeface="Times New Roman" pitchFamily="18" charset="0"/>
            </a:endParaRPr>
          </a:p>
        </p:txBody>
      </p:sp>
      <p:sp>
        <p:nvSpPr>
          <p:cNvPr id="43" name="AutoShape 30"/>
          <p:cNvSpPr>
            <a:spLocks/>
          </p:cNvSpPr>
          <p:nvPr/>
        </p:nvSpPr>
        <p:spPr bwMode="auto">
          <a:xfrm flipH="1">
            <a:off x="8535998" y="480372"/>
            <a:ext cx="360363" cy="2520000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4" name="Line 47"/>
          <p:cNvSpPr>
            <a:spLocks noChangeShapeType="1"/>
          </p:cNvSpPr>
          <p:nvPr/>
        </p:nvSpPr>
        <p:spPr bwMode="auto">
          <a:xfrm flipV="1">
            <a:off x="6652410" y="1166129"/>
            <a:ext cx="22320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5" name="Line 48"/>
          <p:cNvSpPr>
            <a:spLocks noChangeShapeType="1"/>
          </p:cNvSpPr>
          <p:nvPr/>
        </p:nvSpPr>
        <p:spPr bwMode="auto">
          <a:xfrm>
            <a:off x="5892792" y="2271704"/>
            <a:ext cx="29880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triangle" w="lg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6" name="Line 53"/>
          <p:cNvSpPr>
            <a:spLocks noChangeShapeType="1"/>
          </p:cNvSpPr>
          <p:nvPr/>
        </p:nvSpPr>
        <p:spPr bwMode="auto">
          <a:xfrm flipV="1">
            <a:off x="6652161" y="1170656"/>
            <a:ext cx="0" cy="53427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8" name="Text Box 55"/>
          <p:cNvSpPr txBox="1">
            <a:spLocks noChangeArrowheads="1"/>
          </p:cNvSpPr>
          <p:nvPr/>
        </p:nvSpPr>
        <p:spPr bwMode="auto">
          <a:xfrm>
            <a:off x="6505878" y="857232"/>
            <a:ext cx="199406" cy="194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B</a:t>
            </a:r>
          </a:p>
        </p:txBody>
      </p:sp>
      <p:sp>
        <p:nvSpPr>
          <p:cNvPr id="51" name="50 CuadroTexto"/>
          <p:cNvSpPr txBox="1">
            <a:spLocks noChangeArrowheads="1"/>
          </p:cNvSpPr>
          <p:nvPr/>
        </p:nvSpPr>
        <p:spPr bwMode="auto">
          <a:xfrm>
            <a:off x="7929586" y="857232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52" name="51 CuadroTexto"/>
          <p:cNvSpPr txBox="1">
            <a:spLocks noChangeArrowheads="1"/>
          </p:cNvSpPr>
          <p:nvPr/>
        </p:nvSpPr>
        <p:spPr bwMode="auto">
          <a:xfrm>
            <a:off x="7087766" y="1124744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54" name="Freeform 11"/>
          <p:cNvSpPr>
            <a:spLocks/>
          </p:cNvSpPr>
          <p:nvPr/>
        </p:nvSpPr>
        <p:spPr bwMode="auto">
          <a:xfrm>
            <a:off x="6609488" y="1130854"/>
            <a:ext cx="2304000" cy="1152000"/>
          </a:xfrm>
          <a:custGeom>
            <a:avLst/>
            <a:gdLst/>
            <a:ahLst/>
            <a:cxnLst>
              <a:cxn ang="0">
                <a:pos x="2880" y="874"/>
              </a:cxn>
              <a:cxn ang="0">
                <a:pos x="0" y="0"/>
              </a:cxn>
            </a:cxnLst>
            <a:rect l="0" t="0" r="r" b="b"/>
            <a:pathLst>
              <a:path w="2880" h="874">
                <a:moveTo>
                  <a:pt x="2880" y="874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93366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55" name="Text Box 9"/>
          <p:cNvSpPr txBox="1">
            <a:spLocks noChangeArrowheads="1"/>
          </p:cNvSpPr>
          <p:nvPr/>
        </p:nvSpPr>
        <p:spPr bwMode="auto">
          <a:xfrm>
            <a:off x="5966732" y="1691516"/>
            <a:ext cx="7175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A </a:t>
            </a:r>
            <a:r>
              <a:rPr lang="es-ES_tradnl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 </a:t>
            </a:r>
            <a:r>
              <a:rPr lang="es-ES_tradnl" i="1" dirty="0">
                <a:latin typeface="Times New Roman" pitchFamily="18" charset="0"/>
              </a:rPr>
              <a:t>C</a:t>
            </a:r>
          </a:p>
        </p:txBody>
      </p:sp>
      <p:sp>
        <p:nvSpPr>
          <p:cNvPr id="56" name="Oval 47"/>
          <p:cNvSpPr>
            <a:spLocks noChangeArrowheads="1"/>
          </p:cNvSpPr>
          <p:nvPr/>
        </p:nvSpPr>
        <p:spPr bwMode="auto">
          <a:xfrm>
            <a:off x="6611108" y="1684120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59" name="Text Box 50"/>
          <p:cNvSpPr txBox="1">
            <a:spLocks noChangeArrowheads="1"/>
          </p:cNvSpPr>
          <p:nvPr/>
        </p:nvSpPr>
        <p:spPr bwMode="auto">
          <a:xfrm>
            <a:off x="6420044" y="2280676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B</a:t>
            </a:r>
            <a:r>
              <a:rPr lang="es-ES_tradnl" dirty="0">
                <a:latin typeface="Times New Roman" pitchFamily="18" charset="0"/>
              </a:rPr>
              <a:t>’</a:t>
            </a:r>
          </a:p>
        </p:txBody>
      </p:sp>
      <p:sp>
        <p:nvSpPr>
          <p:cNvPr id="60" name="Text Box 9"/>
          <p:cNvSpPr txBox="1">
            <a:spLocks noChangeArrowheads="1"/>
          </p:cNvSpPr>
          <p:nvPr/>
        </p:nvSpPr>
        <p:spPr bwMode="auto">
          <a:xfrm>
            <a:off x="7678742" y="135729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F</a:t>
            </a:r>
          </a:p>
        </p:txBody>
      </p:sp>
      <p:sp>
        <p:nvSpPr>
          <p:cNvPr id="62" name="61 CuadroTexto"/>
          <p:cNvSpPr txBox="1"/>
          <p:nvPr/>
        </p:nvSpPr>
        <p:spPr>
          <a:xfrm>
            <a:off x="4929190" y="2500306"/>
            <a:ext cx="1478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Objeto real en </a:t>
            </a:r>
            <a:r>
              <a:rPr lang="es-ES" sz="1400" i="1" dirty="0">
                <a:latin typeface="Times New Roman" pitchFamily="18" charset="0"/>
                <a:cs typeface="Times New Roman" pitchFamily="18" charset="0"/>
                <a:sym typeface="Symbol"/>
              </a:rPr>
              <a:t>C</a:t>
            </a:r>
          </a:p>
        </p:txBody>
      </p:sp>
      <p:sp>
        <p:nvSpPr>
          <p:cNvPr id="63" name="Text Box 9"/>
          <p:cNvSpPr txBox="1">
            <a:spLocks noChangeArrowheads="1"/>
          </p:cNvSpPr>
          <p:nvPr/>
        </p:nvSpPr>
        <p:spPr bwMode="auto">
          <a:xfrm>
            <a:off x="8913828" y="135729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V</a:t>
            </a:r>
          </a:p>
        </p:txBody>
      </p:sp>
      <p:sp>
        <p:nvSpPr>
          <p:cNvPr id="64" name="Line 53"/>
          <p:cNvSpPr>
            <a:spLocks noChangeShapeType="1"/>
          </p:cNvSpPr>
          <p:nvPr/>
        </p:nvSpPr>
        <p:spPr bwMode="auto">
          <a:xfrm flipV="1">
            <a:off x="6646882" y="1728495"/>
            <a:ext cx="0" cy="534273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 type="triangle"/>
            <a:tailEnd type="non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57" name="Freeform 11"/>
          <p:cNvSpPr>
            <a:spLocks noChangeAspect="1"/>
          </p:cNvSpPr>
          <p:nvPr/>
        </p:nvSpPr>
        <p:spPr bwMode="auto">
          <a:xfrm rot="18474721">
            <a:off x="6287522" y="1173805"/>
            <a:ext cx="2592000" cy="1296000"/>
          </a:xfrm>
          <a:custGeom>
            <a:avLst/>
            <a:gdLst/>
            <a:ahLst/>
            <a:cxnLst>
              <a:cxn ang="0">
                <a:pos x="2880" y="874"/>
              </a:cxn>
              <a:cxn ang="0">
                <a:pos x="0" y="0"/>
              </a:cxn>
            </a:cxnLst>
            <a:rect l="0" t="0" r="r" b="b"/>
            <a:pathLst>
              <a:path w="2880" h="874">
                <a:moveTo>
                  <a:pt x="2880" y="874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1" name="Oval 47"/>
          <p:cNvSpPr>
            <a:spLocks noChangeArrowheads="1"/>
          </p:cNvSpPr>
          <p:nvPr/>
        </p:nvSpPr>
        <p:spPr bwMode="auto">
          <a:xfrm>
            <a:off x="7739318" y="1684347"/>
            <a:ext cx="71438" cy="7143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65" name="Freeform 2" descr="Diagonal hacia arriba ancha"/>
          <p:cNvSpPr>
            <a:spLocks/>
          </p:cNvSpPr>
          <p:nvPr/>
        </p:nvSpPr>
        <p:spPr bwMode="auto">
          <a:xfrm>
            <a:off x="4229507" y="3190102"/>
            <a:ext cx="516120" cy="2520000"/>
          </a:xfrm>
          <a:custGeom>
            <a:avLst/>
            <a:gdLst/>
            <a:ahLst/>
            <a:cxnLst>
              <a:cxn ang="0">
                <a:pos x="462" y="41"/>
              </a:cxn>
              <a:cxn ang="0">
                <a:pos x="354" y="0"/>
              </a:cxn>
              <a:cxn ang="0">
                <a:pos x="126" y="10"/>
              </a:cxn>
              <a:cxn ang="0">
                <a:pos x="228" y="64"/>
              </a:cxn>
              <a:cxn ang="0">
                <a:pos x="296" y="193"/>
              </a:cxn>
              <a:cxn ang="0">
                <a:pos x="312" y="1179"/>
              </a:cxn>
              <a:cxn ang="0">
                <a:pos x="312" y="1406"/>
              </a:cxn>
              <a:cxn ang="0">
                <a:pos x="304" y="1602"/>
              </a:cxn>
              <a:cxn ang="0">
                <a:pos x="296" y="2558"/>
              </a:cxn>
              <a:cxn ang="0">
                <a:pos x="269" y="2666"/>
              </a:cxn>
              <a:cxn ang="0">
                <a:pos x="126" y="2747"/>
              </a:cxn>
              <a:cxn ang="0">
                <a:pos x="320" y="2738"/>
              </a:cxn>
              <a:cxn ang="0">
                <a:pos x="408" y="2656"/>
              </a:cxn>
              <a:cxn ang="0">
                <a:pos x="476" y="2480"/>
              </a:cxn>
              <a:cxn ang="0">
                <a:pos x="476" y="1416"/>
              </a:cxn>
              <a:cxn ang="0">
                <a:pos x="462" y="41"/>
              </a:cxn>
            </a:cxnLst>
            <a:rect l="0" t="0" r="r" b="b"/>
            <a:pathLst>
              <a:path w="476" h="2753">
                <a:moveTo>
                  <a:pt x="462" y="41"/>
                </a:moveTo>
                <a:lnTo>
                  <a:pt x="354" y="0"/>
                </a:lnTo>
                <a:lnTo>
                  <a:pt x="126" y="10"/>
                </a:lnTo>
                <a:lnTo>
                  <a:pt x="228" y="64"/>
                </a:lnTo>
                <a:lnTo>
                  <a:pt x="296" y="193"/>
                </a:lnTo>
                <a:lnTo>
                  <a:pt x="312" y="1179"/>
                </a:lnTo>
                <a:lnTo>
                  <a:pt x="312" y="1406"/>
                </a:lnTo>
                <a:lnTo>
                  <a:pt x="304" y="1602"/>
                </a:lnTo>
                <a:lnTo>
                  <a:pt x="296" y="2558"/>
                </a:lnTo>
                <a:lnTo>
                  <a:pt x="269" y="2666"/>
                </a:lnTo>
                <a:cubicBezTo>
                  <a:pt x="241" y="2697"/>
                  <a:pt x="117" y="2735"/>
                  <a:pt x="126" y="2747"/>
                </a:cubicBezTo>
                <a:cubicBezTo>
                  <a:pt x="0" y="2751"/>
                  <a:pt x="273" y="2753"/>
                  <a:pt x="320" y="2738"/>
                </a:cubicBezTo>
                <a:lnTo>
                  <a:pt x="408" y="2656"/>
                </a:lnTo>
                <a:cubicBezTo>
                  <a:pt x="434" y="2613"/>
                  <a:pt x="465" y="2687"/>
                  <a:pt x="476" y="2480"/>
                </a:cubicBezTo>
                <a:lnTo>
                  <a:pt x="476" y="1416"/>
                </a:lnTo>
                <a:lnTo>
                  <a:pt x="462" y="41"/>
                </a:lnTo>
                <a:close/>
              </a:path>
            </a:pathLst>
          </a:custGeom>
          <a:pattFill prst="wdUpDiag">
            <a:fgClr>
              <a:srgbClr val="C0C0C0">
                <a:alpha val="57001"/>
              </a:srgbClr>
            </a:fgClr>
            <a:bgClr>
              <a:schemeClr val="bg1">
                <a:alpha val="57001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6" name="Line 5"/>
          <p:cNvSpPr>
            <a:spLocks noChangeShapeType="1"/>
          </p:cNvSpPr>
          <p:nvPr/>
        </p:nvSpPr>
        <p:spPr bwMode="auto">
          <a:xfrm>
            <a:off x="323528" y="4424218"/>
            <a:ext cx="4680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7" name="AutoShape 30"/>
          <p:cNvSpPr>
            <a:spLocks/>
          </p:cNvSpPr>
          <p:nvPr/>
        </p:nvSpPr>
        <p:spPr bwMode="auto">
          <a:xfrm flipH="1">
            <a:off x="4181180" y="3190102"/>
            <a:ext cx="360363" cy="2520000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68" name="Line 47"/>
          <p:cNvSpPr>
            <a:spLocks noChangeShapeType="1"/>
          </p:cNvSpPr>
          <p:nvPr/>
        </p:nvSpPr>
        <p:spPr bwMode="auto">
          <a:xfrm flipV="1">
            <a:off x="2637723" y="3881175"/>
            <a:ext cx="19080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9" name="Line 48"/>
          <p:cNvSpPr>
            <a:spLocks noChangeShapeType="1"/>
          </p:cNvSpPr>
          <p:nvPr/>
        </p:nvSpPr>
        <p:spPr bwMode="auto">
          <a:xfrm>
            <a:off x="1066756" y="5416069"/>
            <a:ext cx="34560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triangle" w="lg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0" name="Text Box 55"/>
          <p:cNvSpPr txBox="1">
            <a:spLocks noChangeArrowheads="1"/>
          </p:cNvSpPr>
          <p:nvPr/>
        </p:nvSpPr>
        <p:spPr bwMode="auto">
          <a:xfrm>
            <a:off x="2151060" y="3566962"/>
            <a:ext cx="199406" cy="194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B</a:t>
            </a:r>
          </a:p>
        </p:txBody>
      </p:sp>
      <p:sp>
        <p:nvSpPr>
          <p:cNvPr id="71" name="50 CuadroTexto"/>
          <p:cNvSpPr txBox="1">
            <a:spLocks noChangeArrowheads="1"/>
          </p:cNvSpPr>
          <p:nvPr/>
        </p:nvSpPr>
        <p:spPr bwMode="auto">
          <a:xfrm>
            <a:off x="3574768" y="3566962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72" name="51 CuadroTexto"/>
          <p:cNvSpPr txBox="1">
            <a:spLocks noChangeArrowheads="1"/>
          </p:cNvSpPr>
          <p:nvPr/>
        </p:nvSpPr>
        <p:spPr bwMode="auto">
          <a:xfrm>
            <a:off x="2983310" y="3882950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73" name="Freeform 11"/>
          <p:cNvSpPr>
            <a:spLocks/>
          </p:cNvSpPr>
          <p:nvPr/>
        </p:nvSpPr>
        <p:spPr bwMode="auto">
          <a:xfrm>
            <a:off x="2758502" y="3878330"/>
            <a:ext cx="1802272" cy="1537739"/>
          </a:xfrm>
          <a:custGeom>
            <a:avLst/>
            <a:gdLst>
              <a:gd name="connsiteX0" fmla="*/ 7944 w 7944"/>
              <a:gd name="connsiteY0" fmla="*/ 8999 h 8999"/>
              <a:gd name="connsiteX1" fmla="*/ 0 w 7944"/>
              <a:gd name="connsiteY1" fmla="*/ 0 h 8999"/>
              <a:gd name="connsiteX0" fmla="*/ 10066 w 10066"/>
              <a:gd name="connsiteY0" fmla="*/ 11171 h 11171"/>
              <a:gd name="connsiteX1" fmla="*/ 0 w 10066"/>
              <a:gd name="connsiteY1" fmla="*/ 0 h 11171"/>
              <a:gd name="connsiteX0" fmla="*/ 9734 w 9734"/>
              <a:gd name="connsiteY0" fmla="*/ 10878 h 10878"/>
              <a:gd name="connsiteX1" fmla="*/ 0 w 9734"/>
              <a:gd name="connsiteY1" fmla="*/ 0 h 10878"/>
              <a:gd name="connsiteX0" fmla="*/ 10000 w 10000"/>
              <a:gd name="connsiteY0" fmla="*/ 10000 h 10000"/>
              <a:gd name="connsiteX1" fmla="*/ 0 w 10000"/>
              <a:gd name="connsiteY1" fmla="*/ 0 h 10000"/>
              <a:gd name="connsiteX0" fmla="*/ 10000 w 10000"/>
              <a:gd name="connsiteY0" fmla="*/ 10000 h 10000"/>
              <a:gd name="connsiteX1" fmla="*/ 0 w 10000"/>
              <a:gd name="connsiteY1" fmla="*/ 0 h 10000"/>
              <a:gd name="connsiteX0" fmla="*/ 10477 w 10477"/>
              <a:gd name="connsiteY0" fmla="*/ 10323 h 10323"/>
              <a:gd name="connsiteX1" fmla="*/ 0 w 10477"/>
              <a:gd name="connsiteY1" fmla="*/ 0 h 10323"/>
              <a:gd name="connsiteX0" fmla="*/ 10477 w 10477"/>
              <a:gd name="connsiteY0" fmla="*/ 10161 h 10161"/>
              <a:gd name="connsiteX1" fmla="*/ 0 w 10477"/>
              <a:gd name="connsiteY1" fmla="*/ 0 h 10161"/>
              <a:gd name="connsiteX0" fmla="*/ 10341 w 10341"/>
              <a:gd name="connsiteY0" fmla="*/ 10161 h 10161"/>
              <a:gd name="connsiteX1" fmla="*/ 0 w 10341"/>
              <a:gd name="connsiteY1" fmla="*/ 0 h 10161"/>
              <a:gd name="connsiteX0" fmla="*/ 9284 w 9284"/>
              <a:gd name="connsiteY0" fmla="*/ 14684 h 14684"/>
              <a:gd name="connsiteX1" fmla="*/ 0 w 9284"/>
              <a:gd name="connsiteY1" fmla="*/ 0 h 14684"/>
              <a:gd name="connsiteX0" fmla="*/ 10000 w 10000"/>
              <a:gd name="connsiteY0" fmla="*/ 10000 h 10000"/>
              <a:gd name="connsiteX1" fmla="*/ 7832 w 10000"/>
              <a:gd name="connsiteY1" fmla="*/ 8355 h 10000"/>
              <a:gd name="connsiteX2" fmla="*/ 0 w 10000"/>
              <a:gd name="connsiteY2" fmla="*/ 0 h 10000"/>
              <a:gd name="connsiteX0" fmla="*/ 10000 w 10000"/>
              <a:gd name="connsiteY0" fmla="*/ 10000 h 10000"/>
              <a:gd name="connsiteX1" fmla="*/ 0 w 10000"/>
              <a:gd name="connsiteY1" fmla="*/ 0 h 10000"/>
              <a:gd name="connsiteX0" fmla="*/ 11432 w 11432"/>
              <a:gd name="connsiteY0" fmla="*/ 9743 h 9743"/>
              <a:gd name="connsiteX1" fmla="*/ 0 w 11432"/>
              <a:gd name="connsiteY1" fmla="*/ 0 h 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32" h="9743">
                <a:moveTo>
                  <a:pt x="11432" y="9743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93366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6" name="Text Box 50"/>
          <p:cNvSpPr txBox="1">
            <a:spLocks noChangeArrowheads="1"/>
          </p:cNvSpPr>
          <p:nvPr/>
        </p:nvSpPr>
        <p:spPr bwMode="auto">
          <a:xfrm>
            <a:off x="1179459" y="4063163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A</a:t>
            </a:r>
            <a:r>
              <a:rPr lang="es-ES_tradnl" dirty="0">
                <a:latin typeface="Times New Roman" pitchFamily="18" charset="0"/>
              </a:rPr>
              <a:t>’</a:t>
            </a:r>
          </a:p>
        </p:txBody>
      </p:sp>
      <p:sp>
        <p:nvSpPr>
          <p:cNvPr id="77" name="Text Box 9"/>
          <p:cNvSpPr txBox="1">
            <a:spLocks noChangeArrowheads="1"/>
          </p:cNvSpPr>
          <p:nvPr/>
        </p:nvSpPr>
        <p:spPr bwMode="auto">
          <a:xfrm>
            <a:off x="3323924" y="406702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F</a:t>
            </a:r>
          </a:p>
        </p:txBody>
      </p:sp>
      <p:sp>
        <p:nvSpPr>
          <p:cNvPr id="79" name="Text Box 9"/>
          <p:cNvSpPr txBox="1">
            <a:spLocks noChangeArrowheads="1"/>
          </p:cNvSpPr>
          <p:nvPr/>
        </p:nvSpPr>
        <p:spPr bwMode="auto">
          <a:xfrm>
            <a:off x="4559010" y="406702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V</a:t>
            </a:r>
          </a:p>
        </p:txBody>
      </p:sp>
      <p:sp>
        <p:nvSpPr>
          <p:cNvPr id="80" name="Line 53"/>
          <p:cNvSpPr>
            <a:spLocks noChangeShapeType="1"/>
          </p:cNvSpPr>
          <p:nvPr/>
        </p:nvSpPr>
        <p:spPr bwMode="auto">
          <a:xfrm flipV="1">
            <a:off x="1311762" y="4443540"/>
            <a:ext cx="0" cy="95400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 type="triangle"/>
            <a:tailEnd type="non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1" name="Freeform 11"/>
          <p:cNvSpPr>
            <a:spLocks/>
          </p:cNvSpPr>
          <p:nvPr/>
        </p:nvSpPr>
        <p:spPr bwMode="auto">
          <a:xfrm rot="18474721">
            <a:off x="1217104" y="3859602"/>
            <a:ext cx="3296855" cy="1663799"/>
          </a:xfrm>
          <a:custGeom>
            <a:avLst/>
            <a:gdLst>
              <a:gd name="connsiteX0" fmla="*/ 15013 w 15013"/>
              <a:gd name="connsiteY0" fmla="*/ 15153 h 15153"/>
              <a:gd name="connsiteX1" fmla="*/ 0 w 15013"/>
              <a:gd name="connsiteY1" fmla="*/ 0 h 15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013" h="15153">
                <a:moveTo>
                  <a:pt x="15013" y="15153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2" name="Oval 47"/>
          <p:cNvSpPr>
            <a:spLocks noChangeArrowheads="1"/>
          </p:cNvSpPr>
          <p:nvPr/>
        </p:nvSpPr>
        <p:spPr bwMode="auto">
          <a:xfrm>
            <a:off x="3388373" y="4394077"/>
            <a:ext cx="59040" cy="7143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83" name="Line 53"/>
          <p:cNvSpPr>
            <a:spLocks noChangeShapeType="1"/>
          </p:cNvSpPr>
          <p:nvPr/>
        </p:nvSpPr>
        <p:spPr bwMode="auto">
          <a:xfrm flipV="1">
            <a:off x="2758515" y="3878409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6" name="22 CuadroTexto"/>
          <p:cNvSpPr txBox="1">
            <a:spLocks noChangeArrowheads="1"/>
          </p:cNvSpPr>
          <p:nvPr/>
        </p:nvSpPr>
        <p:spPr bwMode="auto">
          <a:xfrm>
            <a:off x="2195736" y="3933056"/>
            <a:ext cx="37221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200" dirty="0">
                <a:solidFill>
                  <a:srgbClr val="00CCFF"/>
                </a:solidFill>
              </a:rPr>
              <a:t>(3)</a:t>
            </a:r>
          </a:p>
        </p:txBody>
      </p:sp>
      <p:sp>
        <p:nvSpPr>
          <p:cNvPr id="87" name="Text Box 50"/>
          <p:cNvSpPr txBox="1">
            <a:spLocks noChangeArrowheads="1"/>
          </p:cNvSpPr>
          <p:nvPr/>
        </p:nvSpPr>
        <p:spPr bwMode="auto">
          <a:xfrm>
            <a:off x="971600" y="5033054"/>
            <a:ext cx="36368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B</a:t>
            </a:r>
            <a:r>
              <a:rPr lang="es-ES_tradnl" dirty="0">
                <a:latin typeface="Times New Roman" pitchFamily="18" charset="0"/>
              </a:rPr>
              <a:t>’</a:t>
            </a:r>
          </a:p>
        </p:txBody>
      </p:sp>
      <p:sp>
        <p:nvSpPr>
          <p:cNvPr id="88" name="61 CuadroTexto"/>
          <p:cNvSpPr txBox="1"/>
          <p:nvPr/>
        </p:nvSpPr>
        <p:spPr>
          <a:xfrm>
            <a:off x="6186319" y="5280327"/>
            <a:ext cx="1467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+mn-lt"/>
                <a:cs typeface="Times New Roman" pitchFamily="18" charset="0"/>
                <a:sym typeface="Symbol"/>
              </a:rPr>
              <a:t>Objeto real en </a:t>
            </a:r>
            <a:r>
              <a:rPr lang="es-ES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F</a:t>
            </a:r>
            <a:endParaRPr lang="es-E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9" name="Freeform 2" descr="Diagonal hacia arriba ancha"/>
          <p:cNvSpPr>
            <a:spLocks/>
          </p:cNvSpPr>
          <p:nvPr/>
        </p:nvSpPr>
        <p:spPr bwMode="auto">
          <a:xfrm>
            <a:off x="8622515" y="3185180"/>
            <a:ext cx="516120" cy="2520000"/>
          </a:xfrm>
          <a:custGeom>
            <a:avLst/>
            <a:gdLst/>
            <a:ahLst/>
            <a:cxnLst>
              <a:cxn ang="0">
                <a:pos x="462" y="41"/>
              </a:cxn>
              <a:cxn ang="0">
                <a:pos x="354" y="0"/>
              </a:cxn>
              <a:cxn ang="0">
                <a:pos x="126" y="10"/>
              </a:cxn>
              <a:cxn ang="0">
                <a:pos x="228" y="64"/>
              </a:cxn>
              <a:cxn ang="0">
                <a:pos x="296" y="193"/>
              </a:cxn>
              <a:cxn ang="0">
                <a:pos x="312" y="1179"/>
              </a:cxn>
              <a:cxn ang="0">
                <a:pos x="312" y="1406"/>
              </a:cxn>
              <a:cxn ang="0">
                <a:pos x="304" y="1602"/>
              </a:cxn>
              <a:cxn ang="0">
                <a:pos x="296" y="2558"/>
              </a:cxn>
              <a:cxn ang="0">
                <a:pos x="269" y="2666"/>
              </a:cxn>
              <a:cxn ang="0">
                <a:pos x="126" y="2747"/>
              </a:cxn>
              <a:cxn ang="0">
                <a:pos x="320" y="2738"/>
              </a:cxn>
              <a:cxn ang="0">
                <a:pos x="408" y="2656"/>
              </a:cxn>
              <a:cxn ang="0">
                <a:pos x="476" y="2480"/>
              </a:cxn>
              <a:cxn ang="0">
                <a:pos x="476" y="1416"/>
              </a:cxn>
              <a:cxn ang="0">
                <a:pos x="462" y="41"/>
              </a:cxn>
            </a:cxnLst>
            <a:rect l="0" t="0" r="r" b="b"/>
            <a:pathLst>
              <a:path w="476" h="2753">
                <a:moveTo>
                  <a:pt x="462" y="41"/>
                </a:moveTo>
                <a:lnTo>
                  <a:pt x="354" y="0"/>
                </a:lnTo>
                <a:lnTo>
                  <a:pt x="126" y="10"/>
                </a:lnTo>
                <a:lnTo>
                  <a:pt x="228" y="64"/>
                </a:lnTo>
                <a:lnTo>
                  <a:pt x="296" y="193"/>
                </a:lnTo>
                <a:lnTo>
                  <a:pt x="312" y="1179"/>
                </a:lnTo>
                <a:lnTo>
                  <a:pt x="312" y="1406"/>
                </a:lnTo>
                <a:lnTo>
                  <a:pt x="304" y="1602"/>
                </a:lnTo>
                <a:lnTo>
                  <a:pt x="296" y="2558"/>
                </a:lnTo>
                <a:lnTo>
                  <a:pt x="269" y="2666"/>
                </a:lnTo>
                <a:cubicBezTo>
                  <a:pt x="241" y="2697"/>
                  <a:pt x="117" y="2735"/>
                  <a:pt x="126" y="2747"/>
                </a:cubicBezTo>
                <a:cubicBezTo>
                  <a:pt x="0" y="2751"/>
                  <a:pt x="273" y="2753"/>
                  <a:pt x="320" y="2738"/>
                </a:cubicBezTo>
                <a:lnTo>
                  <a:pt x="408" y="2656"/>
                </a:lnTo>
                <a:cubicBezTo>
                  <a:pt x="434" y="2613"/>
                  <a:pt x="465" y="2687"/>
                  <a:pt x="476" y="2480"/>
                </a:cubicBezTo>
                <a:lnTo>
                  <a:pt x="476" y="1416"/>
                </a:lnTo>
                <a:lnTo>
                  <a:pt x="462" y="41"/>
                </a:lnTo>
                <a:close/>
              </a:path>
            </a:pathLst>
          </a:custGeom>
          <a:pattFill prst="wdUpDiag">
            <a:fgClr>
              <a:srgbClr val="C0C0C0">
                <a:alpha val="57001"/>
              </a:srgbClr>
            </a:fgClr>
            <a:bgClr>
              <a:schemeClr val="bg1">
                <a:alpha val="57001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0" name="Line 5"/>
          <p:cNvSpPr>
            <a:spLocks noChangeShapeType="1"/>
          </p:cNvSpPr>
          <p:nvPr/>
        </p:nvSpPr>
        <p:spPr bwMode="auto">
          <a:xfrm>
            <a:off x="5400504" y="4419296"/>
            <a:ext cx="3708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1" name="AutoShape 30"/>
          <p:cNvSpPr>
            <a:spLocks/>
          </p:cNvSpPr>
          <p:nvPr/>
        </p:nvSpPr>
        <p:spPr bwMode="auto">
          <a:xfrm flipH="1">
            <a:off x="8574188" y="3185180"/>
            <a:ext cx="360363" cy="2520000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2" name="Line 47"/>
          <p:cNvSpPr>
            <a:spLocks noChangeShapeType="1"/>
          </p:cNvSpPr>
          <p:nvPr/>
        </p:nvSpPr>
        <p:spPr bwMode="auto">
          <a:xfrm flipV="1">
            <a:off x="7586270" y="3895303"/>
            <a:ext cx="13320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4" name="Text Box 55"/>
          <p:cNvSpPr txBox="1">
            <a:spLocks noChangeArrowheads="1"/>
          </p:cNvSpPr>
          <p:nvPr/>
        </p:nvSpPr>
        <p:spPr bwMode="auto">
          <a:xfrm>
            <a:off x="7641015" y="3505751"/>
            <a:ext cx="199406" cy="194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B</a:t>
            </a:r>
          </a:p>
        </p:txBody>
      </p:sp>
      <p:sp>
        <p:nvSpPr>
          <p:cNvPr id="95" name="50 CuadroTexto"/>
          <p:cNvSpPr txBox="1">
            <a:spLocks noChangeArrowheads="1"/>
          </p:cNvSpPr>
          <p:nvPr/>
        </p:nvSpPr>
        <p:spPr bwMode="auto">
          <a:xfrm>
            <a:off x="8455918" y="3555162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99" name="Text Box 9"/>
          <p:cNvSpPr txBox="1">
            <a:spLocks noChangeArrowheads="1"/>
          </p:cNvSpPr>
          <p:nvPr/>
        </p:nvSpPr>
        <p:spPr bwMode="auto">
          <a:xfrm>
            <a:off x="8892480" y="4062106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V</a:t>
            </a:r>
          </a:p>
        </p:txBody>
      </p:sp>
      <p:sp>
        <p:nvSpPr>
          <p:cNvPr id="102" name="Line 53"/>
          <p:cNvSpPr>
            <a:spLocks noChangeShapeType="1"/>
          </p:cNvSpPr>
          <p:nvPr/>
        </p:nvSpPr>
        <p:spPr bwMode="auto">
          <a:xfrm flipV="1">
            <a:off x="7812360" y="3897112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4" name="22 CuadroTexto"/>
          <p:cNvSpPr txBox="1">
            <a:spLocks noChangeArrowheads="1"/>
          </p:cNvSpPr>
          <p:nvPr/>
        </p:nvSpPr>
        <p:spPr bwMode="auto">
          <a:xfrm>
            <a:off x="6871966" y="3882534"/>
            <a:ext cx="43633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CCFF"/>
                </a:solidFill>
              </a:rPr>
              <a:t>(3)</a:t>
            </a:r>
          </a:p>
        </p:txBody>
      </p:sp>
      <p:sp>
        <p:nvSpPr>
          <p:cNvPr id="105" name="Text Box 9"/>
          <p:cNvSpPr txBox="1">
            <a:spLocks noChangeArrowheads="1"/>
          </p:cNvSpPr>
          <p:nvPr/>
        </p:nvSpPr>
        <p:spPr bwMode="auto">
          <a:xfrm>
            <a:off x="6467970" y="4072150"/>
            <a:ext cx="396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C </a:t>
            </a:r>
          </a:p>
        </p:txBody>
      </p:sp>
      <p:sp>
        <p:nvSpPr>
          <p:cNvPr id="108" name="Freeform 11"/>
          <p:cNvSpPr>
            <a:spLocks/>
          </p:cNvSpPr>
          <p:nvPr/>
        </p:nvSpPr>
        <p:spPr bwMode="auto">
          <a:xfrm rot="18474721">
            <a:off x="5648154" y="3852612"/>
            <a:ext cx="3296855" cy="1663799"/>
          </a:xfrm>
          <a:custGeom>
            <a:avLst/>
            <a:gdLst>
              <a:gd name="connsiteX0" fmla="*/ 15013 w 15013"/>
              <a:gd name="connsiteY0" fmla="*/ 15153 h 15153"/>
              <a:gd name="connsiteX1" fmla="*/ 0 w 15013"/>
              <a:gd name="connsiteY1" fmla="*/ 0 h 15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013" h="15153">
                <a:moveTo>
                  <a:pt x="15013" y="15153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9" name="Freeform 11"/>
          <p:cNvSpPr>
            <a:spLocks/>
          </p:cNvSpPr>
          <p:nvPr/>
        </p:nvSpPr>
        <p:spPr bwMode="auto">
          <a:xfrm rot="18474721">
            <a:off x="5574843" y="3341378"/>
            <a:ext cx="3296855" cy="1663799"/>
          </a:xfrm>
          <a:custGeom>
            <a:avLst/>
            <a:gdLst>
              <a:gd name="connsiteX0" fmla="*/ 15013 w 15013"/>
              <a:gd name="connsiteY0" fmla="*/ 15153 h 15153"/>
              <a:gd name="connsiteX1" fmla="*/ 0 w 15013"/>
              <a:gd name="connsiteY1" fmla="*/ 0 h 15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013" h="15153">
                <a:moveTo>
                  <a:pt x="15013" y="15153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8" name="Text Box 9"/>
          <p:cNvSpPr txBox="1">
            <a:spLocks noChangeArrowheads="1"/>
          </p:cNvSpPr>
          <p:nvPr/>
        </p:nvSpPr>
        <p:spPr bwMode="auto">
          <a:xfrm>
            <a:off x="7596336" y="4430440"/>
            <a:ext cx="7078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A </a:t>
            </a:r>
            <a:r>
              <a:rPr lang="es-ES_tradnl" dirty="0">
                <a:latin typeface="Times New Roman" pitchFamily="18" charset="0"/>
              </a:rPr>
              <a:t>≡ </a:t>
            </a:r>
            <a:r>
              <a:rPr lang="es-ES_tradnl" i="1" dirty="0">
                <a:latin typeface="Times New Roman" pitchFamily="18" charset="0"/>
              </a:rPr>
              <a:t>F</a:t>
            </a:r>
          </a:p>
        </p:txBody>
      </p:sp>
      <p:sp>
        <p:nvSpPr>
          <p:cNvPr id="101" name="Oval 47"/>
          <p:cNvSpPr>
            <a:spLocks noChangeArrowheads="1"/>
          </p:cNvSpPr>
          <p:nvPr/>
        </p:nvSpPr>
        <p:spPr bwMode="auto">
          <a:xfrm>
            <a:off x="7781381" y="4389155"/>
            <a:ext cx="59040" cy="7143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cxnSp>
        <p:nvCxnSpPr>
          <p:cNvPr id="53" name="Conector recto de flecha 52"/>
          <p:cNvCxnSpPr/>
          <p:nvPr/>
        </p:nvCxnSpPr>
        <p:spPr>
          <a:xfrm flipH="1">
            <a:off x="1130994" y="3501008"/>
            <a:ext cx="2000846" cy="2118713"/>
          </a:xfrm>
          <a:prstGeom prst="straightConnector1">
            <a:avLst/>
          </a:prstGeom>
          <a:ln w="19050">
            <a:solidFill>
              <a:srgbClr val="00C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47"/>
          <p:cNvSpPr>
            <a:spLocks noChangeArrowheads="1"/>
          </p:cNvSpPr>
          <p:nvPr/>
        </p:nvSpPr>
        <p:spPr bwMode="auto">
          <a:xfrm>
            <a:off x="6648102" y="4394244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74" name="Text Box 9"/>
          <p:cNvSpPr txBox="1">
            <a:spLocks noChangeArrowheads="1"/>
          </p:cNvSpPr>
          <p:nvPr/>
        </p:nvSpPr>
        <p:spPr bwMode="auto">
          <a:xfrm>
            <a:off x="1979712" y="4077072"/>
            <a:ext cx="396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C </a:t>
            </a:r>
          </a:p>
        </p:txBody>
      </p:sp>
      <p:sp>
        <p:nvSpPr>
          <p:cNvPr id="75" name="Oval 47"/>
          <p:cNvSpPr>
            <a:spLocks noChangeArrowheads="1"/>
          </p:cNvSpPr>
          <p:nvPr/>
        </p:nvSpPr>
        <p:spPr bwMode="auto">
          <a:xfrm>
            <a:off x="2214912" y="4379288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10" name="33 CuadroTexto"/>
          <p:cNvSpPr txBox="1"/>
          <p:nvPr/>
        </p:nvSpPr>
        <p:spPr>
          <a:xfrm>
            <a:off x="160521" y="2780928"/>
            <a:ext cx="3475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+mn-lt"/>
                <a:cs typeface="Times New Roman" pitchFamily="18" charset="0"/>
                <a:sym typeface="Symbol"/>
              </a:rPr>
              <a:t>Imagen real, menor, invertida, entre </a:t>
            </a:r>
            <a:r>
              <a:rPr lang="es-ES" sz="1400" i="1" dirty="0"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s-ES" sz="1400" dirty="0">
                <a:latin typeface="+mn-lt"/>
                <a:cs typeface="Times New Roman" pitchFamily="18" charset="0"/>
                <a:sym typeface="Symbol"/>
              </a:rPr>
              <a:t> y </a:t>
            </a:r>
            <a:r>
              <a:rPr lang="es-ES" sz="1400" i="1" dirty="0">
                <a:latin typeface="Times New Roman" pitchFamily="18" charset="0"/>
                <a:cs typeface="Times New Roman" pitchFamily="18" charset="0"/>
                <a:sym typeface="Symbol"/>
              </a:rPr>
              <a:t>C</a:t>
            </a:r>
            <a:endParaRPr lang="es-E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CuadroTexto 110"/>
          <p:cNvSpPr txBox="1"/>
          <p:nvPr/>
        </p:nvSpPr>
        <p:spPr>
          <a:xfrm>
            <a:off x="6607072" y="1696832"/>
            <a:ext cx="443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≡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</p:txBody>
      </p:sp>
      <p:sp>
        <p:nvSpPr>
          <p:cNvPr id="112" name="61 CuadroTexto"/>
          <p:cNvSpPr txBox="1"/>
          <p:nvPr/>
        </p:nvSpPr>
        <p:spPr>
          <a:xfrm>
            <a:off x="4929190" y="2761183"/>
            <a:ext cx="28504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+mn-lt"/>
                <a:cs typeface="Times New Roman" pitchFamily="18" charset="0"/>
                <a:sym typeface="Symbol"/>
              </a:rPr>
              <a:t>Imagen real, igual, invertida, en </a:t>
            </a:r>
            <a:r>
              <a:rPr lang="es-ES" sz="1400" i="1" dirty="0">
                <a:latin typeface="Times New Roman" pitchFamily="18" charset="0"/>
                <a:cs typeface="Times New Roman" pitchFamily="18" charset="0"/>
                <a:sym typeface="Symbol"/>
              </a:rPr>
              <a:t>C</a:t>
            </a:r>
            <a:endParaRPr lang="es-E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3" name="61 CuadroTexto"/>
          <p:cNvSpPr txBox="1"/>
          <p:nvPr/>
        </p:nvSpPr>
        <p:spPr>
          <a:xfrm>
            <a:off x="82167" y="5641503"/>
            <a:ext cx="3563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+mn-lt"/>
                <a:cs typeface="Times New Roman" pitchFamily="18" charset="0"/>
                <a:sym typeface="Symbol"/>
              </a:rPr>
              <a:t>Imagen real, mayor, invertida, entre </a:t>
            </a:r>
            <a:r>
              <a:rPr lang="es-ES" sz="1400" i="1" dirty="0">
                <a:latin typeface="Times New Roman" pitchFamily="18" charset="0"/>
                <a:cs typeface="Times New Roman" pitchFamily="18" charset="0"/>
                <a:sym typeface="Symbol"/>
              </a:rPr>
              <a:t>∞ y C</a:t>
            </a:r>
            <a:endParaRPr lang="es-E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61 CuadroTexto"/>
          <p:cNvSpPr txBox="1"/>
          <p:nvPr/>
        </p:nvSpPr>
        <p:spPr>
          <a:xfrm>
            <a:off x="6228184" y="5497487"/>
            <a:ext cx="1138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+mn-lt"/>
                <a:cs typeface="Times New Roman" pitchFamily="18" charset="0"/>
                <a:sym typeface="Symbol"/>
              </a:rPr>
              <a:t>Imagen a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∞ </a:t>
            </a:r>
            <a:endParaRPr lang="es-E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5" name="Text Box 67"/>
          <p:cNvSpPr txBox="1">
            <a:spLocks noChangeArrowheads="1"/>
          </p:cNvSpPr>
          <p:nvPr/>
        </p:nvSpPr>
        <p:spPr bwMode="auto">
          <a:xfrm>
            <a:off x="8675688" y="6564313"/>
            <a:ext cx="35458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500"/>
                            </p:stCondLst>
                            <p:childTnLst>
                              <p:par>
                                <p:cTn id="1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0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3500"/>
                            </p:stCondLst>
                            <p:childTnLst>
                              <p:par>
                                <p:cTn id="1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4000"/>
                            </p:stCondLst>
                            <p:childTnLst>
                              <p:par>
                                <p:cTn id="1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 animBg="1"/>
      <p:bldP spid="27" grpId="0" animBg="1"/>
      <p:bldP spid="28" grpId="0"/>
      <p:bldP spid="29" grpId="0"/>
      <p:bldP spid="44" grpId="0" animBg="1"/>
      <p:bldP spid="45" grpId="0" animBg="1"/>
      <p:bldP spid="51" grpId="0"/>
      <p:bldP spid="52" grpId="0"/>
      <p:bldP spid="54" grpId="0" animBg="1"/>
      <p:bldP spid="59" grpId="0"/>
      <p:bldP spid="64" grpId="0" animBg="1"/>
      <p:bldP spid="57" grpId="0" animBg="1"/>
      <p:bldP spid="68" grpId="0" animBg="1"/>
      <p:bldP spid="69" grpId="0" animBg="1"/>
      <p:bldP spid="71" grpId="0"/>
      <p:bldP spid="72" grpId="0"/>
      <p:bldP spid="73" grpId="0" animBg="1"/>
      <p:bldP spid="76" grpId="0"/>
      <p:bldP spid="80" grpId="0" animBg="1"/>
      <p:bldP spid="81" grpId="0" animBg="1"/>
      <p:bldP spid="86" grpId="0"/>
      <p:bldP spid="87" grpId="0"/>
      <p:bldP spid="92" grpId="0" animBg="1"/>
      <p:bldP spid="95" grpId="0"/>
      <p:bldP spid="104" grpId="0"/>
      <p:bldP spid="108" grpId="0" animBg="1"/>
      <p:bldP spid="109" grpId="0" animBg="1"/>
      <p:bldP spid="110" grpId="0"/>
      <p:bldP spid="111" grpId="0"/>
      <p:bldP spid="112" grpId="0"/>
      <p:bldP spid="113" grpId="0"/>
      <p:bldP spid="114" grpId="0"/>
      <p:bldP spid="1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61 CuadroTexto"/>
          <p:cNvSpPr txBox="1"/>
          <p:nvPr/>
        </p:nvSpPr>
        <p:spPr>
          <a:xfrm>
            <a:off x="55512" y="5315679"/>
            <a:ext cx="2159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Objeto virtual entre </a:t>
            </a:r>
            <a:r>
              <a:rPr lang="es-ES" sz="1400" i="1" dirty="0">
                <a:latin typeface="Times New Roman" pitchFamily="18" charset="0"/>
                <a:cs typeface="Times New Roman" pitchFamily="18" charset="0"/>
                <a:sym typeface="Symbol"/>
              </a:rPr>
              <a:t>V </a:t>
            </a:r>
            <a:r>
              <a:rPr lang="es-ES" sz="1400" dirty="0">
                <a:latin typeface="Times New Roman" pitchFamily="18" charset="0"/>
                <a:cs typeface="Times New Roman" pitchFamily="18" charset="0"/>
                <a:sym typeface="Symbol"/>
              </a:rPr>
              <a:t>y</a:t>
            </a:r>
            <a:r>
              <a:rPr lang="es-ES" sz="1400" i="1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s-ES" sz="1400" dirty="0">
                <a:latin typeface="Times New Roman" pitchFamily="18" charset="0"/>
                <a:cs typeface="Times New Roman" pitchFamily="18" charset="0"/>
                <a:sym typeface="Symbol"/>
              </a:rPr>
              <a:t>∞</a:t>
            </a:r>
            <a:endParaRPr lang="es-E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1 CuadroTexto"/>
          <p:cNvSpPr txBox="1"/>
          <p:nvPr/>
        </p:nvSpPr>
        <p:spPr>
          <a:xfrm>
            <a:off x="404428" y="120611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Imágenes en Espejos Cóncavos</a:t>
            </a:r>
          </a:p>
        </p:txBody>
      </p:sp>
      <p:sp>
        <p:nvSpPr>
          <p:cNvPr id="3" name="Freeform 2" descr="Diagonal hacia arriba ancha"/>
          <p:cNvSpPr>
            <a:spLocks/>
          </p:cNvSpPr>
          <p:nvPr/>
        </p:nvSpPr>
        <p:spPr bwMode="auto">
          <a:xfrm>
            <a:off x="4452450" y="470645"/>
            <a:ext cx="755650" cy="2520000"/>
          </a:xfrm>
          <a:custGeom>
            <a:avLst/>
            <a:gdLst/>
            <a:ahLst/>
            <a:cxnLst>
              <a:cxn ang="0">
                <a:pos x="462" y="41"/>
              </a:cxn>
              <a:cxn ang="0">
                <a:pos x="354" y="0"/>
              </a:cxn>
              <a:cxn ang="0">
                <a:pos x="126" y="10"/>
              </a:cxn>
              <a:cxn ang="0">
                <a:pos x="228" y="64"/>
              </a:cxn>
              <a:cxn ang="0">
                <a:pos x="296" y="193"/>
              </a:cxn>
              <a:cxn ang="0">
                <a:pos x="312" y="1179"/>
              </a:cxn>
              <a:cxn ang="0">
                <a:pos x="312" y="1406"/>
              </a:cxn>
              <a:cxn ang="0">
                <a:pos x="304" y="1602"/>
              </a:cxn>
              <a:cxn ang="0">
                <a:pos x="296" y="2558"/>
              </a:cxn>
              <a:cxn ang="0">
                <a:pos x="269" y="2666"/>
              </a:cxn>
              <a:cxn ang="0">
                <a:pos x="126" y="2747"/>
              </a:cxn>
              <a:cxn ang="0">
                <a:pos x="320" y="2738"/>
              </a:cxn>
              <a:cxn ang="0">
                <a:pos x="408" y="2656"/>
              </a:cxn>
              <a:cxn ang="0">
                <a:pos x="476" y="2480"/>
              </a:cxn>
              <a:cxn ang="0">
                <a:pos x="476" y="1416"/>
              </a:cxn>
              <a:cxn ang="0">
                <a:pos x="462" y="41"/>
              </a:cxn>
            </a:cxnLst>
            <a:rect l="0" t="0" r="r" b="b"/>
            <a:pathLst>
              <a:path w="476" h="2753">
                <a:moveTo>
                  <a:pt x="462" y="41"/>
                </a:moveTo>
                <a:lnTo>
                  <a:pt x="354" y="0"/>
                </a:lnTo>
                <a:lnTo>
                  <a:pt x="126" y="10"/>
                </a:lnTo>
                <a:lnTo>
                  <a:pt x="228" y="64"/>
                </a:lnTo>
                <a:lnTo>
                  <a:pt x="296" y="193"/>
                </a:lnTo>
                <a:lnTo>
                  <a:pt x="312" y="1179"/>
                </a:lnTo>
                <a:lnTo>
                  <a:pt x="312" y="1406"/>
                </a:lnTo>
                <a:lnTo>
                  <a:pt x="304" y="1602"/>
                </a:lnTo>
                <a:lnTo>
                  <a:pt x="296" y="2558"/>
                </a:lnTo>
                <a:lnTo>
                  <a:pt x="269" y="2666"/>
                </a:lnTo>
                <a:cubicBezTo>
                  <a:pt x="241" y="2697"/>
                  <a:pt x="117" y="2735"/>
                  <a:pt x="126" y="2747"/>
                </a:cubicBezTo>
                <a:cubicBezTo>
                  <a:pt x="0" y="2751"/>
                  <a:pt x="273" y="2753"/>
                  <a:pt x="320" y="2738"/>
                </a:cubicBezTo>
                <a:lnTo>
                  <a:pt x="408" y="2656"/>
                </a:lnTo>
                <a:cubicBezTo>
                  <a:pt x="434" y="2613"/>
                  <a:pt x="465" y="2687"/>
                  <a:pt x="476" y="2480"/>
                </a:cubicBezTo>
                <a:lnTo>
                  <a:pt x="476" y="1416"/>
                </a:lnTo>
                <a:lnTo>
                  <a:pt x="462" y="41"/>
                </a:lnTo>
                <a:close/>
              </a:path>
            </a:pathLst>
          </a:custGeom>
          <a:pattFill prst="wdUpDiag">
            <a:fgClr>
              <a:srgbClr val="C0C0C0">
                <a:alpha val="57001"/>
              </a:srgbClr>
            </a:fgClr>
            <a:bgClr>
              <a:schemeClr val="bg1">
                <a:alpha val="57001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1980232" y="1714488"/>
            <a:ext cx="4680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285720" y="3071810"/>
            <a:ext cx="2568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>
                <a:latin typeface="Tahoma" pitchFamily="34" charset="0"/>
              </a:rPr>
              <a:t> </a:t>
            </a:r>
            <a:endParaRPr lang="es-ES_tradnl" i="1" dirty="0">
              <a:latin typeface="Times New Roman" pitchFamily="18" charset="0"/>
            </a:endParaRPr>
          </a:p>
        </p:txBody>
      </p:sp>
      <p:sp>
        <p:nvSpPr>
          <p:cNvPr id="7" name="Freeform 25"/>
          <p:cNvSpPr>
            <a:spLocks/>
          </p:cNvSpPr>
          <p:nvPr/>
        </p:nvSpPr>
        <p:spPr bwMode="auto">
          <a:xfrm>
            <a:off x="2145150" y="1244564"/>
            <a:ext cx="2730110" cy="1285885"/>
          </a:xfrm>
          <a:custGeom>
            <a:avLst/>
            <a:gdLst/>
            <a:ahLst/>
            <a:cxnLst>
              <a:cxn ang="0">
                <a:pos x="1797" y="0"/>
              </a:cxn>
              <a:cxn ang="0">
                <a:pos x="0" y="1362"/>
              </a:cxn>
            </a:cxnLst>
            <a:rect l="0" t="0" r="r" b="b"/>
            <a:pathLst>
              <a:path w="1797" h="1362">
                <a:moveTo>
                  <a:pt x="1797" y="0"/>
                </a:moveTo>
                <a:lnTo>
                  <a:pt x="0" y="1362"/>
                </a:ln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" name="AutoShape 30"/>
          <p:cNvSpPr>
            <a:spLocks/>
          </p:cNvSpPr>
          <p:nvPr/>
        </p:nvSpPr>
        <p:spPr bwMode="auto">
          <a:xfrm flipH="1">
            <a:off x="4541220" y="480372"/>
            <a:ext cx="360363" cy="2520000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" name="Line 47"/>
          <p:cNvSpPr>
            <a:spLocks noChangeShapeType="1"/>
          </p:cNvSpPr>
          <p:nvPr/>
        </p:nvSpPr>
        <p:spPr bwMode="auto">
          <a:xfrm>
            <a:off x="4264790" y="1214422"/>
            <a:ext cx="6480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none"/>
            <a:tailEnd type="none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" name="Line 48"/>
          <p:cNvSpPr>
            <a:spLocks noChangeShapeType="1"/>
          </p:cNvSpPr>
          <p:nvPr/>
        </p:nvSpPr>
        <p:spPr bwMode="auto">
          <a:xfrm>
            <a:off x="1898014" y="796832"/>
            <a:ext cx="29880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triangle" w="lg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" name="Line 53"/>
          <p:cNvSpPr>
            <a:spLocks noChangeShapeType="1"/>
          </p:cNvSpPr>
          <p:nvPr/>
        </p:nvSpPr>
        <p:spPr bwMode="auto">
          <a:xfrm flipV="1">
            <a:off x="4427984" y="1190260"/>
            <a:ext cx="0" cy="53427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6" name="Line 57"/>
          <p:cNvSpPr>
            <a:spLocks noChangeShapeType="1"/>
          </p:cNvSpPr>
          <p:nvPr/>
        </p:nvSpPr>
        <p:spPr bwMode="auto">
          <a:xfrm flipV="1">
            <a:off x="1766733" y="1077965"/>
            <a:ext cx="3128827" cy="913338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7" name="Freeform 58"/>
          <p:cNvSpPr>
            <a:spLocks/>
          </p:cNvSpPr>
          <p:nvPr/>
        </p:nvSpPr>
        <p:spPr bwMode="auto">
          <a:xfrm>
            <a:off x="3082117" y="1428371"/>
            <a:ext cx="603080" cy="171801"/>
          </a:xfrm>
          <a:custGeom>
            <a:avLst/>
            <a:gdLst>
              <a:gd name="connsiteX0" fmla="*/ 0 w 12060"/>
              <a:gd name="connsiteY0" fmla="*/ 9879 h 10336"/>
              <a:gd name="connsiteX1" fmla="*/ 12060 w 12060"/>
              <a:gd name="connsiteY1" fmla="*/ 458 h 10336"/>
              <a:gd name="connsiteX0" fmla="*/ 0 w 12060"/>
              <a:gd name="connsiteY0" fmla="*/ 9421 h 9421"/>
              <a:gd name="connsiteX1" fmla="*/ 12060 w 12060"/>
              <a:gd name="connsiteY1" fmla="*/ 0 h 9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60" h="9421">
                <a:moveTo>
                  <a:pt x="0" y="9421"/>
                </a:moveTo>
                <a:lnTo>
                  <a:pt x="12060" y="0"/>
                </a:lnTo>
              </a:path>
            </a:pathLst>
          </a:custGeom>
          <a:noFill/>
          <a:ln w="25400">
            <a:solidFill>
              <a:srgbClr val="00CCFF"/>
            </a:solidFill>
            <a:round/>
            <a:headEnd type="triangle" w="lg" len="med"/>
            <a:tailEnd type="non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8" name="17 CuadroTexto"/>
          <p:cNvSpPr txBox="1">
            <a:spLocks noChangeArrowheads="1"/>
          </p:cNvSpPr>
          <p:nvPr/>
        </p:nvSpPr>
        <p:spPr bwMode="auto">
          <a:xfrm>
            <a:off x="923719" y="5913186"/>
            <a:ext cx="77444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 dirty="0">
                <a:solidFill>
                  <a:srgbClr val="0000FF"/>
                </a:solidFill>
              </a:rPr>
              <a:t>(1) Incidente: dirección paralela al eje principal. Reflejado: dirección que pasa por foco principal</a:t>
            </a:r>
          </a:p>
        </p:txBody>
      </p:sp>
      <p:sp>
        <p:nvSpPr>
          <p:cNvPr id="19" name="18 CuadroTexto"/>
          <p:cNvSpPr txBox="1">
            <a:spLocks noChangeArrowheads="1"/>
          </p:cNvSpPr>
          <p:nvPr/>
        </p:nvSpPr>
        <p:spPr bwMode="auto">
          <a:xfrm>
            <a:off x="923719" y="6176711"/>
            <a:ext cx="758573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 dirty="0">
                <a:solidFill>
                  <a:srgbClr val="A50021"/>
                </a:solidFill>
              </a:rPr>
              <a:t>(2) Incidente: dirección pasa por el foco principal. Reflejado: dirección paralela al eje principal</a:t>
            </a:r>
          </a:p>
        </p:txBody>
      </p:sp>
      <p:sp>
        <p:nvSpPr>
          <p:cNvPr id="20" name="19 CuadroTexto"/>
          <p:cNvSpPr txBox="1">
            <a:spLocks noChangeArrowheads="1"/>
          </p:cNvSpPr>
          <p:nvPr/>
        </p:nvSpPr>
        <p:spPr bwMode="auto">
          <a:xfrm>
            <a:off x="4135438" y="858614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21" name="20 CuadroTexto"/>
          <p:cNvSpPr txBox="1">
            <a:spLocks noChangeArrowheads="1"/>
          </p:cNvSpPr>
          <p:nvPr/>
        </p:nvSpPr>
        <p:spPr bwMode="auto">
          <a:xfrm>
            <a:off x="4348083" y="730064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22" name="21 CuadroTexto"/>
          <p:cNvSpPr txBox="1">
            <a:spLocks noChangeArrowheads="1"/>
          </p:cNvSpPr>
          <p:nvPr/>
        </p:nvSpPr>
        <p:spPr bwMode="auto">
          <a:xfrm>
            <a:off x="923689" y="6417920"/>
            <a:ext cx="700544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 dirty="0">
                <a:solidFill>
                  <a:srgbClr val="00CCFF"/>
                </a:solidFill>
              </a:rPr>
              <a:t>(3) Incidente: dirección que pasa por el centro de curvatura., se refleja sobre sí mismo</a:t>
            </a:r>
          </a:p>
        </p:txBody>
      </p:sp>
      <p:sp>
        <p:nvSpPr>
          <p:cNvPr id="23" name="22 CuadroTexto"/>
          <p:cNvSpPr txBox="1">
            <a:spLocks noChangeArrowheads="1"/>
          </p:cNvSpPr>
          <p:nvPr/>
        </p:nvSpPr>
        <p:spPr bwMode="auto">
          <a:xfrm>
            <a:off x="3287466" y="1138434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CCFF"/>
                </a:solidFill>
              </a:rPr>
              <a:t>(3)</a:t>
            </a:r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2469518" y="1654862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C</a:t>
            </a:r>
          </a:p>
        </p:txBody>
      </p:sp>
      <p:sp>
        <p:nvSpPr>
          <p:cNvPr id="26" name="Oval 47"/>
          <p:cNvSpPr>
            <a:spLocks noChangeArrowheads="1"/>
          </p:cNvSpPr>
          <p:nvPr/>
        </p:nvSpPr>
        <p:spPr bwMode="auto">
          <a:xfrm>
            <a:off x="2683832" y="1689436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27" name="Freeform 48"/>
          <p:cNvSpPr>
            <a:spLocks/>
          </p:cNvSpPr>
          <p:nvPr/>
        </p:nvSpPr>
        <p:spPr bwMode="auto">
          <a:xfrm flipH="1">
            <a:off x="5763537" y="810026"/>
            <a:ext cx="0" cy="91398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" y="570"/>
              </a:cxn>
            </a:cxnLst>
            <a:rect l="0" t="0" r="r" b="b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 type="triangle" w="med" len="med"/>
            <a:tailEnd type="non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8" name="Text Box 49"/>
          <p:cNvSpPr txBox="1">
            <a:spLocks noChangeArrowheads="1"/>
          </p:cNvSpPr>
          <p:nvPr/>
        </p:nvSpPr>
        <p:spPr bwMode="auto">
          <a:xfrm>
            <a:off x="5566686" y="1684347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A</a:t>
            </a:r>
            <a:r>
              <a:rPr lang="es-ES_tradnl" dirty="0">
                <a:latin typeface="Times New Roman" pitchFamily="18" charset="0"/>
              </a:rPr>
              <a:t>’</a:t>
            </a:r>
            <a:endParaRPr lang="es-ES_tradnl" i="1" dirty="0">
              <a:latin typeface="Times New Roman" pitchFamily="18" charset="0"/>
            </a:endParaRPr>
          </a:p>
        </p:txBody>
      </p:sp>
      <p:sp>
        <p:nvSpPr>
          <p:cNvPr id="29" name="Text Box 50"/>
          <p:cNvSpPr txBox="1">
            <a:spLocks noChangeArrowheads="1"/>
          </p:cNvSpPr>
          <p:nvPr/>
        </p:nvSpPr>
        <p:spPr bwMode="auto">
          <a:xfrm>
            <a:off x="5576714" y="471042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B</a:t>
            </a:r>
            <a:r>
              <a:rPr lang="es-ES_tradnl" dirty="0">
                <a:latin typeface="Times New Roman" pitchFamily="18" charset="0"/>
              </a:rPr>
              <a:t>’</a:t>
            </a:r>
          </a:p>
        </p:txBody>
      </p: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3683964" y="135729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F</a:t>
            </a:r>
          </a:p>
        </p:txBody>
      </p:sp>
      <p:sp>
        <p:nvSpPr>
          <p:cNvPr id="31" name="Oval 47"/>
          <p:cNvSpPr>
            <a:spLocks noChangeArrowheads="1"/>
          </p:cNvSpPr>
          <p:nvPr/>
        </p:nvSpPr>
        <p:spPr bwMode="auto">
          <a:xfrm>
            <a:off x="3801788" y="1684347"/>
            <a:ext cx="71438" cy="7143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34" name="33 CuadroTexto"/>
          <p:cNvSpPr txBox="1"/>
          <p:nvPr/>
        </p:nvSpPr>
        <p:spPr>
          <a:xfrm>
            <a:off x="142844" y="2500306"/>
            <a:ext cx="1984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Objeto real entre </a:t>
            </a:r>
            <a:r>
              <a:rPr lang="es-ES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F</a:t>
            </a:r>
            <a:r>
              <a:rPr lang="es-ES" sz="1400" dirty="0">
                <a:sym typeface="Symbol"/>
              </a:rPr>
              <a:t> y </a:t>
            </a:r>
            <a:r>
              <a:rPr lang="es-ES" sz="1400" i="1" dirty="0"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</a:p>
        </p:txBody>
      </p:sp>
      <p:sp>
        <p:nvSpPr>
          <p:cNvPr id="37" name="Text Box 9"/>
          <p:cNvSpPr txBox="1">
            <a:spLocks noChangeArrowheads="1"/>
          </p:cNvSpPr>
          <p:nvPr/>
        </p:nvSpPr>
        <p:spPr bwMode="auto">
          <a:xfrm>
            <a:off x="4841782" y="1395932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V</a:t>
            </a:r>
          </a:p>
        </p:txBody>
      </p:sp>
      <p:sp>
        <p:nvSpPr>
          <p:cNvPr id="41" name="Text Box 8"/>
          <p:cNvSpPr txBox="1">
            <a:spLocks noChangeArrowheads="1"/>
          </p:cNvSpPr>
          <p:nvPr/>
        </p:nvSpPr>
        <p:spPr bwMode="auto">
          <a:xfrm>
            <a:off x="4678346" y="3071810"/>
            <a:ext cx="2568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>
                <a:latin typeface="Tahoma" pitchFamily="34" charset="0"/>
              </a:rPr>
              <a:t> </a:t>
            </a:r>
            <a:endParaRPr lang="es-ES_tradnl" i="1" dirty="0">
              <a:latin typeface="Times New Roman" pitchFamily="18" charset="0"/>
            </a:endParaRPr>
          </a:p>
        </p:txBody>
      </p:sp>
      <p:sp>
        <p:nvSpPr>
          <p:cNvPr id="65" name="Freeform 2" descr="Diagonal hacia arriba ancha"/>
          <p:cNvSpPr>
            <a:spLocks/>
          </p:cNvSpPr>
          <p:nvPr/>
        </p:nvSpPr>
        <p:spPr bwMode="auto">
          <a:xfrm>
            <a:off x="4229507" y="3190102"/>
            <a:ext cx="516120" cy="2520000"/>
          </a:xfrm>
          <a:custGeom>
            <a:avLst/>
            <a:gdLst/>
            <a:ahLst/>
            <a:cxnLst>
              <a:cxn ang="0">
                <a:pos x="462" y="41"/>
              </a:cxn>
              <a:cxn ang="0">
                <a:pos x="354" y="0"/>
              </a:cxn>
              <a:cxn ang="0">
                <a:pos x="126" y="10"/>
              </a:cxn>
              <a:cxn ang="0">
                <a:pos x="228" y="64"/>
              </a:cxn>
              <a:cxn ang="0">
                <a:pos x="296" y="193"/>
              </a:cxn>
              <a:cxn ang="0">
                <a:pos x="312" y="1179"/>
              </a:cxn>
              <a:cxn ang="0">
                <a:pos x="312" y="1406"/>
              </a:cxn>
              <a:cxn ang="0">
                <a:pos x="304" y="1602"/>
              </a:cxn>
              <a:cxn ang="0">
                <a:pos x="296" y="2558"/>
              </a:cxn>
              <a:cxn ang="0">
                <a:pos x="269" y="2666"/>
              </a:cxn>
              <a:cxn ang="0">
                <a:pos x="126" y="2747"/>
              </a:cxn>
              <a:cxn ang="0">
                <a:pos x="320" y="2738"/>
              </a:cxn>
              <a:cxn ang="0">
                <a:pos x="408" y="2656"/>
              </a:cxn>
              <a:cxn ang="0">
                <a:pos x="476" y="2480"/>
              </a:cxn>
              <a:cxn ang="0">
                <a:pos x="476" y="1416"/>
              </a:cxn>
              <a:cxn ang="0">
                <a:pos x="462" y="41"/>
              </a:cxn>
            </a:cxnLst>
            <a:rect l="0" t="0" r="r" b="b"/>
            <a:pathLst>
              <a:path w="476" h="2753">
                <a:moveTo>
                  <a:pt x="462" y="41"/>
                </a:moveTo>
                <a:lnTo>
                  <a:pt x="354" y="0"/>
                </a:lnTo>
                <a:lnTo>
                  <a:pt x="126" y="10"/>
                </a:lnTo>
                <a:lnTo>
                  <a:pt x="228" y="64"/>
                </a:lnTo>
                <a:lnTo>
                  <a:pt x="296" y="193"/>
                </a:lnTo>
                <a:lnTo>
                  <a:pt x="312" y="1179"/>
                </a:lnTo>
                <a:lnTo>
                  <a:pt x="312" y="1406"/>
                </a:lnTo>
                <a:lnTo>
                  <a:pt x="304" y="1602"/>
                </a:lnTo>
                <a:lnTo>
                  <a:pt x="296" y="2558"/>
                </a:lnTo>
                <a:lnTo>
                  <a:pt x="269" y="2666"/>
                </a:lnTo>
                <a:cubicBezTo>
                  <a:pt x="241" y="2697"/>
                  <a:pt x="117" y="2735"/>
                  <a:pt x="126" y="2747"/>
                </a:cubicBezTo>
                <a:cubicBezTo>
                  <a:pt x="0" y="2751"/>
                  <a:pt x="273" y="2753"/>
                  <a:pt x="320" y="2738"/>
                </a:cubicBezTo>
                <a:lnTo>
                  <a:pt x="408" y="2656"/>
                </a:lnTo>
                <a:cubicBezTo>
                  <a:pt x="434" y="2613"/>
                  <a:pt x="465" y="2687"/>
                  <a:pt x="476" y="2480"/>
                </a:cubicBezTo>
                <a:lnTo>
                  <a:pt x="476" y="1416"/>
                </a:lnTo>
                <a:lnTo>
                  <a:pt x="462" y="41"/>
                </a:lnTo>
                <a:close/>
              </a:path>
            </a:pathLst>
          </a:custGeom>
          <a:pattFill prst="wdUpDiag">
            <a:fgClr>
              <a:srgbClr val="C0C0C0">
                <a:alpha val="57001"/>
              </a:srgbClr>
            </a:fgClr>
            <a:bgClr>
              <a:schemeClr val="bg1">
                <a:alpha val="57001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6" name="Line 5"/>
          <p:cNvSpPr>
            <a:spLocks noChangeShapeType="1"/>
          </p:cNvSpPr>
          <p:nvPr/>
        </p:nvSpPr>
        <p:spPr bwMode="auto">
          <a:xfrm>
            <a:off x="323528" y="4424217"/>
            <a:ext cx="7488832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7" name="AutoShape 30"/>
          <p:cNvSpPr>
            <a:spLocks/>
          </p:cNvSpPr>
          <p:nvPr/>
        </p:nvSpPr>
        <p:spPr bwMode="auto">
          <a:xfrm flipH="1">
            <a:off x="4181180" y="3190102"/>
            <a:ext cx="360363" cy="2520000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68" name="Line 47"/>
          <p:cNvSpPr>
            <a:spLocks noChangeShapeType="1"/>
          </p:cNvSpPr>
          <p:nvPr/>
        </p:nvSpPr>
        <p:spPr bwMode="auto">
          <a:xfrm flipV="1">
            <a:off x="2637723" y="3881175"/>
            <a:ext cx="19080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9" name="Line 48"/>
          <p:cNvSpPr>
            <a:spLocks noChangeShapeType="1"/>
          </p:cNvSpPr>
          <p:nvPr/>
        </p:nvSpPr>
        <p:spPr bwMode="auto">
          <a:xfrm>
            <a:off x="1096268" y="4140540"/>
            <a:ext cx="34560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triangle" w="lg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0" name="Text Box 55"/>
          <p:cNvSpPr txBox="1">
            <a:spLocks noChangeArrowheads="1"/>
          </p:cNvSpPr>
          <p:nvPr/>
        </p:nvSpPr>
        <p:spPr bwMode="auto">
          <a:xfrm>
            <a:off x="5299007" y="3518036"/>
            <a:ext cx="199406" cy="194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B</a:t>
            </a:r>
          </a:p>
        </p:txBody>
      </p:sp>
      <p:sp>
        <p:nvSpPr>
          <p:cNvPr id="71" name="50 CuadroTexto"/>
          <p:cNvSpPr txBox="1">
            <a:spLocks noChangeArrowheads="1"/>
          </p:cNvSpPr>
          <p:nvPr/>
        </p:nvSpPr>
        <p:spPr bwMode="auto">
          <a:xfrm>
            <a:off x="3574768" y="3566962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72" name="51 CuadroTexto"/>
          <p:cNvSpPr txBox="1">
            <a:spLocks noChangeArrowheads="1"/>
          </p:cNvSpPr>
          <p:nvPr/>
        </p:nvSpPr>
        <p:spPr bwMode="auto">
          <a:xfrm>
            <a:off x="1716382" y="4492079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73" name="Freeform 11"/>
          <p:cNvSpPr>
            <a:spLocks noChangeAspect="1"/>
          </p:cNvSpPr>
          <p:nvPr/>
        </p:nvSpPr>
        <p:spPr bwMode="auto">
          <a:xfrm>
            <a:off x="1704679" y="4136341"/>
            <a:ext cx="2846341" cy="707679"/>
          </a:xfrm>
          <a:custGeom>
            <a:avLst/>
            <a:gdLst>
              <a:gd name="connsiteX0" fmla="*/ 7944 w 7944"/>
              <a:gd name="connsiteY0" fmla="*/ 8999 h 8999"/>
              <a:gd name="connsiteX1" fmla="*/ 0 w 7944"/>
              <a:gd name="connsiteY1" fmla="*/ 0 h 8999"/>
              <a:gd name="connsiteX0" fmla="*/ 10066 w 10066"/>
              <a:gd name="connsiteY0" fmla="*/ 11171 h 11171"/>
              <a:gd name="connsiteX1" fmla="*/ 0 w 10066"/>
              <a:gd name="connsiteY1" fmla="*/ 0 h 11171"/>
              <a:gd name="connsiteX0" fmla="*/ 9734 w 9734"/>
              <a:gd name="connsiteY0" fmla="*/ 10878 h 10878"/>
              <a:gd name="connsiteX1" fmla="*/ 0 w 9734"/>
              <a:gd name="connsiteY1" fmla="*/ 0 h 10878"/>
              <a:gd name="connsiteX0" fmla="*/ 10000 w 10000"/>
              <a:gd name="connsiteY0" fmla="*/ 10000 h 10000"/>
              <a:gd name="connsiteX1" fmla="*/ 0 w 10000"/>
              <a:gd name="connsiteY1" fmla="*/ 0 h 10000"/>
              <a:gd name="connsiteX0" fmla="*/ 10000 w 10000"/>
              <a:gd name="connsiteY0" fmla="*/ 10000 h 10000"/>
              <a:gd name="connsiteX1" fmla="*/ 0 w 10000"/>
              <a:gd name="connsiteY1" fmla="*/ 0 h 10000"/>
              <a:gd name="connsiteX0" fmla="*/ 10477 w 10477"/>
              <a:gd name="connsiteY0" fmla="*/ 10323 h 10323"/>
              <a:gd name="connsiteX1" fmla="*/ 0 w 10477"/>
              <a:gd name="connsiteY1" fmla="*/ 0 h 10323"/>
              <a:gd name="connsiteX0" fmla="*/ 10477 w 10477"/>
              <a:gd name="connsiteY0" fmla="*/ 10161 h 10161"/>
              <a:gd name="connsiteX1" fmla="*/ 0 w 10477"/>
              <a:gd name="connsiteY1" fmla="*/ 0 h 10161"/>
              <a:gd name="connsiteX0" fmla="*/ 10341 w 10341"/>
              <a:gd name="connsiteY0" fmla="*/ 10161 h 10161"/>
              <a:gd name="connsiteX1" fmla="*/ 0 w 10341"/>
              <a:gd name="connsiteY1" fmla="*/ 0 h 10161"/>
              <a:gd name="connsiteX0" fmla="*/ 9284 w 9284"/>
              <a:gd name="connsiteY0" fmla="*/ 14684 h 14684"/>
              <a:gd name="connsiteX1" fmla="*/ 0 w 9284"/>
              <a:gd name="connsiteY1" fmla="*/ 0 h 14684"/>
              <a:gd name="connsiteX0" fmla="*/ 10000 w 10000"/>
              <a:gd name="connsiteY0" fmla="*/ 10000 h 10000"/>
              <a:gd name="connsiteX1" fmla="*/ 7832 w 10000"/>
              <a:gd name="connsiteY1" fmla="*/ 8355 h 10000"/>
              <a:gd name="connsiteX2" fmla="*/ 0 w 10000"/>
              <a:gd name="connsiteY2" fmla="*/ 0 h 10000"/>
              <a:gd name="connsiteX0" fmla="*/ 10000 w 10000"/>
              <a:gd name="connsiteY0" fmla="*/ 10000 h 10000"/>
              <a:gd name="connsiteX1" fmla="*/ 0 w 10000"/>
              <a:gd name="connsiteY1" fmla="*/ 0 h 10000"/>
              <a:gd name="connsiteX0" fmla="*/ 11432 w 11432"/>
              <a:gd name="connsiteY0" fmla="*/ 9743 h 9743"/>
              <a:gd name="connsiteX1" fmla="*/ 0 w 11432"/>
              <a:gd name="connsiteY1" fmla="*/ 0 h 9743"/>
              <a:gd name="connsiteX0" fmla="*/ 13351 w 13351"/>
              <a:gd name="connsiteY0" fmla="*/ 761 h 3742"/>
              <a:gd name="connsiteX1" fmla="*/ 0 w 13351"/>
              <a:gd name="connsiteY1" fmla="*/ 2981 h 3742"/>
              <a:gd name="connsiteX0" fmla="*/ 10000 w 10000"/>
              <a:gd name="connsiteY0" fmla="*/ 0 h 5932"/>
              <a:gd name="connsiteX1" fmla="*/ 0 w 10000"/>
              <a:gd name="connsiteY1" fmla="*/ 5932 h 5932"/>
              <a:gd name="connsiteX0" fmla="*/ 19832 w 19832"/>
              <a:gd name="connsiteY0" fmla="*/ 0 h 32365"/>
              <a:gd name="connsiteX1" fmla="*/ 0 w 19832"/>
              <a:gd name="connsiteY1" fmla="*/ 32365 h 32365"/>
              <a:gd name="connsiteX0" fmla="*/ 19588 w 19588"/>
              <a:gd name="connsiteY0" fmla="*/ 0 h 34331"/>
              <a:gd name="connsiteX1" fmla="*/ 0 w 19588"/>
              <a:gd name="connsiteY1" fmla="*/ 34331 h 34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8" h="34331">
                <a:moveTo>
                  <a:pt x="19588" y="0"/>
                </a:moveTo>
                <a:lnTo>
                  <a:pt x="0" y="34331"/>
                </a:lnTo>
              </a:path>
            </a:pathLst>
          </a:custGeom>
          <a:noFill/>
          <a:ln w="19050">
            <a:solidFill>
              <a:srgbClr val="993366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6" name="Text Box 50"/>
          <p:cNvSpPr txBox="1">
            <a:spLocks noChangeArrowheads="1"/>
          </p:cNvSpPr>
          <p:nvPr/>
        </p:nvSpPr>
        <p:spPr bwMode="auto">
          <a:xfrm>
            <a:off x="3844352" y="4398930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A</a:t>
            </a:r>
            <a:r>
              <a:rPr lang="es-ES_tradnl" dirty="0">
                <a:latin typeface="Times New Roman" pitchFamily="18" charset="0"/>
              </a:rPr>
              <a:t>’</a:t>
            </a:r>
          </a:p>
        </p:txBody>
      </p:sp>
      <p:sp>
        <p:nvSpPr>
          <p:cNvPr id="77" name="Text Box 9"/>
          <p:cNvSpPr txBox="1">
            <a:spLocks noChangeArrowheads="1"/>
          </p:cNvSpPr>
          <p:nvPr/>
        </p:nvSpPr>
        <p:spPr bwMode="auto">
          <a:xfrm>
            <a:off x="3239760" y="4430440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F</a:t>
            </a:r>
          </a:p>
        </p:txBody>
      </p:sp>
      <p:sp>
        <p:nvSpPr>
          <p:cNvPr id="79" name="Text Box 9"/>
          <p:cNvSpPr txBox="1">
            <a:spLocks noChangeArrowheads="1"/>
          </p:cNvSpPr>
          <p:nvPr/>
        </p:nvSpPr>
        <p:spPr bwMode="auto">
          <a:xfrm>
            <a:off x="4559010" y="406702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V</a:t>
            </a:r>
          </a:p>
        </p:txBody>
      </p:sp>
      <p:sp>
        <p:nvSpPr>
          <p:cNvPr id="80" name="Line 53"/>
          <p:cNvSpPr>
            <a:spLocks noChangeShapeType="1"/>
          </p:cNvSpPr>
          <p:nvPr/>
        </p:nvSpPr>
        <p:spPr bwMode="auto">
          <a:xfrm flipV="1">
            <a:off x="4031602" y="4136341"/>
            <a:ext cx="0" cy="28800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 type="none"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1" name="Freeform 11"/>
          <p:cNvSpPr>
            <a:spLocks/>
          </p:cNvSpPr>
          <p:nvPr/>
        </p:nvSpPr>
        <p:spPr bwMode="auto">
          <a:xfrm rot="18474721">
            <a:off x="1792676" y="3849040"/>
            <a:ext cx="2716122" cy="1393088"/>
          </a:xfrm>
          <a:custGeom>
            <a:avLst/>
            <a:gdLst>
              <a:gd name="connsiteX0" fmla="*/ 15013 w 15013"/>
              <a:gd name="connsiteY0" fmla="*/ 15153 h 15153"/>
              <a:gd name="connsiteX1" fmla="*/ 0 w 15013"/>
              <a:gd name="connsiteY1" fmla="*/ 0 h 15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013" h="15153">
                <a:moveTo>
                  <a:pt x="15013" y="15153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2" name="Oval 47"/>
          <p:cNvSpPr>
            <a:spLocks noChangeArrowheads="1"/>
          </p:cNvSpPr>
          <p:nvPr/>
        </p:nvSpPr>
        <p:spPr bwMode="auto">
          <a:xfrm>
            <a:off x="3388373" y="4394077"/>
            <a:ext cx="59040" cy="7143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83" name="Line 53"/>
          <p:cNvSpPr>
            <a:spLocks noChangeShapeType="1"/>
          </p:cNvSpPr>
          <p:nvPr/>
        </p:nvSpPr>
        <p:spPr bwMode="auto">
          <a:xfrm flipV="1">
            <a:off x="5478024" y="3894604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6" name="22 CuadroTexto"/>
          <p:cNvSpPr txBox="1">
            <a:spLocks noChangeArrowheads="1"/>
          </p:cNvSpPr>
          <p:nvPr/>
        </p:nvSpPr>
        <p:spPr bwMode="auto">
          <a:xfrm>
            <a:off x="2396123" y="4114390"/>
            <a:ext cx="37221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200" dirty="0">
                <a:solidFill>
                  <a:srgbClr val="00CCFF"/>
                </a:solidFill>
              </a:rPr>
              <a:t>(3)</a:t>
            </a:r>
          </a:p>
        </p:txBody>
      </p:sp>
      <p:sp>
        <p:nvSpPr>
          <p:cNvPr id="87" name="Text Box 50"/>
          <p:cNvSpPr txBox="1">
            <a:spLocks noChangeArrowheads="1"/>
          </p:cNvSpPr>
          <p:nvPr/>
        </p:nvSpPr>
        <p:spPr bwMode="auto">
          <a:xfrm>
            <a:off x="3875443" y="3817375"/>
            <a:ext cx="36368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B</a:t>
            </a:r>
            <a:r>
              <a:rPr lang="es-ES_tradnl" dirty="0">
                <a:latin typeface="Times New Roman" pitchFamily="18" charset="0"/>
              </a:rPr>
              <a:t>’</a:t>
            </a:r>
          </a:p>
        </p:txBody>
      </p:sp>
      <p:cxnSp>
        <p:nvCxnSpPr>
          <p:cNvPr id="53" name="Conector recto de flecha 52"/>
          <p:cNvCxnSpPr>
            <a:cxnSpLocks noChangeAspect="1"/>
          </p:cNvCxnSpPr>
          <p:nvPr/>
        </p:nvCxnSpPr>
        <p:spPr>
          <a:xfrm flipH="1">
            <a:off x="1043608" y="4049870"/>
            <a:ext cx="3507412" cy="561760"/>
          </a:xfrm>
          <a:prstGeom prst="straightConnector1">
            <a:avLst/>
          </a:prstGeom>
          <a:ln w="19050">
            <a:solidFill>
              <a:srgbClr val="00C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 Box 9"/>
          <p:cNvSpPr txBox="1">
            <a:spLocks noChangeArrowheads="1"/>
          </p:cNvSpPr>
          <p:nvPr/>
        </p:nvSpPr>
        <p:spPr bwMode="auto">
          <a:xfrm>
            <a:off x="1979712" y="4077072"/>
            <a:ext cx="396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C </a:t>
            </a:r>
          </a:p>
        </p:txBody>
      </p:sp>
      <p:sp>
        <p:nvSpPr>
          <p:cNvPr id="75" name="Oval 47"/>
          <p:cNvSpPr>
            <a:spLocks noChangeArrowheads="1"/>
          </p:cNvSpPr>
          <p:nvPr/>
        </p:nvSpPr>
        <p:spPr bwMode="auto">
          <a:xfrm>
            <a:off x="2214912" y="4379288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10" name="33 CuadroTexto"/>
          <p:cNvSpPr txBox="1"/>
          <p:nvPr/>
        </p:nvSpPr>
        <p:spPr>
          <a:xfrm>
            <a:off x="160521" y="2780928"/>
            <a:ext cx="3614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+mn-lt"/>
                <a:cs typeface="Times New Roman" pitchFamily="18" charset="0"/>
                <a:sym typeface="Symbol"/>
              </a:rPr>
              <a:t>Imagen virtual, mayor, derecha, entre </a:t>
            </a:r>
            <a:r>
              <a:rPr lang="es-ES" sz="1400" i="1" dirty="0"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s-ES" sz="1400" dirty="0">
                <a:latin typeface="+mn-lt"/>
                <a:cs typeface="Times New Roman" pitchFamily="18" charset="0"/>
                <a:sym typeface="Symbol"/>
              </a:rPr>
              <a:t> y </a:t>
            </a:r>
            <a:r>
              <a:rPr lang="es-ES" sz="1400" dirty="0">
                <a:latin typeface="Times New Roman" pitchFamily="18" charset="0"/>
                <a:cs typeface="Times New Roman" pitchFamily="18" charset="0"/>
                <a:sym typeface="Symbol"/>
              </a:rPr>
              <a:t>∞</a:t>
            </a:r>
            <a:endParaRPr lang="es-E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3" name="61 CuadroTexto"/>
          <p:cNvSpPr txBox="1"/>
          <p:nvPr/>
        </p:nvSpPr>
        <p:spPr>
          <a:xfrm>
            <a:off x="82167" y="5641503"/>
            <a:ext cx="3425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+mn-lt"/>
                <a:cs typeface="Times New Roman" pitchFamily="18" charset="0"/>
                <a:sym typeface="Symbol"/>
              </a:rPr>
              <a:t>Imagen real, menor, derecha, entre </a:t>
            </a:r>
            <a:r>
              <a:rPr lang="es-ES" sz="1400" i="1" dirty="0">
                <a:latin typeface="Times New Roman" pitchFamily="18" charset="0"/>
                <a:cs typeface="Times New Roman" pitchFamily="18" charset="0"/>
                <a:sym typeface="Symbol"/>
              </a:rPr>
              <a:t>F </a:t>
            </a:r>
            <a:r>
              <a:rPr lang="es-ES" sz="1400" dirty="0">
                <a:latin typeface="Times New Roman" pitchFamily="18" charset="0"/>
                <a:cs typeface="Times New Roman" pitchFamily="18" charset="0"/>
                <a:sym typeface="Symbol"/>
              </a:rPr>
              <a:t>y</a:t>
            </a:r>
            <a:r>
              <a:rPr lang="es-ES" sz="1400" i="1" dirty="0">
                <a:latin typeface="Times New Roman" pitchFamily="18" charset="0"/>
                <a:cs typeface="Times New Roman" pitchFamily="18" charset="0"/>
                <a:sym typeface="Symbol"/>
              </a:rPr>
              <a:t> V</a:t>
            </a:r>
            <a:endParaRPr lang="es-E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5" name="Text Box 67"/>
          <p:cNvSpPr txBox="1">
            <a:spLocks noChangeArrowheads="1"/>
          </p:cNvSpPr>
          <p:nvPr/>
        </p:nvSpPr>
        <p:spPr bwMode="auto">
          <a:xfrm>
            <a:off x="8675688" y="6564313"/>
            <a:ext cx="35458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18</a:t>
            </a:r>
          </a:p>
        </p:txBody>
      </p:sp>
      <p:sp>
        <p:nvSpPr>
          <p:cNvPr id="96" name="Line 48"/>
          <p:cNvSpPr>
            <a:spLocks noChangeShapeType="1"/>
          </p:cNvSpPr>
          <p:nvPr/>
        </p:nvSpPr>
        <p:spPr bwMode="auto">
          <a:xfrm>
            <a:off x="4886014" y="799675"/>
            <a:ext cx="2988000" cy="0"/>
          </a:xfrm>
          <a:prstGeom prst="line">
            <a:avLst/>
          </a:prstGeom>
          <a:noFill/>
          <a:ln w="25400">
            <a:solidFill>
              <a:srgbClr val="993366"/>
            </a:solidFill>
            <a:prstDash val="dashDot"/>
            <a:round/>
            <a:headEnd type="none" w="lg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7" name="Freeform 25"/>
          <p:cNvSpPr>
            <a:spLocks noChangeAspect="1"/>
          </p:cNvSpPr>
          <p:nvPr/>
        </p:nvSpPr>
        <p:spPr bwMode="auto">
          <a:xfrm>
            <a:off x="4897430" y="667465"/>
            <a:ext cx="1150594" cy="541931"/>
          </a:xfrm>
          <a:custGeom>
            <a:avLst/>
            <a:gdLst/>
            <a:ahLst/>
            <a:cxnLst>
              <a:cxn ang="0">
                <a:pos x="1797" y="0"/>
              </a:cxn>
              <a:cxn ang="0">
                <a:pos x="0" y="1362"/>
              </a:cxn>
            </a:cxnLst>
            <a:rect l="0" t="0" r="r" b="b"/>
            <a:pathLst>
              <a:path w="1797" h="1362">
                <a:moveTo>
                  <a:pt x="1797" y="0"/>
                </a:moveTo>
                <a:lnTo>
                  <a:pt x="0" y="1362"/>
                </a:lnTo>
              </a:path>
            </a:pathLst>
          </a:custGeom>
          <a:noFill/>
          <a:ln w="19050">
            <a:solidFill>
              <a:srgbClr val="0000FF"/>
            </a:solidFill>
            <a:prstDash val="dashDot"/>
            <a:round/>
            <a:headEnd type="none" w="med" len="med"/>
            <a:tailEnd type="non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0" name="Line 57"/>
          <p:cNvSpPr>
            <a:spLocks noChangeAspect="1" noChangeShapeType="1"/>
          </p:cNvSpPr>
          <p:nvPr/>
        </p:nvSpPr>
        <p:spPr bwMode="auto">
          <a:xfrm flipV="1">
            <a:off x="4928210" y="665761"/>
            <a:ext cx="1362852" cy="397831"/>
          </a:xfrm>
          <a:prstGeom prst="line">
            <a:avLst/>
          </a:prstGeom>
          <a:noFill/>
          <a:ln w="25400">
            <a:solidFill>
              <a:srgbClr val="00CCFF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3" name="Freeform 11"/>
          <p:cNvSpPr>
            <a:spLocks noChangeAspect="1"/>
          </p:cNvSpPr>
          <p:nvPr/>
        </p:nvSpPr>
        <p:spPr bwMode="auto">
          <a:xfrm flipV="1">
            <a:off x="3837507" y="1219386"/>
            <a:ext cx="583001" cy="503463"/>
          </a:xfrm>
          <a:custGeom>
            <a:avLst/>
            <a:gdLst/>
            <a:ahLst/>
            <a:cxnLst>
              <a:cxn ang="0">
                <a:pos x="2880" y="874"/>
              </a:cxn>
              <a:cxn ang="0">
                <a:pos x="0" y="0"/>
              </a:cxn>
            </a:cxnLst>
            <a:rect l="0" t="0" r="r" b="b"/>
            <a:pathLst>
              <a:path w="2880" h="874">
                <a:moveTo>
                  <a:pt x="2880" y="874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933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7" name="Freeform 11"/>
          <p:cNvSpPr>
            <a:spLocks noChangeAspect="1"/>
          </p:cNvSpPr>
          <p:nvPr/>
        </p:nvSpPr>
        <p:spPr bwMode="auto">
          <a:xfrm flipV="1">
            <a:off x="4411424" y="805740"/>
            <a:ext cx="484135" cy="418085"/>
          </a:xfrm>
          <a:custGeom>
            <a:avLst/>
            <a:gdLst/>
            <a:ahLst/>
            <a:cxnLst>
              <a:cxn ang="0">
                <a:pos x="2880" y="874"/>
              </a:cxn>
              <a:cxn ang="0">
                <a:pos x="0" y="0"/>
              </a:cxn>
            </a:cxnLst>
            <a:rect l="0" t="0" r="r" b="b"/>
            <a:pathLst>
              <a:path w="2880" h="874">
                <a:moveTo>
                  <a:pt x="2880" y="874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93366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6" name="Text Box 49"/>
          <p:cNvSpPr txBox="1">
            <a:spLocks noChangeArrowheads="1"/>
          </p:cNvSpPr>
          <p:nvPr/>
        </p:nvSpPr>
        <p:spPr bwMode="auto">
          <a:xfrm>
            <a:off x="4211960" y="1681491"/>
            <a:ext cx="3257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A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5318776" y="2174417"/>
            <a:ext cx="2401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/>
              <a:t>Los rayos reflejados se separan,</a:t>
            </a:r>
          </a:p>
          <a:p>
            <a:r>
              <a:rPr lang="es-AR" sz="1200" dirty="0"/>
              <a:t>se cortan sus prolongaciones</a:t>
            </a:r>
            <a:endParaRPr lang="en-US" sz="1200" dirty="0"/>
          </a:p>
        </p:txBody>
      </p:sp>
      <p:sp>
        <p:nvSpPr>
          <p:cNvPr id="117" name="Line 47"/>
          <p:cNvSpPr>
            <a:spLocks noChangeShapeType="1"/>
          </p:cNvSpPr>
          <p:nvPr/>
        </p:nvSpPr>
        <p:spPr bwMode="auto">
          <a:xfrm flipV="1">
            <a:off x="4536208" y="3894604"/>
            <a:ext cx="1908000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8" name="Freeform 11"/>
          <p:cNvSpPr>
            <a:spLocks noChangeAspect="1"/>
          </p:cNvSpPr>
          <p:nvPr/>
        </p:nvSpPr>
        <p:spPr bwMode="auto">
          <a:xfrm>
            <a:off x="4521405" y="3627160"/>
            <a:ext cx="2048964" cy="509429"/>
          </a:xfrm>
          <a:custGeom>
            <a:avLst/>
            <a:gdLst>
              <a:gd name="connsiteX0" fmla="*/ 7944 w 7944"/>
              <a:gd name="connsiteY0" fmla="*/ 8999 h 8999"/>
              <a:gd name="connsiteX1" fmla="*/ 0 w 7944"/>
              <a:gd name="connsiteY1" fmla="*/ 0 h 8999"/>
              <a:gd name="connsiteX0" fmla="*/ 10066 w 10066"/>
              <a:gd name="connsiteY0" fmla="*/ 11171 h 11171"/>
              <a:gd name="connsiteX1" fmla="*/ 0 w 10066"/>
              <a:gd name="connsiteY1" fmla="*/ 0 h 11171"/>
              <a:gd name="connsiteX0" fmla="*/ 9734 w 9734"/>
              <a:gd name="connsiteY0" fmla="*/ 10878 h 10878"/>
              <a:gd name="connsiteX1" fmla="*/ 0 w 9734"/>
              <a:gd name="connsiteY1" fmla="*/ 0 h 10878"/>
              <a:gd name="connsiteX0" fmla="*/ 10000 w 10000"/>
              <a:gd name="connsiteY0" fmla="*/ 10000 h 10000"/>
              <a:gd name="connsiteX1" fmla="*/ 0 w 10000"/>
              <a:gd name="connsiteY1" fmla="*/ 0 h 10000"/>
              <a:gd name="connsiteX0" fmla="*/ 10000 w 10000"/>
              <a:gd name="connsiteY0" fmla="*/ 10000 h 10000"/>
              <a:gd name="connsiteX1" fmla="*/ 0 w 10000"/>
              <a:gd name="connsiteY1" fmla="*/ 0 h 10000"/>
              <a:gd name="connsiteX0" fmla="*/ 10477 w 10477"/>
              <a:gd name="connsiteY0" fmla="*/ 10323 h 10323"/>
              <a:gd name="connsiteX1" fmla="*/ 0 w 10477"/>
              <a:gd name="connsiteY1" fmla="*/ 0 h 10323"/>
              <a:gd name="connsiteX0" fmla="*/ 10477 w 10477"/>
              <a:gd name="connsiteY0" fmla="*/ 10161 h 10161"/>
              <a:gd name="connsiteX1" fmla="*/ 0 w 10477"/>
              <a:gd name="connsiteY1" fmla="*/ 0 h 10161"/>
              <a:gd name="connsiteX0" fmla="*/ 10341 w 10341"/>
              <a:gd name="connsiteY0" fmla="*/ 10161 h 10161"/>
              <a:gd name="connsiteX1" fmla="*/ 0 w 10341"/>
              <a:gd name="connsiteY1" fmla="*/ 0 h 10161"/>
              <a:gd name="connsiteX0" fmla="*/ 9284 w 9284"/>
              <a:gd name="connsiteY0" fmla="*/ 14684 h 14684"/>
              <a:gd name="connsiteX1" fmla="*/ 0 w 9284"/>
              <a:gd name="connsiteY1" fmla="*/ 0 h 14684"/>
              <a:gd name="connsiteX0" fmla="*/ 10000 w 10000"/>
              <a:gd name="connsiteY0" fmla="*/ 10000 h 10000"/>
              <a:gd name="connsiteX1" fmla="*/ 7832 w 10000"/>
              <a:gd name="connsiteY1" fmla="*/ 8355 h 10000"/>
              <a:gd name="connsiteX2" fmla="*/ 0 w 10000"/>
              <a:gd name="connsiteY2" fmla="*/ 0 h 10000"/>
              <a:gd name="connsiteX0" fmla="*/ 10000 w 10000"/>
              <a:gd name="connsiteY0" fmla="*/ 10000 h 10000"/>
              <a:gd name="connsiteX1" fmla="*/ 0 w 10000"/>
              <a:gd name="connsiteY1" fmla="*/ 0 h 10000"/>
              <a:gd name="connsiteX0" fmla="*/ 11432 w 11432"/>
              <a:gd name="connsiteY0" fmla="*/ 9743 h 9743"/>
              <a:gd name="connsiteX1" fmla="*/ 0 w 11432"/>
              <a:gd name="connsiteY1" fmla="*/ 0 h 9743"/>
              <a:gd name="connsiteX0" fmla="*/ 13351 w 13351"/>
              <a:gd name="connsiteY0" fmla="*/ 761 h 3742"/>
              <a:gd name="connsiteX1" fmla="*/ 0 w 13351"/>
              <a:gd name="connsiteY1" fmla="*/ 2981 h 3742"/>
              <a:gd name="connsiteX0" fmla="*/ 10000 w 10000"/>
              <a:gd name="connsiteY0" fmla="*/ 0 h 5932"/>
              <a:gd name="connsiteX1" fmla="*/ 0 w 10000"/>
              <a:gd name="connsiteY1" fmla="*/ 5932 h 5932"/>
              <a:gd name="connsiteX0" fmla="*/ 19832 w 19832"/>
              <a:gd name="connsiteY0" fmla="*/ 0 h 32365"/>
              <a:gd name="connsiteX1" fmla="*/ 0 w 19832"/>
              <a:gd name="connsiteY1" fmla="*/ 32365 h 32365"/>
              <a:gd name="connsiteX0" fmla="*/ 19588 w 19588"/>
              <a:gd name="connsiteY0" fmla="*/ 0 h 34331"/>
              <a:gd name="connsiteX1" fmla="*/ 0 w 19588"/>
              <a:gd name="connsiteY1" fmla="*/ 34331 h 34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88" h="34331">
                <a:moveTo>
                  <a:pt x="19588" y="0"/>
                </a:moveTo>
                <a:lnTo>
                  <a:pt x="0" y="34331"/>
                </a:lnTo>
              </a:path>
            </a:pathLst>
          </a:custGeom>
          <a:noFill/>
          <a:ln w="19050">
            <a:solidFill>
              <a:srgbClr val="9933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cxnSp>
        <p:nvCxnSpPr>
          <p:cNvPr id="119" name="Conector recto de flecha 118"/>
          <p:cNvCxnSpPr>
            <a:cxnSpLocks noChangeAspect="1"/>
          </p:cNvCxnSpPr>
          <p:nvPr/>
        </p:nvCxnSpPr>
        <p:spPr>
          <a:xfrm flipH="1">
            <a:off x="4497323" y="3795056"/>
            <a:ext cx="1607759" cy="257504"/>
          </a:xfrm>
          <a:prstGeom prst="straightConnector1">
            <a:avLst/>
          </a:prstGeom>
          <a:ln w="19050">
            <a:solidFill>
              <a:srgbClr val="00CCFF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 Box 50"/>
          <p:cNvSpPr txBox="1">
            <a:spLocks noChangeArrowheads="1"/>
          </p:cNvSpPr>
          <p:nvPr/>
        </p:nvSpPr>
        <p:spPr bwMode="auto">
          <a:xfrm>
            <a:off x="5294182" y="4430440"/>
            <a:ext cx="3257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A</a:t>
            </a:r>
            <a:endParaRPr lang="es-ES_tradnl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40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500"/>
                            </p:stCondLst>
                            <p:childTnLst>
                              <p:par>
                                <p:cTn id="1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000"/>
                            </p:stCondLst>
                            <p:childTnLst>
                              <p:par>
                                <p:cTn id="1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500"/>
                            </p:stCondLst>
                            <p:childTnLst>
                              <p:par>
                                <p:cTn id="1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7" grpId="0" animBg="1"/>
      <p:bldP spid="28" grpId="0"/>
      <p:bldP spid="29" grpId="0"/>
      <p:bldP spid="68" grpId="0" animBg="1"/>
      <p:bldP spid="69" grpId="0" animBg="1"/>
      <p:bldP spid="71" grpId="0"/>
      <p:bldP spid="72" grpId="0"/>
      <p:bldP spid="73" grpId="0" animBg="1"/>
      <p:bldP spid="76" grpId="0"/>
      <p:bldP spid="80" grpId="0" animBg="1"/>
      <p:bldP spid="81" grpId="0" animBg="1"/>
      <p:bldP spid="86" grpId="0"/>
      <p:bldP spid="87" grpId="0"/>
      <p:bldP spid="110" grpId="0"/>
      <p:bldP spid="96" grpId="0" animBg="1"/>
      <p:bldP spid="97" grpId="0" animBg="1"/>
      <p:bldP spid="100" grpId="0" animBg="1"/>
      <p:bldP spid="103" grpId="0" animBg="1"/>
      <p:bldP spid="107" grpId="0" animBg="1"/>
      <p:bldP spid="6" grpId="0"/>
      <p:bldP spid="117" grpId="0" animBg="1"/>
      <p:bldP spid="1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285720" y="142852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Imágenes en Espejos Convexos</a:t>
            </a:r>
          </a:p>
        </p:txBody>
      </p:sp>
      <p:sp>
        <p:nvSpPr>
          <p:cNvPr id="3" name="Freeform 2" descr="Diagonal hacia arriba ancha"/>
          <p:cNvSpPr>
            <a:spLocks/>
          </p:cNvSpPr>
          <p:nvPr/>
        </p:nvSpPr>
        <p:spPr bwMode="auto">
          <a:xfrm rot="10800000">
            <a:off x="4453647" y="444621"/>
            <a:ext cx="755650" cy="2520000"/>
          </a:xfrm>
          <a:custGeom>
            <a:avLst/>
            <a:gdLst/>
            <a:ahLst/>
            <a:cxnLst>
              <a:cxn ang="0">
                <a:pos x="462" y="41"/>
              </a:cxn>
              <a:cxn ang="0">
                <a:pos x="354" y="0"/>
              </a:cxn>
              <a:cxn ang="0">
                <a:pos x="126" y="10"/>
              </a:cxn>
              <a:cxn ang="0">
                <a:pos x="228" y="64"/>
              </a:cxn>
              <a:cxn ang="0">
                <a:pos x="296" y="193"/>
              </a:cxn>
              <a:cxn ang="0">
                <a:pos x="312" y="1179"/>
              </a:cxn>
              <a:cxn ang="0">
                <a:pos x="312" y="1406"/>
              </a:cxn>
              <a:cxn ang="0">
                <a:pos x="304" y="1602"/>
              </a:cxn>
              <a:cxn ang="0">
                <a:pos x="296" y="2558"/>
              </a:cxn>
              <a:cxn ang="0">
                <a:pos x="269" y="2666"/>
              </a:cxn>
              <a:cxn ang="0">
                <a:pos x="126" y="2747"/>
              </a:cxn>
              <a:cxn ang="0">
                <a:pos x="320" y="2738"/>
              </a:cxn>
              <a:cxn ang="0">
                <a:pos x="408" y="2656"/>
              </a:cxn>
              <a:cxn ang="0">
                <a:pos x="476" y="2480"/>
              </a:cxn>
              <a:cxn ang="0">
                <a:pos x="476" y="1416"/>
              </a:cxn>
              <a:cxn ang="0">
                <a:pos x="462" y="41"/>
              </a:cxn>
            </a:cxnLst>
            <a:rect l="0" t="0" r="r" b="b"/>
            <a:pathLst>
              <a:path w="476" h="2753">
                <a:moveTo>
                  <a:pt x="462" y="41"/>
                </a:moveTo>
                <a:lnTo>
                  <a:pt x="354" y="0"/>
                </a:lnTo>
                <a:lnTo>
                  <a:pt x="126" y="10"/>
                </a:lnTo>
                <a:lnTo>
                  <a:pt x="228" y="64"/>
                </a:lnTo>
                <a:lnTo>
                  <a:pt x="296" y="193"/>
                </a:lnTo>
                <a:lnTo>
                  <a:pt x="312" y="1179"/>
                </a:lnTo>
                <a:lnTo>
                  <a:pt x="312" y="1406"/>
                </a:lnTo>
                <a:lnTo>
                  <a:pt x="304" y="1602"/>
                </a:lnTo>
                <a:lnTo>
                  <a:pt x="296" y="2558"/>
                </a:lnTo>
                <a:lnTo>
                  <a:pt x="269" y="2666"/>
                </a:lnTo>
                <a:cubicBezTo>
                  <a:pt x="241" y="2697"/>
                  <a:pt x="117" y="2735"/>
                  <a:pt x="126" y="2747"/>
                </a:cubicBezTo>
                <a:cubicBezTo>
                  <a:pt x="0" y="2751"/>
                  <a:pt x="273" y="2753"/>
                  <a:pt x="320" y="2738"/>
                </a:cubicBezTo>
                <a:lnTo>
                  <a:pt x="408" y="2656"/>
                </a:lnTo>
                <a:cubicBezTo>
                  <a:pt x="434" y="2613"/>
                  <a:pt x="465" y="2687"/>
                  <a:pt x="476" y="2480"/>
                </a:cubicBezTo>
                <a:lnTo>
                  <a:pt x="476" y="1416"/>
                </a:lnTo>
                <a:lnTo>
                  <a:pt x="462" y="41"/>
                </a:lnTo>
                <a:close/>
              </a:path>
            </a:pathLst>
          </a:custGeom>
          <a:pattFill prst="wdUpDiag">
            <a:fgClr>
              <a:srgbClr val="C0C0C0">
                <a:alpha val="57001"/>
              </a:srgbClr>
            </a:fgClr>
            <a:bgClr>
              <a:schemeClr val="bg1">
                <a:alpha val="57001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1906548" y="1653378"/>
            <a:ext cx="4680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115616" y="3403071"/>
            <a:ext cx="2568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>
                <a:latin typeface="Tahoma" pitchFamily="34" charset="0"/>
              </a:rPr>
              <a:t> </a:t>
            </a:r>
            <a:endParaRPr lang="es-ES_tradnl" i="1" dirty="0">
              <a:latin typeface="Times New Roman" pitchFamily="18" charset="0"/>
            </a:endParaRPr>
          </a:p>
        </p:txBody>
      </p:sp>
      <p:sp>
        <p:nvSpPr>
          <p:cNvPr id="7" name="Freeform 25"/>
          <p:cNvSpPr>
            <a:spLocks noChangeAspect="1"/>
          </p:cNvSpPr>
          <p:nvPr/>
        </p:nvSpPr>
        <p:spPr bwMode="auto">
          <a:xfrm>
            <a:off x="4464637" y="1159613"/>
            <a:ext cx="1384952" cy="817420"/>
          </a:xfrm>
          <a:custGeom>
            <a:avLst/>
            <a:gdLst>
              <a:gd name="connsiteX0" fmla="*/ 3875 w 3875"/>
              <a:gd name="connsiteY0" fmla="*/ 0 h 9951"/>
              <a:gd name="connsiteX1" fmla="*/ 0 w 3875"/>
              <a:gd name="connsiteY1" fmla="*/ 9951 h 9951"/>
              <a:gd name="connsiteX0" fmla="*/ 1308 w 22393"/>
              <a:gd name="connsiteY0" fmla="*/ 0 h 8434"/>
              <a:gd name="connsiteX1" fmla="*/ 21086 w 22393"/>
              <a:gd name="connsiteY1" fmla="*/ 8434 h 8434"/>
              <a:gd name="connsiteX0" fmla="*/ 0 w 8832"/>
              <a:gd name="connsiteY0" fmla="*/ 0 h 10000"/>
              <a:gd name="connsiteX1" fmla="*/ 8832 w 8832"/>
              <a:gd name="connsiteY1" fmla="*/ 10000 h 10000"/>
              <a:gd name="connsiteX0" fmla="*/ 0 w 9551"/>
              <a:gd name="connsiteY0" fmla="*/ 0 h 10929"/>
              <a:gd name="connsiteX1" fmla="*/ 9551 w 9551"/>
              <a:gd name="connsiteY1" fmla="*/ 10929 h 10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51" h="10929">
                <a:moveTo>
                  <a:pt x="0" y="0"/>
                </a:moveTo>
                <a:lnTo>
                  <a:pt x="9551" y="10929"/>
                </a:lnTo>
              </a:path>
            </a:pathLst>
          </a:custGeom>
          <a:noFill/>
          <a:ln w="19050">
            <a:solidFill>
              <a:srgbClr val="0000FF"/>
            </a:solidFill>
            <a:prstDash val="dash"/>
            <a:round/>
            <a:headEnd type="none" w="med" len="med"/>
            <a:tailEnd type="non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" name="AutoShape 30"/>
          <p:cNvSpPr>
            <a:spLocks/>
          </p:cNvSpPr>
          <p:nvPr/>
        </p:nvSpPr>
        <p:spPr bwMode="auto">
          <a:xfrm rot="10800000" flipH="1">
            <a:off x="4437630" y="404664"/>
            <a:ext cx="360363" cy="2520000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9" name="Line 47"/>
          <p:cNvSpPr>
            <a:spLocks noChangeShapeType="1"/>
          </p:cNvSpPr>
          <p:nvPr/>
        </p:nvSpPr>
        <p:spPr bwMode="auto">
          <a:xfrm>
            <a:off x="2549490" y="1153312"/>
            <a:ext cx="18720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" name="Line 48"/>
          <p:cNvSpPr>
            <a:spLocks noChangeShapeType="1"/>
          </p:cNvSpPr>
          <p:nvPr/>
        </p:nvSpPr>
        <p:spPr bwMode="auto">
          <a:xfrm>
            <a:off x="1843471" y="1508208"/>
            <a:ext cx="25920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triangle" w="lg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" name="Line 53"/>
          <p:cNvSpPr>
            <a:spLocks noChangeShapeType="1"/>
          </p:cNvSpPr>
          <p:nvPr/>
        </p:nvSpPr>
        <p:spPr bwMode="auto">
          <a:xfrm flipV="1">
            <a:off x="2558906" y="1129150"/>
            <a:ext cx="0" cy="53427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3" name="Text Box 54"/>
          <p:cNvSpPr txBox="1">
            <a:spLocks noChangeArrowheads="1"/>
          </p:cNvSpPr>
          <p:nvPr/>
        </p:nvSpPr>
        <p:spPr bwMode="auto">
          <a:xfrm>
            <a:off x="2406614" y="1636499"/>
            <a:ext cx="171641" cy="194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A</a:t>
            </a:r>
          </a:p>
        </p:txBody>
      </p:sp>
      <p:sp>
        <p:nvSpPr>
          <p:cNvPr id="14" name="Text Box 55"/>
          <p:cNvSpPr txBox="1">
            <a:spLocks noChangeArrowheads="1"/>
          </p:cNvSpPr>
          <p:nvPr/>
        </p:nvSpPr>
        <p:spPr bwMode="auto">
          <a:xfrm>
            <a:off x="2421522" y="796122"/>
            <a:ext cx="199406" cy="194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B</a:t>
            </a:r>
          </a:p>
        </p:txBody>
      </p:sp>
      <p:sp>
        <p:nvSpPr>
          <p:cNvPr id="16" name="Line 57"/>
          <p:cNvSpPr>
            <a:spLocks noChangeAspect="1" noChangeShapeType="1"/>
          </p:cNvSpPr>
          <p:nvPr/>
        </p:nvSpPr>
        <p:spPr bwMode="auto">
          <a:xfrm>
            <a:off x="2549489" y="1159576"/>
            <a:ext cx="1910774" cy="27383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8" name="17 CuadroTexto"/>
          <p:cNvSpPr txBox="1">
            <a:spLocks noChangeArrowheads="1"/>
          </p:cNvSpPr>
          <p:nvPr/>
        </p:nvSpPr>
        <p:spPr bwMode="auto">
          <a:xfrm>
            <a:off x="923719" y="5913186"/>
            <a:ext cx="77444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 dirty="0">
                <a:solidFill>
                  <a:srgbClr val="0000FF"/>
                </a:solidFill>
              </a:rPr>
              <a:t>(1) Incidente: dirección paralela al eje principal. Reflejado: dirección que pasa por foco principal</a:t>
            </a:r>
          </a:p>
        </p:txBody>
      </p:sp>
      <p:sp>
        <p:nvSpPr>
          <p:cNvPr id="19" name="18 CuadroTexto"/>
          <p:cNvSpPr txBox="1">
            <a:spLocks noChangeArrowheads="1"/>
          </p:cNvSpPr>
          <p:nvPr/>
        </p:nvSpPr>
        <p:spPr bwMode="auto">
          <a:xfrm>
            <a:off x="923719" y="6176711"/>
            <a:ext cx="758573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 dirty="0">
                <a:solidFill>
                  <a:srgbClr val="A50021"/>
                </a:solidFill>
              </a:rPr>
              <a:t>(2) Incidente: dirección pasa por el foco principal. Reflejado: dirección paralela al eje principal</a:t>
            </a:r>
          </a:p>
        </p:txBody>
      </p:sp>
      <p:sp>
        <p:nvSpPr>
          <p:cNvPr id="20" name="19 CuadroTexto"/>
          <p:cNvSpPr txBox="1">
            <a:spLocks noChangeArrowheads="1"/>
          </p:cNvSpPr>
          <p:nvPr/>
        </p:nvSpPr>
        <p:spPr bwMode="auto">
          <a:xfrm>
            <a:off x="2990960" y="760992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21" name="20 CuadroTexto"/>
          <p:cNvSpPr txBox="1">
            <a:spLocks noChangeArrowheads="1"/>
          </p:cNvSpPr>
          <p:nvPr/>
        </p:nvSpPr>
        <p:spPr bwMode="auto">
          <a:xfrm>
            <a:off x="2808551" y="1198006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22" name="21 CuadroTexto"/>
          <p:cNvSpPr txBox="1">
            <a:spLocks noChangeArrowheads="1"/>
          </p:cNvSpPr>
          <p:nvPr/>
        </p:nvSpPr>
        <p:spPr bwMode="auto">
          <a:xfrm>
            <a:off x="923689" y="6435850"/>
            <a:ext cx="700544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400" dirty="0">
                <a:solidFill>
                  <a:srgbClr val="00CCFF"/>
                </a:solidFill>
              </a:rPr>
              <a:t>(3) Incidente: dirección que pasa por el centro de curvatura., se refleja sobre sí mismo</a:t>
            </a:r>
          </a:p>
        </p:txBody>
      </p:sp>
      <p:sp>
        <p:nvSpPr>
          <p:cNvPr id="23" name="22 CuadroTexto"/>
          <p:cNvSpPr txBox="1">
            <a:spLocks noChangeArrowheads="1"/>
          </p:cNvSpPr>
          <p:nvPr/>
        </p:nvSpPr>
        <p:spPr bwMode="auto">
          <a:xfrm>
            <a:off x="3713345" y="1076416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CCFF"/>
                </a:solidFill>
              </a:rPr>
              <a:t>(3)</a:t>
            </a:r>
          </a:p>
        </p:txBody>
      </p:sp>
      <p:sp>
        <p:nvSpPr>
          <p:cNvPr id="24" name="Freeform 11"/>
          <p:cNvSpPr>
            <a:spLocks noChangeAspect="1"/>
          </p:cNvSpPr>
          <p:nvPr/>
        </p:nvSpPr>
        <p:spPr bwMode="auto">
          <a:xfrm>
            <a:off x="2549490" y="1153312"/>
            <a:ext cx="1869959" cy="351029"/>
          </a:xfrm>
          <a:custGeom>
            <a:avLst/>
            <a:gdLst>
              <a:gd name="connsiteX0" fmla="*/ 10000 w 10000"/>
              <a:gd name="connsiteY0" fmla="*/ 9386 h 9386"/>
              <a:gd name="connsiteX1" fmla="*/ 0 w 10000"/>
              <a:gd name="connsiteY1" fmla="*/ 0 h 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9386">
                <a:moveTo>
                  <a:pt x="10000" y="9386"/>
                </a:moveTo>
                <a:cubicBezTo>
                  <a:pt x="6667" y="6053"/>
                  <a:pt x="3333" y="3333"/>
                  <a:pt x="0" y="0"/>
                </a:cubicBezTo>
              </a:path>
            </a:pathLst>
          </a:custGeom>
          <a:noFill/>
          <a:ln w="19050">
            <a:solidFill>
              <a:srgbClr val="993366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5960240" y="1669229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C</a:t>
            </a:r>
          </a:p>
        </p:txBody>
      </p:sp>
      <p:sp>
        <p:nvSpPr>
          <p:cNvPr id="26" name="Oval 47"/>
          <p:cNvSpPr>
            <a:spLocks noChangeArrowheads="1"/>
          </p:cNvSpPr>
          <p:nvPr/>
        </p:nvSpPr>
        <p:spPr bwMode="auto">
          <a:xfrm>
            <a:off x="6108864" y="1628326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27" name="Freeform 48"/>
          <p:cNvSpPr>
            <a:spLocks/>
          </p:cNvSpPr>
          <p:nvPr/>
        </p:nvSpPr>
        <p:spPr bwMode="auto">
          <a:xfrm>
            <a:off x="5080494" y="1509706"/>
            <a:ext cx="1587" cy="172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" y="570"/>
              </a:cxn>
            </a:cxnLst>
            <a:rect l="0" t="0" r="r" b="b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 type="triangle" w="med" len="med"/>
            <a:tailEnd type="non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8" name="Text Box 49"/>
          <p:cNvSpPr txBox="1">
            <a:spLocks noChangeArrowheads="1"/>
          </p:cNvSpPr>
          <p:nvPr/>
        </p:nvSpPr>
        <p:spPr bwMode="auto">
          <a:xfrm>
            <a:off x="4885359" y="1595571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A</a:t>
            </a:r>
            <a:r>
              <a:rPr lang="es-ES_tradnl" dirty="0">
                <a:latin typeface="Times New Roman" pitchFamily="18" charset="0"/>
              </a:rPr>
              <a:t>’</a:t>
            </a:r>
            <a:endParaRPr lang="es-ES_tradnl" i="1" dirty="0">
              <a:latin typeface="Times New Roman" pitchFamily="18" charset="0"/>
            </a:endParaRPr>
          </a:p>
        </p:txBody>
      </p:sp>
      <p:sp>
        <p:nvSpPr>
          <p:cNvPr id="29" name="Text Box 50"/>
          <p:cNvSpPr txBox="1">
            <a:spLocks noChangeArrowheads="1"/>
          </p:cNvSpPr>
          <p:nvPr/>
        </p:nvSpPr>
        <p:spPr bwMode="auto">
          <a:xfrm>
            <a:off x="4898341" y="1160826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B</a:t>
            </a:r>
            <a:r>
              <a:rPr lang="es-ES_tradnl" dirty="0">
                <a:latin typeface="Times New Roman" pitchFamily="18" charset="0"/>
              </a:rPr>
              <a:t>’</a:t>
            </a:r>
          </a:p>
        </p:txBody>
      </p: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5138303" y="1697931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F</a:t>
            </a:r>
          </a:p>
        </p:txBody>
      </p:sp>
      <p:sp>
        <p:nvSpPr>
          <p:cNvPr id="31" name="Oval 47"/>
          <p:cNvSpPr>
            <a:spLocks noChangeArrowheads="1"/>
          </p:cNvSpPr>
          <p:nvPr/>
        </p:nvSpPr>
        <p:spPr bwMode="auto">
          <a:xfrm>
            <a:off x="5256724" y="1623237"/>
            <a:ext cx="71438" cy="7143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34" name="33 CuadroTexto"/>
          <p:cNvSpPr txBox="1"/>
          <p:nvPr/>
        </p:nvSpPr>
        <p:spPr>
          <a:xfrm>
            <a:off x="2215472" y="2149262"/>
            <a:ext cx="2101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Objeto real entre </a:t>
            </a:r>
            <a:r>
              <a:rPr lang="es-ES" sz="1400" dirty="0">
                <a:sym typeface="Symbol"/>
              </a:rPr>
              <a:t> y </a:t>
            </a:r>
            <a:r>
              <a:rPr lang="es-ES" sz="1400" i="1" dirty="0">
                <a:latin typeface="Times New Roman" pitchFamily="18" charset="0"/>
                <a:cs typeface="Times New Roman" pitchFamily="18" charset="0"/>
                <a:sym typeface="Symbol"/>
              </a:rPr>
              <a:t>C</a:t>
            </a:r>
          </a:p>
        </p:txBody>
      </p:sp>
      <p:sp>
        <p:nvSpPr>
          <p:cNvPr id="37" name="Text Box 9"/>
          <p:cNvSpPr txBox="1">
            <a:spLocks noChangeArrowheads="1"/>
          </p:cNvSpPr>
          <p:nvPr/>
        </p:nvSpPr>
        <p:spPr bwMode="auto">
          <a:xfrm>
            <a:off x="4395329" y="1601711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V</a:t>
            </a:r>
          </a:p>
        </p:txBody>
      </p:sp>
      <p:sp>
        <p:nvSpPr>
          <p:cNvPr id="41" name="Text Box 8"/>
          <p:cNvSpPr txBox="1">
            <a:spLocks noChangeArrowheads="1"/>
          </p:cNvSpPr>
          <p:nvPr/>
        </p:nvSpPr>
        <p:spPr bwMode="auto">
          <a:xfrm>
            <a:off x="5508242" y="3403071"/>
            <a:ext cx="2568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>
                <a:latin typeface="Tahoma" pitchFamily="34" charset="0"/>
              </a:rPr>
              <a:t> </a:t>
            </a:r>
            <a:endParaRPr lang="es-ES_tradnl" i="1" dirty="0">
              <a:latin typeface="Times New Roman" pitchFamily="18" charset="0"/>
            </a:endParaRPr>
          </a:p>
        </p:txBody>
      </p:sp>
      <p:sp>
        <p:nvSpPr>
          <p:cNvPr id="110" name="33 CuadroTexto"/>
          <p:cNvSpPr txBox="1"/>
          <p:nvPr/>
        </p:nvSpPr>
        <p:spPr>
          <a:xfrm>
            <a:off x="4585754" y="2132856"/>
            <a:ext cx="3624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+mn-lt"/>
                <a:cs typeface="Times New Roman" pitchFamily="18" charset="0"/>
                <a:sym typeface="Symbol"/>
              </a:rPr>
              <a:t>Imagen virtual, menor, derecha, entre </a:t>
            </a:r>
            <a:r>
              <a:rPr lang="es-ES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V</a:t>
            </a:r>
            <a:r>
              <a:rPr lang="es-ES" sz="1400" dirty="0">
                <a:latin typeface="+mn-lt"/>
                <a:cs typeface="Times New Roman" pitchFamily="18" charset="0"/>
                <a:sym typeface="Symbol"/>
              </a:rPr>
              <a:t> y </a:t>
            </a:r>
            <a:r>
              <a:rPr lang="es-ES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F</a:t>
            </a:r>
            <a:endParaRPr lang="es-E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3" name="61 CuadroTexto"/>
          <p:cNvSpPr txBox="1"/>
          <p:nvPr/>
        </p:nvSpPr>
        <p:spPr>
          <a:xfrm>
            <a:off x="68015" y="2836953"/>
            <a:ext cx="4817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+mn-lt"/>
                <a:cs typeface="Times New Roman" pitchFamily="18" charset="0"/>
                <a:sym typeface="Symbol"/>
              </a:rPr>
              <a:t>Objeto virtual entre </a:t>
            </a:r>
            <a:r>
              <a:rPr lang="es-ES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V</a:t>
            </a:r>
            <a:r>
              <a:rPr lang="es-ES" sz="1400" dirty="0">
                <a:latin typeface="+mn-lt"/>
                <a:cs typeface="Times New Roman" pitchFamily="18" charset="0"/>
                <a:sym typeface="Symbol"/>
              </a:rPr>
              <a:t> y </a:t>
            </a:r>
            <a:r>
              <a:rPr lang="es-ES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F </a:t>
            </a:r>
            <a:r>
              <a:rPr lang="es-ES" sz="1400" dirty="0">
                <a:latin typeface="+mn-lt"/>
                <a:cs typeface="Times New Roman" pitchFamily="18" charset="0"/>
                <a:sym typeface="Symbol" panose="05050102010706020507" pitchFamily="18" charset="2"/>
              </a:rPr>
              <a:t></a:t>
            </a:r>
            <a:r>
              <a:rPr lang="es-ES" sz="1400" dirty="0">
                <a:latin typeface="+mn-lt"/>
                <a:cs typeface="Times New Roman" pitchFamily="18" charset="0"/>
                <a:sym typeface="Symbol"/>
              </a:rPr>
              <a:t> Imagen real, mayor y derecha</a:t>
            </a:r>
            <a:endParaRPr lang="es-E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5" name="Text Box 67"/>
          <p:cNvSpPr txBox="1">
            <a:spLocks noChangeArrowheads="1"/>
          </p:cNvSpPr>
          <p:nvPr/>
        </p:nvSpPr>
        <p:spPr bwMode="auto">
          <a:xfrm>
            <a:off x="8675688" y="6564313"/>
            <a:ext cx="35458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19</a:t>
            </a:r>
          </a:p>
        </p:txBody>
      </p:sp>
      <p:sp>
        <p:nvSpPr>
          <p:cNvPr id="96" name="Freeform 11"/>
          <p:cNvSpPr>
            <a:spLocks noChangeAspect="1"/>
          </p:cNvSpPr>
          <p:nvPr/>
        </p:nvSpPr>
        <p:spPr bwMode="auto">
          <a:xfrm>
            <a:off x="4418651" y="1507188"/>
            <a:ext cx="968321" cy="181773"/>
          </a:xfrm>
          <a:custGeom>
            <a:avLst/>
            <a:gdLst>
              <a:gd name="connsiteX0" fmla="*/ 10000 w 10000"/>
              <a:gd name="connsiteY0" fmla="*/ 9386 h 9386"/>
              <a:gd name="connsiteX1" fmla="*/ 0 w 10000"/>
              <a:gd name="connsiteY1" fmla="*/ 0 h 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9386">
                <a:moveTo>
                  <a:pt x="10000" y="9386"/>
                </a:moveTo>
                <a:cubicBezTo>
                  <a:pt x="6667" y="6053"/>
                  <a:pt x="3333" y="3333"/>
                  <a:pt x="0" y="0"/>
                </a:cubicBezTo>
              </a:path>
            </a:pathLst>
          </a:custGeom>
          <a:noFill/>
          <a:ln w="19050">
            <a:solidFill>
              <a:srgbClr val="9933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7" name="Freeform 25"/>
          <p:cNvSpPr>
            <a:spLocks noChangeAspect="1"/>
          </p:cNvSpPr>
          <p:nvPr/>
        </p:nvSpPr>
        <p:spPr bwMode="auto">
          <a:xfrm>
            <a:off x="3424255" y="541844"/>
            <a:ext cx="1036008" cy="611468"/>
          </a:xfrm>
          <a:custGeom>
            <a:avLst/>
            <a:gdLst>
              <a:gd name="connsiteX0" fmla="*/ 3875 w 3875"/>
              <a:gd name="connsiteY0" fmla="*/ 0 h 9951"/>
              <a:gd name="connsiteX1" fmla="*/ 0 w 3875"/>
              <a:gd name="connsiteY1" fmla="*/ 9951 h 9951"/>
              <a:gd name="connsiteX0" fmla="*/ 1308 w 22393"/>
              <a:gd name="connsiteY0" fmla="*/ 0 h 8434"/>
              <a:gd name="connsiteX1" fmla="*/ 21086 w 22393"/>
              <a:gd name="connsiteY1" fmla="*/ 8434 h 8434"/>
              <a:gd name="connsiteX0" fmla="*/ 0 w 8832"/>
              <a:gd name="connsiteY0" fmla="*/ 0 h 10000"/>
              <a:gd name="connsiteX1" fmla="*/ 8832 w 8832"/>
              <a:gd name="connsiteY1" fmla="*/ 10000 h 10000"/>
              <a:gd name="connsiteX0" fmla="*/ 0 w 9551"/>
              <a:gd name="connsiteY0" fmla="*/ 0 h 10929"/>
              <a:gd name="connsiteX1" fmla="*/ 9551 w 9551"/>
              <a:gd name="connsiteY1" fmla="*/ 10929 h 10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51" h="10929">
                <a:moveTo>
                  <a:pt x="0" y="0"/>
                </a:moveTo>
                <a:lnTo>
                  <a:pt x="9551" y="10929"/>
                </a:lnTo>
              </a:path>
            </a:pathLst>
          </a:custGeom>
          <a:noFill/>
          <a:ln w="19050">
            <a:solidFill>
              <a:srgbClr val="0000FF"/>
            </a:solidFill>
            <a:round/>
            <a:headEnd type="triangle" w="med" len="med"/>
            <a:tailEnd type="non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0" name="Line 48"/>
          <p:cNvSpPr>
            <a:spLocks noChangeShapeType="1"/>
          </p:cNvSpPr>
          <p:nvPr/>
        </p:nvSpPr>
        <p:spPr bwMode="auto">
          <a:xfrm>
            <a:off x="4470408" y="1523849"/>
            <a:ext cx="1872000" cy="0"/>
          </a:xfrm>
          <a:prstGeom prst="line">
            <a:avLst/>
          </a:prstGeom>
          <a:noFill/>
          <a:ln w="25400">
            <a:solidFill>
              <a:srgbClr val="993366"/>
            </a:solidFill>
            <a:prstDash val="dashDot"/>
            <a:round/>
            <a:headEnd type="none" w="lg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7" name="Line 57"/>
          <p:cNvSpPr>
            <a:spLocks noChangeAspect="1" noChangeShapeType="1"/>
          </p:cNvSpPr>
          <p:nvPr/>
        </p:nvSpPr>
        <p:spPr bwMode="auto">
          <a:xfrm>
            <a:off x="4440900" y="1432737"/>
            <a:ext cx="1635868" cy="234437"/>
          </a:xfrm>
          <a:prstGeom prst="line">
            <a:avLst/>
          </a:prstGeom>
          <a:noFill/>
          <a:ln w="25400">
            <a:solidFill>
              <a:srgbClr val="00CC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6" name="Line 57"/>
          <p:cNvSpPr>
            <a:spLocks noChangeAspect="1" noChangeShapeType="1"/>
          </p:cNvSpPr>
          <p:nvPr/>
        </p:nvSpPr>
        <p:spPr bwMode="auto">
          <a:xfrm>
            <a:off x="3715386" y="1322550"/>
            <a:ext cx="434958" cy="62334"/>
          </a:xfrm>
          <a:prstGeom prst="line">
            <a:avLst/>
          </a:prstGeom>
          <a:noFill/>
          <a:ln w="12700">
            <a:solidFill>
              <a:srgbClr val="00CCFF"/>
            </a:solidFill>
            <a:round/>
            <a:headEnd type="triangle"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7" name="Freeform 2" descr="Diagonal hacia arriba ancha"/>
          <p:cNvSpPr>
            <a:spLocks/>
          </p:cNvSpPr>
          <p:nvPr/>
        </p:nvSpPr>
        <p:spPr bwMode="auto">
          <a:xfrm rot="10800000">
            <a:off x="4456532" y="3324941"/>
            <a:ext cx="755650" cy="2520000"/>
          </a:xfrm>
          <a:custGeom>
            <a:avLst/>
            <a:gdLst/>
            <a:ahLst/>
            <a:cxnLst>
              <a:cxn ang="0">
                <a:pos x="462" y="41"/>
              </a:cxn>
              <a:cxn ang="0">
                <a:pos x="354" y="0"/>
              </a:cxn>
              <a:cxn ang="0">
                <a:pos x="126" y="10"/>
              </a:cxn>
              <a:cxn ang="0">
                <a:pos x="228" y="64"/>
              </a:cxn>
              <a:cxn ang="0">
                <a:pos x="296" y="193"/>
              </a:cxn>
              <a:cxn ang="0">
                <a:pos x="312" y="1179"/>
              </a:cxn>
              <a:cxn ang="0">
                <a:pos x="312" y="1406"/>
              </a:cxn>
              <a:cxn ang="0">
                <a:pos x="304" y="1602"/>
              </a:cxn>
              <a:cxn ang="0">
                <a:pos x="296" y="2558"/>
              </a:cxn>
              <a:cxn ang="0">
                <a:pos x="269" y="2666"/>
              </a:cxn>
              <a:cxn ang="0">
                <a:pos x="126" y="2747"/>
              </a:cxn>
              <a:cxn ang="0">
                <a:pos x="320" y="2738"/>
              </a:cxn>
              <a:cxn ang="0">
                <a:pos x="408" y="2656"/>
              </a:cxn>
              <a:cxn ang="0">
                <a:pos x="476" y="2480"/>
              </a:cxn>
              <a:cxn ang="0">
                <a:pos x="476" y="1416"/>
              </a:cxn>
              <a:cxn ang="0">
                <a:pos x="462" y="41"/>
              </a:cxn>
            </a:cxnLst>
            <a:rect l="0" t="0" r="r" b="b"/>
            <a:pathLst>
              <a:path w="476" h="2753">
                <a:moveTo>
                  <a:pt x="462" y="41"/>
                </a:moveTo>
                <a:lnTo>
                  <a:pt x="354" y="0"/>
                </a:lnTo>
                <a:lnTo>
                  <a:pt x="126" y="10"/>
                </a:lnTo>
                <a:lnTo>
                  <a:pt x="228" y="64"/>
                </a:lnTo>
                <a:lnTo>
                  <a:pt x="296" y="193"/>
                </a:lnTo>
                <a:lnTo>
                  <a:pt x="312" y="1179"/>
                </a:lnTo>
                <a:lnTo>
                  <a:pt x="312" y="1406"/>
                </a:lnTo>
                <a:lnTo>
                  <a:pt x="304" y="1602"/>
                </a:lnTo>
                <a:lnTo>
                  <a:pt x="296" y="2558"/>
                </a:lnTo>
                <a:lnTo>
                  <a:pt x="269" y="2666"/>
                </a:lnTo>
                <a:cubicBezTo>
                  <a:pt x="241" y="2697"/>
                  <a:pt x="117" y="2735"/>
                  <a:pt x="126" y="2747"/>
                </a:cubicBezTo>
                <a:cubicBezTo>
                  <a:pt x="0" y="2751"/>
                  <a:pt x="273" y="2753"/>
                  <a:pt x="320" y="2738"/>
                </a:cubicBezTo>
                <a:lnTo>
                  <a:pt x="408" y="2656"/>
                </a:lnTo>
                <a:cubicBezTo>
                  <a:pt x="434" y="2613"/>
                  <a:pt x="465" y="2687"/>
                  <a:pt x="476" y="2480"/>
                </a:cubicBezTo>
                <a:lnTo>
                  <a:pt x="476" y="1416"/>
                </a:lnTo>
                <a:lnTo>
                  <a:pt x="462" y="41"/>
                </a:lnTo>
                <a:close/>
              </a:path>
            </a:pathLst>
          </a:custGeom>
          <a:pattFill prst="wdUpDiag">
            <a:fgClr>
              <a:srgbClr val="C0C0C0">
                <a:alpha val="57001"/>
              </a:srgbClr>
            </a:fgClr>
            <a:bgClr>
              <a:schemeClr val="bg1">
                <a:alpha val="57001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8" name="Line 5"/>
          <p:cNvSpPr>
            <a:spLocks noChangeShapeType="1"/>
          </p:cNvSpPr>
          <p:nvPr/>
        </p:nvSpPr>
        <p:spPr bwMode="auto">
          <a:xfrm>
            <a:off x="1909432" y="4533698"/>
            <a:ext cx="5686903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9" name="Freeform 25"/>
          <p:cNvSpPr>
            <a:spLocks noChangeAspect="1"/>
          </p:cNvSpPr>
          <p:nvPr/>
        </p:nvSpPr>
        <p:spPr bwMode="auto">
          <a:xfrm>
            <a:off x="4418651" y="4009380"/>
            <a:ext cx="2738537" cy="1616327"/>
          </a:xfrm>
          <a:custGeom>
            <a:avLst/>
            <a:gdLst>
              <a:gd name="connsiteX0" fmla="*/ 3875 w 3875"/>
              <a:gd name="connsiteY0" fmla="*/ 0 h 9951"/>
              <a:gd name="connsiteX1" fmla="*/ 0 w 3875"/>
              <a:gd name="connsiteY1" fmla="*/ 9951 h 9951"/>
              <a:gd name="connsiteX0" fmla="*/ 1308 w 22393"/>
              <a:gd name="connsiteY0" fmla="*/ 0 h 8434"/>
              <a:gd name="connsiteX1" fmla="*/ 21086 w 22393"/>
              <a:gd name="connsiteY1" fmla="*/ 8434 h 8434"/>
              <a:gd name="connsiteX0" fmla="*/ 0 w 8832"/>
              <a:gd name="connsiteY0" fmla="*/ 0 h 10000"/>
              <a:gd name="connsiteX1" fmla="*/ 8832 w 8832"/>
              <a:gd name="connsiteY1" fmla="*/ 10000 h 10000"/>
              <a:gd name="connsiteX0" fmla="*/ 0 w 9551"/>
              <a:gd name="connsiteY0" fmla="*/ 0 h 10929"/>
              <a:gd name="connsiteX1" fmla="*/ 9551 w 9551"/>
              <a:gd name="connsiteY1" fmla="*/ 10929 h 10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51" h="10929">
                <a:moveTo>
                  <a:pt x="0" y="0"/>
                </a:moveTo>
                <a:lnTo>
                  <a:pt x="9551" y="10929"/>
                </a:lnTo>
              </a:path>
            </a:pathLst>
          </a:custGeom>
          <a:noFill/>
          <a:ln w="19050">
            <a:solidFill>
              <a:srgbClr val="0000FF"/>
            </a:solidFill>
            <a:prstDash val="dashDot"/>
            <a:round/>
            <a:headEnd type="none" w="med" len="med"/>
            <a:tailEnd type="non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0" name="AutoShape 30"/>
          <p:cNvSpPr>
            <a:spLocks/>
          </p:cNvSpPr>
          <p:nvPr/>
        </p:nvSpPr>
        <p:spPr bwMode="auto">
          <a:xfrm rot="10800000" flipH="1">
            <a:off x="4440515" y="3284984"/>
            <a:ext cx="360363" cy="2520000"/>
          </a:xfrm>
          <a:prstGeom prst="leftBracket">
            <a:avLst>
              <a:gd name="adj" fmla="val 10157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21" name="Line 47"/>
          <p:cNvSpPr>
            <a:spLocks noChangeShapeType="1"/>
          </p:cNvSpPr>
          <p:nvPr/>
        </p:nvSpPr>
        <p:spPr bwMode="auto">
          <a:xfrm>
            <a:off x="2552375" y="4033632"/>
            <a:ext cx="18720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2" name="Line 48"/>
          <p:cNvSpPr>
            <a:spLocks noChangeShapeType="1"/>
          </p:cNvSpPr>
          <p:nvPr/>
        </p:nvSpPr>
        <p:spPr bwMode="auto">
          <a:xfrm>
            <a:off x="1834411" y="5497487"/>
            <a:ext cx="259200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triangle" w="lg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3" name="Line 53"/>
          <p:cNvSpPr>
            <a:spLocks noChangeShapeType="1"/>
          </p:cNvSpPr>
          <p:nvPr/>
        </p:nvSpPr>
        <p:spPr bwMode="auto">
          <a:xfrm flipV="1">
            <a:off x="5724128" y="4009470"/>
            <a:ext cx="0" cy="53427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4" name="Text Box 54"/>
          <p:cNvSpPr txBox="1">
            <a:spLocks noChangeArrowheads="1"/>
          </p:cNvSpPr>
          <p:nvPr/>
        </p:nvSpPr>
        <p:spPr bwMode="auto">
          <a:xfrm>
            <a:off x="5589645" y="4461181"/>
            <a:ext cx="171641" cy="194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A</a:t>
            </a:r>
          </a:p>
        </p:txBody>
      </p:sp>
      <p:sp>
        <p:nvSpPr>
          <p:cNvPr id="125" name="Text Box 55"/>
          <p:cNvSpPr txBox="1">
            <a:spLocks noChangeArrowheads="1"/>
          </p:cNvSpPr>
          <p:nvPr/>
        </p:nvSpPr>
        <p:spPr bwMode="auto">
          <a:xfrm>
            <a:off x="5534738" y="3649956"/>
            <a:ext cx="199406" cy="194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B</a:t>
            </a:r>
          </a:p>
        </p:txBody>
      </p:sp>
      <p:sp>
        <p:nvSpPr>
          <p:cNvPr id="126" name="Line 57"/>
          <p:cNvSpPr>
            <a:spLocks noChangeShapeType="1"/>
          </p:cNvSpPr>
          <p:nvPr/>
        </p:nvSpPr>
        <p:spPr bwMode="auto">
          <a:xfrm>
            <a:off x="5197646" y="3399553"/>
            <a:ext cx="1879024" cy="2255034"/>
          </a:xfrm>
          <a:custGeom>
            <a:avLst/>
            <a:gdLst>
              <a:gd name="connsiteX0" fmla="*/ 0 w 1910774"/>
              <a:gd name="connsiteY0" fmla="*/ 0 h 273834"/>
              <a:gd name="connsiteX1" fmla="*/ 1910774 w 1910774"/>
              <a:gd name="connsiteY1" fmla="*/ 273834 h 273834"/>
              <a:gd name="connsiteX0" fmla="*/ 0 w 1923474"/>
              <a:gd name="connsiteY0" fmla="*/ 0 h 1080284"/>
              <a:gd name="connsiteX1" fmla="*/ 1923474 w 1923474"/>
              <a:gd name="connsiteY1" fmla="*/ 1080284 h 1080284"/>
              <a:gd name="connsiteX0" fmla="*/ 0 w 1923474"/>
              <a:gd name="connsiteY0" fmla="*/ 0 h 1080284"/>
              <a:gd name="connsiteX1" fmla="*/ 1923474 w 1923474"/>
              <a:gd name="connsiteY1" fmla="*/ 1080284 h 1080284"/>
              <a:gd name="connsiteX0" fmla="*/ 0 w 1478974"/>
              <a:gd name="connsiteY0" fmla="*/ 0 h 1175534"/>
              <a:gd name="connsiteX1" fmla="*/ 1478974 w 1478974"/>
              <a:gd name="connsiteY1" fmla="*/ 1175534 h 1175534"/>
              <a:gd name="connsiteX0" fmla="*/ 0 w 2044124"/>
              <a:gd name="connsiteY0" fmla="*/ 0 h 2147084"/>
              <a:gd name="connsiteX1" fmla="*/ 2044124 w 2044124"/>
              <a:gd name="connsiteY1" fmla="*/ 2147084 h 2147084"/>
              <a:gd name="connsiteX0" fmla="*/ 0 w 1942524"/>
              <a:gd name="connsiteY0" fmla="*/ 0 h 2223284"/>
              <a:gd name="connsiteX1" fmla="*/ 1942524 w 1942524"/>
              <a:gd name="connsiteY1" fmla="*/ 2223284 h 2223284"/>
              <a:gd name="connsiteX0" fmla="*/ 0 w 1929824"/>
              <a:gd name="connsiteY0" fmla="*/ 0 h 2235984"/>
              <a:gd name="connsiteX1" fmla="*/ 1929824 w 1929824"/>
              <a:gd name="connsiteY1" fmla="*/ 2235984 h 2235984"/>
              <a:gd name="connsiteX0" fmla="*/ 0 w 1885374"/>
              <a:gd name="connsiteY0" fmla="*/ 0 h 2248684"/>
              <a:gd name="connsiteX1" fmla="*/ 1885374 w 1885374"/>
              <a:gd name="connsiteY1" fmla="*/ 2248684 h 2248684"/>
              <a:gd name="connsiteX0" fmla="*/ 0 w 1828224"/>
              <a:gd name="connsiteY0" fmla="*/ 0 h 2255034"/>
              <a:gd name="connsiteX1" fmla="*/ 1828224 w 1828224"/>
              <a:gd name="connsiteY1" fmla="*/ 2255034 h 2255034"/>
              <a:gd name="connsiteX0" fmla="*/ 0 w 1879024"/>
              <a:gd name="connsiteY0" fmla="*/ 0 h 2255034"/>
              <a:gd name="connsiteX1" fmla="*/ 1879024 w 1879024"/>
              <a:gd name="connsiteY1" fmla="*/ 2255034 h 2255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79024" h="2255034">
                <a:moveTo>
                  <a:pt x="0" y="0"/>
                </a:moveTo>
                <a:lnTo>
                  <a:pt x="1879024" y="2255034"/>
                </a:lnTo>
              </a:path>
            </a:pathLst>
          </a:custGeom>
          <a:noFill/>
          <a:ln w="25400">
            <a:solidFill>
              <a:srgbClr val="00CCFF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7" name="19 CuadroTexto"/>
          <p:cNvSpPr txBox="1">
            <a:spLocks noChangeArrowheads="1"/>
          </p:cNvSpPr>
          <p:nvPr/>
        </p:nvSpPr>
        <p:spPr bwMode="auto">
          <a:xfrm>
            <a:off x="2993845" y="3641312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128" name="20 CuadroTexto"/>
          <p:cNvSpPr txBox="1">
            <a:spLocks noChangeArrowheads="1"/>
          </p:cNvSpPr>
          <p:nvPr/>
        </p:nvSpPr>
        <p:spPr bwMode="auto">
          <a:xfrm>
            <a:off x="3742166" y="5594103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A50021"/>
                </a:solidFill>
              </a:rPr>
              <a:t>(2)</a:t>
            </a:r>
          </a:p>
        </p:txBody>
      </p:sp>
      <p:sp>
        <p:nvSpPr>
          <p:cNvPr id="129" name="22 CuadroTexto"/>
          <p:cNvSpPr txBox="1">
            <a:spLocks noChangeArrowheads="1"/>
          </p:cNvSpPr>
          <p:nvPr/>
        </p:nvSpPr>
        <p:spPr bwMode="auto">
          <a:xfrm>
            <a:off x="5374423" y="3346696"/>
            <a:ext cx="4365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00CCFF"/>
                </a:solidFill>
              </a:rPr>
              <a:t>(3)</a:t>
            </a:r>
          </a:p>
        </p:txBody>
      </p:sp>
      <p:sp>
        <p:nvSpPr>
          <p:cNvPr id="130" name="Freeform 11"/>
          <p:cNvSpPr>
            <a:spLocks noChangeAspect="1"/>
          </p:cNvSpPr>
          <p:nvPr/>
        </p:nvSpPr>
        <p:spPr bwMode="auto">
          <a:xfrm flipV="1">
            <a:off x="4428192" y="3772403"/>
            <a:ext cx="1501602" cy="1753499"/>
          </a:xfrm>
          <a:custGeom>
            <a:avLst/>
            <a:gdLst>
              <a:gd name="connsiteX0" fmla="*/ 10000 w 10000"/>
              <a:gd name="connsiteY0" fmla="*/ 9386 h 9386"/>
              <a:gd name="connsiteX1" fmla="*/ 0 w 10000"/>
              <a:gd name="connsiteY1" fmla="*/ 0 h 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9386">
                <a:moveTo>
                  <a:pt x="10000" y="9386"/>
                </a:moveTo>
                <a:cubicBezTo>
                  <a:pt x="6667" y="6053"/>
                  <a:pt x="3333" y="3333"/>
                  <a:pt x="0" y="0"/>
                </a:cubicBezTo>
              </a:path>
            </a:pathLst>
          </a:custGeom>
          <a:noFill/>
          <a:ln w="19050">
            <a:solidFill>
              <a:srgbClr val="9933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31" name="Text Box 9"/>
          <p:cNvSpPr txBox="1">
            <a:spLocks noChangeArrowheads="1"/>
          </p:cNvSpPr>
          <p:nvPr/>
        </p:nvSpPr>
        <p:spPr bwMode="auto">
          <a:xfrm>
            <a:off x="5963125" y="4549549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C</a:t>
            </a:r>
          </a:p>
        </p:txBody>
      </p:sp>
      <p:sp>
        <p:nvSpPr>
          <p:cNvPr id="132" name="Oval 47"/>
          <p:cNvSpPr>
            <a:spLocks noChangeArrowheads="1"/>
          </p:cNvSpPr>
          <p:nvPr/>
        </p:nvSpPr>
        <p:spPr bwMode="auto">
          <a:xfrm>
            <a:off x="6111749" y="4508646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33" name="Freeform 48"/>
          <p:cNvSpPr>
            <a:spLocks/>
          </p:cNvSpPr>
          <p:nvPr/>
        </p:nvSpPr>
        <p:spPr bwMode="auto">
          <a:xfrm>
            <a:off x="6969472" y="4550231"/>
            <a:ext cx="0" cy="972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" y="570"/>
              </a:cxn>
            </a:cxnLst>
            <a:rect l="0" t="0" r="r" b="b"/>
            <a:pathLst>
              <a:path w="14" h="570">
                <a:moveTo>
                  <a:pt x="0" y="0"/>
                </a:moveTo>
                <a:lnTo>
                  <a:pt x="14" y="570"/>
                </a:lnTo>
              </a:path>
            </a:pathLst>
          </a:custGeom>
          <a:noFill/>
          <a:ln w="25400">
            <a:solidFill>
              <a:srgbClr val="339966"/>
            </a:solidFill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34" name="Text Box 49"/>
          <p:cNvSpPr txBox="1">
            <a:spLocks noChangeArrowheads="1"/>
          </p:cNvSpPr>
          <p:nvPr/>
        </p:nvSpPr>
        <p:spPr bwMode="auto">
          <a:xfrm>
            <a:off x="6797397" y="4187598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A</a:t>
            </a:r>
            <a:r>
              <a:rPr lang="es-ES_tradnl" dirty="0">
                <a:latin typeface="Times New Roman" pitchFamily="18" charset="0"/>
              </a:rPr>
              <a:t>’</a:t>
            </a:r>
            <a:endParaRPr lang="es-ES_tradnl" i="1" dirty="0">
              <a:latin typeface="Times New Roman" pitchFamily="18" charset="0"/>
            </a:endParaRPr>
          </a:p>
        </p:txBody>
      </p:sp>
      <p:sp>
        <p:nvSpPr>
          <p:cNvPr id="135" name="Text Box 50"/>
          <p:cNvSpPr txBox="1">
            <a:spLocks noChangeArrowheads="1"/>
          </p:cNvSpPr>
          <p:nvPr/>
        </p:nvSpPr>
        <p:spPr bwMode="auto">
          <a:xfrm>
            <a:off x="6716879" y="5511680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B</a:t>
            </a:r>
            <a:r>
              <a:rPr lang="es-ES_tradnl" dirty="0">
                <a:latin typeface="Times New Roman" pitchFamily="18" charset="0"/>
              </a:rPr>
              <a:t>’</a:t>
            </a:r>
          </a:p>
        </p:txBody>
      </p:sp>
      <p:sp>
        <p:nvSpPr>
          <p:cNvPr id="136" name="Text Box 9"/>
          <p:cNvSpPr txBox="1">
            <a:spLocks noChangeArrowheads="1"/>
          </p:cNvSpPr>
          <p:nvPr/>
        </p:nvSpPr>
        <p:spPr bwMode="auto">
          <a:xfrm>
            <a:off x="5141188" y="4578251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F</a:t>
            </a:r>
          </a:p>
        </p:txBody>
      </p:sp>
      <p:sp>
        <p:nvSpPr>
          <p:cNvPr id="137" name="Oval 47"/>
          <p:cNvSpPr>
            <a:spLocks noChangeArrowheads="1"/>
          </p:cNvSpPr>
          <p:nvPr/>
        </p:nvSpPr>
        <p:spPr bwMode="auto">
          <a:xfrm>
            <a:off x="5259609" y="4503557"/>
            <a:ext cx="71438" cy="7143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38" name="33 CuadroTexto"/>
          <p:cNvSpPr txBox="1"/>
          <p:nvPr/>
        </p:nvSpPr>
        <p:spPr>
          <a:xfrm>
            <a:off x="4788024" y="2833191"/>
            <a:ext cx="4448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Objeto virtual entre </a:t>
            </a:r>
            <a:r>
              <a:rPr lang="es-E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s-ES" sz="1400" dirty="0"/>
              <a:t> y 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s-ES" sz="1400" dirty="0"/>
              <a:t> </a:t>
            </a:r>
            <a:r>
              <a:rPr lang="es-ES" sz="1400" dirty="0">
                <a:sym typeface="Symbol" panose="05050102010706020507" pitchFamily="18" charset="2"/>
              </a:rPr>
              <a:t> Imagen virtual e invertida</a:t>
            </a:r>
            <a:endParaRPr lang="es-ES" sz="1400" i="1" dirty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sp>
        <p:nvSpPr>
          <p:cNvPr id="139" name="Text Box 9"/>
          <p:cNvSpPr txBox="1">
            <a:spLocks noChangeArrowheads="1"/>
          </p:cNvSpPr>
          <p:nvPr/>
        </p:nvSpPr>
        <p:spPr bwMode="auto">
          <a:xfrm>
            <a:off x="4398214" y="4482031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pitchFamily="18" charset="0"/>
              </a:rPr>
              <a:t>V</a:t>
            </a:r>
          </a:p>
        </p:txBody>
      </p:sp>
      <p:sp>
        <p:nvSpPr>
          <p:cNvPr id="142" name="Freeform 25"/>
          <p:cNvSpPr>
            <a:spLocks noChangeAspect="1"/>
          </p:cNvSpPr>
          <p:nvPr/>
        </p:nvSpPr>
        <p:spPr bwMode="auto">
          <a:xfrm>
            <a:off x="3427140" y="3422164"/>
            <a:ext cx="1036008" cy="611468"/>
          </a:xfrm>
          <a:custGeom>
            <a:avLst/>
            <a:gdLst>
              <a:gd name="connsiteX0" fmla="*/ 3875 w 3875"/>
              <a:gd name="connsiteY0" fmla="*/ 0 h 9951"/>
              <a:gd name="connsiteX1" fmla="*/ 0 w 3875"/>
              <a:gd name="connsiteY1" fmla="*/ 9951 h 9951"/>
              <a:gd name="connsiteX0" fmla="*/ 1308 w 22393"/>
              <a:gd name="connsiteY0" fmla="*/ 0 h 8434"/>
              <a:gd name="connsiteX1" fmla="*/ 21086 w 22393"/>
              <a:gd name="connsiteY1" fmla="*/ 8434 h 8434"/>
              <a:gd name="connsiteX0" fmla="*/ 0 w 8832"/>
              <a:gd name="connsiteY0" fmla="*/ 0 h 10000"/>
              <a:gd name="connsiteX1" fmla="*/ 8832 w 8832"/>
              <a:gd name="connsiteY1" fmla="*/ 10000 h 10000"/>
              <a:gd name="connsiteX0" fmla="*/ 0 w 9551"/>
              <a:gd name="connsiteY0" fmla="*/ 0 h 10929"/>
              <a:gd name="connsiteX1" fmla="*/ 9551 w 9551"/>
              <a:gd name="connsiteY1" fmla="*/ 10929 h 10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51" h="10929">
                <a:moveTo>
                  <a:pt x="0" y="0"/>
                </a:moveTo>
                <a:lnTo>
                  <a:pt x="9551" y="10929"/>
                </a:lnTo>
              </a:path>
            </a:pathLst>
          </a:custGeom>
          <a:noFill/>
          <a:ln w="19050">
            <a:solidFill>
              <a:srgbClr val="0000FF"/>
            </a:solidFill>
            <a:round/>
            <a:headEnd type="triangle" w="med" len="med"/>
            <a:tailEnd type="non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46" name="61 CuadroTexto"/>
          <p:cNvSpPr txBox="1"/>
          <p:nvPr/>
        </p:nvSpPr>
        <p:spPr>
          <a:xfrm>
            <a:off x="81406" y="3149609"/>
            <a:ext cx="3265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+mn-lt"/>
                <a:cs typeface="Times New Roman" pitchFamily="18" charset="0"/>
                <a:sym typeface="Symbol"/>
              </a:rPr>
              <a:t>Objeto virtual entre 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en</a:t>
            </a:r>
            <a:r>
              <a:rPr lang="es-ES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F </a:t>
            </a:r>
            <a:r>
              <a:rPr lang="es-ES" sz="1400" dirty="0">
                <a:latin typeface="+mn-lt"/>
                <a:cs typeface="Times New Roman" pitchFamily="18" charset="0"/>
                <a:sym typeface="Symbol" panose="05050102010706020507" pitchFamily="18" charset="2"/>
              </a:rPr>
              <a:t></a:t>
            </a:r>
            <a:r>
              <a:rPr lang="es-ES" sz="1400" dirty="0">
                <a:latin typeface="+mn-lt"/>
                <a:cs typeface="Times New Roman" pitchFamily="18" charset="0"/>
                <a:sym typeface="Symbol"/>
              </a:rPr>
              <a:t> Imagen a 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∞</a:t>
            </a:r>
            <a:endParaRPr lang="es-E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0" name="Line 47"/>
          <p:cNvSpPr>
            <a:spLocks noChangeShapeType="1"/>
          </p:cNvSpPr>
          <p:nvPr/>
        </p:nvSpPr>
        <p:spPr bwMode="auto">
          <a:xfrm>
            <a:off x="4428192" y="4032041"/>
            <a:ext cx="1872000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1" name="Freeform 11"/>
          <p:cNvSpPr>
            <a:spLocks noChangeAspect="1"/>
          </p:cNvSpPr>
          <p:nvPr/>
        </p:nvSpPr>
        <p:spPr bwMode="auto">
          <a:xfrm flipV="1">
            <a:off x="3989028" y="5499560"/>
            <a:ext cx="451486" cy="527224"/>
          </a:xfrm>
          <a:custGeom>
            <a:avLst/>
            <a:gdLst>
              <a:gd name="connsiteX0" fmla="*/ 10000 w 10000"/>
              <a:gd name="connsiteY0" fmla="*/ 9386 h 9386"/>
              <a:gd name="connsiteX1" fmla="*/ 0 w 10000"/>
              <a:gd name="connsiteY1" fmla="*/ 0 h 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9386">
                <a:moveTo>
                  <a:pt x="10000" y="9386"/>
                </a:moveTo>
                <a:cubicBezTo>
                  <a:pt x="6667" y="6053"/>
                  <a:pt x="3333" y="3333"/>
                  <a:pt x="0" y="0"/>
                </a:cubicBezTo>
              </a:path>
            </a:pathLst>
          </a:custGeom>
          <a:noFill/>
          <a:ln w="19050">
            <a:solidFill>
              <a:srgbClr val="993366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2" name="Line 48"/>
          <p:cNvSpPr>
            <a:spLocks noChangeShapeType="1"/>
          </p:cNvSpPr>
          <p:nvPr/>
        </p:nvSpPr>
        <p:spPr bwMode="auto">
          <a:xfrm>
            <a:off x="4464264" y="5498182"/>
            <a:ext cx="2916048" cy="27720"/>
          </a:xfrm>
          <a:prstGeom prst="line">
            <a:avLst/>
          </a:prstGeom>
          <a:noFill/>
          <a:ln w="25400">
            <a:solidFill>
              <a:srgbClr val="993366"/>
            </a:solidFill>
            <a:prstDash val="dashDot"/>
            <a:round/>
            <a:headEnd type="none" w="lg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cxnSp>
        <p:nvCxnSpPr>
          <p:cNvPr id="11" name="Conector recto 10"/>
          <p:cNvCxnSpPr/>
          <p:nvPr/>
        </p:nvCxnSpPr>
        <p:spPr>
          <a:xfrm>
            <a:off x="4860032" y="2740897"/>
            <a:ext cx="0" cy="562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/>
          <p:cNvSpPr txBox="1"/>
          <p:nvPr/>
        </p:nvSpPr>
        <p:spPr>
          <a:xfrm>
            <a:off x="6128515" y="3190314"/>
            <a:ext cx="2788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 </a:t>
            </a:r>
            <a:r>
              <a:rPr lang="es-A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 </a:t>
            </a:r>
            <a:r>
              <a:rPr lang="es-AR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 </a:t>
            </a:r>
            <a:r>
              <a:rPr lang="es-AR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s’ 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 </a:t>
            </a:r>
            <a:r>
              <a:rPr lang="es-AR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 ; 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 </a:t>
            </a:r>
            <a:r>
              <a:rPr lang="es-AR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 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CuadroTexto 75"/>
          <p:cNvSpPr txBox="1"/>
          <p:nvPr/>
        </p:nvSpPr>
        <p:spPr>
          <a:xfrm>
            <a:off x="6373775" y="3528252"/>
            <a:ext cx="2542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s-A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s-AR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 </a:t>
            </a:r>
            <a:r>
              <a:rPr lang="es-AR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s’ 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s-AR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 ; 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 </a:t>
            </a:r>
            <a:r>
              <a:rPr lang="es-AR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 =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CuadroTexto 76"/>
          <p:cNvSpPr txBox="1"/>
          <p:nvPr/>
        </p:nvSpPr>
        <p:spPr>
          <a:xfrm>
            <a:off x="6425611" y="3870758"/>
            <a:ext cx="2730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 </a:t>
            </a:r>
            <a:r>
              <a:rPr lang="es-AR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 </a:t>
            </a:r>
            <a:r>
              <a:rPr lang="es-AR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 </a:t>
            </a:r>
            <a:r>
              <a:rPr lang="es-A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 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 </a:t>
            </a:r>
            <a:r>
              <a:rPr lang="es-AR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 ; 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 </a:t>
            </a:r>
            <a:r>
              <a:rPr lang="es-AR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 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05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500"/>
                            </p:stCondLst>
                            <p:childTnLst>
                              <p:par>
                                <p:cTn id="1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30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500"/>
                            </p:stCondLst>
                            <p:childTnLst>
                              <p:par>
                                <p:cTn id="1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000"/>
                            </p:stCondLst>
                            <p:childTnLst>
                              <p:par>
                                <p:cTn id="1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4500"/>
                            </p:stCondLst>
                            <p:childTnLst>
                              <p:par>
                                <p:cTn id="1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0"/>
                            </p:stCondLst>
                            <p:childTnLst>
                              <p:par>
                                <p:cTn id="1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500"/>
                            </p:stCondLst>
                            <p:childTnLst>
                              <p:par>
                                <p:cTn id="1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6000"/>
                            </p:stCondLst>
                            <p:childTnLst>
                              <p:par>
                                <p:cTn id="1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6500"/>
                            </p:stCondLst>
                            <p:childTnLst>
                              <p:par>
                                <p:cTn id="1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6" grpId="0" animBg="1"/>
      <p:bldP spid="18" grpId="0"/>
      <p:bldP spid="19" grpId="0"/>
      <p:bldP spid="20" grpId="0"/>
      <p:bldP spid="21" grpId="0"/>
      <p:bldP spid="22" grpId="0"/>
      <p:bldP spid="23" grpId="0"/>
      <p:bldP spid="24" grpId="0" animBg="1"/>
      <p:bldP spid="27" grpId="0" animBg="1"/>
      <p:bldP spid="28" grpId="0"/>
      <p:bldP spid="29" grpId="0"/>
      <p:bldP spid="110" grpId="0"/>
      <p:bldP spid="113" grpId="0"/>
      <p:bldP spid="115" grpId="0"/>
      <p:bldP spid="96" grpId="0" animBg="1"/>
      <p:bldP spid="97" grpId="0" animBg="1"/>
      <p:bldP spid="100" grpId="0" animBg="1"/>
      <p:bldP spid="107" grpId="0" animBg="1"/>
      <p:bldP spid="116" grpId="0" animBg="1"/>
      <p:bldP spid="119" grpId="0" animBg="1"/>
      <p:bldP spid="121" grpId="0" animBg="1"/>
      <p:bldP spid="122" grpId="0" animBg="1"/>
      <p:bldP spid="126" grpId="0" animBg="1"/>
      <p:bldP spid="127" grpId="0"/>
      <p:bldP spid="128" grpId="0"/>
      <p:bldP spid="129" grpId="0"/>
      <p:bldP spid="130" grpId="0" animBg="1"/>
      <p:bldP spid="133" grpId="0" animBg="1"/>
      <p:bldP spid="134" grpId="0"/>
      <p:bldP spid="135" grpId="0"/>
      <p:bldP spid="138" grpId="0"/>
      <p:bldP spid="142" grpId="0" animBg="1"/>
      <p:bldP spid="146" grpId="0"/>
      <p:bldP spid="70" grpId="0" animBg="1"/>
      <p:bldP spid="71" grpId="0" animBg="1"/>
      <p:bldP spid="72" grpId="0" animBg="1"/>
      <p:bldP spid="15" grpId="0"/>
      <p:bldP spid="76" grpId="0"/>
      <p:bldP spid="7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reeform 2" descr="Diagonal hacia arriba ancha"/>
          <p:cNvSpPr>
            <a:spLocks/>
          </p:cNvSpPr>
          <p:nvPr/>
        </p:nvSpPr>
        <p:spPr bwMode="auto">
          <a:xfrm>
            <a:off x="4595813" y="2305050"/>
            <a:ext cx="263525" cy="4281488"/>
          </a:xfrm>
          <a:custGeom>
            <a:avLst/>
            <a:gdLst/>
            <a:ahLst/>
            <a:cxnLst>
              <a:cxn ang="0">
                <a:pos x="166" y="0"/>
              </a:cxn>
              <a:cxn ang="0">
                <a:pos x="11" y="17"/>
              </a:cxn>
              <a:cxn ang="0">
                <a:pos x="0" y="152"/>
              </a:cxn>
              <a:cxn ang="0">
                <a:pos x="16" y="1138"/>
              </a:cxn>
              <a:cxn ang="0">
                <a:pos x="16" y="1365"/>
              </a:cxn>
              <a:cxn ang="0">
                <a:pos x="8" y="1561"/>
              </a:cxn>
              <a:cxn ang="0">
                <a:pos x="0" y="2517"/>
              </a:cxn>
              <a:cxn ang="0">
                <a:pos x="24" y="2697"/>
              </a:cxn>
              <a:cxn ang="0">
                <a:pos x="119" y="2687"/>
              </a:cxn>
              <a:cxn ang="0">
                <a:pos x="153" y="2463"/>
              </a:cxn>
              <a:cxn ang="0">
                <a:pos x="160" y="1399"/>
              </a:cxn>
              <a:cxn ang="0">
                <a:pos x="166" y="0"/>
              </a:cxn>
            </a:cxnLst>
            <a:rect l="0" t="0" r="r" b="b"/>
            <a:pathLst>
              <a:path w="166" h="2697">
                <a:moveTo>
                  <a:pt x="166" y="0"/>
                </a:moveTo>
                <a:lnTo>
                  <a:pt x="11" y="17"/>
                </a:lnTo>
                <a:lnTo>
                  <a:pt x="0" y="152"/>
                </a:lnTo>
                <a:lnTo>
                  <a:pt x="16" y="1138"/>
                </a:lnTo>
                <a:lnTo>
                  <a:pt x="16" y="1365"/>
                </a:lnTo>
                <a:lnTo>
                  <a:pt x="8" y="1561"/>
                </a:lnTo>
                <a:lnTo>
                  <a:pt x="0" y="2517"/>
                </a:lnTo>
                <a:lnTo>
                  <a:pt x="24" y="2697"/>
                </a:lnTo>
                <a:lnTo>
                  <a:pt x="119" y="2687"/>
                </a:lnTo>
                <a:cubicBezTo>
                  <a:pt x="141" y="2648"/>
                  <a:pt x="146" y="2678"/>
                  <a:pt x="153" y="2463"/>
                </a:cubicBezTo>
                <a:lnTo>
                  <a:pt x="160" y="1399"/>
                </a:lnTo>
                <a:lnTo>
                  <a:pt x="166" y="0"/>
                </a:lnTo>
                <a:close/>
              </a:path>
            </a:pathLst>
          </a:custGeom>
          <a:pattFill prst="wdUpDiag">
            <a:fgClr>
              <a:srgbClr val="C0C0C0">
                <a:alpha val="57001"/>
              </a:srgbClr>
            </a:fgClr>
            <a:bgClr>
              <a:schemeClr val="bg1">
                <a:alpha val="57001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291" name="Freeform 3" descr="Onda"/>
          <p:cNvSpPr>
            <a:spLocks/>
          </p:cNvSpPr>
          <p:nvPr/>
        </p:nvSpPr>
        <p:spPr bwMode="auto">
          <a:xfrm>
            <a:off x="66675" y="2233613"/>
            <a:ext cx="4505325" cy="4475162"/>
          </a:xfrm>
          <a:custGeom>
            <a:avLst/>
            <a:gdLst/>
            <a:ahLst/>
            <a:cxnLst>
              <a:cxn ang="0">
                <a:pos x="2838" y="2788"/>
              </a:cxn>
              <a:cxn ang="0">
                <a:pos x="2469" y="2819"/>
              </a:cxn>
              <a:cxn ang="0">
                <a:pos x="2211" y="2819"/>
              </a:cxn>
              <a:cxn ang="0">
                <a:pos x="429" y="2819"/>
              </a:cxn>
              <a:cxn ang="0">
                <a:pos x="273" y="2535"/>
              </a:cxn>
              <a:cxn ang="0">
                <a:pos x="192" y="1993"/>
              </a:cxn>
              <a:cxn ang="0">
                <a:pos x="300" y="997"/>
              </a:cxn>
              <a:cxn ang="0">
                <a:pos x="348" y="14"/>
              </a:cxn>
              <a:cxn ang="0">
                <a:pos x="2387" y="0"/>
              </a:cxn>
              <a:cxn ang="0">
                <a:pos x="2831" y="36"/>
              </a:cxn>
            </a:cxnLst>
            <a:rect l="0" t="0" r="r" b="b"/>
            <a:pathLst>
              <a:path w="2838" h="2819">
                <a:moveTo>
                  <a:pt x="2838" y="2788"/>
                </a:moveTo>
                <a:cubicBezTo>
                  <a:pt x="2778" y="2793"/>
                  <a:pt x="2574" y="2814"/>
                  <a:pt x="2469" y="2819"/>
                </a:cubicBezTo>
                <a:lnTo>
                  <a:pt x="2211" y="2819"/>
                </a:lnTo>
                <a:lnTo>
                  <a:pt x="429" y="2819"/>
                </a:lnTo>
                <a:lnTo>
                  <a:pt x="273" y="2535"/>
                </a:lnTo>
                <a:cubicBezTo>
                  <a:pt x="280" y="2475"/>
                  <a:pt x="195" y="2193"/>
                  <a:pt x="192" y="1993"/>
                </a:cubicBezTo>
                <a:cubicBezTo>
                  <a:pt x="189" y="1793"/>
                  <a:pt x="270" y="1197"/>
                  <a:pt x="300" y="997"/>
                </a:cubicBezTo>
                <a:cubicBezTo>
                  <a:pt x="454" y="756"/>
                  <a:pt x="0" y="180"/>
                  <a:pt x="348" y="14"/>
                </a:cubicBezTo>
                <a:lnTo>
                  <a:pt x="2387" y="0"/>
                </a:lnTo>
                <a:lnTo>
                  <a:pt x="2831" y="36"/>
                </a:lnTo>
              </a:path>
            </a:pathLst>
          </a:custGeom>
          <a:pattFill prst="wave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539750" y="4252913"/>
            <a:ext cx="83534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 flipV="1">
            <a:off x="4586288" y="1957388"/>
            <a:ext cx="0" cy="464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8388350" y="4144963"/>
            <a:ext cx="357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x</a:t>
            </a: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4208463" y="1901825"/>
            <a:ext cx="3571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>
                <a:latin typeface="Tahoma" pitchFamily="34" charset="0"/>
              </a:rPr>
              <a:t> </a:t>
            </a:r>
            <a:r>
              <a:rPr lang="es-ES_tradnl" i="1">
                <a:latin typeface="Times New Roman" pitchFamily="18" charset="0"/>
              </a:rPr>
              <a:t>y</a:t>
            </a: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4116388" y="60563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n</a:t>
            </a:r>
          </a:p>
        </p:txBody>
      </p:sp>
      <p:sp>
        <p:nvSpPr>
          <p:cNvPr id="12307" name="Arc 19"/>
          <p:cNvSpPr>
            <a:spLocks/>
          </p:cNvSpPr>
          <p:nvPr/>
        </p:nvSpPr>
        <p:spPr bwMode="auto">
          <a:xfrm rot="9764590" flipV="1">
            <a:off x="3708400" y="3998913"/>
            <a:ext cx="280988" cy="231775"/>
          </a:xfrm>
          <a:custGeom>
            <a:avLst/>
            <a:gdLst>
              <a:gd name="G0" fmla="+- 0 0 0"/>
              <a:gd name="G1" fmla="+- 15821 0 0"/>
              <a:gd name="G2" fmla="+- 21600 0 0"/>
              <a:gd name="T0" fmla="*/ 14706 w 21600"/>
              <a:gd name="T1" fmla="*/ 0 h 23937"/>
              <a:gd name="T2" fmla="*/ 20017 w 21600"/>
              <a:gd name="T3" fmla="*/ 23937 h 23937"/>
              <a:gd name="T4" fmla="*/ 0 w 21600"/>
              <a:gd name="T5" fmla="*/ 15821 h 23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3937" fill="none" extrusionOk="0">
                <a:moveTo>
                  <a:pt x="14705" y="0"/>
                </a:moveTo>
                <a:cubicBezTo>
                  <a:pt x="19102" y="4086"/>
                  <a:pt x="21600" y="9818"/>
                  <a:pt x="21600" y="15821"/>
                </a:cubicBezTo>
                <a:cubicBezTo>
                  <a:pt x="21600" y="18603"/>
                  <a:pt x="21062" y="21358"/>
                  <a:pt x="20017" y="23937"/>
                </a:cubicBezTo>
              </a:path>
              <a:path w="21600" h="23937" stroke="0" extrusionOk="0">
                <a:moveTo>
                  <a:pt x="14705" y="0"/>
                </a:moveTo>
                <a:cubicBezTo>
                  <a:pt x="19102" y="4086"/>
                  <a:pt x="21600" y="9818"/>
                  <a:pt x="21600" y="15821"/>
                </a:cubicBezTo>
                <a:cubicBezTo>
                  <a:pt x="21600" y="18603"/>
                  <a:pt x="21062" y="21358"/>
                  <a:pt x="20017" y="23937"/>
                </a:cubicBezTo>
                <a:lnTo>
                  <a:pt x="0" y="1582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3779838" y="4187825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i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graphicFrame>
        <p:nvGraphicFramePr>
          <p:cNvPr id="12309" name="Object 21"/>
          <p:cNvGraphicFramePr>
            <a:graphicFrameLocks noChangeAspect="1"/>
          </p:cNvGraphicFramePr>
          <p:nvPr/>
        </p:nvGraphicFramePr>
        <p:xfrm>
          <a:off x="2195513" y="115888"/>
          <a:ext cx="2033587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2" name="Ecuación" r:id="rId3" imgW="1269720" imgH="419040" progId="Equation.3">
                  <p:embed/>
                </p:oleObj>
              </mc:Choice>
              <mc:Fallback>
                <p:oleObj name="Ecuación" r:id="rId3" imgW="1269720" imgH="41904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15888"/>
                        <a:ext cx="2033587" cy="6699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4611688" y="803275"/>
            <a:ext cx="712787" cy="366713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solidFill>
                  <a:srgbClr val="FF9900"/>
                </a:solidFill>
                <a:latin typeface="Times New Roman" pitchFamily="18" charset="0"/>
              </a:rPr>
              <a:t>R</a:t>
            </a:r>
            <a:r>
              <a:rPr lang="es-ES_tradnl">
                <a:solidFill>
                  <a:srgbClr val="FF9900"/>
                </a:solidFill>
                <a:latin typeface="Times New Roman" pitchFamily="18" charset="0"/>
                <a:sym typeface="Symbol" pitchFamily="18" charset="2"/>
              </a:rPr>
              <a:t></a:t>
            </a:r>
            <a:endParaRPr lang="es-ES_tradnl">
              <a:solidFill>
                <a:srgbClr val="FF9900"/>
              </a:solidFill>
              <a:latin typeface="Times New Roman" pitchFamily="18" charset="0"/>
            </a:endParaRPr>
          </a:p>
        </p:txBody>
      </p:sp>
      <p:sp>
        <p:nvSpPr>
          <p:cNvPr id="12311" name="Freeform 23"/>
          <p:cNvSpPr>
            <a:spLocks/>
          </p:cNvSpPr>
          <p:nvPr/>
        </p:nvSpPr>
        <p:spPr bwMode="auto">
          <a:xfrm>
            <a:off x="2065338" y="3273425"/>
            <a:ext cx="2484437" cy="1588"/>
          </a:xfrm>
          <a:custGeom>
            <a:avLst/>
            <a:gdLst/>
            <a:ahLst/>
            <a:cxnLst>
              <a:cxn ang="0">
                <a:pos x="0" y="13"/>
              </a:cxn>
              <a:cxn ang="0">
                <a:pos x="1565" y="0"/>
              </a:cxn>
            </a:cxnLst>
            <a:rect l="0" t="0" r="r" b="b"/>
            <a:pathLst>
              <a:path w="1565" h="13">
                <a:moveTo>
                  <a:pt x="0" y="13"/>
                </a:moveTo>
                <a:lnTo>
                  <a:pt x="1565" y="0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graphicFrame>
        <p:nvGraphicFramePr>
          <p:cNvPr id="12313" name="Object 25"/>
          <p:cNvGraphicFramePr>
            <a:graphicFrameLocks noChangeAspect="1"/>
          </p:cNvGraphicFramePr>
          <p:nvPr/>
        </p:nvGraphicFramePr>
        <p:xfrm>
          <a:off x="4859338" y="115888"/>
          <a:ext cx="1279525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3" name="Ecuación" r:id="rId5" imgW="799920" imgH="393480" progId="Equation.3">
                  <p:embed/>
                </p:oleObj>
              </mc:Choice>
              <mc:Fallback>
                <p:oleObj name="Ecuación" r:id="rId5" imgW="799920" imgH="3934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15888"/>
                        <a:ext cx="1279525" cy="63023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4" name="Line 26"/>
          <p:cNvSpPr>
            <a:spLocks noChangeShapeType="1"/>
          </p:cNvSpPr>
          <p:nvPr/>
        </p:nvSpPr>
        <p:spPr bwMode="auto">
          <a:xfrm flipV="1">
            <a:off x="2051050" y="3252788"/>
            <a:ext cx="0" cy="10080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316" name="Text Box 28"/>
          <p:cNvSpPr txBox="1">
            <a:spLocks noChangeArrowheads="1"/>
          </p:cNvSpPr>
          <p:nvPr/>
        </p:nvSpPr>
        <p:spPr bwMode="auto">
          <a:xfrm>
            <a:off x="1841500" y="2930525"/>
            <a:ext cx="376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</a:p>
        </p:txBody>
      </p:sp>
      <p:sp>
        <p:nvSpPr>
          <p:cNvPr id="12317" name="Text Box 29"/>
          <p:cNvSpPr txBox="1">
            <a:spLocks noChangeArrowheads="1"/>
          </p:cNvSpPr>
          <p:nvPr/>
        </p:nvSpPr>
        <p:spPr bwMode="auto">
          <a:xfrm>
            <a:off x="1763713" y="36052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h</a:t>
            </a:r>
          </a:p>
        </p:txBody>
      </p:sp>
      <p:sp>
        <p:nvSpPr>
          <p:cNvPr id="12321" name="Text Box 33"/>
          <p:cNvSpPr txBox="1">
            <a:spLocks noChangeArrowheads="1"/>
          </p:cNvSpPr>
          <p:nvPr/>
        </p:nvSpPr>
        <p:spPr bwMode="auto">
          <a:xfrm>
            <a:off x="3806825" y="3978275"/>
            <a:ext cx="24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i</a:t>
            </a:r>
          </a:p>
        </p:txBody>
      </p:sp>
      <p:sp>
        <p:nvSpPr>
          <p:cNvPr id="12325" name="Text Box 37"/>
          <p:cNvSpPr txBox="1">
            <a:spLocks noChangeArrowheads="1"/>
          </p:cNvSpPr>
          <p:nvPr/>
        </p:nvSpPr>
        <p:spPr bwMode="auto">
          <a:xfrm>
            <a:off x="6953250" y="2924175"/>
            <a:ext cx="40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B</a:t>
            </a:r>
            <a:r>
              <a:rPr lang="es-ES_tradnl">
                <a:latin typeface="Times New Roman" pitchFamily="18" charset="0"/>
              </a:rPr>
              <a:t>’</a:t>
            </a:r>
          </a:p>
        </p:txBody>
      </p:sp>
      <p:sp>
        <p:nvSpPr>
          <p:cNvPr id="12326" name="Text Box 38"/>
          <p:cNvSpPr txBox="1">
            <a:spLocks noChangeArrowheads="1"/>
          </p:cNvSpPr>
          <p:nvPr/>
        </p:nvSpPr>
        <p:spPr bwMode="auto">
          <a:xfrm>
            <a:off x="7092950" y="367823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i="1">
                <a:latin typeface="Times New Roman" pitchFamily="18" charset="0"/>
              </a:rPr>
              <a:t>h</a:t>
            </a:r>
            <a:r>
              <a:rPr lang="es-ES_tradnl">
                <a:latin typeface="Times New Roman" pitchFamily="18" charset="0"/>
              </a:rPr>
              <a:t>’</a:t>
            </a:r>
            <a:endParaRPr lang="es-ES_tradnl" i="1">
              <a:latin typeface="Times New Roman" pitchFamily="18" charset="0"/>
            </a:endParaRPr>
          </a:p>
        </p:txBody>
      </p:sp>
      <p:sp>
        <p:nvSpPr>
          <p:cNvPr id="12327" name="Freeform 39"/>
          <p:cNvSpPr>
            <a:spLocks/>
          </p:cNvSpPr>
          <p:nvPr/>
        </p:nvSpPr>
        <p:spPr bwMode="auto">
          <a:xfrm>
            <a:off x="2033588" y="3282950"/>
            <a:ext cx="2516187" cy="9683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85" y="610"/>
              </a:cxn>
            </a:cxnLst>
            <a:rect l="0" t="0" r="r" b="b"/>
            <a:pathLst>
              <a:path w="1585" h="610">
                <a:moveTo>
                  <a:pt x="0" y="0"/>
                </a:moveTo>
                <a:lnTo>
                  <a:pt x="1585" y="610"/>
                </a:lnTo>
              </a:path>
            </a:pathLst>
          </a:custGeom>
          <a:noFill/>
          <a:ln w="25400">
            <a:solidFill>
              <a:srgbClr val="FF00FF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332" name="Arc 44"/>
          <p:cNvSpPr>
            <a:spLocks/>
          </p:cNvSpPr>
          <p:nvPr/>
        </p:nvSpPr>
        <p:spPr bwMode="auto">
          <a:xfrm rot="9764590" flipV="1">
            <a:off x="3708400" y="4289425"/>
            <a:ext cx="280988" cy="231775"/>
          </a:xfrm>
          <a:custGeom>
            <a:avLst/>
            <a:gdLst>
              <a:gd name="G0" fmla="+- 0 0 0"/>
              <a:gd name="G1" fmla="+- 15821 0 0"/>
              <a:gd name="G2" fmla="+- 21600 0 0"/>
              <a:gd name="T0" fmla="*/ 14706 w 21600"/>
              <a:gd name="T1" fmla="*/ 0 h 23937"/>
              <a:gd name="T2" fmla="*/ 20017 w 21600"/>
              <a:gd name="T3" fmla="*/ 23937 h 23937"/>
              <a:gd name="T4" fmla="*/ 0 w 21600"/>
              <a:gd name="T5" fmla="*/ 15821 h 23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3937" fill="none" extrusionOk="0">
                <a:moveTo>
                  <a:pt x="14705" y="0"/>
                </a:moveTo>
                <a:cubicBezTo>
                  <a:pt x="19102" y="4086"/>
                  <a:pt x="21600" y="9818"/>
                  <a:pt x="21600" y="15821"/>
                </a:cubicBezTo>
                <a:cubicBezTo>
                  <a:pt x="21600" y="18603"/>
                  <a:pt x="21062" y="21358"/>
                  <a:pt x="20017" y="23937"/>
                </a:cubicBezTo>
              </a:path>
              <a:path w="21600" h="23937" stroke="0" extrusionOk="0">
                <a:moveTo>
                  <a:pt x="14705" y="0"/>
                </a:moveTo>
                <a:cubicBezTo>
                  <a:pt x="19102" y="4086"/>
                  <a:pt x="21600" y="9818"/>
                  <a:pt x="21600" y="15821"/>
                </a:cubicBezTo>
                <a:cubicBezTo>
                  <a:pt x="21600" y="18603"/>
                  <a:pt x="21062" y="21358"/>
                  <a:pt x="20017" y="23937"/>
                </a:cubicBezTo>
                <a:lnTo>
                  <a:pt x="0" y="1582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2334" name="Line 46"/>
          <p:cNvSpPr>
            <a:spLocks noChangeShapeType="1"/>
          </p:cNvSpPr>
          <p:nvPr/>
        </p:nvSpPr>
        <p:spPr bwMode="auto">
          <a:xfrm flipV="1">
            <a:off x="4579938" y="2311400"/>
            <a:ext cx="0" cy="4321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335" name="Line 47"/>
          <p:cNvSpPr>
            <a:spLocks noChangeShapeType="1"/>
          </p:cNvSpPr>
          <p:nvPr/>
        </p:nvSpPr>
        <p:spPr bwMode="auto">
          <a:xfrm>
            <a:off x="4572000" y="692150"/>
            <a:ext cx="0" cy="611188"/>
          </a:xfrm>
          <a:prstGeom prst="line">
            <a:avLst/>
          </a:prstGeom>
          <a:noFill/>
          <a:ln w="38100" cmpd="dbl">
            <a:solidFill>
              <a:srgbClr val="FF66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graphicFrame>
        <p:nvGraphicFramePr>
          <p:cNvPr id="12336" name="Object 48"/>
          <p:cNvGraphicFramePr>
            <a:graphicFrameLocks noChangeAspect="1"/>
          </p:cNvGraphicFramePr>
          <p:nvPr/>
        </p:nvGraphicFramePr>
        <p:xfrm>
          <a:off x="3563938" y="1341438"/>
          <a:ext cx="692150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4" name="Ecuación" r:id="rId7" imgW="431640" imgH="177480" progId="Equation.3">
                  <p:embed/>
                </p:oleObj>
              </mc:Choice>
              <mc:Fallback>
                <p:oleObj name="Ecuación" r:id="rId7" imgW="431640" imgH="17748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341438"/>
                        <a:ext cx="692150" cy="2841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37" name="Object 49"/>
          <p:cNvGraphicFramePr>
            <a:graphicFrameLocks noChangeAspect="1"/>
          </p:cNvGraphicFramePr>
          <p:nvPr/>
        </p:nvGraphicFramePr>
        <p:xfrm>
          <a:off x="5002213" y="1196975"/>
          <a:ext cx="1017587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5" name="Ecuación" r:id="rId9" imgW="634680" imgH="393480" progId="Equation.3">
                  <p:embed/>
                </p:oleObj>
              </mc:Choice>
              <mc:Fallback>
                <p:oleObj name="Ecuación" r:id="rId9" imgW="634680" imgH="39348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2213" y="1196975"/>
                        <a:ext cx="1017587" cy="63023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38" name="Text Box 50"/>
          <p:cNvSpPr txBox="1">
            <a:spLocks noChangeArrowheads="1"/>
          </p:cNvSpPr>
          <p:nvPr/>
        </p:nvSpPr>
        <p:spPr bwMode="auto">
          <a:xfrm>
            <a:off x="780110" y="1253752"/>
            <a:ext cx="19672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400" dirty="0"/>
              <a:t>Espejo plano</a:t>
            </a:r>
          </a:p>
        </p:txBody>
      </p:sp>
      <p:sp>
        <p:nvSpPr>
          <p:cNvPr id="12339" name="Line 51"/>
          <p:cNvSpPr>
            <a:spLocks noChangeShapeType="1"/>
          </p:cNvSpPr>
          <p:nvPr/>
        </p:nvSpPr>
        <p:spPr bwMode="auto">
          <a:xfrm flipV="1">
            <a:off x="7092950" y="3244850"/>
            <a:ext cx="0" cy="1008063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none" w="lg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340" name="Freeform 52"/>
          <p:cNvSpPr>
            <a:spLocks/>
          </p:cNvSpPr>
          <p:nvPr/>
        </p:nvSpPr>
        <p:spPr bwMode="auto">
          <a:xfrm>
            <a:off x="2663825" y="3268663"/>
            <a:ext cx="1908175" cy="1587"/>
          </a:xfrm>
          <a:custGeom>
            <a:avLst/>
            <a:gdLst/>
            <a:ahLst/>
            <a:cxnLst>
              <a:cxn ang="0">
                <a:pos x="1429" y="3"/>
              </a:cxn>
              <a:cxn ang="0">
                <a:pos x="0" y="0"/>
              </a:cxn>
            </a:cxnLst>
            <a:rect l="0" t="0" r="r" b="b"/>
            <a:pathLst>
              <a:path w="1429" h="3">
                <a:moveTo>
                  <a:pt x="1429" y="3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 type="none" w="med" len="med"/>
            <a:tailEnd type="triangl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341" name="Freeform 53"/>
          <p:cNvSpPr>
            <a:spLocks/>
          </p:cNvSpPr>
          <p:nvPr/>
        </p:nvSpPr>
        <p:spPr bwMode="auto">
          <a:xfrm>
            <a:off x="4572000" y="3262313"/>
            <a:ext cx="3654425" cy="15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302" y="8"/>
              </a:cxn>
            </a:cxnLst>
            <a:rect l="0" t="0" r="r" b="b"/>
            <a:pathLst>
              <a:path w="2302" h="8">
                <a:moveTo>
                  <a:pt x="0" y="0"/>
                </a:moveTo>
                <a:lnTo>
                  <a:pt x="2302" y="8"/>
                </a:lnTo>
              </a:path>
            </a:pathLst>
          </a:custGeom>
          <a:noFill/>
          <a:ln w="25400" cap="flat">
            <a:solidFill>
              <a:srgbClr val="0000FF"/>
            </a:solidFill>
            <a:prstDash val="lgDash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342" name="Freeform 54"/>
          <p:cNvSpPr>
            <a:spLocks noChangeAspect="1"/>
          </p:cNvSpPr>
          <p:nvPr/>
        </p:nvSpPr>
        <p:spPr bwMode="auto">
          <a:xfrm flipV="1">
            <a:off x="1547813" y="4259263"/>
            <a:ext cx="3019425" cy="11620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85" y="610"/>
              </a:cxn>
            </a:cxnLst>
            <a:rect l="0" t="0" r="r" b="b"/>
            <a:pathLst>
              <a:path w="1585" h="610">
                <a:moveTo>
                  <a:pt x="0" y="0"/>
                </a:moveTo>
                <a:lnTo>
                  <a:pt x="1585" y="610"/>
                </a:lnTo>
              </a:path>
            </a:pathLst>
          </a:custGeom>
          <a:noFill/>
          <a:ln w="25400">
            <a:solidFill>
              <a:srgbClr val="FF00FF"/>
            </a:solidFill>
            <a:round/>
            <a:headEnd type="triangle" w="lg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343" name="Freeform 55"/>
          <p:cNvSpPr>
            <a:spLocks noChangeAspect="1"/>
          </p:cNvSpPr>
          <p:nvPr/>
        </p:nvSpPr>
        <p:spPr bwMode="auto">
          <a:xfrm flipV="1">
            <a:off x="4603750" y="3135313"/>
            <a:ext cx="2843213" cy="10937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85" y="610"/>
              </a:cxn>
            </a:cxnLst>
            <a:rect l="0" t="0" r="r" b="b"/>
            <a:pathLst>
              <a:path w="1585" h="610">
                <a:moveTo>
                  <a:pt x="0" y="0"/>
                </a:moveTo>
                <a:lnTo>
                  <a:pt x="1585" y="610"/>
                </a:lnTo>
              </a:path>
            </a:pathLst>
          </a:custGeom>
          <a:noFill/>
          <a:ln w="25400" cap="flat">
            <a:solidFill>
              <a:srgbClr val="FF00FF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344" name="Text Box 56"/>
          <p:cNvSpPr txBox="1">
            <a:spLocks noChangeArrowheads="1"/>
          </p:cNvSpPr>
          <p:nvPr/>
        </p:nvSpPr>
        <p:spPr bwMode="auto">
          <a:xfrm>
            <a:off x="6156325" y="1773238"/>
            <a:ext cx="28638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/>
              <a:t>Imagen virtual, </a:t>
            </a:r>
          </a:p>
          <a:p>
            <a:r>
              <a:rPr lang="es-ES_tradnl"/>
              <a:t>igual tamaño que el objeto</a:t>
            </a:r>
          </a:p>
          <a:p>
            <a:r>
              <a:rPr lang="es-ES_tradnl"/>
              <a:t>y derecha</a:t>
            </a:r>
          </a:p>
          <a:p>
            <a:r>
              <a:rPr lang="es-ES_tradnl"/>
              <a:t>(</a:t>
            </a:r>
            <a:r>
              <a:rPr lang="es-ES_tradnl" sz="1600"/>
              <a:t>imagen simétrica)</a:t>
            </a:r>
            <a:endParaRPr lang="es-ES_tradnl"/>
          </a:p>
        </p:txBody>
      </p:sp>
      <p:sp>
        <p:nvSpPr>
          <p:cNvPr id="12345" name="AutoShape 57" descr="Cuadrícula grande"/>
          <p:cNvSpPr>
            <a:spLocks noChangeArrowheads="1"/>
          </p:cNvSpPr>
          <p:nvPr/>
        </p:nvSpPr>
        <p:spPr bwMode="auto">
          <a:xfrm rot="19868161" flipV="1">
            <a:off x="3059113" y="5445125"/>
            <a:ext cx="1081087" cy="719138"/>
          </a:xfrm>
          <a:prstGeom prst="rtTriangle">
            <a:avLst/>
          </a:prstGeom>
          <a:pattFill prst="lgGrid">
            <a:fgClr>
              <a:srgbClr val="FFCC99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2346" name="AutoShape 58" descr="Cuadrícula grande"/>
          <p:cNvSpPr>
            <a:spLocks noChangeArrowheads="1"/>
          </p:cNvSpPr>
          <p:nvPr/>
        </p:nvSpPr>
        <p:spPr bwMode="auto">
          <a:xfrm rot="1731839" flipH="1" flipV="1">
            <a:off x="5037138" y="5449888"/>
            <a:ext cx="1081087" cy="719137"/>
          </a:xfrm>
          <a:prstGeom prst="rtTriangle">
            <a:avLst/>
          </a:prstGeom>
          <a:pattFill prst="lgGrid">
            <a:fgClr>
              <a:srgbClr val="FFCC99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2349" name="Line 61"/>
          <p:cNvSpPr>
            <a:spLocks noChangeShapeType="1"/>
          </p:cNvSpPr>
          <p:nvPr/>
        </p:nvSpPr>
        <p:spPr bwMode="auto">
          <a:xfrm>
            <a:off x="3851275" y="5256213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350" name="Line 62"/>
          <p:cNvSpPr>
            <a:spLocks noChangeShapeType="1"/>
          </p:cNvSpPr>
          <p:nvPr/>
        </p:nvSpPr>
        <p:spPr bwMode="auto">
          <a:xfrm>
            <a:off x="4572000" y="5256213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351" name="Line 63"/>
          <p:cNvSpPr>
            <a:spLocks noChangeShapeType="1"/>
          </p:cNvSpPr>
          <p:nvPr/>
        </p:nvSpPr>
        <p:spPr bwMode="auto">
          <a:xfrm>
            <a:off x="2959100" y="5772150"/>
            <a:ext cx="1619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352" name="Line 64"/>
          <p:cNvSpPr>
            <a:spLocks noChangeShapeType="1"/>
          </p:cNvSpPr>
          <p:nvPr/>
        </p:nvSpPr>
        <p:spPr bwMode="auto">
          <a:xfrm>
            <a:off x="4608513" y="5772150"/>
            <a:ext cx="1619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353" name="Line 65"/>
          <p:cNvSpPr>
            <a:spLocks noChangeShapeType="1"/>
          </p:cNvSpPr>
          <p:nvPr/>
        </p:nvSpPr>
        <p:spPr bwMode="auto">
          <a:xfrm>
            <a:off x="3313113" y="6381750"/>
            <a:ext cx="1258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354" name="Line 66"/>
          <p:cNvSpPr>
            <a:spLocks noChangeShapeType="1"/>
          </p:cNvSpPr>
          <p:nvPr/>
        </p:nvSpPr>
        <p:spPr bwMode="auto">
          <a:xfrm>
            <a:off x="4572000" y="6381750"/>
            <a:ext cx="1258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2356" name="Text Box 68"/>
          <p:cNvSpPr txBox="1">
            <a:spLocks noChangeArrowheads="1"/>
          </p:cNvSpPr>
          <p:nvPr/>
        </p:nvSpPr>
        <p:spPr bwMode="auto">
          <a:xfrm>
            <a:off x="8675688" y="6564313"/>
            <a:ext cx="35458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 dirty="0">
                <a:solidFill>
                  <a:srgbClr val="FF9900"/>
                </a:solidFill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2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2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2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2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nimBg="1"/>
      <p:bldP spid="12291" grpId="0" animBg="1"/>
      <p:bldP spid="12293" grpId="0" animBg="1"/>
      <p:bldP spid="12294" grpId="0" animBg="1"/>
      <p:bldP spid="12295" grpId="0"/>
      <p:bldP spid="12296" grpId="0"/>
      <p:bldP spid="12298" grpId="0"/>
      <p:bldP spid="12307" grpId="0" animBg="1"/>
      <p:bldP spid="12308" grpId="0"/>
      <p:bldP spid="12310" grpId="0"/>
      <p:bldP spid="12311" grpId="0" animBg="1"/>
      <p:bldP spid="12314" grpId="0" animBg="1"/>
      <p:bldP spid="12316" grpId="0"/>
      <p:bldP spid="12317" grpId="0"/>
      <p:bldP spid="12321" grpId="0"/>
      <p:bldP spid="12325" grpId="0"/>
      <p:bldP spid="12326" grpId="0"/>
      <p:bldP spid="12327" grpId="0" animBg="1"/>
      <p:bldP spid="12332" grpId="0" animBg="1"/>
      <p:bldP spid="12334" grpId="0" animBg="1"/>
      <p:bldP spid="12335" grpId="0" animBg="1"/>
      <p:bldP spid="12338" grpId="0"/>
      <p:bldP spid="12339" grpId="0" animBg="1"/>
      <p:bldP spid="12340" grpId="0" animBg="1"/>
      <p:bldP spid="12341" grpId="0" animBg="1"/>
      <p:bldP spid="12342" grpId="0" animBg="1"/>
      <p:bldP spid="12343" grpId="0" animBg="1"/>
      <p:bldP spid="12344" grpId="0"/>
      <p:bldP spid="12345" grpId="0" animBg="1"/>
      <p:bldP spid="12346" grpId="0" animBg="1"/>
      <p:bldP spid="12349" grpId="0" animBg="1"/>
      <p:bldP spid="12350" grpId="0" animBg="1"/>
      <p:bldP spid="12351" grpId="0" animBg="1"/>
      <p:bldP spid="12352" grpId="0" animBg="1"/>
      <p:bldP spid="12353" grpId="0" animBg="1"/>
      <p:bldP spid="12354" grpId="0" animBg="1"/>
      <p:bldP spid="1235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4" name="Freeform 14" descr="Horizontal clara"/>
          <p:cNvSpPr>
            <a:spLocks/>
          </p:cNvSpPr>
          <p:nvPr/>
        </p:nvSpPr>
        <p:spPr bwMode="auto">
          <a:xfrm>
            <a:off x="2121629" y="-228600"/>
            <a:ext cx="7300913" cy="2928938"/>
          </a:xfrm>
          <a:custGeom>
            <a:avLst/>
            <a:gdLst/>
            <a:ahLst/>
            <a:cxnLst>
              <a:cxn ang="0">
                <a:pos x="1108" y="58"/>
              </a:cxn>
              <a:cxn ang="0">
                <a:pos x="0" y="1845"/>
              </a:cxn>
              <a:cxn ang="0">
                <a:pos x="2857" y="1845"/>
              </a:cxn>
              <a:cxn ang="0">
                <a:pos x="4445" y="1256"/>
              </a:cxn>
              <a:cxn ang="0">
                <a:pos x="4442" y="193"/>
              </a:cxn>
              <a:cxn ang="0">
                <a:pos x="4043" y="98"/>
              </a:cxn>
              <a:cxn ang="0">
                <a:pos x="1108" y="58"/>
              </a:cxn>
            </a:cxnLst>
            <a:rect l="0" t="0" r="r" b="b"/>
            <a:pathLst>
              <a:path w="4599" h="1845">
                <a:moveTo>
                  <a:pt x="1108" y="58"/>
                </a:moveTo>
                <a:lnTo>
                  <a:pt x="0" y="1845"/>
                </a:lnTo>
                <a:lnTo>
                  <a:pt x="2857" y="1845"/>
                </a:lnTo>
                <a:lnTo>
                  <a:pt x="4445" y="1256"/>
                </a:lnTo>
                <a:lnTo>
                  <a:pt x="4442" y="193"/>
                </a:lnTo>
                <a:cubicBezTo>
                  <a:pt x="4375" y="0"/>
                  <a:pt x="4599" y="121"/>
                  <a:pt x="4043" y="98"/>
                </a:cubicBezTo>
                <a:cubicBezTo>
                  <a:pt x="3487" y="75"/>
                  <a:pt x="1108" y="58"/>
                  <a:pt x="1108" y="58"/>
                </a:cubicBezTo>
                <a:close/>
              </a:path>
            </a:pathLst>
          </a:custGeom>
          <a:pattFill prst="ltHorz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367" name="Rectangle 7" descr="Diagonal hacia arriba ancha"/>
          <p:cNvSpPr>
            <a:spLocks noChangeArrowheads="1"/>
          </p:cNvSpPr>
          <p:nvPr/>
        </p:nvSpPr>
        <p:spPr bwMode="auto">
          <a:xfrm>
            <a:off x="2124075" y="2708275"/>
            <a:ext cx="4535488" cy="144463"/>
          </a:xfrm>
          <a:prstGeom prst="rect">
            <a:avLst/>
          </a:prstGeom>
          <a:pattFill prst="wdUpDiag">
            <a:fgClr>
              <a:srgbClr val="969696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>
            <a:off x="2124075" y="2708275"/>
            <a:ext cx="45354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>
            <a:off x="827088" y="620713"/>
            <a:ext cx="1296987" cy="208756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triangle" w="lg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369" name="Line 9"/>
          <p:cNvSpPr>
            <a:spLocks noChangeShapeType="1"/>
          </p:cNvSpPr>
          <p:nvPr/>
        </p:nvSpPr>
        <p:spPr bwMode="auto">
          <a:xfrm flipV="1">
            <a:off x="2124075" y="765175"/>
            <a:ext cx="0" cy="24479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370" name="Line 10"/>
          <p:cNvSpPr>
            <a:spLocks noChangeShapeType="1"/>
          </p:cNvSpPr>
          <p:nvPr/>
        </p:nvSpPr>
        <p:spPr bwMode="auto">
          <a:xfrm flipH="1">
            <a:off x="2122488" y="636588"/>
            <a:ext cx="1296987" cy="208756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371" name="Line 11"/>
          <p:cNvSpPr>
            <a:spLocks noChangeShapeType="1"/>
          </p:cNvSpPr>
          <p:nvPr/>
        </p:nvSpPr>
        <p:spPr bwMode="auto">
          <a:xfrm>
            <a:off x="827088" y="620713"/>
            <a:ext cx="5832475" cy="2087562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 type="triangle" w="lg" len="med"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372" name="Line 12"/>
          <p:cNvSpPr>
            <a:spLocks noChangeShapeType="1"/>
          </p:cNvSpPr>
          <p:nvPr/>
        </p:nvSpPr>
        <p:spPr bwMode="auto">
          <a:xfrm flipV="1">
            <a:off x="6659563" y="836613"/>
            <a:ext cx="0" cy="24479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373" name="Freeform 13"/>
          <p:cNvSpPr>
            <a:spLocks/>
          </p:cNvSpPr>
          <p:nvPr/>
        </p:nvSpPr>
        <p:spPr bwMode="auto">
          <a:xfrm>
            <a:off x="6670675" y="1755775"/>
            <a:ext cx="2679700" cy="957263"/>
          </a:xfrm>
          <a:custGeom>
            <a:avLst/>
            <a:gdLst/>
            <a:ahLst/>
            <a:cxnLst>
              <a:cxn ang="0">
                <a:pos x="0" y="603"/>
              </a:cxn>
              <a:cxn ang="0">
                <a:pos x="1688" y="0"/>
              </a:cxn>
            </a:cxnLst>
            <a:rect l="0" t="0" r="r" b="b"/>
            <a:pathLst>
              <a:path w="1688" h="603">
                <a:moveTo>
                  <a:pt x="0" y="603"/>
                </a:moveTo>
                <a:lnTo>
                  <a:pt x="1688" y="0"/>
                </a:lnTo>
              </a:path>
            </a:pathLst>
          </a:custGeom>
          <a:noFill/>
          <a:ln w="25400">
            <a:solidFill>
              <a:srgbClr val="800080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grpSp>
        <p:nvGrpSpPr>
          <p:cNvPr id="15381" name="Group 21"/>
          <p:cNvGrpSpPr>
            <a:grpSpLocks/>
          </p:cNvGrpSpPr>
          <p:nvPr/>
        </p:nvGrpSpPr>
        <p:grpSpPr bwMode="auto">
          <a:xfrm rot="1900069">
            <a:off x="501650" y="377825"/>
            <a:ext cx="279400" cy="195263"/>
            <a:chOff x="703" y="2704"/>
            <a:chExt cx="176" cy="123"/>
          </a:xfrm>
        </p:grpSpPr>
        <p:sp>
          <p:nvSpPr>
            <p:cNvPr id="15375" name="Freeform 15"/>
            <p:cNvSpPr>
              <a:spLocks/>
            </p:cNvSpPr>
            <p:nvPr/>
          </p:nvSpPr>
          <p:spPr bwMode="auto">
            <a:xfrm>
              <a:off x="703" y="2750"/>
              <a:ext cx="152" cy="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2" y="77"/>
                </a:cxn>
              </a:cxnLst>
              <a:rect l="0" t="0" r="r" b="b"/>
              <a:pathLst>
                <a:path w="152" h="77">
                  <a:moveTo>
                    <a:pt x="0" y="0"/>
                  </a:moveTo>
                  <a:cubicBezTo>
                    <a:pt x="25" y="13"/>
                    <a:pt x="120" y="61"/>
                    <a:pt x="152" y="7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5378" name="AutoShape 18"/>
            <p:cNvSpPr>
              <a:spLocks noChangeArrowheads="1"/>
            </p:cNvSpPr>
            <p:nvPr/>
          </p:nvSpPr>
          <p:spPr bwMode="auto">
            <a:xfrm rot="33472207">
              <a:off x="827" y="2734"/>
              <a:ext cx="45" cy="91"/>
            </a:xfrm>
            <a:prstGeom prst="moon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5379" name="Arc 19"/>
            <p:cNvSpPr>
              <a:spLocks/>
            </p:cNvSpPr>
            <p:nvPr/>
          </p:nvSpPr>
          <p:spPr bwMode="auto">
            <a:xfrm flipV="1">
              <a:off x="703" y="2704"/>
              <a:ext cx="176" cy="46"/>
            </a:xfrm>
            <a:custGeom>
              <a:avLst/>
              <a:gdLst>
                <a:gd name="G0" fmla="+- 9328 0 0"/>
                <a:gd name="G1" fmla="+- 21600 0 0"/>
                <a:gd name="G2" fmla="+- 21600 0 0"/>
                <a:gd name="T0" fmla="*/ 0 w 30928"/>
                <a:gd name="T1" fmla="*/ 2118 h 21600"/>
                <a:gd name="T2" fmla="*/ 30928 w 30928"/>
                <a:gd name="T3" fmla="*/ 21600 h 21600"/>
                <a:gd name="T4" fmla="*/ 9328 w 3092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928" h="21600" fill="none" extrusionOk="0">
                  <a:moveTo>
                    <a:pt x="-1" y="2117"/>
                  </a:moveTo>
                  <a:cubicBezTo>
                    <a:pt x="2911" y="723"/>
                    <a:pt x="6099" y="-1"/>
                    <a:pt x="9328" y="0"/>
                  </a:cubicBezTo>
                  <a:cubicBezTo>
                    <a:pt x="21257" y="0"/>
                    <a:pt x="30928" y="9670"/>
                    <a:pt x="30928" y="21600"/>
                  </a:cubicBezTo>
                </a:path>
                <a:path w="30928" h="21600" stroke="0" extrusionOk="0">
                  <a:moveTo>
                    <a:pt x="-1" y="2117"/>
                  </a:moveTo>
                  <a:cubicBezTo>
                    <a:pt x="2911" y="723"/>
                    <a:pt x="6099" y="-1"/>
                    <a:pt x="9328" y="0"/>
                  </a:cubicBezTo>
                  <a:cubicBezTo>
                    <a:pt x="21257" y="0"/>
                    <a:pt x="30928" y="9670"/>
                    <a:pt x="30928" y="21600"/>
                  </a:cubicBezTo>
                  <a:lnTo>
                    <a:pt x="9328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15382" name="Freeform 22" descr="Horizontal clara"/>
          <p:cNvSpPr>
            <a:spLocks/>
          </p:cNvSpPr>
          <p:nvPr/>
        </p:nvSpPr>
        <p:spPr bwMode="auto">
          <a:xfrm>
            <a:off x="-1403350" y="3281363"/>
            <a:ext cx="10525125" cy="2860675"/>
          </a:xfrm>
          <a:custGeom>
            <a:avLst/>
            <a:gdLst/>
            <a:ahLst/>
            <a:cxnLst>
              <a:cxn ang="0">
                <a:pos x="830" y="698"/>
              </a:cxn>
              <a:cxn ang="0">
                <a:pos x="2222" y="1802"/>
              </a:cxn>
              <a:cxn ang="0">
                <a:pos x="5079" y="1802"/>
              </a:cxn>
              <a:cxn ang="0">
                <a:pos x="6630" y="101"/>
              </a:cxn>
              <a:cxn ang="0">
                <a:pos x="6176" y="129"/>
              </a:cxn>
              <a:cxn ang="0">
                <a:pos x="891" y="95"/>
              </a:cxn>
              <a:cxn ang="0">
                <a:pos x="830" y="698"/>
              </a:cxn>
            </a:cxnLst>
            <a:rect l="0" t="0" r="r" b="b"/>
            <a:pathLst>
              <a:path w="6630" h="1802">
                <a:moveTo>
                  <a:pt x="830" y="698"/>
                </a:moveTo>
                <a:lnTo>
                  <a:pt x="2222" y="1802"/>
                </a:lnTo>
                <a:lnTo>
                  <a:pt x="5079" y="1802"/>
                </a:lnTo>
                <a:lnTo>
                  <a:pt x="6630" y="101"/>
                </a:lnTo>
                <a:lnTo>
                  <a:pt x="6176" y="129"/>
                </a:lnTo>
                <a:cubicBezTo>
                  <a:pt x="5220" y="128"/>
                  <a:pt x="1782" y="0"/>
                  <a:pt x="891" y="95"/>
                </a:cubicBezTo>
                <a:cubicBezTo>
                  <a:pt x="0" y="190"/>
                  <a:pt x="843" y="573"/>
                  <a:pt x="830" y="698"/>
                </a:cubicBezTo>
                <a:close/>
              </a:path>
            </a:pathLst>
          </a:custGeom>
          <a:pattFill prst="ltHorz">
            <a:fgClr>
              <a:srgbClr val="FFCC99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383" name="Rectangle 23" descr="Diagonal hacia arriba ancha"/>
          <p:cNvSpPr>
            <a:spLocks noChangeArrowheads="1"/>
          </p:cNvSpPr>
          <p:nvPr/>
        </p:nvSpPr>
        <p:spPr bwMode="auto">
          <a:xfrm>
            <a:off x="2122488" y="6165850"/>
            <a:ext cx="4535487" cy="144463"/>
          </a:xfrm>
          <a:prstGeom prst="rect">
            <a:avLst/>
          </a:prstGeom>
          <a:pattFill prst="wdUpDiag">
            <a:fgClr>
              <a:srgbClr val="969696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5384" name="Line 24"/>
          <p:cNvSpPr>
            <a:spLocks noChangeShapeType="1"/>
          </p:cNvSpPr>
          <p:nvPr/>
        </p:nvSpPr>
        <p:spPr bwMode="auto">
          <a:xfrm>
            <a:off x="2122488" y="6165850"/>
            <a:ext cx="45354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385" name="Freeform 25"/>
          <p:cNvSpPr>
            <a:spLocks/>
          </p:cNvSpPr>
          <p:nvPr/>
        </p:nvSpPr>
        <p:spPr bwMode="auto">
          <a:xfrm>
            <a:off x="96838" y="4540250"/>
            <a:ext cx="2025650" cy="1625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76" y="1024"/>
              </a:cxn>
            </a:cxnLst>
            <a:rect l="0" t="0" r="r" b="b"/>
            <a:pathLst>
              <a:path w="1276" h="1024">
                <a:moveTo>
                  <a:pt x="0" y="0"/>
                </a:moveTo>
                <a:lnTo>
                  <a:pt x="1276" y="1024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 type="none" w="lg" len="med"/>
            <a:tailEnd type="non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386" name="Line 26"/>
          <p:cNvSpPr>
            <a:spLocks noChangeShapeType="1"/>
          </p:cNvSpPr>
          <p:nvPr/>
        </p:nvSpPr>
        <p:spPr bwMode="auto">
          <a:xfrm flipV="1">
            <a:off x="2122488" y="4222750"/>
            <a:ext cx="0" cy="24479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387" name="Line 27"/>
          <p:cNvSpPr>
            <a:spLocks noChangeShapeType="1"/>
          </p:cNvSpPr>
          <p:nvPr/>
        </p:nvSpPr>
        <p:spPr bwMode="auto">
          <a:xfrm flipH="1">
            <a:off x="2120900" y="4221163"/>
            <a:ext cx="2667000" cy="196056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triangle" w="lg" len="med"/>
            <a:tailEnd type="none" w="lg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388" name="Freeform 28"/>
          <p:cNvSpPr>
            <a:spLocks/>
          </p:cNvSpPr>
          <p:nvPr/>
        </p:nvSpPr>
        <p:spPr bwMode="auto">
          <a:xfrm>
            <a:off x="4948238" y="4249738"/>
            <a:ext cx="1709737" cy="19161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77" y="1207"/>
              </a:cxn>
            </a:cxnLst>
            <a:rect l="0" t="0" r="r" b="b"/>
            <a:pathLst>
              <a:path w="1077" h="1207">
                <a:moveTo>
                  <a:pt x="0" y="0"/>
                </a:moveTo>
                <a:lnTo>
                  <a:pt x="1077" y="1207"/>
                </a:lnTo>
              </a:path>
            </a:pathLst>
          </a:custGeom>
          <a:noFill/>
          <a:ln w="25400">
            <a:solidFill>
              <a:srgbClr val="800080"/>
            </a:solidFill>
            <a:round/>
            <a:headEnd type="triangle" w="lg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389" name="Line 29"/>
          <p:cNvSpPr>
            <a:spLocks noChangeShapeType="1"/>
          </p:cNvSpPr>
          <p:nvPr/>
        </p:nvSpPr>
        <p:spPr bwMode="auto">
          <a:xfrm flipV="1">
            <a:off x="6657975" y="4294188"/>
            <a:ext cx="0" cy="24479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390" name="Freeform 30"/>
          <p:cNvSpPr>
            <a:spLocks/>
          </p:cNvSpPr>
          <p:nvPr/>
        </p:nvSpPr>
        <p:spPr bwMode="auto">
          <a:xfrm>
            <a:off x="6669088" y="4603750"/>
            <a:ext cx="1389062" cy="1566863"/>
          </a:xfrm>
          <a:custGeom>
            <a:avLst/>
            <a:gdLst/>
            <a:ahLst/>
            <a:cxnLst>
              <a:cxn ang="0">
                <a:pos x="0" y="987"/>
              </a:cxn>
              <a:cxn ang="0">
                <a:pos x="875" y="0"/>
              </a:cxn>
            </a:cxnLst>
            <a:rect l="0" t="0" r="r" b="b"/>
            <a:pathLst>
              <a:path w="875" h="987">
                <a:moveTo>
                  <a:pt x="0" y="987"/>
                </a:moveTo>
                <a:lnTo>
                  <a:pt x="875" y="0"/>
                </a:lnTo>
              </a:path>
            </a:pathLst>
          </a:custGeom>
          <a:noFill/>
          <a:ln w="25400">
            <a:solidFill>
              <a:srgbClr val="800080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ES"/>
          </a:p>
        </p:txBody>
      </p:sp>
      <p:grpSp>
        <p:nvGrpSpPr>
          <p:cNvPr id="15391" name="Group 31"/>
          <p:cNvGrpSpPr>
            <a:grpSpLocks/>
          </p:cNvGrpSpPr>
          <p:nvPr/>
        </p:nvGrpSpPr>
        <p:grpSpPr bwMode="auto">
          <a:xfrm rot="4758756">
            <a:off x="4745832" y="3975893"/>
            <a:ext cx="279400" cy="195263"/>
            <a:chOff x="703" y="2704"/>
            <a:chExt cx="176" cy="123"/>
          </a:xfrm>
        </p:grpSpPr>
        <p:sp>
          <p:nvSpPr>
            <p:cNvPr id="15392" name="Freeform 32"/>
            <p:cNvSpPr>
              <a:spLocks/>
            </p:cNvSpPr>
            <p:nvPr/>
          </p:nvSpPr>
          <p:spPr bwMode="auto">
            <a:xfrm>
              <a:off x="703" y="2750"/>
              <a:ext cx="152" cy="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2" y="77"/>
                </a:cxn>
              </a:cxnLst>
              <a:rect l="0" t="0" r="r" b="b"/>
              <a:pathLst>
                <a:path w="152" h="77">
                  <a:moveTo>
                    <a:pt x="0" y="0"/>
                  </a:moveTo>
                  <a:cubicBezTo>
                    <a:pt x="25" y="13"/>
                    <a:pt x="120" y="61"/>
                    <a:pt x="152" y="7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5393" name="AutoShape 33"/>
            <p:cNvSpPr>
              <a:spLocks noChangeArrowheads="1"/>
            </p:cNvSpPr>
            <p:nvPr/>
          </p:nvSpPr>
          <p:spPr bwMode="auto">
            <a:xfrm rot="33472207">
              <a:off x="827" y="2734"/>
              <a:ext cx="45" cy="91"/>
            </a:xfrm>
            <a:prstGeom prst="moon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5394" name="Arc 34"/>
            <p:cNvSpPr>
              <a:spLocks/>
            </p:cNvSpPr>
            <p:nvPr/>
          </p:nvSpPr>
          <p:spPr bwMode="auto">
            <a:xfrm flipV="1">
              <a:off x="703" y="2704"/>
              <a:ext cx="176" cy="46"/>
            </a:xfrm>
            <a:custGeom>
              <a:avLst/>
              <a:gdLst>
                <a:gd name="G0" fmla="+- 9328 0 0"/>
                <a:gd name="G1" fmla="+- 21600 0 0"/>
                <a:gd name="G2" fmla="+- 21600 0 0"/>
                <a:gd name="T0" fmla="*/ 0 w 30928"/>
                <a:gd name="T1" fmla="*/ 2118 h 21600"/>
                <a:gd name="T2" fmla="*/ 30928 w 30928"/>
                <a:gd name="T3" fmla="*/ 21600 h 21600"/>
                <a:gd name="T4" fmla="*/ 9328 w 3092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928" h="21600" fill="none" extrusionOk="0">
                  <a:moveTo>
                    <a:pt x="-1" y="2117"/>
                  </a:moveTo>
                  <a:cubicBezTo>
                    <a:pt x="2911" y="723"/>
                    <a:pt x="6099" y="-1"/>
                    <a:pt x="9328" y="0"/>
                  </a:cubicBezTo>
                  <a:cubicBezTo>
                    <a:pt x="21257" y="0"/>
                    <a:pt x="30928" y="9670"/>
                    <a:pt x="30928" y="21600"/>
                  </a:cubicBezTo>
                </a:path>
                <a:path w="30928" h="21600" stroke="0" extrusionOk="0">
                  <a:moveTo>
                    <a:pt x="-1" y="2117"/>
                  </a:moveTo>
                  <a:cubicBezTo>
                    <a:pt x="2911" y="723"/>
                    <a:pt x="6099" y="-1"/>
                    <a:pt x="9328" y="0"/>
                  </a:cubicBezTo>
                  <a:cubicBezTo>
                    <a:pt x="21257" y="0"/>
                    <a:pt x="30928" y="9670"/>
                    <a:pt x="30928" y="21600"/>
                  </a:cubicBezTo>
                  <a:lnTo>
                    <a:pt x="9328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15397" name="Text Box 37"/>
          <p:cNvSpPr txBox="1">
            <a:spLocks noChangeArrowheads="1"/>
          </p:cNvSpPr>
          <p:nvPr/>
        </p:nvSpPr>
        <p:spPr bwMode="auto">
          <a:xfrm>
            <a:off x="376238" y="2944813"/>
            <a:ext cx="35958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/>
              <a:t>Campo visual de un espejo plano</a:t>
            </a:r>
          </a:p>
        </p:txBody>
      </p:sp>
      <p:sp>
        <p:nvSpPr>
          <p:cNvPr id="15398" name="Text Box 38"/>
          <p:cNvSpPr txBox="1">
            <a:spLocks noChangeArrowheads="1"/>
          </p:cNvSpPr>
          <p:nvPr/>
        </p:nvSpPr>
        <p:spPr bwMode="auto">
          <a:xfrm>
            <a:off x="8675688" y="6564313"/>
            <a:ext cx="35458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1200">
                <a:solidFill>
                  <a:srgbClr val="FF9900"/>
                </a:solidFill>
              </a:rPr>
              <a:t>21</a:t>
            </a:r>
            <a:endParaRPr lang="es-ES_tradnl" sz="1200" dirty="0">
              <a:solidFill>
                <a:srgbClr val="FF9900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863877" y="362504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_tradnl" sz="1200" dirty="0"/>
              <a:t>Se halla con los rayos reflejados extremos que llegan al ojo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5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0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4" grpId="0" animBg="1"/>
      <p:bldP spid="15368" grpId="0" animBg="1"/>
      <p:bldP spid="15369" grpId="0" animBg="1"/>
      <p:bldP spid="15370" grpId="0" animBg="1"/>
      <p:bldP spid="15371" grpId="0" animBg="1"/>
      <p:bldP spid="15372" grpId="0" animBg="1"/>
      <p:bldP spid="15373" grpId="0" animBg="1"/>
      <p:bldP spid="15382" grpId="0" animBg="1"/>
      <p:bldP spid="15383" grpId="0" animBg="1"/>
      <p:bldP spid="15384" grpId="0" animBg="1"/>
      <p:bldP spid="15385" grpId="0" animBg="1"/>
      <p:bldP spid="15386" grpId="0" animBg="1"/>
      <p:bldP spid="15387" grpId="0" animBg="1"/>
      <p:bldP spid="15388" grpId="0" animBg="1"/>
      <p:bldP spid="15389" grpId="0" animBg="1"/>
      <p:bldP spid="15390" grpId="0" animBg="1"/>
      <p:bldP spid="15398" grpId="0"/>
      <p:bldP spid="2" grpId="0"/>
    </p:bld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1645</Words>
  <Application>Microsoft Office PowerPoint</Application>
  <PresentationFormat>Presentación en pantalla (4:3)</PresentationFormat>
  <Paragraphs>494</Paragraphs>
  <Slides>21</Slides>
  <Notes>3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Arial</vt:lpstr>
      <vt:lpstr>Calibri</vt:lpstr>
      <vt:lpstr>Cambria Math</vt:lpstr>
      <vt:lpstr>Tahoma</vt:lpstr>
      <vt:lpstr>Times New Roman</vt:lpstr>
      <vt:lpstr>Diseño predeterminado</vt:lpstr>
      <vt:lpstr>Ecuación</vt:lpstr>
      <vt:lpstr>Equation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The houze!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Administrador</dc:creator>
  <cp:lastModifiedBy>Pablo König</cp:lastModifiedBy>
  <cp:revision>104</cp:revision>
  <dcterms:created xsi:type="dcterms:W3CDTF">2008-03-19T17:32:08Z</dcterms:created>
  <dcterms:modified xsi:type="dcterms:W3CDTF">2020-04-12T20:04:33Z</dcterms:modified>
</cp:coreProperties>
</file>