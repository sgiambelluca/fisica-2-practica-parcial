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2" r:id="rId8"/>
    <p:sldId id="263" r:id="rId9"/>
    <p:sldId id="270" r:id="rId10"/>
    <p:sldId id="273" r:id="rId11"/>
    <p:sldId id="272" r:id="rId12"/>
    <p:sldId id="274" r:id="rId13"/>
    <p:sldId id="275" r:id="rId14"/>
    <p:sldId id="278" r:id="rId15"/>
    <p:sldId id="279" r:id="rId16"/>
    <p:sldId id="266" r:id="rId17"/>
    <p:sldId id="267" r:id="rId18"/>
    <p:sldId id="268" r:id="rId19"/>
    <p:sldId id="280" r:id="rId20"/>
    <p:sldId id="264" r:id="rId21"/>
  </p:sldIdLst>
  <p:sldSz cx="9144000" cy="6858000" type="screen4x3"/>
  <p:notesSz cx="6858000" cy="9144000"/>
  <p:defaultTextStyle>
    <a:defPPr>
      <a:defRPr lang="es-ES_trad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9900"/>
    <a:srgbClr val="A50021"/>
    <a:srgbClr val="00CCFF"/>
    <a:srgbClr val="4C07C9"/>
    <a:srgbClr val="FF9900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9" d="100"/>
          <a:sy n="109" d="100"/>
        </p:scale>
        <p:origin x="167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12" Type="http://schemas.openxmlformats.org/officeDocument/2006/relationships/image" Target="../media/image15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11" Type="http://schemas.openxmlformats.org/officeDocument/2006/relationships/image" Target="../media/image6.wmf"/><Relationship Id="rId5" Type="http://schemas.openxmlformats.org/officeDocument/2006/relationships/image" Target="../media/image11.wmf"/><Relationship Id="rId10" Type="http://schemas.openxmlformats.org/officeDocument/2006/relationships/image" Target="../media/image5.wmf"/><Relationship Id="rId4" Type="http://schemas.openxmlformats.org/officeDocument/2006/relationships/image" Target="../media/image10.wmf"/><Relationship Id="rId9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image" Target="../media/image38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12" Type="http://schemas.openxmlformats.org/officeDocument/2006/relationships/image" Target="../media/image37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31.wmf"/><Relationship Id="rId11" Type="http://schemas.openxmlformats.org/officeDocument/2006/relationships/image" Target="../media/image36.wmf"/><Relationship Id="rId5" Type="http://schemas.openxmlformats.org/officeDocument/2006/relationships/image" Target="../media/image30.wmf"/><Relationship Id="rId10" Type="http://schemas.openxmlformats.org/officeDocument/2006/relationships/image" Target="../media/image35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Relationship Id="rId14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6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10" Type="http://schemas.openxmlformats.org/officeDocument/2006/relationships/image" Target="../media/image48.wmf"/><Relationship Id="rId4" Type="http://schemas.openxmlformats.org/officeDocument/2006/relationships/image" Target="../media/image42.wmf"/><Relationship Id="rId9" Type="http://schemas.openxmlformats.org/officeDocument/2006/relationships/image" Target="../media/image4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6.wmf"/><Relationship Id="rId6" Type="http://schemas.openxmlformats.org/officeDocument/2006/relationships/image" Target="../media/image49.wmf"/><Relationship Id="rId5" Type="http://schemas.openxmlformats.org/officeDocument/2006/relationships/image" Target="../media/image43.wmf"/><Relationship Id="rId10" Type="http://schemas.openxmlformats.org/officeDocument/2006/relationships/image" Target="../media/image52.wmf"/><Relationship Id="rId4" Type="http://schemas.openxmlformats.org/officeDocument/2006/relationships/image" Target="../media/image42.wmf"/><Relationship Id="rId9" Type="http://schemas.openxmlformats.org/officeDocument/2006/relationships/image" Target="../media/image5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5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CD14A-82E4-492B-BA1C-03D05BE3826E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3D8212-CBC9-4827-8080-242C73B77FBC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07709-921A-4041-8022-889486B8567A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77B9DB-64B5-4778-8ED1-9176B42B0CAF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85F1C-AC20-46AA-AD63-3FFF0817F8B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2E4926-65A0-4AF4-BACC-64BD774C987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6B3879-23E9-4900-B1B3-9A75BD2E842B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B237B2-A5F2-4C31-8222-E1F53E4932C8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E9D7F-B559-4F23-BFC4-99683FFD25DC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8CD9C-0E42-435E-8469-BE043E3E2D61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0C404D-9A7B-4B16-A0B8-86C67D4FB17C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smtClean="0"/>
              <a:t>Haga clic para cambiar el estilo de título	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C1BADC0-1BBC-4658-BF74-62CBAA49DB8A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4.wmf"/><Relationship Id="rId26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wmf"/><Relationship Id="rId20" Type="http://schemas.openxmlformats.org/officeDocument/2006/relationships/image" Target="../media/image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6.wmf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2.wmf"/><Relationship Id="rId22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3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33.wmf"/><Relationship Id="rId26" Type="http://schemas.openxmlformats.org/officeDocument/2006/relationships/image" Target="../media/image37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44.bin"/><Relationship Id="rId25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.wmf"/><Relationship Id="rId20" Type="http://schemas.openxmlformats.org/officeDocument/2006/relationships/image" Target="../media/image34.wmf"/><Relationship Id="rId29" Type="http://schemas.openxmlformats.org/officeDocument/2006/relationships/oleObject" Target="../embeddings/oleObject50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36.wmf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38.wmf"/><Relationship Id="rId10" Type="http://schemas.openxmlformats.org/officeDocument/2006/relationships/image" Target="../media/image29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31.wmf"/><Relationship Id="rId22" Type="http://schemas.openxmlformats.org/officeDocument/2006/relationships/image" Target="../media/image35.wmf"/><Relationship Id="rId27" Type="http://schemas.openxmlformats.org/officeDocument/2006/relationships/oleObject" Target="../embeddings/oleObject49.bin"/><Relationship Id="rId30" Type="http://schemas.openxmlformats.org/officeDocument/2006/relationships/image" Target="../media/image3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46.wmf"/><Relationship Id="rId3" Type="http://schemas.openxmlformats.org/officeDocument/2006/relationships/oleObject" Target="../embeddings/oleObject51.bin"/><Relationship Id="rId21" Type="http://schemas.openxmlformats.org/officeDocument/2006/relationships/oleObject" Target="../embeddings/oleObject60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59.bin"/><Relationship Id="rId4" Type="http://schemas.openxmlformats.org/officeDocument/2006/relationships/image" Target="../media/image36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44.wmf"/><Relationship Id="rId22" Type="http://schemas.openxmlformats.org/officeDocument/2006/relationships/image" Target="../media/image4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50.wmf"/><Relationship Id="rId3" Type="http://schemas.openxmlformats.org/officeDocument/2006/relationships/oleObject" Target="../embeddings/oleObject61.bin"/><Relationship Id="rId21" Type="http://schemas.openxmlformats.org/officeDocument/2006/relationships/oleObject" Target="../embeddings/oleObject70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wmf"/><Relationship Id="rId20" Type="http://schemas.openxmlformats.org/officeDocument/2006/relationships/image" Target="../media/image5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69.bin"/><Relationship Id="rId4" Type="http://schemas.openxmlformats.org/officeDocument/2006/relationships/image" Target="../media/image36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49.wmf"/><Relationship Id="rId22" Type="http://schemas.openxmlformats.org/officeDocument/2006/relationships/image" Target="../media/image5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54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7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reeform 52" descr="Onda"/>
          <p:cNvSpPr>
            <a:spLocks/>
          </p:cNvSpPr>
          <p:nvPr/>
        </p:nvSpPr>
        <p:spPr bwMode="auto">
          <a:xfrm>
            <a:off x="1714500" y="3983038"/>
            <a:ext cx="2784475" cy="2860675"/>
          </a:xfrm>
          <a:custGeom>
            <a:avLst/>
            <a:gdLst>
              <a:gd name="T0" fmla="*/ 2147483647 w 1463"/>
              <a:gd name="T1" fmla="*/ 2147483647 h 1802"/>
              <a:gd name="T2" fmla="*/ 2147483647 w 1463"/>
              <a:gd name="T3" fmla="*/ 2147483647 h 1802"/>
              <a:gd name="T4" fmla="*/ 2147483647 w 1463"/>
              <a:gd name="T5" fmla="*/ 2147483647 h 1802"/>
              <a:gd name="T6" fmla="*/ 2147483647 w 1463"/>
              <a:gd name="T7" fmla="*/ 0 h 1802"/>
              <a:gd name="T8" fmla="*/ 2147483647 w 1463"/>
              <a:gd name="T9" fmla="*/ 2147483647 h 1802"/>
              <a:gd name="T10" fmla="*/ 2147483647 w 1463"/>
              <a:gd name="T11" fmla="*/ 2147483647 h 1802"/>
              <a:gd name="T12" fmla="*/ 2147483647 w 1463"/>
              <a:gd name="T13" fmla="*/ 2147483647 h 1802"/>
              <a:gd name="T14" fmla="*/ 2147483647 w 1463"/>
              <a:gd name="T15" fmla="*/ 2147483647 h 1802"/>
              <a:gd name="T16" fmla="*/ 2147483647 w 1463"/>
              <a:gd name="T17" fmla="*/ 2147483647 h 1802"/>
              <a:gd name="T18" fmla="*/ 2147483647 w 1463"/>
              <a:gd name="T19" fmla="*/ 2147483647 h 1802"/>
              <a:gd name="T20" fmla="*/ 2147483647 w 1463"/>
              <a:gd name="T21" fmla="*/ 2147483647 h 1802"/>
              <a:gd name="T22" fmla="*/ 2147483647 w 1463"/>
              <a:gd name="T23" fmla="*/ 2147483647 h 1802"/>
              <a:gd name="T24" fmla="*/ 2147483647 w 1463"/>
              <a:gd name="T25" fmla="*/ 2147483647 h 1802"/>
              <a:gd name="T26" fmla="*/ 2147483647 w 1463"/>
              <a:gd name="T27" fmla="*/ 2147483647 h 1802"/>
              <a:gd name="T28" fmla="*/ 2147483647 w 1463"/>
              <a:gd name="T29" fmla="*/ 2147483647 h 1802"/>
              <a:gd name="T30" fmla="*/ 2147483647 w 1463"/>
              <a:gd name="T31" fmla="*/ 2147483647 h 180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463"/>
              <a:gd name="T49" fmla="*/ 0 h 1802"/>
              <a:gd name="T50" fmla="*/ 1463 w 1463"/>
              <a:gd name="T51" fmla="*/ 1802 h 180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463" h="1802">
                <a:moveTo>
                  <a:pt x="230" y="1802"/>
                </a:moveTo>
                <a:cubicBezTo>
                  <a:pt x="144" y="1695"/>
                  <a:pt x="179" y="1339"/>
                  <a:pt x="176" y="1139"/>
                </a:cubicBezTo>
                <a:cubicBezTo>
                  <a:pt x="173" y="939"/>
                  <a:pt x="193" y="642"/>
                  <a:pt x="223" y="442"/>
                </a:cubicBezTo>
                <a:cubicBezTo>
                  <a:pt x="377" y="201"/>
                  <a:pt x="0" y="73"/>
                  <a:pt x="324" y="0"/>
                </a:cubicBezTo>
                <a:lnTo>
                  <a:pt x="912" y="12"/>
                </a:lnTo>
                <a:lnTo>
                  <a:pt x="1060" y="93"/>
                </a:lnTo>
                <a:lnTo>
                  <a:pt x="1236" y="240"/>
                </a:lnTo>
                <a:lnTo>
                  <a:pt x="1361" y="428"/>
                </a:lnTo>
                <a:lnTo>
                  <a:pt x="1463" y="648"/>
                </a:lnTo>
                <a:lnTo>
                  <a:pt x="1463" y="875"/>
                </a:lnTo>
                <a:lnTo>
                  <a:pt x="1455" y="1071"/>
                </a:lnTo>
                <a:lnTo>
                  <a:pt x="1372" y="1283"/>
                </a:lnTo>
                <a:lnTo>
                  <a:pt x="1191" y="1555"/>
                </a:lnTo>
                <a:cubicBezTo>
                  <a:pt x="1115" y="1630"/>
                  <a:pt x="1033" y="1653"/>
                  <a:pt x="918" y="1736"/>
                </a:cubicBezTo>
                <a:cubicBezTo>
                  <a:pt x="792" y="1740"/>
                  <a:pt x="1020" y="1777"/>
                  <a:pt x="692" y="1782"/>
                </a:cubicBezTo>
                <a:lnTo>
                  <a:pt x="230" y="1802"/>
                </a:ln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4339" name="Freeform 21" descr="Onda"/>
          <p:cNvSpPr>
            <a:spLocks/>
          </p:cNvSpPr>
          <p:nvPr/>
        </p:nvSpPr>
        <p:spPr bwMode="auto">
          <a:xfrm>
            <a:off x="306388" y="919163"/>
            <a:ext cx="3319462" cy="2809875"/>
          </a:xfrm>
          <a:custGeom>
            <a:avLst/>
            <a:gdLst>
              <a:gd name="T0" fmla="*/ 2147483647 w 2091"/>
              <a:gd name="T1" fmla="*/ 2147483647 h 1770"/>
              <a:gd name="T2" fmla="*/ 2147483647 w 2091"/>
              <a:gd name="T3" fmla="*/ 0 h 1770"/>
              <a:gd name="T4" fmla="*/ 2147483647 w 2091"/>
              <a:gd name="T5" fmla="*/ 2147483647 h 1770"/>
              <a:gd name="T6" fmla="*/ 2147483647 w 2091"/>
              <a:gd name="T7" fmla="*/ 2147483647 h 1770"/>
              <a:gd name="T8" fmla="*/ 2147483647 w 2091"/>
              <a:gd name="T9" fmla="*/ 2147483647 h 1770"/>
              <a:gd name="T10" fmla="*/ 2147483647 w 2091"/>
              <a:gd name="T11" fmla="*/ 2147483647 h 1770"/>
              <a:gd name="T12" fmla="*/ 2147483647 w 2091"/>
              <a:gd name="T13" fmla="*/ 2147483647 h 1770"/>
              <a:gd name="T14" fmla="*/ 2147483647 w 2091"/>
              <a:gd name="T15" fmla="*/ 2147483647 h 1770"/>
              <a:gd name="T16" fmla="*/ 2147483647 w 2091"/>
              <a:gd name="T17" fmla="*/ 2147483647 h 1770"/>
              <a:gd name="T18" fmla="*/ 2147483647 w 2091"/>
              <a:gd name="T19" fmla="*/ 2147483647 h 1770"/>
              <a:gd name="T20" fmla="*/ 2147483647 w 2091"/>
              <a:gd name="T21" fmla="*/ 2147483647 h 1770"/>
              <a:gd name="T22" fmla="*/ 2147483647 w 2091"/>
              <a:gd name="T23" fmla="*/ 2147483647 h 1770"/>
              <a:gd name="T24" fmla="*/ 2147483647 w 2091"/>
              <a:gd name="T25" fmla="*/ 2147483647 h 1770"/>
              <a:gd name="T26" fmla="*/ 2147483647 w 2091"/>
              <a:gd name="T27" fmla="*/ 2147483647 h 1770"/>
              <a:gd name="T28" fmla="*/ 2147483647 w 2091"/>
              <a:gd name="T29" fmla="*/ 2147483647 h 1770"/>
              <a:gd name="T30" fmla="*/ 2147483647 w 2091"/>
              <a:gd name="T31" fmla="*/ 2147483647 h 17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091"/>
              <a:gd name="T49" fmla="*/ 0 h 1770"/>
              <a:gd name="T50" fmla="*/ 2091 w 2091"/>
              <a:gd name="T51" fmla="*/ 1770 h 17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091" h="1770">
                <a:moveTo>
                  <a:pt x="293" y="10"/>
                </a:moveTo>
                <a:lnTo>
                  <a:pt x="1871" y="0"/>
                </a:lnTo>
                <a:lnTo>
                  <a:pt x="1723" y="81"/>
                </a:lnTo>
                <a:lnTo>
                  <a:pt x="1547" y="228"/>
                </a:lnTo>
                <a:lnTo>
                  <a:pt x="1422" y="416"/>
                </a:lnTo>
                <a:lnTo>
                  <a:pt x="1320" y="636"/>
                </a:lnTo>
                <a:lnTo>
                  <a:pt x="1320" y="863"/>
                </a:lnTo>
                <a:lnTo>
                  <a:pt x="1328" y="1059"/>
                </a:lnTo>
                <a:lnTo>
                  <a:pt x="1411" y="1271"/>
                </a:lnTo>
                <a:lnTo>
                  <a:pt x="1592" y="1543"/>
                </a:lnTo>
                <a:cubicBezTo>
                  <a:pt x="1668" y="1618"/>
                  <a:pt x="1750" y="1641"/>
                  <a:pt x="1865" y="1724"/>
                </a:cubicBezTo>
                <a:cubicBezTo>
                  <a:pt x="1991" y="1728"/>
                  <a:pt x="1864" y="1762"/>
                  <a:pt x="2091" y="1770"/>
                </a:cubicBezTo>
                <a:lnTo>
                  <a:pt x="300" y="1765"/>
                </a:lnTo>
                <a:cubicBezTo>
                  <a:pt x="0" y="1672"/>
                  <a:pt x="380" y="1403"/>
                  <a:pt x="293" y="1209"/>
                </a:cubicBezTo>
                <a:cubicBezTo>
                  <a:pt x="206" y="1015"/>
                  <a:pt x="233" y="880"/>
                  <a:pt x="300" y="666"/>
                </a:cubicBezTo>
                <a:cubicBezTo>
                  <a:pt x="367" y="452"/>
                  <a:pt x="293" y="10"/>
                  <a:pt x="293" y="10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4340" name="Freeform 20" descr="Cuadrícula grande"/>
          <p:cNvSpPr>
            <a:spLocks/>
          </p:cNvSpPr>
          <p:nvPr/>
        </p:nvSpPr>
        <p:spPr bwMode="auto">
          <a:xfrm>
            <a:off x="2411413" y="928688"/>
            <a:ext cx="4173537" cy="2809875"/>
          </a:xfrm>
          <a:custGeom>
            <a:avLst/>
            <a:gdLst>
              <a:gd name="T0" fmla="*/ 2147483647 w 2629"/>
              <a:gd name="T1" fmla="*/ 2147483647 h 1770"/>
              <a:gd name="T2" fmla="*/ 2147483647 w 2629"/>
              <a:gd name="T3" fmla="*/ 2147483647 h 1770"/>
              <a:gd name="T4" fmla="*/ 2147483647 w 2629"/>
              <a:gd name="T5" fmla="*/ 2147483647 h 1770"/>
              <a:gd name="T6" fmla="*/ 2147483647 w 2629"/>
              <a:gd name="T7" fmla="*/ 2147483647 h 1770"/>
              <a:gd name="T8" fmla="*/ 2147483647 w 2629"/>
              <a:gd name="T9" fmla="*/ 0 h 1770"/>
              <a:gd name="T10" fmla="*/ 2147483647 w 2629"/>
              <a:gd name="T11" fmla="*/ 2147483647 h 1770"/>
              <a:gd name="T12" fmla="*/ 2147483647 w 2629"/>
              <a:gd name="T13" fmla="*/ 2147483647 h 1770"/>
              <a:gd name="T14" fmla="*/ 2147483647 w 2629"/>
              <a:gd name="T15" fmla="*/ 2147483647 h 1770"/>
              <a:gd name="T16" fmla="*/ 0 w 2629"/>
              <a:gd name="T17" fmla="*/ 2147483647 h 1770"/>
              <a:gd name="T18" fmla="*/ 0 w 2629"/>
              <a:gd name="T19" fmla="*/ 2147483647 h 1770"/>
              <a:gd name="T20" fmla="*/ 2147483647 w 2629"/>
              <a:gd name="T21" fmla="*/ 2147483647 h 1770"/>
              <a:gd name="T22" fmla="*/ 2147483647 w 2629"/>
              <a:gd name="T23" fmla="*/ 2147483647 h 1770"/>
              <a:gd name="T24" fmla="*/ 2147483647 w 2629"/>
              <a:gd name="T25" fmla="*/ 2147483647 h 1770"/>
              <a:gd name="T26" fmla="*/ 2147483647 w 2629"/>
              <a:gd name="T27" fmla="*/ 2147483647 h 1770"/>
              <a:gd name="T28" fmla="*/ 2147483647 w 2629"/>
              <a:gd name="T29" fmla="*/ 2147483647 h 1770"/>
              <a:gd name="T30" fmla="*/ 2147483647 w 2629"/>
              <a:gd name="T31" fmla="*/ 2147483647 h 1770"/>
              <a:gd name="T32" fmla="*/ 2147483647 w 2629"/>
              <a:gd name="T33" fmla="*/ 2147483647 h 1770"/>
              <a:gd name="T34" fmla="*/ 2147483647 w 2629"/>
              <a:gd name="T35" fmla="*/ 2147483647 h 177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629"/>
              <a:gd name="T55" fmla="*/ 0 h 1770"/>
              <a:gd name="T56" fmla="*/ 2629 w 2629"/>
              <a:gd name="T57" fmla="*/ 1770 h 1770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629" h="1770">
                <a:moveTo>
                  <a:pt x="2513" y="1755"/>
                </a:moveTo>
                <a:cubicBezTo>
                  <a:pt x="2506" y="1695"/>
                  <a:pt x="2389" y="1440"/>
                  <a:pt x="2392" y="1240"/>
                </a:cubicBezTo>
                <a:cubicBezTo>
                  <a:pt x="2395" y="1040"/>
                  <a:pt x="2523" y="636"/>
                  <a:pt x="2493" y="436"/>
                </a:cubicBezTo>
                <a:cubicBezTo>
                  <a:pt x="2339" y="195"/>
                  <a:pt x="2629" y="80"/>
                  <a:pt x="2305" y="7"/>
                </a:cubicBezTo>
                <a:lnTo>
                  <a:pt x="551" y="0"/>
                </a:lnTo>
                <a:lnTo>
                  <a:pt x="403" y="81"/>
                </a:lnTo>
                <a:lnTo>
                  <a:pt x="227" y="228"/>
                </a:lnTo>
                <a:lnTo>
                  <a:pt x="102" y="416"/>
                </a:lnTo>
                <a:lnTo>
                  <a:pt x="0" y="636"/>
                </a:lnTo>
                <a:lnTo>
                  <a:pt x="0" y="863"/>
                </a:lnTo>
                <a:lnTo>
                  <a:pt x="8" y="1059"/>
                </a:lnTo>
                <a:lnTo>
                  <a:pt x="91" y="1271"/>
                </a:lnTo>
                <a:lnTo>
                  <a:pt x="272" y="1543"/>
                </a:lnTo>
                <a:cubicBezTo>
                  <a:pt x="348" y="1618"/>
                  <a:pt x="430" y="1641"/>
                  <a:pt x="545" y="1724"/>
                </a:cubicBezTo>
                <a:cubicBezTo>
                  <a:pt x="671" y="1728"/>
                  <a:pt x="544" y="1762"/>
                  <a:pt x="771" y="1770"/>
                </a:cubicBezTo>
                <a:lnTo>
                  <a:pt x="1905" y="1770"/>
                </a:lnTo>
                <a:lnTo>
                  <a:pt x="2087" y="1770"/>
                </a:lnTo>
                <a:lnTo>
                  <a:pt x="2513" y="1755"/>
                </a:lnTo>
                <a:close/>
              </a:path>
            </a:pathLst>
          </a:custGeom>
          <a:pattFill prst="lgGrid">
            <a:fgClr>
              <a:srgbClr val="FFCC00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434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0"/>
            <a:ext cx="7793037" cy="623888"/>
          </a:xfrm>
        </p:spPr>
        <p:txBody>
          <a:bodyPr/>
          <a:lstStyle/>
          <a:p>
            <a:pPr eaLnBrk="1" hangingPunct="1"/>
            <a:r>
              <a:rPr lang="es-ES_tradnl" sz="3200" smtClean="0"/>
              <a:t>Dioptras esféricas</a:t>
            </a:r>
          </a:p>
        </p:txBody>
      </p:sp>
      <p:sp>
        <p:nvSpPr>
          <p:cNvPr id="14342" name="Arc 5"/>
          <p:cNvSpPr>
            <a:spLocks noChangeAspect="1"/>
          </p:cNvSpPr>
          <p:nvPr/>
        </p:nvSpPr>
        <p:spPr bwMode="auto">
          <a:xfrm flipH="1">
            <a:off x="2401888" y="885825"/>
            <a:ext cx="1479550" cy="2840038"/>
          </a:xfrm>
          <a:custGeom>
            <a:avLst/>
            <a:gdLst>
              <a:gd name="T0" fmla="*/ 2147483647 w 21600"/>
              <a:gd name="T1" fmla="*/ 0 h 41446"/>
              <a:gd name="T2" fmla="*/ 2147483647 w 21600"/>
              <a:gd name="T3" fmla="*/ 2147483647 h 41446"/>
              <a:gd name="T4" fmla="*/ 0 w 21600"/>
              <a:gd name="T5" fmla="*/ 2147483647 h 41446"/>
              <a:gd name="T6" fmla="*/ 0 60000 65536"/>
              <a:gd name="T7" fmla="*/ 0 60000 65536"/>
              <a:gd name="T8" fmla="*/ 0 60000 65536"/>
              <a:gd name="T9" fmla="*/ 0 w 21600"/>
              <a:gd name="T10" fmla="*/ 0 h 41446"/>
              <a:gd name="T11" fmla="*/ 21600 w 21600"/>
              <a:gd name="T12" fmla="*/ 41446 h 41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1446" fill="none" extrusionOk="0">
                <a:moveTo>
                  <a:pt x="7053" y="-1"/>
                </a:moveTo>
                <a:cubicBezTo>
                  <a:pt x="15759" y="3007"/>
                  <a:pt x="21600" y="11205"/>
                  <a:pt x="21600" y="20416"/>
                </a:cubicBezTo>
                <a:cubicBezTo>
                  <a:pt x="21600" y="30446"/>
                  <a:pt x="14695" y="39156"/>
                  <a:pt x="4929" y="41445"/>
                </a:cubicBezTo>
              </a:path>
              <a:path w="21600" h="41446" stroke="0" extrusionOk="0">
                <a:moveTo>
                  <a:pt x="7053" y="-1"/>
                </a:moveTo>
                <a:cubicBezTo>
                  <a:pt x="15759" y="3007"/>
                  <a:pt x="21600" y="11205"/>
                  <a:pt x="21600" y="20416"/>
                </a:cubicBezTo>
                <a:cubicBezTo>
                  <a:pt x="21600" y="30446"/>
                  <a:pt x="14695" y="39156"/>
                  <a:pt x="4929" y="41445"/>
                </a:cubicBezTo>
                <a:lnTo>
                  <a:pt x="0" y="20416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4343" name="Line 6"/>
          <p:cNvSpPr>
            <a:spLocks noChangeShapeType="1"/>
          </p:cNvSpPr>
          <p:nvPr/>
        </p:nvSpPr>
        <p:spPr bwMode="auto">
          <a:xfrm>
            <a:off x="1258888" y="2298700"/>
            <a:ext cx="5834062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44" name="Line 7"/>
          <p:cNvSpPr>
            <a:spLocks noChangeShapeType="1"/>
          </p:cNvSpPr>
          <p:nvPr/>
        </p:nvSpPr>
        <p:spPr bwMode="auto">
          <a:xfrm flipV="1">
            <a:off x="2411413" y="787400"/>
            <a:ext cx="0" cy="302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45" name="Oval 8"/>
          <p:cNvSpPr>
            <a:spLocks noChangeArrowheads="1"/>
          </p:cNvSpPr>
          <p:nvPr/>
        </p:nvSpPr>
        <p:spPr bwMode="auto">
          <a:xfrm>
            <a:off x="3817938" y="2254250"/>
            <a:ext cx="71437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4346" name="Oval 9"/>
          <p:cNvSpPr>
            <a:spLocks noChangeArrowheads="1"/>
          </p:cNvSpPr>
          <p:nvPr/>
        </p:nvSpPr>
        <p:spPr bwMode="auto">
          <a:xfrm>
            <a:off x="2368550" y="2265363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6588125" y="2298700"/>
            <a:ext cx="357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x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2035175" y="696913"/>
            <a:ext cx="357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4932363" y="1938338"/>
            <a:ext cx="1416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Eje principal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7451725" y="1550988"/>
            <a:ext cx="1123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  <a:r>
              <a:rPr lang="es-ES_tradnl">
                <a:latin typeface="Times New Roman" pitchFamily="18" charset="0"/>
              </a:rPr>
              <a:t>: </a:t>
            </a:r>
            <a:r>
              <a:rPr lang="es-ES_tradnl">
                <a:latin typeface="Tahoma" pitchFamily="34" charset="0"/>
              </a:rPr>
              <a:t>Centro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7467600" y="1125538"/>
            <a:ext cx="1169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  <a:r>
              <a:rPr lang="es-ES_tradnl">
                <a:latin typeface="Tahoma" pitchFamily="34" charset="0"/>
              </a:rPr>
              <a:t>:</a:t>
            </a:r>
            <a:r>
              <a:rPr lang="es-ES_tradnl" i="1">
                <a:latin typeface="Tahoma" pitchFamily="34" charset="0"/>
              </a:rPr>
              <a:t> </a:t>
            </a:r>
            <a:r>
              <a:rPr lang="es-ES_tradnl">
                <a:latin typeface="Tahoma" pitchFamily="34" charset="0"/>
              </a:rPr>
              <a:t>Vértice</a:t>
            </a:r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3635375" y="22987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2095500" y="230346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3059113" y="1865313"/>
            <a:ext cx="6858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 </a:t>
            </a:r>
            <a:r>
              <a:rPr lang="es-ES_tradnl">
                <a:latin typeface="Times New Roman" pitchFamily="18" charset="0"/>
              </a:rPr>
              <a:t>&gt; 0</a:t>
            </a:r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7467600" y="1989138"/>
            <a:ext cx="1009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</a:t>
            </a:r>
            <a:r>
              <a:rPr lang="es-ES_tradnl">
                <a:latin typeface="Times New Roman" pitchFamily="18" charset="0"/>
              </a:rPr>
              <a:t>: </a:t>
            </a:r>
            <a:r>
              <a:rPr lang="es-ES_tradnl">
                <a:latin typeface="Tahoma" pitchFamily="34" charset="0"/>
              </a:rPr>
              <a:t>Radio</a:t>
            </a:r>
          </a:p>
        </p:txBody>
      </p:sp>
      <p:sp>
        <p:nvSpPr>
          <p:cNvPr id="14356" name="Text Box 22"/>
          <p:cNvSpPr txBox="1">
            <a:spLocks noChangeArrowheads="1"/>
          </p:cNvSpPr>
          <p:nvPr/>
        </p:nvSpPr>
        <p:spPr bwMode="auto">
          <a:xfrm>
            <a:off x="1763713" y="32337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4357" name="Text Box 23"/>
          <p:cNvSpPr txBox="1">
            <a:spLocks noChangeArrowheads="1"/>
          </p:cNvSpPr>
          <p:nvPr/>
        </p:nvSpPr>
        <p:spPr bwMode="auto">
          <a:xfrm>
            <a:off x="3635375" y="32988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58" name="Line 25"/>
          <p:cNvSpPr>
            <a:spLocks noChangeShapeType="1"/>
          </p:cNvSpPr>
          <p:nvPr/>
        </p:nvSpPr>
        <p:spPr bwMode="auto">
          <a:xfrm>
            <a:off x="827088" y="1865313"/>
            <a:ext cx="576262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59" name="Line 26"/>
          <p:cNvSpPr>
            <a:spLocks noChangeShapeType="1"/>
          </p:cNvSpPr>
          <p:nvPr/>
        </p:nvSpPr>
        <p:spPr bwMode="auto">
          <a:xfrm>
            <a:off x="827088" y="2514600"/>
            <a:ext cx="576262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60" name="Line 27"/>
          <p:cNvSpPr>
            <a:spLocks noChangeShapeType="1"/>
          </p:cNvSpPr>
          <p:nvPr/>
        </p:nvSpPr>
        <p:spPr bwMode="auto">
          <a:xfrm>
            <a:off x="827088" y="2154238"/>
            <a:ext cx="576262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61" name="Text Box 28"/>
          <p:cNvSpPr txBox="1">
            <a:spLocks noChangeArrowheads="1"/>
          </p:cNvSpPr>
          <p:nvPr/>
        </p:nvSpPr>
        <p:spPr bwMode="auto">
          <a:xfrm>
            <a:off x="323850" y="2009775"/>
            <a:ext cx="52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Luz</a:t>
            </a:r>
          </a:p>
        </p:txBody>
      </p:sp>
      <p:sp>
        <p:nvSpPr>
          <p:cNvPr id="14362" name="Freeform 51" descr="Cuadrícula grande"/>
          <p:cNvSpPr>
            <a:spLocks/>
          </p:cNvSpPr>
          <p:nvPr/>
        </p:nvSpPr>
        <p:spPr bwMode="auto">
          <a:xfrm>
            <a:off x="3311525" y="3970338"/>
            <a:ext cx="4132263" cy="2809875"/>
          </a:xfrm>
          <a:custGeom>
            <a:avLst/>
            <a:gdLst>
              <a:gd name="T0" fmla="*/ 2147483647 w 2603"/>
              <a:gd name="T1" fmla="*/ 2147483647 h 1770"/>
              <a:gd name="T2" fmla="*/ 2147483647 w 2603"/>
              <a:gd name="T3" fmla="*/ 0 h 1770"/>
              <a:gd name="T4" fmla="*/ 2147483647 w 2603"/>
              <a:gd name="T5" fmla="*/ 2147483647 h 1770"/>
              <a:gd name="T6" fmla="*/ 2147483647 w 2603"/>
              <a:gd name="T7" fmla="*/ 2147483647 h 1770"/>
              <a:gd name="T8" fmla="*/ 2147483647 w 2603"/>
              <a:gd name="T9" fmla="*/ 2147483647 h 1770"/>
              <a:gd name="T10" fmla="*/ 2147483647 w 2603"/>
              <a:gd name="T11" fmla="*/ 2147483647 h 1770"/>
              <a:gd name="T12" fmla="*/ 2147483647 w 2603"/>
              <a:gd name="T13" fmla="*/ 2147483647 h 1770"/>
              <a:gd name="T14" fmla="*/ 2147483647 w 2603"/>
              <a:gd name="T15" fmla="*/ 2147483647 h 1770"/>
              <a:gd name="T16" fmla="*/ 2147483647 w 2603"/>
              <a:gd name="T17" fmla="*/ 2147483647 h 1770"/>
              <a:gd name="T18" fmla="*/ 2147483647 w 2603"/>
              <a:gd name="T19" fmla="*/ 2147483647 h 1770"/>
              <a:gd name="T20" fmla="*/ 2147483647 w 2603"/>
              <a:gd name="T21" fmla="*/ 2147483647 h 1770"/>
              <a:gd name="T22" fmla="*/ 0 w 2603"/>
              <a:gd name="T23" fmla="*/ 2147483647 h 1770"/>
              <a:gd name="T24" fmla="*/ 2147483647 w 2603"/>
              <a:gd name="T25" fmla="*/ 2147483647 h 1770"/>
              <a:gd name="T26" fmla="*/ 2147483647 w 2603"/>
              <a:gd name="T27" fmla="*/ 2147483647 h 1770"/>
              <a:gd name="T28" fmla="*/ 2147483647 w 2603"/>
              <a:gd name="T29" fmla="*/ 2147483647 h 1770"/>
              <a:gd name="T30" fmla="*/ 2147483647 w 2603"/>
              <a:gd name="T31" fmla="*/ 2147483647 h 17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603"/>
              <a:gd name="T49" fmla="*/ 0 h 1770"/>
              <a:gd name="T50" fmla="*/ 2603 w 2603"/>
              <a:gd name="T51" fmla="*/ 1770 h 17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603" h="1770">
                <a:moveTo>
                  <a:pt x="2475" y="11"/>
                </a:moveTo>
                <a:lnTo>
                  <a:pt x="220" y="0"/>
                </a:lnTo>
                <a:lnTo>
                  <a:pt x="368" y="81"/>
                </a:lnTo>
                <a:lnTo>
                  <a:pt x="544" y="228"/>
                </a:lnTo>
                <a:lnTo>
                  <a:pt x="669" y="416"/>
                </a:lnTo>
                <a:lnTo>
                  <a:pt x="771" y="636"/>
                </a:lnTo>
                <a:lnTo>
                  <a:pt x="771" y="863"/>
                </a:lnTo>
                <a:lnTo>
                  <a:pt x="763" y="1059"/>
                </a:lnTo>
                <a:lnTo>
                  <a:pt x="680" y="1271"/>
                </a:lnTo>
                <a:lnTo>
                  <a:pt x="499" y="1543"/>
                </a:lnTo>
                <a:cubicBezTo>
                  <a:pt x="423" y="1618"/>
                  <a:pt x="341" y="1641"/>
                  <a:pt x="226" y="1724"/>
                </a:cubicBezTo>
                <a:cubicBezTo>
                  <a:pt x="100" y="1728"/>
                  <a:pt x="227" y="1762"/>
                  <a:pt x="0" y="1770"/>
                </a:cubicBezTo>
                <a:lnTo>
                  <a:pt x="2221" y="1759"/>
                </a:lnTo>
                <a:cubicBezTo>
                  <a:pt x="2603" y="1667"/>
                  <a:pt x="2286" y="1401"/>
                  <a:pt x="2294" y="1216"/>
                </a:cubicBezTo>
                <a:cubicBezTo>
                  <a:pt x="2381" y="1022"/>
                  <a:pt x="2334" y="861"/>
                  <a:pt x="2267" y="647"/>
                </a:cubicBezTo>
                <a:cubicBezTo>
                  <a:pt x="2200" y="433"/>
                  <a:pt x="2475" y="11"/>
                  <a:pt x="2475" y="11"/>
                </a:cubicBezTo>
                <a:close/>
              </a:path>
            </a:pathLst>
          </a:custGeom>
          <a:pattFill prst="lgGrid">
            <a:fgClr>
              <a:srgbClr val="FFCC00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4363" name="Arc 53"/>
          <p:cNvSpPr>
            <a:spLocks noChangeAspect="1"/>
          </p:cNvSpPr>
          <p:nvPr/>
        </p:nvSpPr>
        <p:spPr bwMode="auto">
          <a:xfrm>
            <a:off x="3059113" y="3960813"/>
            <a:ext cx="1479550" cy="2840037"/>
          </a:xfrm>
          <a:custGeom>
            <a:avLst/>
            <a:gdLst>
              <a:gd name="T0" fmla="*/ 2147483647 w 21600"/>
              <a:gd name="T1" fmla="*/ 0 h 41446"/>
              <a:gd name="T2" fmla="*/ 2147483647 w 21600"/>
              <a:gd name="T3" fmla="*/ 2147483647 h 41446"/>
              <a:gd name="T4" fmla="*/ 0 w 21600"/>
              <a:gd name="T5" fmla="*/ 2147483647 h 41446"/>
              <a:gd name="T6" fmla="*/ 0 60000 65536"/>
              <a:gd name="T7" fmla="*/ 0 60000 65536"/>
              <a:gd name="T8" fmla="*/ 0 60000 65536"/>
              <a:gd name="T9" fmla="*/ 0 w 21600"/>
              <a:gd name="T10" fmla="*/ 0 h 41446"/>
              <a:gd name="T11" fmla="*/ 21600 w 21600"/>
              <a:gd name="T12" fmla="*/ 41446 h 41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1446" fill="none" extrusionOk="0">
                <a:moveTo>
                  <a:pt x="7053" y="-1"/>
                </a:moveTo>
                <a:cubicBezTo>
                  <a:pt x="15759" y="3007"/>
                  <a:pt x="21600" y="11205"/>
                  <a:pt x="21600" y="20416"/>
                </a:cubicBezTo>
                <a:cubicBezTo>
                  <a:pt x="21600" y="30446"/>
                  <a:pt x="14695" y="39156"/>
                  <a:pt x="4929" y="41445"/>
                </a:cubicBezTo>
              </a:path>
              <a:path w="21600" h="41446" stroke="0" extrusionOk="0">
                <a:moveTo>
                  <a:pt x="7053" y="-1"/>
                </a:moveTo>
                <a:cubicBezTo>
                  <a:pt x="15759" y="3007"/>
                  <a:pt x="21600" y="11205"/>
                  <a:pt x="21600" y="20416"/>
                </a:cubicBezTo>
                <a:cubicBezTo>
                  <a:pt x="21600" y="30446"/>
                  <a:pt x="14695" y="39156"/>
                  <a:pt x="4929" y="41445"/>
                </a:cubicBezTo>
                <a:lnTo>
                  <a:pt x="0" y="20416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4364" name="Line 54"/>
          <p:cNvSpPr>
            <a:spLocks noChangeShapeType="1"/>
          </p:cNvSpPr>
          <p:nvPr/>
        </p:nvSpPr>
        <p:spPr bwMode="auto">
          <a:xfrm>
            <a:off x="2357438" y="5373688"/>
            <a:ext cx="540067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65" name="Line 55"/>
          <p:cNvSpPr>
            <a:spLocks noChangeShapeType="1"/>
          </p:cNvSpPr>
          <p:nvPr/>
        </p:nvSpPr>
        <p:spPr bwMode="auto">
          <a:xfrm flipV="1">
            <a:off x="4570413" y="3862388"/>
            <a:ext cx="0" cy="302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66" name="Oval 56"/>
          <p:cNvSpPr>
            <a:spLocks noChangeArrowheads="1"/>
          </p:cNvSpPr>
          <p:nvPr/>
        </p:nvSpPr>
        <p:spPr bwMode="auto">
          <a:xfrm>
            <a:off x="3060700" y="532923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4367" name="Oval 57"/>
          <p:cNvSpPr>
            <a:spLocks noChangeArrowheads="1"/>
          </p:cNvSpPr>
          <p:nvPr/>
        </p:nvSpPr>
        <p:spPr bwMode="auto">
          <a:xfrm>
            <a:off x="4527550" y="5340350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4368" name="Text Box 58"/>
          <p:cNvSpPr txBox="1">
            <a:spLocks noChangeArrowheads="1"/>
          </p:cNvSpPr>
          <p:nvPr/>
        </p:nvSpPr>
        <p:spPr bwMode="auto">
          <a:xfrm>
            <a:off x="7308850" y="5307013"/>
            <a:ext cx="357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x</a:t>
            </a:r>
          </a:p>
        </p:txBody>
      </p:sp>
      <p:sp>
        <p:nvSpPr>
          <p:cNvPr id="14369" name="Text Box 59"/>
          <p:cNvSpPr txBox="1">
            <a:spLocks noChangeArrowheads="1"/>
          </p:cNvSpPr>
          <p:nvPr/>
        </p:nvSpPr>
        <p:spPr bwMode="auto">
          <a:xfrm>
            <a:off x="4194175" y="3705225"/>
            <a:ext cx="357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14370" name="Text Box 60"/>
          <p:cNvSpPr txBox="1">
            <a:spLocks noChangeArrowheads="1"/>
          </p:cNvSpPr>
          <p:nvPr/>
        </p:nvSpPr>
        <p:spPr bwMode="auto">
          <a:xfrm>
            <a:off x="5508625" y="5013325"/>
            <a:ext cx="1416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Eje principal</a:t>
            </a:r>
          </a:p>
        </p:txBody>
      </p:sp>
      <p:sp>
        <p:nvSpPr>
          <p:cNvPr id="14371" name="Text Box 61"/>
          <p:cNvSpPr txBox="1">
            <a:spLocks noChangeArrowheads="1"/>
          </p:cNvSpPr>
          <p:nvPr/>
        </p:nvSpPr>
        <p:spPr bwMode="auto">
          <a:xfrm>
            <a:off x="2843213" y="53736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14372" name="Text Box 62"/>
          <p:cNvSpPr txBox="1">
            <a:spLocks noChangeArrowheads="1"/>
          </p:cNvSpPr>
          <p:nvPr/>
        </p:nvSpPr>
        <p:spPr bwMode="auto">
          <a:xfrm>
            <a:off x="4254500" y="5378450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</a:p>
        </p:txBody>
      </p:sp>
      <p:sp>
        <p:nvSpPr>
          <p:cNvPr id="14373" name="Text Box 63"/>
          <p:cNvSpPr txBox="1">
            <a:spLocks noChangeArrowheads="1"/>
          </p:cNvSpPr>
          <p:nvPr/>
        </p:nvSpPr>
        <p:spPr bwMode="auto">
          <a:xfrm>
            <a:off x="3429000" y="5643563"/>
            <a:ext cx="6858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 </a:t>
            </a:r>
            <a:r>
              <a:rPr lang="es-ES_tradnl">
                <a:latin typeface="Times New Roman" pitchFamily="18" charset="0"/>
              </a:rPr>
              <a:t>&lt; 0</a:t>
            </a:r>
          </a:p>
        </p:txBody>
      </p:sp>
      <p:sp>
        <p:nvSpPr>
          <p:cNvPr id="14374" name="Text Box 64"/>
          <p:cNvSpPr txBox="1">
            <a:spLocks noChangeArrowheads="1"/>
          </p:cNvSpPr>
          <p:nvPr/>
        </p:nvSpPr>
        <p:spPr bwMode="auto">
          <a:xfrm>
            <a:off x="2771775" y="630872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4375" name="Text Box 65"/>
          <p:cNvSpPr txBox="1">
            <a:spLocks noChangeArrowheads="1"/>
          </p:cNvSpPr>
          <p:nvPr/>
        </p:nvSpPr>
        <p:spPr bwMode="auto">
          <a:xfrm>
            <a:off x="4716463" y="6373813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76" name="Line 66"/>
          <p:cNvSpPr>
            <a:spLocks noChangeShapeType="1"/>
          </p:cNvSpPr>
          <p:nvPr/>
        </p:nvSpPr>
        <p:spPr bwMode="auto">
          <a:xfrm>
            <a:off x="2217738" y="4940300"/>
            <a:ext cx="576262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77" name="Line 67"/>
          <p:cNvSpPr>
            <a:spLocks noChangeShapeType="1"/>
          </p:cNvSpPr>
          <p:nvPr/>
        </p:nvSpPr>
        <p:spPr bwMode="auto">
          <a:xfrm>
            <a:off x="2217738" y="5589588"/>
            <a:ext cx="576262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78" name="Line 68"/>
          <p:cNvSpPr>
            <a:spLocks noChangeShapeType="1"/>
          </p:cNvSpPr>
          <p:nvPr/>
        </p:nvSpPr>
        <p:spPr bwMode="auto">
          <a:xfrm>
            <a:off x="2217738" y="5229225"/>
            <a:ext cx="576262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79" name="Text Box 69"/>
          <p:cNvSpPr txBox="1">
            <a:spLocks noChangeArrowheads="1"/>
          </p:cNvSpPr>
          <p:nvPr/>
        </p:nvSpPr>
        <p:spPr bwMode="auto">
          <a:xfrm>
            <a:off x="1714500" y="5084763"/>
            <a:ext cx="52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Luz</a:t>
            </a:r>
          </a:p>
        </p:txBody>
      </p:sp>
      <p:sp>
        <p:nvSpPr>
          <p:cNvPr id="14380" name="Text Box 70"/>
          <p:cNvSpPr txBox="1">
            <a:spLocks noChangeArrowheads="1"/>
          </p:cNvSpPr>
          <p:nvPr/>
        </p:nvSpPr>
        <p:spPr bwMode="auto">
          <a:xfrm>
            <a:off x="8512175" y="6402388"/>
            <a:ext cx="2682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14381" name="44 CuadroTexto"/>
          <p:cNvSpPr txBox="1">
            <a:spLocks noChangeArrowheads="1"/>
          </p:cNvSpPr>
          <p:nvPr/>
        </p:nvSpPr>
        <p:spPr bwMode="auto">
          <a:xfrm>
            <a:off x="6286500" y="3000375"/>
            <a:ext cx="19034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Dioptra Convexa</a:t>
            </a:r>
          </a:p>
        </p:txBody>
      </p:sp>
      <p:sp>
        <p:nvSpPr>
          <p:cNvPr id="14382" name="45 CuadroTexto"/>
          <p:cNvSpPr txBox="1">
            <a:spLocks noChangeArrowheads="1"/>
          </p:cNvSpPr>
          <p:nvPr/>
        </p:nvSpPr>
        <p:spPr bwMode="auto">
          <a:xfrm>
            <a:off x="7000875" y="5929313"/>
            <a:ext cx="19034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Dioptra Cóncava</a:t>
            </a:r>
          </a:p>
        </p:txBody>
      </p:sp>
      <p:sp>
        <p:nvSpPr>
          <p:cNvPr id="14383" name="46 CuadroTexto"/>
          <p:cNvSpPr txBox="1">
            <a:spLocks noChangeArrowheads="1"/>
          </p:cNvSpPr>
          <p:nvPr/>
        </p:nvSpPr>
        <p:spPr bwMode="auto">
          <a:xfrm>
            <a:off x="6572250" y="1928813"/>
            <a:ext cx="4730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/>
              <a:t>(+)</a:t>
            </a:r>
          </a:p>
        </p:txBody>
      </p:sp>
      <p:sp>
        <p:nvSpPr>
          <p:cNvPr id="14384" name="47 CuadroTexto"/>
          <p:cNvSpPr txBox="1">
            <a:spLocks noChangeArrowheads="1"/>
          </p:cNvSpPr>
          <p:nvPr/>
        </p:nvSpPr>
        <p:spPr bwMode="auto">
          <a:xfrm>
            <a:off x="2000250" y="1071563"/>
            <a:ext cx="4730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/>
              <a:t>(+)</a:t>
            </a:r>
          </a:p>
        </p:txBody>
      </p:sp>
      <p:sp>
        <p:nvSpPr>
          <p:cNvPr id="14385" name="48 CuadroTexto"/>
          <p:cNvSpPr txBox="1">
            <a:spLocks noChangeArrowheads="1"/>
          </p:cNvSpPr>
          <p:nvPr/>
        </p:nvSpPr>
        <p:spPr bwMode="auto">
          <a:xfrm>
            <a:off x="4143375" y="4000500"/>
            <a:ext cx="4730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/>
              <a:t>(+)</a:t>
            </a:r>
          </a:p>
        </p:txBody>
      </p:sp>
      <p:sp>
        <p:nvSpPr>
          <p:cNvPr id="14386" name="49 CuadroTexto"/>
          <p:cNvSpPr txBox="1">
            <a:spLocks noChangeArrowheads="1"/>
          </p:cNvSpPr>
          <p:nvPr/>
        </p:nvSpPr>
        <p:spPr bwMode="auto">
          <a:xfrm>
            <a:off x="7286625" y="5000625"/>
            <a:ext cx="4730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/>
              <a:t>(+)</a:t>
            </a:r>
          </a:p>
        </p:txBody>
      </p:sp>
      <p:sp>
        <p:nvSpPr>
          <p:cNvPr id="14387" name="50 CuadroTexto"/>
          <p:cNvSpPr txBox="1">
            <a:spLocks noChangeArrowheads="1"/>
          </p:cNvSpPr>
          <p:nvPr/>
        </p:nvSpPr>
        <p:spPr bwMode="auto">
          <a:xfrm>
            <a:off x="2357438" y="500063"/>
            <a:ext cx="50323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Elementos Principales – Convención de Signos</a:t>
            </a:r>
          </a:p>
        </p:txBody>
      </p:sp>
      <p:sp>
        <p:nvSpPr>
          <p:cNvPr id="14388" name="51 CuadroTexto"/>
          <p:cNvSpPr txBox="1">
            <a:spLocks noChangeArrowheads="1"/>
          </p:cNvSpPr>
          <p:nvPr/>
        </p:nvSpPr>
        <p:spPr bwMode="auto">
          <a:xfrm>
            <a:off x="0" y="3643313"/>
            <a:ext cx="2071688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El lado de donde proviene la luz incidente define el  semieje horizontal negativo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Freeform 3" descr="Onda"/>
          <p:cNvSpPr>
            <a:spLocks/>
          </p:cNvSpPr>
          <p:nvPr/>
        </p:nvSpPr>
        <p:spPr bwMode="auto">
          <a:xfrm>
            <a:off x="150813" y="849313"/>
            <a:ext cx="4905375" cy="4648200"/>
          </a:xfrm>
          <a:custGeom>
            <a:avLst/>
            <a:gdLst>
              <a:gd name="T0" fmla="*/ 2147483647 w 3090"/>
              <a:gd name="T1" fmla="*/ 2147483647 h 2928"/>
              <a:gd name="T2" fmla="*/ 2147483647 w 3090"/>
              <a:gd name="T3" fmla="*/ 0 h 2928"/>
              <a:gd name="T4" fmla="*/ 2147483647 w 3090"/>
              <a:gd name="T5" fmla="*/ 2147483647 h 2928"/>
              <a:gd name="T6" fmla="*/ 2147483647 w 3090"/>
              <a:gd name="T7" fmla="*/ 2147483647 h 2928"/>
              <a:gd name="T8" fmla="*/ 2147483647 w 3090"/>
              <a:gd name="T9" fmla="*/ 2147483647 h 2928"/>
              <a:gd name="T10" fmla="*/ 2147483647 w 3090"/>
              <a:gd name="T11" fmla="*/ 2147483647 h 2928"/>
              <a:gd name="T12" fmla="*/ 2147483647 w 3090"/>
              <a:gd name="T13" fmla="*/ 2147483647 h 2928"/>
              <a:gd name="T14" fmla="*/ 2147483647 w 3090"/>
              <a:gd name="T15" fmla="*/ 2147483647 h 2928"/>
              <a:gd name="T16" fmla="*/ 2147483647 w 3090"/>
              <a:gd name="T17" fmla="*/ 2147483647 h 2928"/>
              <a:gd name="T18" fmla="*/ 2147483647 w 3090"/>
              <a:gd name="T19" fmla="*/ 2147483647 h 2928"/>
              <a:gd name="T20" fmla="*/ 2147483647 w 3090"/>
              <a:gd name="T21" fmla="*/ 2147483647 h 2928"/>
              <a:gd name="T22" fmla="*/ 2147483647 w 3090"/>
              <a:gd name="T23" fmla="*/ 2147483647 h 2928"/>
              <a:gd name="T24" fmla="*/ 2147483647 w 3090"/>
              <a:gd name="T25" fmla="*/ 2147483647 h 2928"/>
              <a:gd name="T26" fmla="*/ 2147483647 w 3090"/>
              <a:gd name="T27" fmla="*/ 2147483647 h 2928"/>
              <a:gd name="T28" fmla="*/ 2147483647 w 3090"/>
              <a:gd name="T29" fmla="*/ 2147483647 h 2928"/>
              <a:gd name="T30" fmla="*/ 2147483647 w 3090"/>
              <a:gd name="T31" fmla="*/ 2147483647 h 2928"/>
              <a:gd name="T32" fmla="*/ 2147483647 w 3090"/>
              <a:gd name="T33" fmla="*/ 2147483647 h 2928"/>
              <a:gd name="T34" fmla="*/ 2147483647 w 3090"/>
              <a:gd name="T35" fmla="*/ 2147483647 h 2928"/>
              <a:gd name="T36" fmla="*/ 2147483647 w 3090"/>
              <a:gd name="T37" fmla="*/ 2147483647 h 2928"/>
              <a:gd name="T38" fmla="*/ 2147483647 w 3090"/>
              <a:gd name="T39" fmla="*/ 2147483647 h 292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3090"/>
              <a:gd name="T61" fmla="*/ 0 h 2928"/>
              <a:gd name="T62" fmla="*/ 3090 w 3090"/>
              <a:gd name="T63" fmla="*/ 2928 h 292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3090" h="2928">
                <a:moveTo>
                  <a:pt x="169" y="48"/>
                </a:moveTo>
                <a:lnTo>
                  <a:pt x="2954" y="0"/>
                </a:lnTo>
                <a:lnTo>
                  <a:pt x="2724" y="129"/>
                </a:lnTo>
                <a:lnTo>
                  <a:pt x="2561" y="271"/>
                </a:lnTo>
                <a:lnTo>
                  <a:pt x="2392" y="468"/>
                </a:lnTo>
                <a:lnTo>
                  <a:pt x="2236" y="725"/>
                </a:lnTo>
                <a:lnTo>
                  <a:pt x="2134" y="929"/>
                </a:lnTo>
                <a:lnTo>
                  <a:pt x="2064" y="1217"/>
                </a:lnTo>
                <a:lnTo>
                  <a:pt x="2064" y="1444"/>
                </a:lnTo>
                <a:lnTo>
                  <a:pt x="2072" y="1640"/>
                </a:lnTo>
                <a:lnTo>
                  <a:pt x="2121" y="1884"/>
                </a:lnTo>
                <a:lnTo>
                  <a:pt x="2277" y="2230"/>
                </a:lnTo>
                <a:cubicBezTo>
                  <a:pt x="2344" y="2335"/>
                  <a:pt x="2448" y="2431"/>
                  <a:pt x="2521" y="2514"/>
                </a:cubicBezTo>
                <a:cubicBezTo>
                  <a:pt x="2647" y="2518"/>
                  <a:pt x="2963" y="2759"/>
                  <a:pt x="2717" y="2731"/>
                </a:cubicBezTo>
                <a:lnTo>
                  <a:pt x="3090" y="2928"/>
                </a:lnTo>
                <a:lnTo>
                  <a:pt x="454" y="2860"/>
                </a:lnTo>
                <a:cubicBezTo>
                  <a:pt x="0" y="2722"/>
                  <a:pt x="376" y="2337"/>
                  <a:pt x="366" y="2101"/>
                </a:cubicBezTo>
                <a:cubicBezTo>
                  <a:pt x="279" y="1907"/>
                  <a:pt x="326" y="1658"/>
                  <a:pt x="393" y="1444"/>
                </a:cubicBezTo>
                <a:cubicBezTo>
                  <a:pt x="395" y="1349"/>
                  <a:pt x="342" y="1412"/>
                  <a:pt x="305" y="1179"/>
                </a:cubicBezTo>
                <a:cubicBezTo>
                  <a:pt x="268" y="946"/>
                  <a:pt x="197" y="284"/>
                  <a:pt x="169" y="48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028" name="Freeform 4" descr="Cuadrícula grande"/>
          <p:cNvSpPr>
            <a:spLocks/>
          </p:cNvSpPr>
          <p:nvPr/>
        </p:nvSpPr>
        <p:spPr bwMode="auto">
          <a:xfrm>
            <a:off x="3429000" y="785813"/>
            <a:ext cx="5181600" cy="4786312"/>
          </a:xfrm>
          <a:custGeom>
            <a:avLst/>
            <a:gdLst>
              <a:gd name="T0" fmla="*/ 2147483647 w 3264"/>
              <a:gd name="T1" fmla="*/ 2147483647 h 2988"/>
              <a:gd name="T2" fmla="*/ 2147483647 w 3264"/>
              <a:gd name="T3" fmla="*/ 2147483647 h 2988"/>
              <a:gd name="T4" fmla="*/ 2147483647 w 3264"/>
              <a:gd name="T5" fmla="*/ 2147483647 h 2988"/>
              <a:gd name="T6" fmla="*/ 2147483647 w 3264"/>
              <a:gd name="T7" fmla="*/ 2147483647 h 2988"/>
              <a:gd name="T8" fmla="*/ 2147483647 w 3264"/>
              <a:gd name="T9" fmla="*/ 0 h 2988"/>
              <a:gd name="T10" fmla="*/ 2147483647 w 3264"/>
              <a:gd name="T11" fmla="*/ 2147483647 h 2988"/>
              <a:gd name="T12" fmla="*/ 2147483647 w 3264"/>
              <a:gd name="T13" fmla="*/ 2147483647 h 2988"/>
              <a:gd name="T14" fmla="*/ 2147483647 w 3264"/>
              <a:gd name="T15" fmla="*/ 2147483647 h 2988"/>
              <a:gd name="T16" fmla="*/ 2147483647 w 3264"/>
              <a:gd name="T17" fmla="*/ 2147483647 h 2988"/>
              <a:gd name="T18" fmla="*/ 2147483647 w 3264"/>
              <a:gd name="T19" fmla="*/ 2147483647 h 2988"/>
              <a:gd name="T20" fmla="*/ 0 w 3264"/>
              <a:gd name="T21" fmla="*/ 2147483647 h 2988"/>
              <a:gd name="T22" fmla="*/ 0 w 3264"/>
              <a:gd name="T23" fmla="*/ 2147483647 h 2988"/>
              <a:gd name="T24" fmla="*/ 2147483647 w 3264"/>
              <a:gd name="T25" fmla="*/ 2147483647 h 2988"/>
              <a:gd name="T26" fmla="*/ 2147483647 w 3264"/>
              <a:gd name="T27" fmla="*/ 2147483647 h 2988"/>
              <a:gd name="T28" fmla="*/ 2147483647 w 3264"/>
              <a:gd name="T29" fmla="*/ 2147483647 h 2988"/>
              <a:gd name="T30" fmla="*/ 2147483647 w 3264"/>
              <a:gd name="T31" fmla="*/ 2147483647 h 2988"/>
              <a:gd name="T32" fmla="*/ 2147483647 w 3264"/>
              <a:gd name="T33" fmla="*/ 2147483647 h 2988"/>
              <a:gd name="T34" fmla="*/ 2147483647 w 3264"/>
              <a:gd name="T35" fmla="*/ 2147483647 h 2988"/>
              <a:gd name="T36" fmla="*/ 2147483647 w 3264"/>
              <a:gd name="T37" fmla="*/ 2147483647 h 2988"/>
              <a:gd name="T38" fmla="*/ 2147483647 w 3264"/>
              <a:gd name="T39" fmla="*/ 2147483647 h 2988"/>
              <a:gd name="T40" fmla="*/ 2147483647 w 3264"/>
              <a:gd name="T41" fmla="*/ 2147483647 h 298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264"/>
              <a:gd name="T64" fmla="*/ 0 h 2988"/>
              <a:gd name="T65" fmla="*/ 3264 w 3264"/>
              <a:gd name="T66" fmla="*/ 2988 h 2988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264" h="2988">
                <a:moveTo>
                  <a:pt x="3087" y="2575"/>
                </a:moveTo>
                <a:cubicBezTo>
                  <a:pt x="3080" y="2515"/>
                  <a:pt x="3165" y="2233"/>
                  <a:pt x="3168" y="2033"/>
                </a:cubicBezTo>
                <a:cubicBezTo>
                  <a:pt x="3171" y="1833"/>
                  <a:pt x="3090" y="1237"/>
                  <a:pt x="3060" y="1037"/>
                </a:cubicBezTo>
                <a:cubicBezTo>
                  <a:pt x="2906" y="796"/>
                  <a:pt x="3264" y="193"/>
                  <a:pt x="3005" y="20"/>
                </a:cubicBezTo>
                <a:lnTo>
                  <a:pt x="939" y="0"/>
                </a:lnTo>
                <a:lnTo>
                  <a:pt x="735" y="115"/>
                </a:lnTo>
                <a:lnTo>
                  <a:pt x="525" y="271"/>
                </a:lnTo>
                <a:lnTo>
                  <a:pt x="356" y="433"/>
                </a:lnTo>
                <a:lnTo>
                  <a:pt x="200" y="684"/>
                </a:lnTo>
                <a:lnTo>
                  <a:pt x="85" y="928"/>
                </a:lnTo>
                <a:lnTo>
                  <a:pt x="0" y="1236"/>
                </a:lnTo>
                <a:lnTo>
                  <a:pt x="0" y="1463"/>
                </a:lnTo>
                <a:lnTo>
                  <a:pt x="8" y="1659"/>
                </a:lnTo>
                <a:lnTo>
                  <a:pt x="71" y="1904"/>
                </a:lnTo>
                <a:lnTo>
                  <a:pt x="241" y="2283"/>
                </a:lnTo>
                <a:cubicBezTo>
                  <a:pt x="307" y="2392"/>
                  <a:pt x="394" y="2487"/>
                  <a:pt x="464" y="2561"/>
                </a:cubicBezTo>
                <a:cubicBezTo>
                  <a:pt x="537" y="2630"/>
                  <a:pt x="590" y="2674"/>
                  <a:pt x="661" y="2724"/>
                </a:cubicBezTo>
                <a:cubicBezTo>
                  <a:pt x="732" y="2774"/>
                  <a:pt x="815" y="2817"/>
                  <a:pt x="891" y="2859"/>
                </a:cubicBezTo>
                <a:lnTo>
                  <a:pt x="1115" y="2975"/>
                </a:lnTo>
                <a:lnTo>
                  <a:pt x="2951" y="2988"/>
                </a:lnTo>
                <a:lnTo>
                  <a:pt x="3087" y="2575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0"/>
            <a:ext cx="7793037" cy="623888"/>
          </a:xfrm>
        </p:spPr>
        <p:txBody>
          <a:bodyPr/>
          <a:lstStyle/>
          <a:p>
            <a:pPr eaLnBrk="1" hangingPunct="1"/>
            <a:r>
              <a:rPr lang="es-ES_tradnl" sz="3200" smtClean="0"/>
              <a:t>Dioptra esférica – </a:t>
            </a:r>
            <a:r>
              <a:rPr lang="es-ES_tradnl" sz="2000" smtClean="0"/>
              <a:t>Deducción de un modelo analítico </a:t>
            </a:r>
          </a:p>
        </p:txBody>
      </p:sp>
      <p:sp>
        <p:nvSpPr>
          <p:cNvPr id="1030" name="Arc 6"/>
          <p:cNvSpPr>
            <a:spLocks noChangeAspect="1"/>
          </p:cNvSpPr>
          <p:nvPr/>
        </p:nvSpPr>
        <p:spPr bwMode="auto">
          <a:xfrm flipH="1">
            <a:off x="3427413" y="762000"/>
            <a:ext cx="2530475" cy="4832350"/>
          </a:xfrm>
          <a:custGeom>
            <a:avLst/>
            <a:gdLst>
              <a:gd name="T0" fmla="*/ 2147483647 w 21600"/>
              <a:gd name="T1" fmla="*/ 0 h 41238"/>
              <a:gd name="T2" fmla="*/ 2147483647 w 21600"/>
              <a:gd name="T3" fmla="*/ 2147483647 h 41238"/>
              <a:gd name="T4" fmla="*/ 0 w 21600"/>
              <a:gd name="T5" fmla="*/ 2147483647 h 41238"/>
              <a:gd name="T6" fmla="*/ 0 60000 65536"/>
              <a:gd name="T7" fmla="*/ 0 60000 65536"/>
              <a:gd name="T8" fmla="*/ 0 60000 65536"/>
              <a:gd name="T9" fmla="*/ 0 w 21600"/>
              <a:gd name="T10" fmla="*/ 0 h 41238"/>
              <a:gd name="T11" fmla="*/ 21600 w 21600"/>
              <a:gd name="T12" fmla="*/ 41238 h 412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1238" fill="none" extrusionOk="0">
                <a:moveTo>
                  <a:pt x="7628" y="-1"/>
                </a:moveTo>
                <a:cubicBezTo>
                  <a:pt x="16035" y="3173"/>
                  <a:pt x="21600" y="11221"/>
                  <a:pt x="21600" y="20208"/>
                </a:cubicBezTo>
                <a:cubicBezTo>
                  <a:pt x="21600" y="30238"/>
                  <a:pt x="14695" y="38948"/>
                  <a:pt x="4929" y="41237"/>
                </a:cubicBezTo>
              </a:path>
              <a:path w="21600" h="41238" stroke="0" extrusionOk="0">
                <a:moveTo>
                  <a:pt x="7628" y="-1"/>
                </a:moveTo>
                <a:cubicBezTo>
                  <a:pt x="16035" y="3173"/>
                  <a:pt x="21600" y="11221"/>
                  <a:pt x="21600" y="20208"/>
                </a:cubicBezTo>
                <a:cubicBezTo>
                  <a:pt x="21600" y="30238"/>
                  <a:pt x="14695" y="38948"/>
                  <a:pt x="4929" y="41237"/>
                </a:cubicBezTo>
                <a:lnTo>
                  <a:pt x="0" y="2020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539750" y="3151188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 flipV="1">
            <a:off x="3436938" y="754063"/>
            <a:ext cx="0" cy="464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033" name="Oval 10"/>
          <p:cNvSpPr>
            <a:spLocks noChangeArrowheads="1"/>
          </p:cNvSpPr>
          <p:nvPr/>
        </p:nvSpPr>
        <p:spPr bwMode="auto">
          <a:xfrm>
            <a:off x="3394075" y="3117850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34" name="Text Box 11"/>
          <p:cNvSpPr txBox="1">
            <a:spLocks noChangeArrowheads="1"/>
          </p:cNvSpPr>
          <p:nvPr/>
        </p:nvSpPr>
        <p:spPr bwMode="auto">
          <a:xfrm>
            <a:off x="8388350" y="3019425"/>
            <a:ext cx="357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x</a:t>
            </a:r>
          </a:p>
        </p:txBody>
      </p:sp>
      <p:sp>
        <p:nvSpPr>
          <p:cNvPr id="1035" name="Text Box 12"/>
          <p:cNvSpPr txBox="1">
            <a:spLocks noChangeArrowheads="1"/>
          </p:cNvSpPr>
          <p:nvPr/>
        </p:nvSpPr>
        <p:spPr bwMode="auto">
          <a:xfrm>
            <a:off x="3060700" y="692150"/>
            <a:ext cx="357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1036" name="Text Box 17"/>
          <p:cNvSpPr txBox="1">
            <a:spLocks noChangeArrowheads="1"/>
          </p:cNvSpPr>
          <p:nvPr/>
        </p:nvSpPr>
        <p:spPr bwMode="auto">
          <a:xfrm>
            <a:off x="3121025" y="3155950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</a:p>
        </p:txBody>
      </p:sp>
      <p:sp>
        <p:nvSpPr>
          <p:cNvPr id="1037" name="Text Box 20"/>
          <p:cNvSpPr txBox="1">
            <a:spLocks noChangeArrowheads="1"/>
          </p:cNvSpPr>
          <p:nvPr/>
        </p:nvSpPr>
        <p:spPr bwMode="auto">
          <a:xfrm>
            <a:off x="3708400" y="501332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038" name="Text Box 21"/>
          <p:cNvSpPr txBox="1">
            <a:spLocks noChangeArrowheads="1"/>
          </p:cNvSpPr>
          <p:nvPr/>
        </p:nvSpPr>
        <p:spPr bwMode="auto">
          <a:xfrm>
            <a:off x="4859338" y="50133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0284" name="Line 44"/>
          <p:cNvSpPr>
            <a:spLocks noChangeShapeType="1"/>
          </p:cNvSpPr>
          <p:nvPr/>
        </p:nvSpPr>
        <p:spPr bwMode="auto">
          <a:xfrm flipV="1">
            <a:off x="1209675" y="1484313"/>
            <a:ext cx="2808288" cy="165735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0285" name="Oval 45"/>
          <p:cNvSpPr>
            <a:spLocks noChangeArrowheads="1"/>
          </p:cNvSpPr>
          <p:nvPr/>
        </p:nvSpPr>
        <p:spPr bwMode="auto">
          <a:xfrm>
            <a:off x="4017963" y="1428750"/>
            <a:ext cx="71437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288" name="Arc 48"/>
          <p:cNvSpPr>
            <a:spLocks/>
          </p:cNvSpPr>
          <p:nvPr/>
        </p:nvSpPr>
        <p:spPr bwMode="auto">
          <a:xfrm rot="10386017" flipV="1">
            <a:off x="3570288" y="1195388"/>
            <a:ext cx="280987" cy="504825"/>
          </a:xfrm>
          <a:custGeom>
            <a:avLst/>
            <a:gdLst>
              <a:gd name="T0" fmla="*/ 2147483647 w 21600"/>
              <a:gd name="T1" fmla="*/ 0 h 37177"/>
              <a:gd name="T2" fmla="*/ 2147483647 w 21600"/>
              <a:gd name="T3" fmla="*/ 2147483647 h 37177"/>
              <a:gd name="T4" fmla="*/ 0 w 21600"/>
              <a:gd name="T5" fmla="*/ 2147483647 h 37177"/>
              <a:gd name="T6" fmla="*/ 0 60000 65536"/>
              <a:gd name="T7" fmla="*/ 0 60000 65536"/>
              <a:gd name="T8" fmla="*/ 0 60000 65536"/>
              <a:gd name="T9" fmla="*/ 0 w 21600"/>
              <a:gd name="T10" fmla="*/ 0 h 37177"/>
              <a:gd name="T11" fmla="*/ 21600 w 21600"/>
              <a:gd name="T12" fmla="*/ 37177 h 371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177" fill="none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</a:path>
              <a:path w="21600" h="37177" stroke="0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  <a:lnTo>
                  <a:pt x="0" y="2039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293" name="Text Box 53"/>
          <p:cNvSpPr txBox="1">
            <a:spLocks noChangeArrowheads="1"/>
          </p:cNvSpPr>
          <p:nvPr/>
        </p:nvSpPr>
        <p:spPr bwMode="auto">
          <a:xfrm>
            <a:off x="7651750" y="3141663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>
                <a:latin typeface="Times New Roman" pitchFamily="18" charset="0"/>
              </a:rPr>
              <a:t>P’</a:t>
            </a:r>
          </a:p>
        </p:txBody>
      </p:sp>
      <p:sp>
        <p:nvSpPr>
          <p:cNvPr id="10294" name="Text Box 54"/>
          <p:cNvSpPr txBox="1">
            <a:spLocks noChangeArrowheads="1"/>
          </p:cNvSpPr>
          <p:nvPr/>
        </p:nvSpPr>
        <p:spPr bwMode="auto">
          <a:xfrm>
            <a:off x="3924300" y="1030288"/>
            <a:ext cx="26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>
                <a:latin typeface="Times New Roman" pitchFamily="18" charset="0"/>
              </a:rPr>
              <a:t>I</a:t>
            </a:r>
          </a:p>
        </p:txBody>
      </p:sp>
      <p:sp>
        <p:nvSpPr>
          <p:cNvPr id="10300" name="Freeform 60"/>
          <p:cNvSpPr>
            <a:spLocks/>
          </p:cNvSpPr>
          <p:nvPr/>
        </p:nvSpPr>
        <p:spPr bwMode="auto">
          <a:xfrm>
            <a:off x="1204913" y="1423988"/>
            <a:ext cx="4840287" cy="1720850"/>
          </a:xfrm>
          <a:custGeom>
            <a:avLst/>
            <a:gdLst>
              <a:gd name="T0" fmla="*/ 0 w 3049"/>
              <a:gd name="T1" fmla="*/ 2147483647 h 1084"/>
              <a:gd name="T2" fmla="*/ 2147483647 w 3049"/>
              <a:gd name="T3" fmla="*/ 0 h 1084"/>
              <a:gd name="T4" fmla="*/ 2147483647 w 3049"/>
              <a:gd name="T5" fmla="*/ 2147483647 h 1084"/>
              <a:gd name="T6" fmla="*/ 0 w 3049"/>
              <a:gd name="T7" fmla="*/ 2147483647 h 1084"/>
              <a:gd name="T8" fmla="*/ 0 60000 65536"/>
              <a:gd name="T9" fmla="*/ 0 60000 65536"/>
              <a:gd name="T10" fmla="*/ 0 60000 65536"/>
              <a:gd name="T11" fmla="*/ 0 60000 65536"/>
              <a:gd name="T12" fmla="*/ 0 w 3049"/>
              <a:gd name="T13" fmla="*/ 0 h 1084"/>
              <a:gd name="T14" fmla="*/ 3049 w 3049"/>
              <a:gd name="T15" fmla="*/ 1084 h 10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9" h="1084">
                <a:moveTo>
                  <a:pt x="0" y="1084"/>
                </a:moveTo>
                <a:lnTo>
                  <a:pt x="1803" y="0"/>
                </a:lnTo>
                <a:lnTo>
                  <a:pt x="3049" y="1084"/>
                </a:lnTo>
                <a:lnTo>
                  <a:pt x="0" y="1084"/>
                </a:lnTo>
                <a:close/>
              </a:path>
            </a:pathLst>
          </a:custGeom>
          <a:solidFill>
            <a:schemeClr val="hlink">
              <a:alpha val="34901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045" name="Text Box 16"/>
          <p:cNvSpPr txBox="1">
            <a:spLocks noChangeArrowheads="1"/>
          </p:cNvSpPr>
          <p:nvPr/>
        </p:nvSpPr>
        <p:spPr bwMode="auto">
          <a:xfrm>
            <a:off x="5795963" y="3141663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10286" name="Line 46"/>
          <p:cNvSpPr>
            <a:spLocks noChangeShapeType="1"/>
          </p:cNvSpPr>
          <p:nvPr/>
        </p:nvSpPr>
        <p:spPr bwMode="auto">
          <a:xfrm flipH="1" flipV="1">
            <a:off x="2987675" y="549275"/>
            <a:ext cx="3024188" cy="2592388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0289" name="Text Box 49"/>
          <p:cNvSpPr txBox="1">
            <a:spLocks noChangeArrowheads="1"/>
          </p:cNvSpPr>
          <p:nvPr/>
        </p:nvSpPr>
        <p:spPr bwMode="auto">
          <a:xfrm>
            <a:off x="3635375" y="1268413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</a:t>
            </a:r>
          </a:p>
        </p:txBody>
      </p:sp>
      <p:sp>
        <p:nvSpPr>
          <p:cNvPr id="10292" name="Text Box 52"/>
          <p:cNvSpPr txBox="1">
            <a:spLocks noChangeArrowheads="1"/>
          </p:cNvSpPr>
          <p:nvPr/>
        </p:nvSpPr>
        <p:spPr bwMode="auto">
          <a:xfrm>
            <a:off x="1042988" y="3141663"/>
            <a:ext cx="3254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>
                <a:latin typeface="Times New Roman" pitchFamily="18" charset="0"/>
              </a:rPr>
              <a:t>P</a:t>
            </a:r>
          </a:p>
        </p:txBody>
      </p:sp>
      <p:sp>
        <p:nvSpPr>
          <p:cNvPr id="10296" name="Arc 56"/>
          <p:cNvSpPr>
            <a:spLocks/>
          </p:cNvSpPr>
          <p:nvPr/>
        </p:nvSpPr>
        <p:spPr bwMode="auto">
          <a:xfrm rot="9907686" flipH="1" flipV="1">
            <a:off x="1979613" y="2652713"/>
            <a:ext cx="280987" cy="504825"/>
          </a:xfrm>
          <a:custGeom>
            <a:avLst/>
            <a:gdLst>
              <a:gd name="T0" fmla="*/ 2147483647 w 21600"/>
              <a:gd name="T1" fmla="*/ 0 h 37177"/>
              <a:gd name="T2" fmla="*/ 2147483647 w 21600"/>
              <a:gd name="T3" fmla="*/ 2147483647 h 37177"/>
              <a:gd name="T4" fmla="*/ 0 w 21600"/>
              <a:gd name="T5" fmla="*/ 2147483647 h 37177"/>
              <a:gd name="T6" fmla="*/ 0 60000 65536"/>
              <a:gd name="T7" fmla="*/ 0 60000 65536"/>
              <a:gd name="T8" fmla="*/ 0 60000 65536"/>
              <a:gd name="T9" fmla="*/ 0 w 21600"/>
              <a:gd name="T10" fmla="*/ 0 h 37177"/>
              <a:gd name="T11" fmla="*/ 21600 w 21600"/>
              <a:gd name="T12" fmla="*/ 37177 h 371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177" fill="none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</a:path>
              <a:path w="21600" h="37177" stroke="0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  <a:lnTo>
                  <a:pt x="0" y="2039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298" name="Text Box 58"/>
          <p:cNvSpPr txBox="1">
            <a:spLocks noChangeArrowheads="1"/>
          </p:cNvSpPr>
          <p:nvPr/>
        </p:nvSpPr>
        <p:spPr bwMode="auto">
          <a:xfrm>
            <a:off x="1908175" y="27813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u</a:t>
            </a:r>
          </a:p>
        </p:txBody>
      </p:sp>
      <p:sp>
        <p:nvSpPr>
          <p:cNvPr id="10301" name="Arc 61"/>
          <p:cNvSpPr>
            <a:spLocks/>
          </p:cNvSpPr>
          <p:nvPr/>
        </p:nvSpPr>
        <p:spPr bwMode="auto">
          <a:xfrm rot="11572692" flipV="1">
            <a:off x="5348288" y="2713038"/>
            <a:ext cx="146050" cy="404812"/>
          </a:xfrm>
          <a:custGeom>
            <a:avLst/>
            <a:gdLst>
              <a:gd name="T0" fmla="*/ 2147483647 w 21600"/>
              <a:gd name="T1" fmla="*/ 0 h 41882"/>
              <a:gd name="T2" fmla="*/ 2147483647 w 21600"/>
              <a:gd name="T3" fmla="*/ 2147483647 h 41882"/>
              <a:gd name="T4" fmla="*/ 0 w 21600"/>
              <a:gd name="T5" fmla="*/ 2147483647 h 41882"/>
              <a:gd name="T6" fmla="*/ 0 60000 65536"/>
              <a:gd name="T7" fmla="*/ 0 60000 65536"/>
              <a:gd name="T8" fmla="*/ 0 60000 65536"/>
              <a:gd name="T9" fmla="*/ 0 w 21600"/>
              <a:gd name="T10" fmla="*/ 0 h 41882"/>
              <a:gd name="T11" fmla="*/ 21600 w 21600"/>
              <a:gd name="T12" fmla="*/ 41882 h 418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1882" fill="none" extrusionOk="0">
                <a:moveTo>
                  <a:pt x="5247" y="-1"/>
                </a:moveTo>
                <a:cubicBezTo>
                  <a:pt x="14858" y="2406"/>
                  <a:pt x="21600" y="11044"/>
                  <a:pt x="21600" y="20953"/>
                </a:cubicBezTo>
                <a:cubicBezTo>
                  <a:pt x="21600" y="30824"/>
                  <a:pt x="14907" y="39440"/>
                  <a:pt x="5341" y="41881"/>
                </a:cubicBezTo>
              </a:path>
              <a:path w="21600" h="41882" stroke="0" extrusionOk="0">
                <a:moveTo>
                  <a:pt x="5247" y="-1"/>
                </a:moveTo>
                <a:cubicBezTo>
                  <a:pt x="14858" y="2406"/>
                  <a:pt x="21600" y="11044"/>
                  <a:pt x="21600" y="20953"/>
                </a:cubicBezTo>
                <a:cubicBezTo>
                  <a:pt x="21600" y="30824"/>
                  <a:pt x="14907" y="39440"/>
                  <a:pt x="5341" y="41881"/>
                </a:cubicBezTo>
                <a:lnTo>
                  <a:pt x="0" y="2095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303" name="Freeform 63"/>
          <p:cNvSpPr>
            <a:spLocks/>
          </p:cNvSpPr>
          <p:nvPr/>
        </p:nvSpPr>
        <p:spPr bwMode="auto">
          <a:xfrm>
            <a:off x="4083050" y="1484313"/>
            <a:ext cx="3817938" cy="1657350"/>
          </a:xfrm>
          <a:custGeom>
            <a:avLst/>
            <a:gdLst>
              <a:gd name="T0" fmla="*/ 2147483647 w 2405"/>
              <a:gd name="T1" fmla="*/ 2147483647 h 1044"/>
              <a:gd name="T2" fmla="*/ 0 w 2405"/>
              <a:gd name="T3" fmla="*/ 0 h 1044"/>
              <a:gd name="T4" fmla="*/ 2147483647 w 2405"/>
              <a:gd name="T5" fmla="*/ 2147483647 h 1044"/>
              <a:gd name="T6" fmla="*/ 2147483647 w 2405"/>
              <a:gd name="T7" fmla="*/ 2147483647 h 1044"/>
              <a:gd name="T8" fmla="*/ 0 60000 65536"/>
              <a:gd name="T9" fmla="*/ 0 60000 65536"/>
              <a:gd name="T10" fmla="*/ 0 60000 65536"/>
              <a:gd name="T11" fmla="*/ 0 60000 65536"/>
              <a:gd name="T12" fmla="*/ 0 w 2405"/>
              <a:gd name="T13" fmla="*/ 0 h 1044"/>
              <a:gd name="T14" fmla="*/ 2405 w 2405"/>
              <a:gd name="T15" fmla="*/ 1044 h 10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05" h="1044">
                <a:moveTo>
                  <a:pt x="2405" y="1044"/>
                </a:moveTo>
                <a:lnTo>
                  <a:pt x="0" y="0"/>
                </a:lnTo>
                <a:lnTo>
                  <a:pt x="1232" y="1044"/>
                </a:lnTo>
                <a:lnTo>
                  <a:pt x="2405" y="1044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0287" name="Freeform 47"/>
          <p:cNvSpPr>
            <a:spLocks/>
          </p:cNvSpPr>
          <p:nvPr/>
        </p:nvSpPr>
        <p:spPr bwMode="auto">
          <a:xfrm>
            <a:off x="4067175" y="1463675"/>
            <a:ext cx="4333875" cy="1903413"/>
          </a:xfrm>
          <a:custGeom>
            <a:avLst/>
            <a:gdLst>
              <a:gd name="T0" fmla="*/ 0 w 2730"/>
              <a:gd name="T1" fmla="*/ 0 h 1199"/>
              <a:gd name="T2" fmla="*/ 2147483647 w 2730"/>
              <a:gd name="T3" fmla="*/ 2147483647 h 1199"/>
              <a:gd name="T4" fmla="*/ 0 60000 65536"/>
              <a:gd name="T5" fmla="*/ 0 60000 65536"/>
              <a:gd name="T6" fmla="*/ 0 w 2730"/>
              <a:gd name="T7" fmla="*/ 0 h 1199"/>
              <a:gd name="T8" fmla="*/ 2730 w 2730"/>
              <a:gd name="T9" fmla="*/ 1199 h 11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30" h="1199">
                <a:moveTo>
                  <a:pt x="0" y="0"/>
                </a:moveTo>
                <a:lnTo>
                  <a:pt x="2730" y="1199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0290" name="Arc 50"/>
          <p:cNvSpPr>
            <a:spLocks/>
          </p:cNvSpPr>
          <p:nvPr/>
        </p:nvSpPr>
        <p:spPr bwMode="auto">
          <a:xfrm rot="2752204" flipV="1">
            <a:off x="4788694" y="1778794"/>
            <a:ext cx="133350" cy="328612"/>
          </a:xfrm>
          <a:custGeom>
            <a:avLst/>
            <a:gdLst>
              <a:gd name="T0" fmla="*/ 2147483647 w 21600"/>
              <a:gd name="T1" fmla="*/ 0 h 37177"/>
              <a:gd name="T2" fmla="*/ 2147483647 w 21600"/>
              <a:gd name="T3" fmla="*/ 2147483647 h 37177"/>
              <a:gd name="T4" fmla="*/ 0 w 21600"/>
              <a:gd name="T5" fmla="*/ 2147483647 h 37177"/>
              <a:gd name="T6" fmla="*/ 0 60000 65536"/>
              <a:gd name="T7" fmla="*/ 0 60000 65536"/>
              <a:gd name="T8" fmla="*/ 0 60000 65536"/>
              <a:gd name="T9" fmla="*/ 0 w 21600"/>
              <a:gd name="T10" fmla="*/ 0 h 37177"/>
              <a:gd name="T11" fmla="*/ 21600 w 21600"/>
              <a:gd name="T12" fmla="*/ 37177 h 371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177" fill="none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</a:path>
              <a:path w="21600" h="37177" stroke="0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  <a:lnTo>
                  <a:pt x="0" y="2039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291" name="Text Box 51"/>
          <p:cNvSpPr txBox="1">
            <a:spLocks noChangeArrowheads="1"/>
          </p:cNvSpPr>
          <p:nvPr/>
        </p:nvSpPr>
        <p:spPr bwMode="auto">
          <a:xfrm>
            <a:off x="5003800" y="1989138"/>
            <a:ext cx="27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</a:t>
            </a:r>
          </a:p>
        </p:txBody>
      </p:sp>
      <p:sp>
        <p:nvSpPr>
          <p:cNvPr id="10297" name="Arc 57"/>
          <p:cNvSpPr>
            <a:spLocks/>
          </p:cNvSpPr>
          <p:nvPr/>
        </p:nvSpPr>
        <p:spPr bwMode="auto">
          <a:xfrm rot="10939715" flipV="1">
            <a:off x="6962775" y="2795588"/>
            <a:ext cx="280988" cy="360362"/>
          </a:xfrm>
          <a:custGeom>
            <a:avLst/>
            <a:gdLst>
              <a:gd name="T0" fmla="*/ 2147483647 w 21600"/>
              <a:gd name="T1" fmla="*/ 0 h 37177"/>
              <a:gd name="T2" fmla="*/ 2147483647 w 21600"/>
              <a:gd name="T3" fmla="*/ 2147483647 h 37177"/>
              <a:gd name="T4" fmla="*/ 0 w 21600"/>
              <a:gd name="T5" fmla="*/ 2147483647 h 37177"/>
              <a:gd name="T6" fmla="*/ 0 60000 65536"/>
              <a:gd name="T7" fmla="*/ 0 60000 65536"/>
              <a:gd name="T8" fmla="*/ 0 60000 65536"/>
              <a:gd name="T9" fmla="*/ 0 w 21600"/>
              <a:gd name="T10" fmla="*/ 0 h 37177"/>
              <a:gd name="T11" fmla="*/ 21600 w 21600"/>
              <a:gd name="T12" fmla="*/ 37177 h 371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177" fill="none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</a:path>
              <a:path w="21600" h="37177" stroke="0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  <a:lnTo>
                  <a:pt x="0" y="2039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299" name="Text Box 59"/>
          <p:cNvSpPr txBox="1">
            <a:spLocks noChangeArrowheads="1"/>
          </p:cNvSpPr>
          <p:nvPr/>
        </p:nvSpPr>
        <p:spPr bwMode="auto">
          <a:xfrm>
            <a:off x="7064375" y="283527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u’</a:t>
            </a:r>
          </a:p>
        </p:txBody>
      </p:sp>
      <p:sp>
        <p:nvSpPr>
          <p:cNvPr id="10302" name="Text Box 62"/>
          <p:cNvSpPr txBox="1">
            <a:spLocks noChangeArrowheads="1"/>
          </p:cNvSpPr>
          <p:nvPr/>
        </p:nvSpPr>
        <p:spPr bwMode="auto">
          <a:xfrm>
            <a:off x="5364163" y="2741613"/>
            <a:ext cx="328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1059" name="Oval 9"/>
          <p:cNvSpPr>
            <a:spLocks noChangeArrowheads="1"/>
          </p:cNvSpPr>
          <p:nvPr/>
        </p:nvSpPr>
        <p:spPr bwMode="auto">
          <a:xfrm>
            <a:off x="6013450" y="310673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304" name="Text Box 64"/>
          <p:cNvSpPr txBox="1">
            <a:spLocks noChangeArrowheads="1"/>
          </p:cNvSpPr>
          <p:nvPr/>
        </p:nvSpPr>
        <p:spPr bwMode="auto">
          <a:xfrm>
            <a:off x="1023938" y="6113463"/>
            <a:ext cx="628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PIC:</a:t>
            </a:r>
          </a:p>
        </p:txBody>
      </p:sp>
      <p:sp>
        <p:nvSpPr>
          <p:cNvPr id="10305" name="Text Box 65"/>
          <p:cNvSpPr txBox="1">
            <a:spLocks noChangeArrowheads="1"/>
          </p:cNvSpPr>
          <p:nvPr/>
        </p:nvSpPr>
        <p:spPr bwMode="auto">
          <a:xfrm>
            <a:off x="1671638" y="6110288"/>
            <a:ext cx="992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 </a:t>
            </a:r>
            <a:r>
              <a:rPr lang="es-ES_tradnl">
                <a:latin typeface="Times New Roman" pitchFamily="18" charset="0"/>
              </a:rPr>
              <a:t>= </a:t>
            </a:r>
            <a:r>
              <a:rPr lang="es-ES_tradnl" i="1">
                <a:latin typeface="Times New Roman" pitchFamily="18" charset="0"/>
              </a:rPr>
              <a:t>u</a:t>
            </a:r>
            <a:r>
              <a:rPr lang="es-ES_tradnl">
                <a:latin typeface="Times New Roman" pitchFamily="18" charset="0"/>
              </a:rPr>
              <a:t> + </a:t>
            </a:r>
            <a:r>
              <a:rPr lang="es-ES_tradnl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10306" name="AutoShape 66"/>
          <p:cNvSpPr>
            <a:spLocks noChangeArrowheads="1"/>
          </p:cNvSpPr>
          <p:nvPr/>
        </p:nvSpPr>
        <p:spPr bwMode="auto">
          <a:xfrm>
            <a:off x="1187450" y="6069013"/>
            <a:ext cx="215900" cy="10795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307" name="Text Box 67"/>
          <p:cNvSpPr txBox="1">
            <a:spLocks noChangeArrowheads="1"/>
          </p:cNvSpPr>
          <p:nvPr/>
        </p:nvSpPr>
        <p:spPr bwMode="auto">
          <a:xfrm>
            <a:off x="5724525" y="6240463"/>
            <a:ext cx="679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P’IC:</a:t>
            </a:r>
          </a:p>
        </p:txBody>
      </p:sp>
      <p:sp>
        <p:nvSpPr>
          <p:cNvPr id="10308" name="Text Box 68"/>
          <p:cNvSpPr txBox="1">
            <a:spLocks noChangeArrowheads="1"/>
          </p:cNvSpPr>
          <p:nvPr/>
        </p:nvSpPr>
        <p:spPr bwMode="auto">
          <a:xfrm>
            <a:off x="6372225" y="6237288"/>
            <a:ext cx="11763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  <a:sym typeface="Symbol" pitchFamily="18" charset="2"/>
              </a:rPr>
              <a:t></a:t>
            </a:r>
            <a:r>
              <a:rPr lang="es-ES_tradnl" i="1">
                <a:latin typeface="Times New Roman" pitchFamily="18" charset="0"/>
              </a:rPr>
              <a:t> = </a:t>
            </a:r>
            <a:r>
              <a:rPr lang="es-ES_tradnl">
                <a:latin typeface="Times New Roman" pitchFamily="18" charset="0"/>
              </a:rPr>
              <a:t> </a:t>
            </a:r>
            <a:r>
              <a:rPr lang="es-ES_tradnl" i="1">
                <a:latin typeface="Times New Roman" pitchFamily="18" charset="0"/>
              </a:rPr>
              <a:t>u</a:t>
            </a:r>
            <a:r>
              <a:rPr lang="es-ES_tradnl">
                <a:latin typeface="Times New Roman" pitchFamily="18" charset="0"/>
              </a:rPr>
              <a:t>’ + </a:t>
            </a:r>
            <a:r>
              <a:rPr lang="es-ES_tradnl" i="1">
                <a:latin typeface="Times New Roman" pitchFamily="18" charset="0"/>
              </a:rPr>
              <a:t>r</a:t>
            </a:r>
          </a:p>
        </p:txBody>
      </p:sp>
      <p:sp>
        <p:nvSpPr>
          <p:cNvPr id="10309" name="AutoShape 69"/>
          <p:cNvSpPr>
            <a:spLocks noChangeArrowheads="1"/>
          </p:cNvSpPr>
          <p:nvPr/>
        </p:nvSpPr>
        <p:spPr bwMode="auto">
          <a:xfrm>
            <a:off x="5954713" y="6196013"/>
            <a:ext cx="215900" cy="10795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66" name="Text Box 70"/>
          <p:cNvSpPr txBox="1">
            <a:spLocks noChangeArrowheads="1"/>
          </p:cNvSpPr>
          <p:nvPr/>
        </p:nvSpPr>
        <p:spPr bwMode="auto">
          <a:xfrm>
            <a:off x="7072313" y="5143500"/>
            <a:ext cx="7318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 &lt; </a:t>
            </a:r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graphicFrame>
        <p:nvGraphicFramePr>
          <p:cNvPr id="10311" name="Object 71"/>
          <p:cNvGraphicFramePr>
            <a:graphicFrameLocks noChangeAspect="1"/>
          </p:cNvGraphicFramePr>
          <p:nvPr/>
        </p:nvGraphicFramePr>
        <p:xfrm>
          <a:off x="827088" y="4868863"/>
          <a:ext cx="15224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cuación" r:id="rId3" imgW="952200" imgH="203040" progId="Equation.3">
                  <p:embed/>
                </p:oleObj>
              </mc:Choice>
              <mc:Fallback>
                <p:oleObj name="Ecuación" r:id="rId3" imgW="952200" imgH="20304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868863"/>
                        <a:ext cx="1522412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2" name="Line 72"/>
          <p:cNvSpPr>
            <a:spLocks noChangeShapeType="1"/>
          </p:cNvSpPr>
          <p:nvPr/>
        </p:nvSpPr>
        <p:spPr bwMode="auto">
          <a:xfrm>
            <a:off x="1187450" y="3141663"/>
            <a:ext cx="69850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0313" name="Line 73"/>
          <p:cNvSpPr>
            <a:spLocks noChangeShapeType="1"/>
          </p:cNvSpPr>
          <p:nvPr/>
        </p:nvSpPr>
        <p:spPr bwMode="auto">
          <a:xfrm flipH="1">
            <a:off x="1209675" y="3473450"/>
            <a:ext cx="2195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0316" name="Line 76"/>
          <p:cNvSpPr>
            <a:spLocks noChangeShapeType="1"/>
          </p:cNvSpPr>
          <p:nvPr/>
        </p:nvSpPr>
        <p:spPr bwMode="auto">
          <a:xfrm>
            <a:off x="3470275" y="3478213"/>
            <a:ext cx="4414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0317" name="Text Box 77"/>
          <p:cNvSpPr txBox="1">
            <a:spLocks noChangeArrowheads="1"/>
          </p:cNvSpPr>
          <p:nvPr/>
        </p:nvSpPr>
        <p:spPr bwMode="auto">
          <a:xfrm>
            <a:off x="2103438" y="3438525"/>
            <a:ext cx="7254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</a:rPr>
              <a:t> (&lt;0)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0318" name="Text Box 78"/>
          <p:cNvSpPr txBox="1">
            <a:spLocks noChangeArrowheads="1"/>
          </p:cNvSpPr>
          <p:nvPr/>
        </p:nvSpPr>
        <p:spPr bwMode="auto">
          <a:xfrm>
            <a:off x="4783138" y="3440113"/>
            <a:ext cx="8016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</a:rPr>
              <a:t>’ (&gt;0)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0319" name="Text Box 79"/>
          <p:cNvSpPr txBox="1">
            <a:spLocks noChangeArrowheads="1"/>
          </p:cNvSpPr>
          <p:nvPr/>
        </p:nvSpPr>
        <p:spPr bwMode="auto">
          <a:xfrm>
            <a:off x="8367713" y="6402388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2</a:t>
            </a:r>
          </a:p>
        </p:txBody>
      </p:sp>
      <p:sp>
        <p:nvSpPr>
          <p:cNvPr id="51" name="50 CuadroTexto"/>
          <p:cNvSpPr txBox="1">
            <a:spLocks noChangeArrowheads="1"/>
          </p:cNvSpPr>
          <p:nvPr/>
        </p:nvSpPr>
        <p:spPr bwMode="auto">
          <a:xfrm>
            <a:off x="1214438" y="1500188"/>
            <a:ext cx="21240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Rayo incidente arbitrario</a:t>
            </a:r>
          </a:p>
        </p:txBody>
      </p:sp>
      <p:cxnSp>
        <p:nvCxnSpPr>
          <p:cNvPr id="53" name="52 Conector recto de flecha"/>
          <p:cNvCxnSpPr/>
          <p:nvPr/>
        </p:nvCxnSpPr>
        <p:spPr>
          <a:xfrm flipV="1">
            <a:off x="2286000" y="2286000"/>
            <a:ext cx="357188" cy="214313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53 CuadroTexto"/>
          <p:cNvSpPr txBox="1">
            <a:spLocks noChangeArrowheads="1"/>
          </p:cNvSpPr>
          <p:nvPr/>
        </p:nvSpPr>
        <p:spPr bwMode="auto">
          <a:xfrm>
            <a:off x="4429125" y="1214438"/>
            <a:ext cx="17478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Punto de incidencia</a:t>
            </a:r>
          </a:p>
        </p:txBody>
      </p:sp>
      <p:sp>
        <p:nvSpPr>
          <p:cNvPr id="55" name="54 CuadroTexto"/>
          <p:cNvSpPr txBox="1">
            <a:spLocks noChangeArrowheads="1"/>
          </p:cNvSpPr>
          <p:nvPr/>
        </p:nvSpPr>
        <p:spPr bwMode="auto">
          <a:xfrm>
            <a:off x="3429000" y="785813"/>
            <a:ext cx="11096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Normal en I</a:t>
            </a:r>
          </a:p>
        </p:txBody>
      </p:sp>
      <p:sp>
        <p:nvSpPr>
          <p:cNvPr id="56" name="55 CuadroTexto"/>
          <p:cNvSpPr txBox="1">
            <a:spLocks noChangeArrowheads="1"/>
          </p:cNvSpPr>
          <p:nvPr/>
        </p:nvSpPr>
        <p:spPr bwMode="auto">
          <a:xfrm>
            <a:off x="1643063" y="2857500"/>
            <a:ext cx="204628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Rayo incidencia normal</a:t>
            </a:r>
          </a:p>
        </p:txBody>
      </p:sp>
      <p:sp>
        <p:nvSpPr>
          <p:cNvPr id="57" name="56 CuadroTexto"/>
          <p:cNvSpPr txBox="1">
            <a:spLocks noChangeArrowheads="1"/>
          </p:cNvSpPr>
          <p:nvPr/>
        </p:nvSpPr>
        <p:spPr bwMode="auto">
          <a:xfrm>
            <a:off x="285750" y="3571875"/>
            <a:ext cx="15414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/>
              <a:t>Objeto Puntual</a:t>
            </a:r>
          </a:p>
        </p:txBody>
      </p:sp>
      <p:sp>
        <p:nvSpPr>
          <p:cNvPr id="58" name="57 CuadroTexto"/>
          <p:cNvSpPr txBox="1">
            <a:spLocks noChangeArrowheads="1"/>
          </p:cNvSpPr>
          <p:nvPr/>
        </p:nvSpPr>
        <p:spPr bwMode="auto">
          <a:xfrm>
            <a:off x="6929438" y="3500438"/>
            <a:ext cx="16208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/>
              <a:t>Imagen Puntual</a:t>
            </a:r>
          </a:p>
        </p:txBody>
      </p:sp>
      <p:sp>
        <p:nvSpPr>
          <p:cNvPr id="10295" name="Oval 55"/>
          <p:cNvSpPr>
            <a:spLocks noChangeArrowheads="1"/>
          </p:cNvSpPr>
          <p:nvPr/>
        </p:nvSpPr>
        <p:spPr bwMode="auto">
          <a:xfrm>
            <a:off x="7866063" y="3087688"/>
            <a:ext cx="100012" cy="101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271" name="Oval 31"/>
          <p:cNvSpPr>
            <a:spLocks noChangeArrowheads="1"/>
          </p:cNvSpPr>
          <p:nvPr/>
        </p:nvSpPr>
        <p:spPr bwMode="auto">
          <a:xfrm>
            <a:off x="1187450" y="3113088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0"/>
                                        <p:tgtEl>
                                          <p:spTgt spid="1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1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1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4" grpId="0" animBg="1"/>
      <p:bldP spid="10285" grpId="0" animBg="1"/>
      <p:bldP spid="10288" grpId="0" animBg="1"/>
      <p:bldP spid="10293" grpId="0"/>
      <p:bldP spid="10294" grpId="0"/>
      <p:bldP spid="10300" grpId="0" animBg="1"/>
      <p:bldP spid="10300" grpId="1" animBg="1"/>
      <p:bldP spid="10286" grpId="0" animBg="1"/>
      <p:bldP spid="10289" grpId="0"/>
      <p:bldP spid="10292" grpId="0"/>
      <p:bldP spid="10296" grpId="0" animBg="1"/>
      <p:bldP spid="10298" grpId="0"/>
      <p:bldP spid="10301" grpId="0" animBg="1"/>
      <p:bldP spid="10303" grpId="0" animBg="1"/>
      <p:bldP spid="10303" grpId="1" animBg="1"/>
      <p:bldP spid="10287" grpId="0" animBg="1"/>
      <p:bldP spid="10290" grpId="0" animBg="1"/>
      <p:bldP spid="10291" grpId="0"/>
      <p:bldP spid="10297" grpId="0" animBg="1"/>
      <p:bldP spid="10299" grpId="0"/>
      <p:bldP spid="10302" grpId="0"/>
      <p:bldP spid="10304" grpId="0"/>
      <p:bldP spid="10305" grpId="0"/>
      <p:bldP spid="10306" grpId="0" animBg="1"/>
      <p:bldP spid="10307" grpId="0"/>
      <p:bldP spid="10308" grpId="0"/>
      <p:bldP spid="10309" grpId="0" animBg="1"/>
      <p:bldP spid="10312" grpId="0" animBg="1"/>
      <p:bldP spid="10313" grpId="0" animBg="1"/>
      <p:bldP spid="10316" grpId="0" animBg="1"/>
      <p:bldP spid="10317" grpId="0"/>
      <p:bldP spid="10318" grpId="0"/>
      <p:bldP spid="51" grpId="0"/>
      <p:bldP spid="51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10295" grpId="0" animBg="1"/>
      <p:bldP spid="1027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reeform 2" descr="Onda"/>
          <p:cNvSpPr>
            <a:spLocks/>
          </p:cNvSpPr>
          <p:nvPr/>
        </p:nvSpPr>
        <p:spPr bwMode="auto">
          <a:xfrm>
            <a:off x="419100" y="1919288"/>
            <a:ext cx="3651250" cy="4389437"/>
          </a:xfrm>
          <a:custGeom>
            <a:avLst/>
            <a:gdLst>
              <a:gd name="T0" fmla="*/ 0 w 2300"/>
              <a:gd name="T1" fmla="*/ 0 h 2765"/>
              <a:gd name="T2" fmla="*/ 2147483647 w 2300"/>
              <a:gd name="T3" fmla="*/ 0 h 2765"/>
              <a:gd name="T4" fmla="*/ 2147483647 w 2300"/>
              <a:gd name="T5" fmla="*/ 0 h 2765"/>
              <a:gd name="T6" fmla="*/ 2147483647 w 2300"/>
              <a:gd name="T7" fmla="*/ 2147483647 h 2765"/>
              <a:gd name="T8" fmla="*/ 2147483647 w 2300"/>
              <a:gd name="T9" fmla="*/ 2147483647 h 2765"/>
              <a:gd name="T10" fmla="*/ 2147483647 w 2300"/>
              <a:gd name="T11" fmla="*/ 2147483647 h 2765"/>
              <a:gd name="T12" fmla="*/ 2147483647 w 2300"/>
              <a:gd name="T13" fmla="*/ 2147483647 h 2765"/>
              <a:gd name="T14" fmla="*/ 2147483647 w 2300"/>
              <a:gd name="T15" fmla="*/ 2147483647 h 2765"/>
              <a:gd name="T16" fmla="*/ 2147483647 w 2300"/>
              <a:gd name="T17" fmla="*/ 2147483647 h 2765"/>
              <a:gd name="T18" fmla="*/ 2147483647 w 2300"/>
              <a:gd name="T19" fmla="*/ 2147483647 h 2765"/>
              <a:gd name="T20" fmla="*/ 2147483647 w 2300"/>
              <a:gd name="T21" fmla="*/ 2147483647 h 2765"/>
              <a:gd name="T22" fmla="*/ 2147483647 w 2300"/>
              <a:gd name="T23" fmla="*/ 2147483647 h 2765"/>
              <a:gd name="T24" fmla="*/ 2147483647 w 2300"/>
              <a:gd name="T25" fmla="*/ 2147483647 h 2765"/>
              <a:gd name="T26" fmla="*/ 2147483647 w 2300"/>
              <a:gd name="T27" fmla="*/ 2147483647 h 2765"/>
              <a:gd name="T28" fmla="*/ 2147483647 w 2300"/>
              <a:gd name="T29" fmla="*/ 2147483647 h 2765"/>
              <a:gd name="T30" fmla="*/ 2147483647 w 2300"/>
              <a:gd name="T31" fmla="*/ 2147483647 h 2765"/>
              <a:gd name="T32" fmla="*/ 0 w 2300"/>
              <a:gd name="T33" fmla="*/ 0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300"/>
              <a:gd name="T52" fmla="*/ 0 h 2765"/>
              <a:gd name="T53" fmla="*/ 2300 w 2300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300" h="2765">
                <a:moveTo>
                  <a:pt x="0" y="0"/>
                </a:moveTo>
                <a:lnTo>
                  <a:pt x="1179" y="0"/>
                </a:lnTo>
                <a:lnTo>
                  <a:pt x="2081" y="0"/>
                </a:lnTo>
                <a:lnTo>
                  <a:pt x="1979" y="54"/>
                </a:lnTo>
                <a:lnTo>
                  <a:pt x="1911" y="183"/>
                </a:lnTo>
                <a:lnTo>
                  <a:pt x="1895" y="1169"/>
                </a:lnTo>
                <a:lnTo>
                  <a:pt x="1895" y="1396"/>
                </a:lnTo>
                <a:lnTo>
                  <a:pt x="1903" y="1592"/>
                </a:lnTo>
                <a:lnTo>
                  <a:pt x="1911" y="2548"/>
                </a:lnTo>
                <a:lnTo>
                  <a:pt x="1938" y="2656"/>
                </a:lnTo>
                <a:cubicBezTo>
                  <a:pt x="1966" y="2687"/>
                  <a:pt x="2300" y="2719"/>
                  <a:pt x="2081" y="2737"/>
                </a:cubicBezTo>
                <a:cubicBezTo>
                  <a:pt x="2207" y="2741"/>
                  <a:pt x="923" y="2753"/>
                  <a:pt x="624" y="2765"/>
                </a:cubicBezTo>
                <a:lnTo>
                  <a:pt x="271" y="2744"/>
                </a:lnTo>
                <a:cubicBezTo>
                  <a:pt x="200" y="2625"/>
                  <a:pt x="205" y="2278"/>
                  <a:pt x="197" y="2053"/>
                </a:cubicBezTo>
                <a:cubicBezTo>
                  <a:pt x="110" y="1859"/>
                  <a:pt x="157" y="1610"/>
                  <a:pt x="224" y="1396"/>
                </a:cubicBezTo>
                <a:cubicBezTo>
                  <a:pt x="226" y="1301"/>
                  <a:pt x="173" y="1364"/>
                  <a:pt x="136" y="1131"/>
                </a:cubicBezTo>
                <a:cubicBezTo>
                  <a:pt x="99" y="898"/>
                  <a:pt x="28" y="236"/>
                  <a:pt x="0" y="0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1267" name="Freeform 3" descr="Cuadrícula grande"/>
          <p:cNvSpPr>
            <a:spLocks/>
          </p:cNvSpPr>
          <p:nvPr/>
        </p:nvSpPr>
        <p:spPr bwMode="auto">
          <a:xfrm>
            <a:off x="3432175" y="1868488"/>
            <a:ext cx="5338763" cy="4484687"/>
          </a:xfrm>
          <a:custGeom>
            <a:avLst/>
            <a:gdLst>
              <a:gd name="T0" fmla="*/ 2147483647 w 3363"/>
              <a:gd name="T1" fmla="*/ 2147483647 h 2825"/>
              <a:gd name="T2" fmla="*/ 2147483647 w 3363"/>
              <a:gd name="T3" fmla="*/ 2147483647 h 2825"/>
              <a:gd name="T4" fmla="*/ 2147483647 w 3363"/>
              <a:gd name="T5" fmla="*/ 2147483647 h 2825"/>
              <a:gd name="T6" fmla="*/ 2147483647 w 3363"/>
              <a:gd name="T7" fmla="*/ 2147483647 h 2825"/>
              <a:gd name="T8" fmla="*/ 2147483647 w 3363"/>
              <a:gd name="T9" fmla="*/ 2147483647 h 2825"/>
              <a:gd name="T10" fmla="*/ 2147483647 w 3363"/>
              <a:gd name="T11" fmla="*/ 0 h 2825"/>
              <a:gd name="T12" fmla="*/ 2147483647 w 3363"/>
              <a:gd name="T13" fmla="*/ 2147483647 h 2825"/>
              <a:gd name="T14" fmla="*/ 2147483647 w 3363"/>
              <a:gd name="T15" fmla="*/ 2147483647 h 2825"/>
              <a:gd name="T16" fmla="*/ 0 w 3363"/>
              <a:gd name="T17" fmla="*/ 2147483647 h 2825"/>
              <a:gd name="T18" fmla="*/ 2147483647 w 3363"/>
              <a:gd name="T19" fmla="*/ 2147483647 h 2825"/>
              <a:gd name="T20" fmla="*/ 2147483647 w 3363"/>
              <a:gd name="T21" fmla="*/ 2147483647 h 2825"/>
              <a:gd name="T22" fmla="*/ 2147483647 w 3363"/>
              <a:gd name="T23" fmla="*/ 2147483647 h 2825"/>
              <a:gd name="T24" fmla="*/ 2147483647 w 3363"/>
              <a:gd name="T25" fmla="*/ 2147483647 h 2825"/>
              <a:gd name="T26" fmla="*/ 2147483647 w 3363"/>
              <a:gd name="T27" fmla="*/ 2147483647 h 2825"/>
              <a:gd name="T28" fmla="*/ 2147483647 w 3363"/>
              <a:gd name="T29" fmla="*/ 2147483647 h 2825"/>
              <a:gd name="T30" fmla="*/ 2147483647 w 3363"/>
              <a:gd name="T31" fmla="*/ 2147483647 h 2825"/>
              <a:gd name="T32" fmla="*/ 2147483647 w 3363"/>
              <a:gd name="T33" fmla="*/ 2147483647 h 2825"/>
              <a:gd name="T34" fmla="*/ 2147483647 w 3363"/>
              <a:gd name="T35" fmla="*/ 2147483647 h 2825"/>
              <a:gd name="T36" fmla="*/ 2147483647 w 3363"/>
              <a:gd name="T37" fmla="*/ 2147483647 h 2825"/>
              <a:gd name="T38" fmla="*/ 2147483647 w 3363"/>
              <a:gd name="T39" fmla="*/ 2147483647 h 2825"/>
              <a:gd name="T40" fmla="*/ 2147483647 w 3363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363"/>
              <a:gd name="T64" fmla="*/ 0 h 2825"/>
              <a:gd name="T65" fmla="*/ 3363 w 3363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363" h="2825">
                <a:moveTo>
                  <a:pt x="3090" y="2541"/>
                </a:moveTo>
                <a:cubicBezTo>
                  <a:pt x="3083" y="2481"/>
                  <a:pt x="3168" y="2199"/>
                  <a:pt x="3171" y="1999"/>
                </a:cubicBezTo>
                <a:cubicBezTo>
                  <a:pt x="3174" y="1799"/>
                  <a:pt x="3093" y="1203"/>
                  <a:pt x="3063" y="1003"/>
                </a:cubicBezTo>
                <a:cubicBezTo>
                  <a:pt x="2909" y="762"/>
                  <a:pt x="3363" y="186"/>
                  <a:pt x="3015" y="20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090" y="2541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205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44450"/>
            <a:ext cx="7793037" cy="623888"/>
          </a:xfrm>
        </p:spPr>
        <p:txBody>
          <a:bodyPr/>
          <a:lstStyle/>
          <a:p>
            <a:pPr algn="l" eaLnBrk="1" hangingPunct="1"/>
            <a:r>
              <a:rPr lang="es-ES_tradnl" sz="3200" smtClean="0"/>
              <a:t>Dioptra esférica - </a:t>
            </a:r>
            <a:r>
              <a:rPr lang="es-ES_tradnl" sz="2000" smtClean="0"/>
              <a:t>Deducción de un modelo analítico</a:t>
            </a:r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539750" y="4137025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 flipV="1">
            <a:off x="3436938" y="1739900"/>
            <a:ext cx="0" cy="464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1272" name="Oval 8"/>
          <p:cNvSpPr>
            <a:spLocks noChangeArrowheads="1"/>
          </p:cNvSpPr>
          <p:nvPr/>
        </p:nvSpPr>
        <p:spPr bwMode="auto">
          <a:xfrm>
            <a:off x="3394075" y="410368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8388350" y="4005263"/>
            <a:ext cx="357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x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3059113" y="1628775"/>
            <a:ext cx="357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3121025" y="414178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2771775" y="578326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3995738" y="579913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1278" name="Oval 14"/>
          <p:cNvSpPr>
            <a:spLocks noChangeArrowheads="1"/>
          </p:cNvSpPr>
          <p:nvPr/>
        </p:nvSpPr>
        <p:spPr bwMode="auto">
          <a:xfrm>
            <a:off x="1187450" y="4098925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279" name="Freeform 15"/>
          <p:cNvSpPr>
            <a:spLocks/>
          </p:cNvSpPr>
          <p:nvPr/>
        </p:nvSpPr>
        <p:spPr bwMode="auto">
          <a:xfrm>
            <a:off x="1209675" y="2405063"/>
            <a:ext cx="2243138" cy="1722437"/>
          </a:xfrm>
          <a:custGeom>
            <a:avLst/>
            <a:gdLst>
              <a:gd name="T0" fmla="*/ 0 w 1413"/>
              <a:gd name="T1" fmla="*/ 2147483647 h 1085"/>
              <a:gd name="T2" fmla="*/ 2147483647 w 1413"/>
              <a:gd name="T3" fmla="*/ 0 h 1085"/>
              <a:gd name="T4" fmla="*/ 0 60000 65536"/>
              <a:gd name="T5" fmla="*/ 0 60000 65536"/>
              <a:gd name="T6" fmla="*/ 0 w 1413"/>
              <a:gd name="T7" fmla="*/ 0 h 1085"/>
              <a:gd name="T8" fmla="*/ 1413 w 1413"/>
              <a:gd name="T9" fmla="*/ 1085 h 108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13" h="1085">
                <a:moveTo>
                  <a:pt x="0" y="1085"/>
                </a:moveTo>
                <a:lnTo>
                  <a:pt x="1413" y="0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1281" name="Arc 17"/>
          <p:cNvSpPr>
            <a:spLocks/>
          </p:cNvSpPr>
          <p:nvPr/>
        </p:nvSpPr>
        <p:spPr bwMode="auto">
          <a:xfrm rot="9857311" flipV="1">
            <a:off x="2944813" y="2125663"/>
            <a:ext cx="280987" cy="504825"/>
          </a:xfrm>
          <a:custGeom>
            <a:avLst/>
            <a:gdLst>
              <a:gd name="T0" fmla="*/ 2147483647 w 21600"/>
              <a:gd name="T1" fmla="*/ 0 h 37177"/>
              <a:gd name="T2" fmla="*/ 2147483647 w 21600"/>
              <a:gd name="T3" fmla="*/ 2147483647 h 37177"/>
              <a:gd name="T4" fmla="*/ 0 w 21600"/>
              <a:gd name="T5" fmla="*/ 2147483647 h 37177"/>
              <a:gd name="T6" fmla="*/ 0 60000 65536"/>
              <a:gd name="T7" fmla="*/ 0 60000 65536"/>
              <a:gd name="T8" fmla="*/ 0 60000 65536"/>
              <a:gd name="T9" fmla="*/ 0 w 21600"/>
              <a:gd name="T10" fmla="*/ 0 h 37177"/>
              <a:gd name="T11" fmla="*/ 21600 w 21600"/>
              <a:gd name="T12" fmla="*/ 37177 h 371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177" fill="none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</a:path>
              <a:path w="21600" h="37177" stroke="0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  <a:lnTo>
                  <a:pt x="0" y="2039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7629525" y="4110038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>
                <a:latin typeface="Times New Roman" pitchFamily="18" charset="0"/>
              </a:rPr>
              <a:t>P’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3203575" y="1893888"/>
            <a:ext cx="26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>
                <a:latin typeface="Times New Roman" pitchFamily="18" charset="0"/>
              </a:rPr>
              <a:t>I</a:t>
            </a:r>
          </a:p>
        </p:txBody>
      </p:sp>
      <p:sp>
        <p:nvSpPr>
          <p:cNvPr id="11284" name="Oval 20"/>
          <p:cNvSpPr>
            <a:spLocks noChangeArrowheads="1"/>
          </p:cNvSpPr>
          <p:nvPr/>
        </p:nvSpPr>
        <p:spPr bwMode="auto">
          <a:xfrm>
            <a:off x="7824788" y="4087813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5795963" y="4264025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11287" name="Freeform 23"/>
          <p:cNvSpPr>
            <a:spLocks/>
          </p:cNvSpPr>
          <p:nvPr/>
        </p:nvSpPr>
        <p:spPr bwMode="auto">
          <a:xfrm>
            <a:off x="2851150" y="1965325"/>
            <a:ext cx="3355975" cy="2268538"/>
          </a:xfrm>
          <a:custGeom>
            <a:avLst/>
            <a:gdLst>
              <a:gd name="T0" fmla="*/ 2147483647 w 2114"/>
              <a:gd name="T1" fmla="*/ 2147483647 h 1429"/>
              <a:gd name="T2" fmla="*/ 0 w 2114"/>
              <a:gd name="T3" fmla="*/ 0 h 1429"/>
              <a:gd name="T4" fmla="*/ 0 60000 65536"/>
              <a:gd name="T5" fmla="*/ 0 60000 65536"/>
              <a:gd name="T6" fmla="*/ 0 w 2114"/>
              <a:gd name="T7" fmla="*/ 0 h 1429"/>
              <a:gd name="T8" fmla="*/ 2114 w 2114"/>
              <a:gd name="T9" fmla="*/ 1429 h 14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14" h="1429">
                <a:moveTo>
                  <a:pt x="2114" y="142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3059113" y="2192338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</a:t>
            </a: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1095375" y="4157663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>
                <a:latin typeface="Times New Roman" pitchFamily="18" charset="0"/>
              </a:rPr>
              <a:t>P</a:t>
            </a:r>
          </a:p>
        </p:txBody>
      </p:sp>
      <p:sp>
        <p:nvSpPr>
          <p:cNvPr id="11290" name="Arc 26"/>
          <p:cNvSpPr>
            <a:spLocks/>
          </p:cNvSpPr>
          <p:nvPr/>
        </p:nvSpPr>
        <p:spPr bwMode="auto">
          <a:xfrm rot="9907686" flipH="1" flipV="1">
            <a:off x="1763713" y="3638550"/>
            <a:ext cx="280987" cy="504825"/>
          </a:xfrm>
          <a:custGeom>
            <a:avLst/>
            <a:gdLst>
              <a:gd name="T0" fmla="*/ 2147483647 w 21600"/>
              <a:gd name="T1" fmla="*/ 0 h 37177"/>
              <a:gd name="T2" fmla="*/ 2147483647 w 21600"/>
              <a:gd name="T3" fmla="*/ 2147483647 h 37177"/>
              <a:gd name="T4" fmla="*/ 0 w 21600"/>
              <a:gd name="T5" fmla="*/ 2147483647 h 37177"/>
              <a:gd name="T6" fmla="*/ 0 60000 65536"/>
              <a:gd name="T7" fmla="*/ 0 60000 65536"/>
              <a:gd name="T8" fmla="*/ 0 60000 65536"/>
              <a:gd name="T9" fmla="*/ 0 w 21600"/>
              <a:gd name="T10" fmla="*/ 0 h 37177"/>
              <a:gd name="T11" fmla="*/ 21600 w 21600"/>
              <a:gd name="T12" fmla="*/ 37177 h 371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177" fill="none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</a:path>
              <a:path w="21600" h="37177" stroke="0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  <a:lnTo>
                  <a:pt x="0" y="2039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1498600" y="37671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u</a:t>
            </a:r>
          </a:p>
        </p:txBody>
      </p:sp>
      <p:sp>
        <p:nvSpPr>
          <p:cNvPr id="11292" name="Arc 28"/>
          <p:cNvSpPr>
            <a:spLocks/>
          </p:cNvSpPr>
          <p:nvPr/>
        </p:nvSpPr>
        <p:spPr bwMode="auto">
          <a:xfrm rot="11572692" flipV="1">
            <a:off x="5340350" y="3757613"/>
            <a:ext cx="146050" cy="344487"/>
          </a:xfrm>
          <a:custGeom>
            <a:avLst/>
            <a:gdLst>
              <a:gd name="T0" fmla="*/ 2147483647 w 21600"/>
              <a:gd name="T1" fmla="*/ 0 h 35611"/>
              <a:gd name="T2" fmla="*/ 2147483647 w 21600"/>
              <a:gd name="T3" fmla="*/ 2147483647 h 35611"/>
              <a:gd name="T4" fmla="*/ 0 w 21600"/>
              <a:gd name="T5" fmla="*/ 2147483647 h 35611"/>
              <a:gd name="T6" fmla="*/ 0 60000 65536"/>
              <a:gd name="T7" fmla="*/ 0 60000 65536"/>
              <a:gd name="T8" fmla="*/ 0 60000 65536"/>
              <a:gd name="T9" fmla="*/ 0 w 21600"/>
              <a:gd name="T10" fmla="*/ 0 h 35611"/>
              <a:gd name="T11" fmla="*/ 21600 w 21600"/>
              <a:gd name="T12" fmla="*/ 35611 h 356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5611" fill="none" extrusionOk="0">
                <a:moveTo>
                  <a:pt x="15842" y="0"/>
                </a:moveTo>
                <a:cubicBezTo>
                  <a:pt x="19543" y="3993"/>
                  <a:pt x="21600" y="9237"/>
                  <a:pt x="21600" y="14682"/>
                </a:cubicBezTo>
                <a:cubicBezTo>
                  <a:pt x="21600" y="24553"/>
                  <a:pt x="14907" y="33169"/>
                  <a:pt x="5341" y="35610"/>
                </a:cubicBezTo>
              </a:path>
              <a:path w="21600" h="35611" stroke="0" extrusionOk="0">
                <a:moveTo>
                  <a:pt x="15842" y="0"/>
                </a:moveTo>
                <a:cubicBezTo>
                  <a:pt x="19543" y="3993"/>
                  <a:pt x="21600" y="9237"/>
                  <a:pt x="21600" y="14682"/>
                </a:cubicBezTo>
                <a:cubicBezTo>
                  <a:pt x="21600" y="24553"/>
                  <a:pt x="14907" y="33169"/>
                  <a:pt x="5341" y="35610"/>
                </a:cubicBezTo>
                <a:lnTo>
                  <a:pt x="0" y="1468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294" name="Freeform 30"/>
          <p:cNvSpPr>
            <a:spLocks/>
          </p:cNvSpPr>
          <p:nvPr/>
        </p:nvSpPr>
        <p:spPr bwMode="auto">
          <a:xfrm>
            <a:off x="3463925" y="2384425"/>
            <a:ext cx="4356100" cy="1720850"/>
          </a:xfrm>
          <a:custGeom>
            <a:avLst/>
            <a:gdLst>
              <a:gd name="T0" fmla="*/ 0 w 2744"/>
              <a:gd name="T1" fmla="*/ 0 h 1084"/>
              <a:gd name="T2" fmla="*/ 2147483647 w 2744"/>
              <a:gd name="T3" fmla="*/ 2147483647 h 1084"/>
              <a:gd name="T4" fmla="*/ 0 60000 65536"/>
              <a:gd name="T5" fmla="*/ 0 60000 65536"/>
              <a:gd name="T6" fmla="*/ 0 w 2744"/>
              <a:gd name="T7" fmla="*/ 0 h 1084"/>
              <a:gd name="T8" fmla="*/ 2744 w 2744"/>
              <a:gd name="T9" fmla="*/ 1084 h 10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44" h="1084">
                <a:moveTo>
                  <a:pt x="0" y="0"/>
                </a:moveTo>
                <a:lnTo>
                  <a:pt x="2744" y="1084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1295" name="Arc 31"/>
          <p:cNvSpPr>
            <a:spLocks/>
          </p:cNvSpPr>
          <p:nvPr/>
        </p:nvSpPr>
        <p:spPr bwMode="auto">
          <a:xfrm rot="2752204" flipV="1">
            <a:off x="4547394" y="2815432"/>
            <a:ext cx="133350" cy="328612"/>
          </a:xfrm>
          <a:custGeom>
            <a:avLst/>
            <a:gdLst>
              <a:gd name="T0" fmla="*/ 2147483647 w 21600"/>
              <a:gd name="T1" fmla="*/ 0 h 37177"/>
              <a:gd name="T2" fmla="*/ 2147483647 w 21600"/>
              <a:gd name="T3" fmla="*/ 2147483647 h 37177"/>
              <a:gd name="T4" fmla="*/ 0 w 21600"/>
              <a:gd name="T5" fmla="*/ 2147483647 h 37177"/>
              <a:gd name="T6" fmla="*/ 0 60000 65536"/>
              <a:gd name="T7" fmla="*/ 0 60000 65536"/>
              <a:gd name="T8" fmla="*/ 0 60000 65536"/>
              <a:gd name="T9" fmla="*/ 0 w 21600"/>
              <a:gd name="T10" fmla="*/ 0 h 37177"/>
              <a:gd name="T11" fmla="*/ 21600 w 21600"/>
              <a:gd name="T12" fmla="*/ 37177 h 371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177" fill="none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</a:path>
              <a:path w="21600" h="37177" stroke="0" extrusionOk="0">
                <a:moveTo>
                  <a:pt x="7127" y="0"/>
                </a:moveTo>
                <a:cubicBezTo>
                  <a:pt x="15795" y="3029"/>
                  <a:pt x="21600" y="11208"/>
                  <a:pt x="21600" y="20390"/>
                </a:cubicBezTo>
                <a:cubicBezTo>
                  <a:pt x="21600" y="26907"/>
                  <a:pt x="18657" y="33075"/>
                  <a:pt x="13592" y="37176"/>
                </a:cubicBezTo>
                <a:lnTo>
                  <a:pt x="0" y="2039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296" name="Text Box 32"/>
          <p:cNvSpPr txBox="1">
            <a:spLocks noChangeArrowheads="1"/>
          </p:cNvSpPr>
          <p:nvPr/>
        </p:nvSpPr>
        <p:spPr bwMode="auto">
          <a:xfrm>
            <a:off x="4362450" y="2730500"/>
            <a:ext cx="273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</a:t>
            </a:r>
          </a:p>
        </p:txBody>
      </p:sp>
      <p:sp>
        <p:nvSpPr>
          <p:cNvPr id="11297" name="Arc 33"/>
          <p:cNvSpPr>
            <a:spLocks/>
          </p:cNvSpPr>
          <p:nvPr/>
        </p:nvSpPr>
        <p:spPr bwMode="auto">
          <a:xfrm rot="10939715" flipV="1">
            <a:off x="6962775" y="3802063"/>
            <a:ext cx="280988" cy="339725"/>
          </a:xfrm>
          <a:custGeom>
            <a:avLst/>
            <a:gdLst>
              <a:gd name="T0" fmla="*/ 2147483647 w 21600"/>
              <a:gd name="T1" fmla="*/ 0 h 35180"/>
              <a:gd name="T2" fmla="*/ 2147483647 w 21600"/>
              <a:gd name="T3" fmla="*/ 2147483647 h 35180"/>
              <a:gd name="T4" fmla="*/ 0 w 21600"/>
              <a:gd name="T5" fmla="*/ 2147483647 h 35180"/>
              <a:gd name="T6" fmla="*/ 0 60000 65536"/>
              <a:gd name="T7" fmla="*/ 0 60000 65536"/>
              <a:gd name="T8" fmla="*/ 0 60000 65536"/>
              <a:gd name="T9" fmla="*/ 0 w 21600"/>
              <a:gd name="T10" fmla="*/ 0 h 35180"/>
              <a:gd name="T11" fmla="*/ 21600 w 21600"/>
              <a:gd name="T12" fmla="*/ 35180 h 351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5180" fill="none" extrusionOk="0">
                <a:moveTo>
                  <a:pt x="11325" y="0"/>
                </a:moveTo>
                <a:cubicBezTo>
                  <a:pt x="17710" y="3932"/>
                  <a:pt x="21600" y="10894"/>
                  <a:pt x="21600" y="18393"/>
                </a:cubicBezTo>
                <a:cubicBezTo>
                  <a:pt x="21600" y="24910"/>
                  <a:pt x="18657" y="31078"/>
                  <a:pt x="13592" y="35179"/>
                </a:cubicBezTo>
              </a:path>
              <a:path w="21600" h="35180" stroke="0" extrusionOk="0">
                <a:moveTo>
                  <a:pt x="11325" y="0"/>
                </a:moveTo>
                <a:cubicBezTo>
                  <a:pt x="17710" y="3932"/>
                  <a:pt x="21600" y="10894"/>
                  <a:pt x="21600" y="18393"/>
                </a:cubicBezTo>
                <a:cubicBezTo>
                  <a:pt x="21600" y="24910"/>
                  <a:pt x="18657" y="31078"/>
                  <a:pt x="13592" y="35179"/>
                </a:cubicBezTo>
                <a:lnTo>
                  <a:pt x="0" y="1839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298" name="Text Box 34"/>
          <p:cNvSpPr txBox="1">
            <a:spLocks noChangeArrowheads="1"/>
          </p:cNvSpPr>
          <p:nvPr/>
        </p:nvSpPr>
        <p:spPr bwMode="auto">
          <a:xfrm>
            <a:off x="7064375" y="3821113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u’</a:t>
            </a:r>
          </a:p>
        </p:txBody>
      </p:sp>
      <p:sp>
        <p:nvSpPr>
          <p:cNvPr id="11299" name="Text Box 35"/>
          <p:cNvSpPr txBox="1">
            <a:spLocks noChangeArrowheads="1"/>
          </p:cNvSpPr>
          <p:nvPr/>
        </p:nvSpPr>
        <p:spPr bwMode="auto">
          <a:xfrm>
            <a:off x="5346700" y="3783013"/>
            <a:ext cx="328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11300" name="Oval 36"/>
          <p:cNvSpPr>
            <a:spLocks noChangeArrowheads="1"/>
          </p:cNvSpPr>
          <p:nvPr/>
        </p:nvSpPr>
        <p:spPr bwMode="auto">
          <a:xfrm>
            <a:off x="6013450" y="4092575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301" name="AutoShape 37"/>
          <p:cNvSpPr>
            <a:spLocks/>
          </p:cNvSpPr>
          <p:nvPr/>
        </p:nvSpPr>
        <p:spPr bwMode="auto">
          <a:xfrm>
            <a:off x="3452813" y="1893888"/>
            <a:ext cx="360362" cy="4392612"/>
          </a:xfrm>
          <a:prstGeom prst="leftBracket">
            <a:avLst>
              <a:gd name="adj" fmla="val 101579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280" name="Oval 16"/>
          <p:cNvSpPr>
            <a:spLocks noChangeArrowheads="1"/>
          </p:cNvSpPr>
          <p:nvPr/>
        </p:nvSpPr>
        <p:spPr bwMode="auto">
          <a:xfrm>
            <a:off x="3419475" y="2360613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302" name="Line 38"/>
          <p:cNvSpPr>
            <a:spLocks noChangeShapeType="1"/>
          </p:cNvSpPr>
          <p:nvPr/>
        </p:nvSpPr>
        <p:spPr bwMode="auto">
          <a:xfrm flipV="1">
            <a:off x="3441700" y="2409825"/>
            <a:ext cx="0" cy="172878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s-AR"/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3436938" y="3306763"/>
            <a:ext cx="352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>
                <a:latin typeface="Times New Roman" pitchFamily="18" charset="0"/>
              </a:rPr>
              <a:t>y</a:t>
            </a:r>
            <a:r>
              <a:rPr lang="es-ES_tradnl" sz="2000" baseline="-25000">
                <a:latin typeface="Times New Roman" pitchFamily="18" charset="0"/>
              </a:rPr>
              <a:t>I</a:t>
            </a:r>
            <a:endParaRPr lang="es-ES_tradnl" sz="2000">
              <a:latin typeface="Times New Roman" pitchFamily="18" charset="0"/>
            </a:endParaRPr>
          </a:p>
        </p:txBody>
      </p:sp>
      <p:sp>
        <p:nvSpPr>
          <p:cNvPr id="2091" name="Text Box 40"/>
          <p:cNvSpPr txBox="1">
            <a:spLocks noChangeArrowheads="1"/>
          </p:cNvSpPr>
          <p:nvPr/>
        </p:nvSpPr>
        <p:spPr bwMode="auto">
          <a:xfrm>
            <a:off x="2019300" y="979488"/>
            <a:ext cx="992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 </a:t>
            </a:r>
            <a:r>
              <a:rPr lang="es-ES_tradnl">
                <a:latin typeface="Times New Roman" pitchFamily="18" charset="0"/>
              </a:rPr>
              <a:t>= </a:t>
            </a:r>
            <a:r>
              <a:rPr lang="es-ES_tradnl" i="1">
                <a:latin typeface="Times New Roman" pitchFamily="18" charset="0"/>
              </a:rPr>
              <a:t>u</a:t>
            </a:r>
            <a:r>
              <a:rPr lang="es-ES_tradnl">
                <a:latin typeface="Times New Roman" pitchFamily="18" charset="0"/>
              </a:rPr>
              <a:t> + </a:t>
            </a:r>
            <a:r>
              <a:rPr lang="es-ES_tradnl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2092" name="Text Box 41"/>
          <p:cNvSpPr txBox="1">
            <a:spLocks noChangeArrowheads="1"/>
          </p:cNvSpPr>
          <p:nvPr/>
        </p:nvSpPr>
        <p:spPr bwMode="auto">
          <a:xfrm>
            <a:off x="1930400" y="1268413"/>
            <a:ext cx="11763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  <a:sym typeface="Symbol" pitchFamily="18" charset="2"/>
              </a:rPr>
              <a:t></a:t>
            </a:r>
            <a:r>
              <a:rPr lang="es-ES_tradnl" i="1">
                <a:latin typeface="Times New Roman" pitchFamily="18" charset="0"/>
              </a:rPr>
              <a:t> = </a:t>
            </a:r>
            <a:r>
              <a:rPr lang="es-ES_tradnl">
                <a:latin typeface="Times New Roman" pitchFamily="18" charset="0"/>
              </a:rPr>
              <a:t> </a:t>
            </a:r>
            <a:r>
              <a:rPr lang="es-ES_tradnl" i="1">
                <a:latin typeface="Times New Roman" pitchFamily="18" charset="0"/>
              </a:rPr>
              <a:t>u</a:t>
            </a:r>
            <a:r>
              <a:rPr lang="es-ES_tradnl">
                <a:latin typeface="Times New Roman" pitchFamily="18" charset="0"/>
              </a:rPr>
              <a:t>’ + </a:t>
            </a:r>
            <a:r>
              <a:rPr lang="es-ES_tradnl" i="1">
                <a:latin typeface="Times New Roman" pitchFamily="18" charset="0"/>
              </a:rPr>
              <a:t>r</a:t>
            </a:r>
          </a:p>
        </p:txBody>
      </p:sp>
      <p:graphicFrame>
        <p:nvGraphicFramePr>
          <p:cNvPr id="2050" name="Object 42"/>
          <p:cNvGraphicFramePr>
            <a:graphicFrameLocks noChangeAspect="1"/>
          </p:cNvGraphicFramePr>
          <p:nvPr/>
        </p:nvGraphicFramePr>
        <p:xfrm>
          <a:off x="1609725" y="692150"/>
          <a:ext cx="15224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cuación" r:id="rId3" imgW="952200" imgH="203040" progId="Equation.3">
                  <p:embed/>
                </p:oleObj>
              </mc:Choice>
              <mc:Fallback>
                <p:oleObj name="Ecuación" r:id="rId3" imgW="952200" imgH="20304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692150"/>
                        <a:ext cx="1522413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3" name="AutoShape 43"/>
          <p:cNvSpPr>
            <a:spLocks/>
          </p:cNvSpPr>
          <p:nvPr/>
        </p:nvSpPr>
        <p:spPr bwMode="auto">
          <a:xfrm>
            <a:off x="1536700" y="619125"/>
            <a:ext cx="73025" cy="1081088"/>
          </a:xfrm>
          <a:prstGeom prst="leftBrace">
            <a:avLst>
              <a:gd name="adj1" fmla="val 12337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308" name="Rectangle 44"/>
          <p:cNvSpPr>
            <a:spLocks noChangeArrowheads="1"/>
          </p:cNvSpPr>
          <p:nvPr/>
        </p:nvSpPr>
        <p:spPr bwMode="auto">
          <a:xfrm>
            <a:off x="4643438" y="1196975"/>
            <a:ext cx="4192587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s-ES_tradnl" sz="2400">
                <a:solidFill>
                  <a:schemeClr val="tx2"/>
                </a:solidFill>
              </a:rPr>
              <a:t>Aproximación paraxial</a:t>
            </a:r>
          </a:p>
        </p:txBody>
      </p:sp>
      <p:sp>
        <p:nvSpPr>
          <p:cNvPr id="11309" name="Line 45"/>
          <p:cNvSpPr>
            <a:spLocks noChangeShapeType="1"/>
          </p:cNvSpPr>
          <p:nvPr/>
        </p:nvSpPr>
        <p:spPr bwMode="auto">
          <a:xfrm flipH="1">
            <a:off x="1209675" y="4535488"/>
            <a:ext cx="2195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1310" name="Line 46"/>
          <p:cNvSpPr>
            <a:spLocks noChangeShapeType="1"/>
          </p:cNvSpPr>
          <p:nvPr/>
        </p:nvSpPr>
        <p:spPr bwMode="auto">
          <a:xfrm>
            <a:off x="3470275" y="4540250"/>
            <a:ext cx="4414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1311" name="Text Box 47"/>
          <p:cNvSpPr txBox="1">
            <a:spLocks noChangeArrowheads="1"/>
          </p:cNvSpPr>
          <p:nvPr/>
        </p:nvSpPr>
        <p:spPr bwMode="auto">
          <a:xfrm>
            <a:off x="2103438" y="4500563"/>
            <a:ext cx="7254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</a:rPr>
              <a:t> (&lt;0)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1312" name="Text Box 48"/>
          <p:cNvSpPr txBox="1">
            <a:spLocks noChangeArrowheads="1"/>
          </p:cNvSpPr>
          <p:nvPr/>
        </p:nvSpPr>
        <p:spPr bwMode="auto">
          <a:xfrm>
            <a:off x="4783138" y="4502150"/>
            <a:ext cx="801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</a:rPr>
              <a:t>’ (&gt;0)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1313" name="Text Box 49"/>
          <p:cNvSpPr txBox="1">
            <a:spLocks noChangeArrowheads="1"/>
          </p:cNvSpPr>
          <p:nvPr/>
        </p:nvSpPr>
        <p:spPr bwMode="auto">
          <a:xfrm>
            <a:off x="8296275" y="6473825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3</a:t>
            </a:r>
          </a:p>
        </p:txBody>
      </p:sp>
      <p:graphicFrame>
        <p:nvGraphicFramePr>
          <p:cNvPr id="11314" name="Object 50"/>
          <p:cNvGraphicFramePr>
            <a:graphicFrameLocks noChangeAspect="1"/>
          </p:cNvGraphicFramePr>
          <p:nvPr/>
        </p:nvGraphicFramePr>
        <p:xfrm>
          <a:off x="4795838" y="5000625"/>
          <a:ext cx="95408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cuación" r:id="rId5" imgW="596880" imgH="393480" progId="Equation.3">
                  <p:embed/>
                </p:oleObj>
              </mc:Choice>
              <mc:Fallback>
                <p:oleObj name="Ecuación" r:id="rId5" imgW="596880" imgH="39348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5000625"/>
                        <a:ext cx="954087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5" name="Object 51"/>
          <p:cNvGraphicFramePr>
            <a:graphicFrameLocks noChangeAspect="1"/>
          </p:cNvGraphicFramePr>
          <p:nvPr/>
        </p:nvGraphicFramePr>
        <p:xfrm>
          <a:off x="857250" y="5143500"/>
          <a:ext cx="9350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cuación" r:id="rId7" imgW="583920" imgH="393480" progId="Equation.3">
                  <p:embed/>
                </p:oleObj>
              </mc:Choice>
              <mc:Fallback>
                <p:oleObj name="Ecuación" r:id="rId7" imgW="583920" imgH="39348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5143500"/>
                        <a:ext cx="935038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6" name="Object 52"/>
          <p:cNvGraphicFramePr>
            <a:graphicFrameLocks noChangeAspect="1"/>
          </p:cNvGraphicFramePr>
          <p:nvPr/>
        </p:nvGraphicFramePr>
        <p:xfrm>
          <a:off x="6837363" y="5026025"/>
          <a:ext cx="9747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cuación" r:id="rId9" imgW="609480" imgH="393480" progId="Equation.3">
                  <p:embed/>
                </p:oleObj>
              </mc:Choice>
              <mc:Fallback>
                <p:oleObj name="Ecuación" r:id="rId9" imgW="609480" imgH="39348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363" y="5026025"/>
                        <a:ext cx="974725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7" name="Object 53"/>
          <p:cNvGraphicFramePr>
            <a:graphicFrameLocks noChangeAspect="1"/>
          </p:cNvGraphicFramePr>
          <p:nvPr/>
        </p:nvGraphicFramePr>
        <p:xfrm>
          <a:off x="5718175" y="561975"/>
          <a:ext cx="852488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cuación" r:id="rId11" imgW="533160" imgH="190440" progId="Equation.3">
                  <p:embed/>
                </p:oleObj>
              </mc:Choice>
              <mc:Fallback>
                <p:oleObj name="Ecuación" r:id="rId11" imgW="533160" imgH="19044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8175" y="561975"/>
                        <a:ext cx="852488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8" name="Object 54"/>
          <p:cNvGraphicFramePr>
            <a:graphicFrameLocks noChangeAspect="1"/>
          </p:cNvGraphicFramePr>
          <p:nvPr/>
        </p:nvGraphicFramePr>
        <p:xfrm>
          <a:off x="5715000" y="1000125"/>
          <a:ext cx="954088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cuación" r:id="rId13" imgW="596880" imgH="164880" progId="Equation.3">
                  <p:embed/>
                </p:oleObj>
              </mc:Choice>
              <mc:Fallback>
                <p:oleObj name="Ecuación" r:id="rId13" imgW="596880" imgH="16488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000125"/>
                        <a:ext cx="954088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/>
      <p:bldP spid="11267" grpId="0" animBg="1"/>
      <p:bldP spid="11270" grpId="0" animBg="1"/>
      <p:bldP spid="11271" grpId="0" animBg="1"/>
      <p:bldP spid="11272" grpId="0" animBg="1"/>
      <p:bldP spid="11273" grpId="0"/>
      <p:bldP spid="11274" grpId="0"/>
      <p:bldP spid="11275" grpId="0"/>
      <p:bldP spid="11276" grpId="0"/>
      <p:bldP spid="11277" grpId="0"/>
      <p:bldP spid="11278" grpId="0" animBg="1"/>
      <p:bldP spid="11279" grpId="0" animBg="1"/>
      <p:bldP spid="11281" grpId="0" animBg="1"/>
      <p:bldP spid="11282" grpId="0"/>
      <p:bldP spid="11283" grpId="0"/>
      <p:bldP spid="11284" grpId="0" animBg="1"/>
      <p:bldP spid="11286" grpId="0"/>
      <p:bldP spid="11287" grpId="0" animBg="1"/>
      <p:bldP spid="11288" grpId="0"/>
      <p:bldP spid="11289" grpId="0"/>
      <p:bldP spid="11290" grpId="0" animBg="1"/>
      <p:bldP spid="11291" grpId="0"/>
      <p:bldP spid="11292" grpId="0" animBg="1"/>
      <p:bldP spid="11294" grpId="0" animBg="1"/>
      <p:bldP spid="11295" grpId="0" animBg="1"/>
      <p:bldP spid="11296" grpId="0"/>
      <p:bldP spid="11297" grpId="0" animBg="1"/>
      <p:bldP spid="11298" grpId="0"/>
      <p:bldP spid="11299" grpId="0"/>
      <p:bldP spid="11300" grpId="0" animBg="1"/>
      <p:bldP spid="11301" grpId="0" animBg="1"/>
      <p:bldP spid="11280" grpId="0" animBg="1"/>
      <p:bldP spid="11302" grpId="0" animBg="1"/>
      <p:bldP spid="11303" grpId="0"/>
      <p:bldP spid="11308" grpId="0"/>
      <p:bldP spid="11309" grpId="0" animBg="1"/>
      <p:bldP spid="11310" grpId="0" animBg="1"/>
      <p:bldP spid="11311" grpId="0"/>
      <p:bldP spid="113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900113" y="44450"/>
            <a:ext cx="7793037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s-ES_tradnl" sz="32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Dioptra esférica</a:t>
            </a:r>
            <a:endParaRPr lang="es-ES_tradnl" sz="32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87" name="Text Box 40"/>
          <p:cNvSpPr txBox="1">
            <a:spLocks noChangeArrowheads="1"/>
          </p:cNvSpPr>
          <p:nvPr/>
        </p:nvSpPr>
        <p:spPr bwMode="auto">
          <a:xfrm>
            <a:off x="685800" y="979488"/>
            <a:ext cx="992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 </a:t>
            </a:r>
            <a:r>
              <a:rPr lang="es-ES_tradnl">
                <a:latin typeface="Times New Roman" pitchFamily="18" charset="0"/>
              </a:rPr>
              <a:t>= </a:t>
            </a:r>
            <a:r>
              <a:rPr lang="es-ES_tradnl" i="1">
                <a:latin typeface="Times New Roman" pitchFamily="18" charset="0"/>
              </a:rPr>
              <a:t>u</a:t>
            </a:r>
            <a:r>
              <a:rPr lang="es-ES_tradnl">
                <a:latin typeface="Times New Roman" pitchFamily="18" charset="0"/>
              </a:rPr>
              <a:t> + </a:t>
            </a:r>
            <a:r>
              <a:rPr lang="es-ES_tradnl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3088" name="Text Box 41"/>
          <p:cNvSpPr txBox="1">
            <a:spLocks noChangeArrowheads="1"/>
          </p:cNvSpPr>
          <p:nvPr/>
        </p:nvSpPr>
        <p:spPr bwMode="auto">
          <a:xfrm>
            <a:off x="584200" y="1268413"/>
            <a:ext cx="11763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dirty="0">
                <a:latin typeface="Times New Roman" pitchFamily="18" charset="0"/>
                <a:sym typeface="Symbol" pitchFamily="18" charset="2"/>
              </a:rPr>
              <a:t></a:t>
            </a:r>
            <a:r>
              <a:rPr lang="es-ES_tradnl" i="1" dirty="0">
                <a:latin typeface="Times New Roman" pitchFamily="18" charset="0"/>
              </a:rPr>
              <a:t> = </a:t>
            </a:r>
            <a:r>
              <a:rPr lang="es-ES_tradnl" dirty="0">
                <a:latin typeface="Times New Roman" pitchFamily="18" charset="0"/>
              </a:rPr>
              <a:t> </a:t>
            </a:r>
            <a:r>
              <a:rPr lang="es-ES_tradnl" i="1" dirty="0">
                <a:latin typeface="Times New Roman" pitchFamily="18" charset="0"/>
              </a:rPr>
              <a:t>u</a:t>
            </a:r>
            <a:r>
              <a:rPr lang="es-ES_tradnl" dirty="0">
                <a:latin typeface="Times New Roman" pitchFamily="18" charset="0"/>
              </a:rPr>
              <a:t>’ + </a:t>
            </a:r>
            <a:r>
              <a:rPr lang="es-ES_tradnl" i="1" dirty="0">
                <a:latin typeface="Times New Roman" pitchFamily="18" charset="0"/>
              </a:rPr>
              <a:t>r</a:t>
            </a:r>
          </a:p>
        </p:txBody>
      </p:sp>
      <p:sp>
        <p:nvSpPr>
          <p:cNvPr id="3089" name="AutoShape 43"/>
          <p:cNvSpPr>
            <a:spLocks/>
          </p:cNvSpPr>
          <p:nvPr/>
        </p:nvSpPr>
        <p:spPr bwMode="auto">
          <a:xfrm>
            <a:off x="357188" y="619125"/>
            <a:ext cx="73025" cy="1081088"/>
          </a:xfrm>
          <a:prstGeom prst="leftBrace">
            <a:avLst>
              <a:gd name="adj1" fmla="val 12337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3090" name="Rectangle 44"/>
          <p:cNvSpPr>
            <a:spLocks noChangeArrowheads="1"/>
          </p:cNvSpPr>
          <p:nvPr/>
        </p:nvSpPr>
        <p:spPr bwMode="auto">
          <a:xfrm>
            <a:off x="3643313" y="79375"/>
            <a:ext cx="3784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s-ES_tradnl" sz="2400">
                <a:solidFill>
                  <a:schemeClr val="tx2"/>
                </a:solidFill>
                <a:sym typeface="Symbol" pitchFamily="18" charset="2"/>
              </a:rPr>
              <a:t>   </a:t>
            </a:r>
            <a:r>
              <a:rPr lang="es-ES_tradnl" sz="2400">
                <a:solidFill>
                  <a:schemeClr val="tx2"/>
                </a:solidFill>
              </a:rPr>
              <a:t>Aproximación paraxial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7010400" y="714375"/>
          <a:ext cx="13604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cuación" r:id="rId3" imgW="850680" imgH="393480" progId="Equation.3">
                  <p:embed/>
                </p:oleObj>
              </mc:Choice>
              <mc:Fallback>
                <p:oleObj name="Ecuación" r:id="rId3" imgW="85068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714375"/>
                        <a:ext cx="1360488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"/>
          <p:cNvGraphicFramePr>
            <a:graphicFrameLocks noChangeAspect="1"/>
          </p:cNvGraphicFramePr>
          <p:nvPr/>
        </p:nvGraphicFramePr>
        <p:xfrm>
          <a:off x="3532188" y="714375"/>
          <a:ext cx="13001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cuación" r:id="rId5" imgW="812520" imgH="393480" progId="Equation.3">
                  <p:embed/>
                </p:oleObj>
              </mc:Choice>
              <mc:Fallback>
                <p:oleObj name="Ecuación" r:id="rId5" imgW="81252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188" y="714375"/>
                        <a:ext cx="1300162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5"/>
          <p:cNvGraphicFramePr>
            <a:graphicFrameLocks noChangeAspect="1"/>
          </p:cNvGraphicFramePr>
          <p:nvPr/>
        </p:nvGraphicFramePr>
        <p:xfrm>
          <a:off x="5283200" y="728663"/>
          <a:ext cx="13604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cuación" r:id="rId7" imgW="850680" imgH="393480" progId="Equation.3">
                  <p:embed/>
                </p:oleObj>
              </mc:Choice>
              <mc:Fallback>
                <p:oleObj name="Ecuación" r:id="rId7" imgW="85068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728663"/>
                        <a:ext cx="1360488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4162425" y="2000250"/>
          <a:ext cx="9747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cuación" r:id="rId9" imgW="609480" imgH="203040" progId="Equation.3">
                  <p:embed/>
                </p:oleObj>
              </mc:Choice>
              <mc:Fallback>
                <p:oleObj name="Ecuación" r:id="rId9" imgW="60948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2000250"/>
                        <a:ext cx="974725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3514725" y="2633663"/>
          <a:ext cx="21304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cuación" r:id="rId11" imgW="1333440" imgH="215640" progId="Equation.3">
                  <p:embed/>
                </p:oleObj>
              </mc:Choice>
              <mc:Fallback>
                <p:oleObj name="Ecuación" r:id="rId11" imgW="133344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725" y="2633663"/>
                        <a:ext cx="2130425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3529013" y="3357563"/>
          <a:ext cx="2090737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cuación" r:id="rId13" imgW="1307880" imgH="215640" progId="Equation.3">
                  <p:embed/>
                </p:oleObj>
              </mc:Choice>
              <mc:Fallback>
                <p:oleObj name="Ecuación" r:id="rId13" imgW="130788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3357563"/>
                        <a:ext cx="2090737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/>
        </p:nvGraphicFramePr>
        <p:xfrm>
          <a:off x="3365500" y="4002088"/>
          <a:ext cx="25415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cuación" r:id="rId15" imgW="1587240" imgH="393480" progId="Equation.3">
                  <p:embed/>
                </p:oleObj>
              </mc:Choice>
              <mc:Fallback>
                <p:oleObj name="Ecuación" r:id="rId15" imgW="158724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4002088"/>
                        <a:ext cx="2541588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/>
        </p:nvGraphicFramePr>
        <p:xfrm>
          <a:off x="3833813" y="5786438"/>
          <a:ext cx="164623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cuación" r:id="rId17" imgW="1028520" imgH="393480" progId="Equation.3">
                  <p:embed/>
                </p:oleObj>
              </mc:Choice>
              <mc:Fallback>
                <p:oleObj name="Ecuación" r:id="rId17" imgW="102852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813" y="5786438"/>
                        <a:ext cx="1646237" cy="6286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1"/>
          <p:cNvGraphicFramePr>
            <a:graphicFrameLocks noChangeAspect="1"/>
          </p:cNvGraphicFramePr>
          <p:nvPr/>
        </p:nvGraphicFramePr>
        <p:xfrm>
          <a:off x="430213" y="692150"/>
          <a:ext cx="15224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cuación" r:id="rId19" imgW="952200" imgH="203040" progId="Equation.3">
                  <p:embed/>
                </p:oleObj>
              </mc:Choice>
              <mc:Fallback>
                <p:oleObj name="Ecuación" r:id="rId19" imgW="95220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3" y="692150"/>
                        <a:ext cx="1522412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3" name="Object 12"/>
          <p:cNvGraphicFramePr>
            <a:graphicFrameLocks noChangeAspect="1"/>
          </p:cNvGraphicFramePr>
          <p:nvPr/>
        </p:nvGraphicFramePr>
        <p:xfrm>
          <a:off x="2263775" y="795338"/>
          <a:ext cx="852488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Ecuación" r:id="rId21" imgW="533160" imgH="190440" progId="Equation.3">
                  <p:embed/>
                </p:oleObj>
              </mc:Choice>
              <mc:Fallback>
                <p:oleObj name="Ecuación" r:id="rId21" imgW="533160" imgH="1904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5" y="795338"/>
                        <a:ext cx="852488" cy="303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4" name="Object 13"/>
          <p:cNvGraphicFramePr>
            <a:graphicFrameLocks noChangeAspect="1"/>
          </p:cNvGraphicFramePr>
          <p:nvPr/>
        </p:nvGraphicFramePr>
        <p:xfrm>
          <a:off x="2260600" y="1233488"/>
          <a:ext cx="954088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cuación" r:id="rId23" imgW="596880" imgH="164880" progId="Equation.3">
                  <p:embed/>
                </p:oleObj>
              </mc:Choice>
              <mc:Fallback>
                <p:oleObj name="Ecuación" r:id="rId23" imgW="596880" imgH="1648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1233488"/>
                        <a:ext cx="954088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18 Elipse"/>
          <p:cNvSpPr/>
          <p:nvPr/>
        </p:nvSpPr>
        <p:spPr>
          <a:xfrm>
            <a:off x="357188" y="571500"/>
            <a:ext cx="1571625" cy="500063"/>
          </a:xfrm>
          <a:prstGeom prst="ellipse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0" name="19 Elipse"/>
          <p:cNvSpPr/>
          <p:nvPr/>
        </p:nvSpPr>
        <p:spPr>
          <a:xfrm>
            <a:off x="2071688" y="714375"/>
            <a:ext cx="1143000" cy="428625"/>
          </a:xfrm>
          <a:prstGeom prst="ellipse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1" name="20 Elipse"/>
          <p:cNvSpPr/>
          <p:nvPr/>
        </p:nvSpPr>
        <p:spPr>
          <a:xfrm>
            <a:off x="2071688" y="1143000"/>
            <a:ext cx="1143000" cy="428625"/>
          </a:xfrm>
          <a:prstGeom prst="ellipse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cxnSp>
        <p:nvCxnSpPr>
          <p:cNvPr id="23" name="22 Forma"/>
          <p:cNvCxnSpPr>
            <a:stCxn id="19" idx="5"/>
          </p:cNvCxnSpPr>
          <p:nvPr/>
        </p:nvCxnSpPr>
        <p:spPr>
          <a:xfrm rot="16200000" flipH="1">
            <a:off x="2241550" y="455613"/>
            <a:ext cx="1216025" cy="2301875"/>
          </a:xfrm>
          <a:prstGeom prst="bentConnector2">
            <a:avLst/>
          </a:prstGeom>
          <a:ln w="254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angular"/>
          <p:cNvCxnSpPr/>
          <p:nvPr/>
        </p:nvCxnSpPr>
        <p:spPr>
          <a:xfrm>
            <a:off x="2786063" y="1143000"/>
            <a:ext cx="1214437" cy="928688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Elipse"/>
          <p:cNvSpPr/>
          <p:nvPr/>
        </p:nvSpPr>
        <p:spPr>
          <a:xfrm>
            <a:off x="357188" y="1000125"/>
            <a:ext cx="1571625" cy="77628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8" name="27 Elipse"/>
          <p:cNvSpPr/>
          <p:nvPr/>
        </p:nvSpPr>
        <p:spPr>
          <a:xfrm>
            <a:off x="3857625" y="1928813"/>
            <a:ext cx="1571625" cy="50006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cxnSp>
        <p:nvCxnSpPr>
          <p:cNvPr id="30" name="29 Conector angular"/>
          <p:cNvCxnSpPr/>
          <p:nvPr/>
        </p:nvCxnSpPr>
        <p:spPr>
          <a:xfrm>
            <a:off x="1550988" y="1714500"/>
            <a:ext cx="1871662" cy="1143000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>
            <a:stCxn id="28" idx="4"/>
          </p:cNvCxnSpPr>
          <p:nvPr/>
        </p:nvCxnSpPr>
        <p:spPr>
          <a:xfrm rot="5400000">
            <a:off x="4501357" y="2570956"/>
            <a:ext cx="285750" cy="1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33 Elipse"/>
          <p:cNvSpPr/>
          <p:nvPr/>
        </p:nvSpPr>
        <p:spPr>
          <a:xfrm>
            <a:off x="3429000" y="714375"/>
            <a:ext cx="1500188" cy="71437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5" name="34 Elipse"/>
          <p:cNvSpPr/>
          <p:nvPr/>
        </p:nvSpPr>
        <p:spPr>
          <a:xfrm>
            <a:off x="5214938" y="714375"/>
            <a:ext cx="1500187" cy="71437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6" name="35 Elipse"/>
          <p:cNvSpPr/>
          <p:nvPr/>
        </p:nvSpPr>
        <p:spPr>
          <a:xfrm>
            <a:off x="6929438" y="714375"/>
            <a:ext cx="1500187" cy="71437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cxnSp>
        <p:nvCxnSpPr>
          <p:cNvPr id="38" name="37 Conector angular"/>
          <p:cNvCxnSpPr>
            <a:stCxn id="34" idx="4"/>
          </p:cNvCxnSpPr>
          <p:nvPr/>
        </p:nvCxnSpPr>
        <p:spPr>
          <a:xfrm rot="16200000" flipH="1">
            <a:off x="4917398" y="690445"/>
            <a:ext cx="355316" cy="1831925"/>
          </a:xfrm>
          <a:prstGeom prst="bentConnector2">
            <a:avLst/>
          </a:prstGeom>
          <a:ln>
            <a:solidFill>
              <a:srgbClr val="92D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angular"/>
          <p:cNvCxnSpPr/>
          <p:nvPr/>
        </p:nvCxnSpPr>
        <p:spPr>
          <a:xfrm rot="5400000">
            <a:off x="6121598" y="1591370"/>
            <a:ext cx="357188" cy="0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Forma"/>
          <p:cNvCxnSpPr>
            <a:stCxn id="36" idx="4"/>
          </p:cNvCxnSpPr>
          <p:nvPr/>
        </p:nvCxnSpPr>
        <p:spPr>
          <a:xfrm rot="5400000">
            <a:off x="6655594" y="761206"/>
            <a:ext cx="357188" cy="1692275"/>
          </a:xfrm>
          <a:prstGeom prst="bentConnector2">
            <a:avLst/>
          </a:prstGeom>
          <a:ln>
            <a:solidFill>
              <a:srgbClr val="92D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angular"/>
          <p:cNvCxnSpPr/>
          <p:nvPr/>
        </p:nvCxnSpPr>
        <p:spPr>
          <a:xfrm rot="5400000">
            <a:off x="5040054" y="3032956"/>
            <a:ext cx="2520278" cy="3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 de flecha"/>
          <p:cNvCxnSpPr/>
          <p:nvPr/>
        </p:nvCxnSpPr>
        <p:spPr>
          <a:xfrm flipH="1">
            <a:off x="5940152" y="4293096"/>
            <a:ext cx="360040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 de flecha"/>
          <p:cNvCxnSpPr/>
          <p:nvPr/>
        </p:nvCxnSpPr>
        <p:spPr>
          <a:xfrm rot="5400000">
            <a:off x="4465638" y="3178175"/>
            <a:ext cx="357188" cy="1587"/>
          </a:xfrm>
          <a:prstGeom prst="straightConnector1">
            <a:avLst/>
          </a:prstGeom>
          <a:ln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 de flecha"/>
          <p:cNvCxnSpPr/>
          <p:nvPr/>
        </p:nvCxnSpPr>
        <p:spPr>
          <a:xfrm rot="5400000">
            <a:off x="4144739" y="5144294"/>
            <a:ext cx="99853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638" name="Object 14"/>
          <p:cNvGraphicFramePr>
            <a:graphicFrameLocks noChangeAspect="1"/>
          </p:cNvGraphicFramePr>
          <p:nvPr/>
        </p:nvGraphicFramePr>
        <p:xfrm>
          <a:off x="4788024" y="4999038"/>
          <a:ext cx="4667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cuación" r:id="rId25" imgW="291960" imgH="215640" progId="Equation.3">
                  <p:embed/>
                </p:oleObj>
              </mc:Choice>
              <mc:Fallback>
                <p:oleObj name="Ecuación" r:id="rId25" imgW="29196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4999038"/>
                        <a:ext cx="466725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49"/>
          <p:cNvSpPr txBox="1">
            <a:spLocks noChangeArrowheads="1"/>
          </p:cNvSpPr>
          <p:nvPr/>
        </p:nvSpPr>
        <p:spPr bwMode="auto">
          <a:xfrm>
            <a:off x="8296275" y="6473825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4</a:t>
            </a:r>
          </a:p>
        </p:txBody>
      </p:sp>
      <p:cxnSp>
        <p:nvCxnSpPr>
          <p:cNvPr id="53" name="52 Conector recto de flecha"/>
          <p:cNvCxnSpPr/>
          <p:nvPr/>
        </p:nvCxnSpPr>
        <p:spPr>
          <a:xfrm rot="5400000">
            <a:off x="4466208" y="3894833"/>
            <a:ext cx="357188" cy="1587"/>
          </a:xfrm>
          <a:prstGeom prst="straightConnector1">
            <a:avLst/>
          </a:prstGeom>
          <a:ln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7" grpId="0" animBg="1"/>
      <p:bldP spid="28" grpId="0" animBg="1"/>
      <p:bldP spid="34" grpId="0" animBg="1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5"/>
          <p:cNvGrpSpPr>
            <a:grpSpLocks/>
          </p:cNvGrpSpPr>
          <p:nvPr/>
        </p:nvGrpSpPr>
        <p:grpSpPr bwMode="auto">
          <a:xfrm>
            <a:off x="2555875" y="2565400"/>
            <a:ext cx="1970088" cy="1806575"/>
            <a:chOff x="1610" y="1616"/>
            <a:chExt cx="1241" cy="1138"/>
          </a:xfrm>
        </p:grpSpPr>
        <p:grpSp>
          <p:nvGrpSpPr>
            <p:cNvPr id="4292" name="Group 194"/>
            <p:cNvGrpSpPr>
              <a:grpSpLocks/>
            </p:cNvGrpSpPr>
            <p:nvPr/>
          </p:nvGrpSpPr>
          <p:grpSpPr bwMode="auto">
            <a:xfrm>
              <a:off x="1610" y="1616"/>
              <a:ext cx="1241" cy="1138"/>
              <a:chOff x="1610" y="1616"/>
              <a:chExt cx="1241" cy="1138"/>
            </a:xfrm>
          </p:grpSpPr>
          <p:sp>
            <p:nvSpPr>
              <p:cNvPr id="4294" name="Freeform 98" descr="Cuadrícula grande"/>
              <p:cNvSpPr>
                <a:spLocks/>
              </p:cNvSpPr>
              <p:nvPr/>
            </p:nvSpPr>
            <p:spPr bwMode="auto">
              <a:xfrm flipH="1">
                <a:off x="1873" y="1617"/>
                <a:ext cx="962" cy="901"/>
              </a:xfrm>
              <a:custGeom>
                <a:avLst/>
                <a:gdLst>
                  <a:gd name="T0" fmla="*/ 0 w 962"/>
                  <a:gd name="T1" fmla="*/ 43 h 901"/>
                  <a:gd name="T2" fmla="*/ 844 w 962"/>
                  <a:gd name="T3" fmla="*/ 27 h 901"/>
                  <a:gd name="T4" fmla="*/ 709 w 962"/>
                  <a:gd name="T5" fmla="*/ 47 h 901"/>
                  <a:gd name="T6" fmla="*/ 655 w 962"/>
                  <a:gd name="T7" fmla="*/ 74 h 901"/>
                  <a:gd name="T8" fmla="*/ 627 w 962"/>
                  <a:gd name="T9" fmla="*/ 101 h 901"/>
                  <a:gd name="T10" fmla="*/ 614 w 962"/>
                  <a:gd name="T11" fmla="*/ 798 h 901"/>
                  <a:gd name="T12" fmla="*/ 668 w 962"/>
                  <a:gd name="T13" fmla="*/ 867 h 901"/>
                  <a:gd name="T14" fmla="*/ 770 w 962"/>
                  <a:gd name="T15" fmla="*/ 887 h 901"/>
                  <a:gd name="T16" fmla="*/ 750 w 962"/>
                  <a:gd name="T17" fmla="*/ 888 h 901"/>
                  <a:gd name="T18" fmla="*/ 841 w 962"/>
                  <a:gd name="T19" fmla="*/ 888 h 901"/>
                  <a:gd name="T20" fmla="*/ 27 w 962"/>
                  <a:gd name="T21" fmla="*/ 877 h 90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962"/>
                  <a:gd name="T34" fmla="*/ 0 h 901"/>
                  <a:gd name="T35" fmla="*/ 962 w 962"/>
                  <a:gd name="T36" fmla="*/ 901 h 90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962" h="901">
                    <a:moveTo>
                      <a:pt x="0" y="43"/>
                    </a:moveTo>
                    <a:cubicBezTo>
                      <a:pt x="142" y="40"/>
                      <a:pt x="726" y="26"/>
                      <a:pt x="844" y="27"/>
                    </a:cubicBezTo>
                    <a:cubicBezTo>
                      <a:pt x="962" y="28"/>
                      <a:pt x="741" y="39"/>
                      <a:pt x="709" y="47"/>
                    </a:cubicBezTo>
                    <a:cubicBezTo>
                      <a:pt x="677" y="55"/>
                      <a:pt x="669" y="65"/>
                      <a:pt x="655" y="74"/>
                    </a:cubicBezTo>
                    <a:cubicBezTo>
                      <a:pt x="641" y="83"/>
                      <a:pt x="716" y="0"/>
                      <a:pt x="627" y="101"/>
                    </a:cubicBezTo>
                    <a:cubicBezTo>
                      <a:pt x="627" y="101"/>
                      <a:pt x="620" y="449"/>
                      <a:pt x="614" y="798"/>
                    </a:cubicBezTo>
                    <a:cubicBezTo>
                      <a:pt x="729" y="901"/>
                      <a:pt x="642" y="852"/>
                      <a:pt x="668" y="867"/>
                    </a:cubicBezTo>
                    <a:cubicBezTo>
                      <a:pt x="684" y="886"/>
                      <a:pt x="756" y="884"/>
                      <a:pt x="770" y="887"/>
                    </a:cubicBezTo>
                    <a:cubicBezTo>
                      <a:pt x="784" y="890"/>
                      <a:pt x="738" y="888"/>
                      <a:pt x="750" y="888"/>
                    </a:cubicBezTo>
                    <a:cubicBezTo>
                      <a:pt x="762" y="888"/>
                      <a:pt x="961" y="890"/>
                      <a:pt x="841" y="888"/>
                    </a:cubicBezTo>
                    <a:cubicBezTo>
                      <a:pt x="721" y="886"/>
                      <a:pt x="197" y="879"/>
                      <a:pt x="27" y="877"/>
                    </a:cubicBezTo>
                  </a:path>
                </a:pathLst>
              </a:custGeom>
              <a:pattFill prst="lgGrid">
                <a:fgClr>
                  <a:srgbClr val="FFCC99">
                    <a:alpha val="52940"/>
                  </a:srgbClr>
                </a:fgClr>
                <a:bgClr>
                  <a:schemeClr val="bg1">
                    <a:alpha val="52940"/>
                  </a:schemeClr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95" name="Freeform 99" descr="Onda"/>
              <p:cNvSpPr>
                <a:spLocks/>
              </p:cNvSpPr>
              <p:nvPr/>
            </p:nvSpPr>
            <p:spPr bwMode="auto">
              <a:xfrm>
                <a:off x="1688" y="1616"/>
                <a:ext cx="512" cy="901"/>
              </a:xfrm>
              <a:custGeom>
                <a:avLst/>
                <a:gdLst>
                  <a:gd name="T0" fmla="*/ 0 w 512"/>
                  <a:gd name="T1" fmla="*/ 21 h 901"/>
                  <a:gd name="T2" fmla="*/ 282 w 512"/>
                  <a:gd name="T3" fmla="*/ 27 h 901"/>
                  <a:gd name="T4" fmla="*/ 417 w 512"/>
                  <a:gd name="T5" fmla="*/ 47 h 901"/>
                  <a:gd name="T6" fmla="*/ 471 w 512"/>
                  <a:gd name="T7" fmla="*/ 74 h 901"/>
                  <a:gd name="T8" fmla="*/ 499 w 512"/>
                  <a:gd name="T9" fmla="*/ 101 h 901"/>
                  <a:gd name="T10" fmla="*/ 512 w 512"/>
                  <a:gd name="T11" fmla="*/ 798 h 901"/>
                  <a:gd name="T12" fmla="*/ 458 w 512"/>
                  <a:gd name="T13" fmla="*/ 867 h 901"/>
                  <a:gd name="T14" fmla="*/ 356 w 512"/>
                  <a:gd name="T15" fmla="*/ 887 h 901"/>
                  <a:gd name="T16" fmla="*/ 376 w 512"/>
                  <a:gd name="T17" fmla="*/ 888 h 901"/>
                  <a:gd name="T18" fmla="*/ 285 w 512"/>
                  <a:gd name="T19" fmla="*/ 888 h 901"/>
                  <a:gd name="T20" fmla="*/ 34 w 512"/>
                  <a:gd name="T21" fmla="*/ 874 h 90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12"/>
                  <a:gd name="T34" fmla="*/ 0 h 901"/>
                  <a:gd name="T35" fmla="*/ 512 w 512"/>
                  <a:gd name="T36" fmla="*/ 901 h 90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12" h="901">
                    <a:moveTo>
                      <a:pt x="0" y="21"/>
                    </a:moveTo>
                    <a:cubicBezTo>
                      <a:pt x="46" y="22"/>
                      <a:pt x="212" y="23"/>
                      <a:pt x="282" y="27"/>
                    </a:cubicBezTo>
                    <a:cubicBezTo>
                      <a:pt x="352" y="31"/>
                      <a:pt x="385" y="39"/>
                      <a:pt x="417" y="47"/>
                    </a:cubicBezTo>
                    <a:cubicBezTo>
                      <a:pt x="449" y="55"/>
                      <a:pt x="457" y="65"/>
                      <a:pt x="471" y="74"/>
                    </a:cubicBezTo>
                    <a:cubicBezTo>
                      <a:pt x="485" y="83"/>
                      <a:pt x="410" y="0"/>
                      <a:pt x="499" y="101"/>
                    </a:cubicBezTo>
                    <a:cubicBezTo>
                      <a:pt x="499" y="101"/>
                      <a:pt x="506" y="449"/>
                      <a:pt x="512" y="798"/>
                    </a:cubicBezTo>
                    <a:cubicBezTo>
                      <a:pt x="397" y="901"/>
                      <a:pt x="484" y="852"/>
                      <a:pt x="458" y="867"/>
                    </a:cubicBezTo>
                    <a:cubicBezTo>
                      <a:pt x="442" y="886"/>
                      <a:pt x="370" y="884"/>
                      <a:pt x="356" y="887"/>
                    </a:cubicBezTo>
                    <a:cubicBezTo>
                      <a:pt x="342" y="890"/>
                      <a:pt x="388" y="888"/>
                      <a:pt x="376" y="888"/>
                    </a:cubicBezTo>
                    <a:cubicBezTo>
                      <a:pt x="364" y="888"/>
                      <a:pt x="342" y="890"/>
                      <a:pt x="285" y="888"/>
                    </a:cubicBezTo>
                    <a:cubicBezTo>
                      <a:pt x="228" y="886"/>
                      <a:pt x="86" y="877"/>
                      <a:pt x="34" y="874"/>
                    </a:cubicBezTo>
                  </a:path>
                </a:pathLst>
              </a:custGeom>
              <a:pattFill prst="wave">
                <a:fgClr>
                  <a:schemeClr val="accent1">
                    <a:alpha val="52940"/>
                  </a:schemeClr>
                </a:fgClr>
                <a:bgClr>
                  <a:schemeClr val="bg1">
                    <a:alpha val="52940"/>
                  </a:schemeClr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96" name="AutoShape 100"/>
              <p:cNvSpPr>
                <a:spLocks/>
              </p:cNvSpPr>
              <p:nvPr/>
            </p:nvSpPr>
            <p:spPr bwMode="auto">
              <a:xfrm flipH="1">
                <a:off x="1927" y="1643"/>
                <a:ext cx="272" cy="862"/>
              </a:xfrm>
              <a:prstGeom prst="leftBracket">
                <a:avLst>
                  <a:gd name="adj" fmla="val 26409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297" name="Text Box 101"/>
              <p:cNvSpPr txBox="1">
                <a:spLocks noChangeArrowheads="1"/>
              </p:cNvSpPr>
              <p:nvPr/>
            </p:nvSpPr>
            <p:spPr bwMode="auto">
              <a:xfrm>
                <a:off x="1899" y="2228"/>
                <a:ext cx="18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</a:p>
            </p:txBody>
          </p:sp>
          <p:sp>
            <p:nvSpPr>
              <p:cNvPr id="4298" name="Text Box 102"/>
              <p:cNvSpPr txBox="1">
                <a:spLocks noChangeArrowheads="1"/>
              </p:cNvSpPr>
              <p:nvPr/>
            </p:nvSpPr>
            <p:spPr bwMode="auto">
              <a:xfrm>
                <a:off x="2320" y="2243"/>
                <a:ext cx="27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  <a:r>
                  <a:rPr lang="es-ES_tradnl">
                    <a:latin typeface="Times New Roman" pitchFamily="18" charset="0"/>
                  </a:rPr>
                  <a:t>’</a:t>
                </a:r>
              </a:p>
            </p:txBody>
          </p:sp>
          <p:sp>
            <p:nvSpPr>
              <p:cNvPr id="4299" name="Text Box 103"/>
              <p:cNvSpPr txBox="1">
                <a:spLocks noChangeArrowheads="1"/>
              </p:cNvSpPr>
              <p:nvPr/>
            </p:nvSpPr>
            <p:spPr bwMode="auto">
              <a:xfrm>
                <a:off x="1610" y="2523"/>
                <a:ext cx="124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  <a:r>
                  <a:rPr lang="es-ES_tradnl">
                    <a:latin typeface="Times New Roman" pitchFamily="18" charset="0"/>
                  </a:rPr>
                  <a:t>’&gt;</a:t>
                </a:r>
                <a:r>
                  <a:rPr lang="es-ES_tradnl" i="1">
                    <a:latin typeface="Times New Roman" pitchFamily="18" charset="0"/>
                  </a:rPr>
                  <a:t>n; R</a:t>
                </a:r>
                <a:r>
                  <a:rPr lang="es-ES_tradnl">
                    <a:latin typeface="Times New Roman" pitchFamily="18" charset="0"/>
                  </a:rPr>
                  <a:t>&lt;0  </a:t>
                </a:r>
                <a:r>
                  <a:rPr lang="es-ES_tradnl">
                    <a:latin typeface="Times New Roman" pitchFamily="18" charset="0"/>
                    <a:sym typeface="Symbol" pitchFamily="18" charset="2"/>
                  </a:rPr>
                  <a:t>  </a:t>
                </a:r>
                <a:r>
                  <a:rPr lang="es-ES_tradnl" i="1">
                    <a:latin typeface="Times New Roman" pitchFamily="18" charset="0"/>
                    <a:sym typeface="Symbol" pitchFamily="18" charset="2"/>
                  </a:rPr>
                  <a:t>f</a:t>
                </a:r>
                <a:r>
                  <a:rPr lang="es-ES_tradnl">
                    <a:latin typeface="Times New Roman" pitchFamily="18" charset="0"/>
                    <a:sym typeface="Symbol" pitchFamily="18" charset="2"/>
                  </a:rPr>
                  <a:t>’&lt;0</a:t>
                </a:r>
                <a:endParaRPr lang="es-ES_tradnl" i="1">
                  <a:latin typeface="Times New Roman" pitchFamily="18" charset="0"/>
                  <a:sym typeface="Symbol" pitchFamily="18" charset="2"/>
                </a:endParaRPr>
              </a:p>
            </p:txBody>
          </p:sp>
          <p:sp>
            <p:nvSpPr>
              <p:cNvPr id="4300" name="Oval 109"/>
              <p:cNvSpPr>
                <a:spLocks noChangeArrowheads="1"/>
              </p:cNvSpPr>
              <p:nvPr/>
            </p:nvSpPr>
            <p:spPr bwMode="auto">
              <a:xfrm>
                <a:off x="1701" y="2030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sp>
          <p:nvSpPr>
            <p:cNvPr id="4293" name="Text Box 110"/>
            <p:cNvSpPr txBox="1">
              <a:spLocks noChangeArrowheads="1"/>
            </p:cNvSpPr>
            <p:nvPr/>
          </p:nvSpPr>
          <p:spPr bwMode="auto">
            <a:xfrm>
              <a:off x="1634" y="2038"/>
              <a:ext cx="1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200" i="1">
                  <a:latin typeface="Times New Roman" pitchFamily="18" charset="0"/>
                </a:rPr>
                <a:t>C</a:t>
              </a:r>
            </a:p>
          </p:txBody>
        </p:sp>
      </p:grpSp>
      <p:grpSp>
        <p:nvGrpSpPr>
          <p:cNvPr id="4" name="Group 191"/>
          <p:cNvGrpSpPr>
            <a:grpSpLocks/>
          </p:cNvGrpSpPr>
          <p:nvPr/>
        </p:nvGrpSpPr>
        <p:grpSpPr bwMode="auto">
          <a:xfrm>
            <a:off x="4787900" y="4603750"/>
            <a:ext cx="2033588" cy="1849438"/>
            <a:chOff x="3016" y="2900"/>
            <a:chExt cx="1281" cy="1165"/>
          </a:xfrm>
        </p:grpSpPr>
        <p:grpSp>
          <p:nvGrpSpPr>
            <p:cNvPr id="4283" name="Group 190"/>
            <p:cNvGrpSpPr>
              <a:grpSpLocks/>
            </p:cNvGrpSpPr>
            <p:nvPr/>
          </p:nvGrpSpPr>
          <p:grpSpPr bwMode="auto">
            <a:xfrm>
              <a:off x="3016" y="2900"/>
              <a:ext cx="1281" cy="1165"/>
              <a:chOff x="3016" y="2900"/>
              <a:chExt cx="1281" cy="1165"/>
            </a:xfrm>
          </p:grpSpPr>
          <p:sp>
            <p:nvSpPr>
              <p:cNvPr id="4285" name="Freeform 81" descr="Onda"/>
              <p:cNvSpPr>
                <a:spLocks/>
              </p:cNvSpPr>
              <p:nvPr/>
            </p:nvSpPr>
            <p:spPr bwMode="auto">
              <a:xfrm>
                <a:off x="3016" y="2901"/>
                <a:ext cx="728" cy="901"/>
              </a:xfrm>
              <a:custGeom>
                <a:avLst/>
                <a:gdLst>
                  <a:gd name="T0" fmla="*/ 61 w 728"/>
                  <a:gd name="T1" fmla="*/ 22 h 901"/>
                  <a:gd name="T2" fmla="*/ 640 w 728"/>
                  <a:gd name="T3" fmla="*/ 27 h 901"/>
                  <a:gd name="T4" fmla="*/ 505 w 728"/>
                  <a:gd name="T5" fmla="*/ 47 h 901"/>
                  <a:gd name="T6" fmla="*/ 451 w 728"/>
                  <a:gd name="T7" fmla="*/ 74 h 901"/>
                  <a:gd name="T8" fmla="*/ 423 w 728"/>
                  <a:gd name="T9" fmla="*/ 101 h 901"/>
                  <a:gd name="T10" fmla="*/ 410 w 728"/>
                  <a:gd name="T11" fmla="*/ 798 h 901"/>
                  <a:gd name="T12" fmla="*/ 464 w 728"/>
                  <a:gd name="T13" fmla="*/ 867 h 901"/>
                  <a:gd name="T14" fmla="*/ 566 w 728"/>
                  <a:gd name="T15" fmla="*/ 887 h 901"/>
                  <a:gd name="T16" fmla="*/ 546 w 728"/>
                  <a:gd name="T17" fmla="*/ 888 h 901"/>
                  <a:gd name="T18" fmla="*/ 637 w 728"/>
                  <a:gd name="T19" fmla="*/ 888 h 901"/>
                  <a:gd name="T20" fmla="*/ 0 w 728"/>
                  <a:gd name="T21" fmla="*/ 890 h 90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28"/>
                  <a:gd name="T34" fmla="*/ 0 h 901"/>
                  <a:gd name="T35" fmla="*/ 728 w 728"/>
                  <a:gd name="T36" fmla="*/ 901 h 90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28" h="901">
                    <a:moveTo>
                      <a:pt x="61" y="22"/>
                    </a:moveTo>
                    <a:cubicBezTo>
                      <a:pt x="159" y="24"/>
                      <a:pt x="566" y="23"/>
                      <a:pt x="640" y="27"/>
                    </a:cubicBezTo>
                    <a:cubicBezTo>
                      <a:pt x="714" y="31"/>
                      <a:pt x="537" y="39"/>
                      <a:pt x="505" y="47"/>
                    </a:cubicBezTo>
                    <a:cubicBezTo>
                      <a:pt x="473" y="55"/>
                      <a:pt x="465" y="65"/>
                      <a:pt x="451" y="74"/>
                    </a:cubicBezTo>
                    <a:cubicBezTo>
                      <a:pt x="437" y="83"/>
                      <a:pt x="512" y="0"/>
                      <a:pt x="423" y="101"/>
                    </a:cubicBezTo>
                    <a:cubicBezTo>
                      <a:pt x="423" y="101"/>
                      <a:pt x="416" y="449"/>
                      <a:pt x="410" y="798"/>
                    </a:cubicBezTo>
                    <a:cubicBezTo>
                      <a:pt x="525" y="901"/>
                      <a:pt x="438" y="852"/>
                      <a:pt x="464" y="867"/>
                    </a:cubicBezTo>
                    <a:cubicBezTo>
                      <a:pt x="480" y="886"/>
                      <a:pt x="552" y="884"/>
                      <a:pt x="566" y="887"/>
                    </a:cubicBezTo>
                    <a:cubicBezTo>
                      <a:pt x="580" y="890"/>
                      <a:pt x="534" y="888"/>
                      <a:pt x="546" y="888"/>
                    </a:cubicBezTo>
                    <a:cubicBezTo>
                      <a:pt x="558" y="888"/>
                      <a:pt x="728" y="888"/>
                      <a:pt x="637" y="888"/>
                    </a:cubicBezTo>
                    <a:cubicBezTo>
                      <a:pt x="546" y="888"/>
                      <a:pt x="133" y="890"/>
                      <a:pt x="0" y="890"/>
                    </a:cubicBezTo>
                  </a:path>
                </a:pathLst>
              </a:custGeom>
              <a:pattFill prst="wave">
                <a:fgClr>
                  <a:schemeClr val="accent1">
                    <a:alpha val="52940"/>
                  </a:schemeClr>
                </a:fgClr>
                <a:bgClr>
                  <a:schemeClr val="bg1">
                    <a:alpha val="52940"/>
                  </a:schemeClr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86" name="Freeform 82" descr="Cuadrícula grande"/>
              <p:cNvSpPr>
                <a:spLocks/>
              </p:cNvSpPr>
              <p:nvPr/>
            </p:nvSpPr>
            <p:spPr bwMode="auto">
              <a:xfrm>
                <a:off x="3431" y="2900"/>
                <a:ext cx="817" cy="901"/>
              </a:xfrm>
              <a:custGeom>
                <a:avLst/>
                <a:gdLst>
                  <a:gd name="T0" fmla="*/ 813 w 817"/>
                  <a:gd name="T1" fmla="*/ 27 h 901"/>
                  <a:gd name="T2" fmla="*/ 230 w 817"/>
                  <a:gd name="T3" fmla="*/ 27 h 901"/>
                  <a:gd name="T4" fmla="*/ 95 w 817"/>
                  <a:gd name="T5" fmla="*/ 47 h 901"/>
                  <a:gd name="T6" fmla="*/ 41 w 817"/>
                  <a:gd name="T7" fmla="*/ 74 h 901"/>
                  <a:gd name="T8" fmla="*/ 13 w 817"/>
                  <a:gd name="T9" fmla="*/ 101 h 901"/>
                  <a:gd name="T10" fmla="*/ 0 w 817"/>
                  <a:gd name="T11" fmla="*/ 798 h 901"/>
                  <a:gd name="T12" fmla="*/ 54 w 817"/>
                  <a:gd name="T13" fmla="*/ 867 h 901"/>
                  <a:gd name="T14" fmla="*/ 156 w 817"/>
                  <a:gd name="T15" fmla="*/ 887 h 901"/>
                  <a:gd name="T16" fmla="*/ 136 w 817"/>
                  <a:gd name="T17" fmla="*/ 888 h 901"/>
                  <a:gd name="T18" fmla="*/ 227 w 817"/>
                  <a:gd name="T19" fmla="*/ 888 h 901"/>
                  <a:gd name="T20" fmla="*/ 817 w 817"/>
                  <a:gd name="T21" fmla="*/ 888 h 90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17"/>
                  <a:gd name="T34" fmla="*/ 0 h 901"/>
                  <a:gd name="T35" fmla="*/ 817 w 817"/>
                  <a:gd name="T36" fmla="*/ 901 h 90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17" h="901">
                    <a:moveTo>
                      <a:pt x="813" y="27"/>
                    </a:moveTo>
                    <a:cubicBezTo>
                      <a:pt x="716" y="28"/>
                      <a:pt x="350" y="24"/>
                      <a:pt x="230" y="27"/>
                    </a:cubicBezTo>
                    <a:cubicBezTo>
                      <a:pt x="110" y="30"/>
                      <a:pt x="127" y="39"/>
                      <a:pt x="95" y="47"/>
                    </a:cubicBezTo>
                    <a:cubicBezTo>
                      <a:pt x="63" y="55"/>
                      <a:pt x="55" y="65"/>
                      <a:pt x="41" y="74"/>
                    </a:cubicBezTo>
                    <a:cubicBezTo>
                      <a:pt x="27" y="83"/>
                      <a:pt x="102" y="0"/>
                      <a:pt x="13" y="101"/>
                    </a:cubicBezTo>
                    <a:cubicBezTo>
                      <a:pt x="13" y="101"/>
                      <a:pt x="6" y="449"/>
                      <a:pt x="0" y="798"/>
                    </a:cubicBezTo>
                    <a:cubicBezTo>
                      <a:pt x="115" y="901"/>
                      <a:pt x="28" y="852"/>
                      <a:pt x="54" y="867"/>
                    </a:cubicBezTo>
                    <a:cubicBezTo>
                      <a:pt x="70" y="886"/>
                      <a:pt x="142" y="884"/>
                      <a:pt x="156" y="887"/>
                    </a:cubicBezTo>
                    <a:cubicBezTo>
                      <a:pt x="170" y="890"/>
                      <a:pt x="124" y="888"/>
                      <a:pt x="136" y="888"/>
                    </a:cubicBezTo>
                    <a:cubicBezTo>
                      <a:pt x="148" y="888"/>
                      <a:pt x="114" y="888"/>
                      <a:pt x="227" y="888"/>
                    </a:cubicBezTo>
                    <a:cubicBezTo>
                      <a:pt x="340" y="888"/>
                      <a:pt x="578" y="888"/>
                      <a:pt x="817" y="888"/>
                    </a:cubicBezTo>
                  </a:path>
                </a:pathLst>
              </a:custGeom>
              <a:pattFill prst="lgGrid">
                <a:fgClr>
                  <a:srgbClr val="FF9900">
                    <a:alpha val="52940"/>
                  </a:srgbClr>
                </a:fgClr>
                <a:bgClr>
                  <a:schemeClr val="bg1">
                    <a:alpha val="52940"/>
                  </a:schemeClr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87" name="AutoShape 83"/>
              <p:cNvSpPr>
                <a:spLocks/>
              </p:cNvSpPr>
              <p:nvPr/>
            </p:nvSpPr>
            <p:spPr bwMode="auto">
              <a:xfrm>
                <a:off x="3431" y="2927"/>
                <a:ext cx="272" cy="862"/>
              </a:xfrm>
              <a:prstGeom prst="leftBracket">
                <a:avLst>
                  <a:gd name="adj" fmla="val 26409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288" name="Text Box 84"/>
              <p:cNvSpPr txBox="1">
                <a:spLocks noChangeArrowheads="1"/>
              </p:cNvSpPr>
              <p:nvPr/>
            </p:nvSpPr>
            <p:spPr bwMode="auto">
              <a:xfrm>
                <a:off x="3146" y="3512"/>
                <a:ext cx="18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</a:p>
            </p:txBody>
          </p:sp>
          <p:sp>
            <p:nvSpPr>
              <p:cNvPr id="4289" name="Text Box 85"/>
              <p:cNvSpPr txBox="1">
                <a:spLocks noChangeArrowheads="1"/>
              </p:cNvSpPr>
              <p:nvPr/>
            </p:nvSpPr>
            <p:spPr bwMode="auto">
              <a:xfrm>
                <a:off x="3567" y="3527"/>
                <a:ext cx="27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  <a:r>
                  <a:rPr lang="es-ES_tradnl">
                    <a:latin typeface="Times New Roman" pitchFamily="18" charset="0"/>
                  </a:rPr>
                  <a:t>’</a:t>
                </a:r>
              </a:p>
            </p:txBody>
          </p:sp>
          <p:sp>
            <p:nvSpPr>
              <p:cNvPr id="4290" name="Text Box 86"/>
              <p:cNvSpPr txBox="1">
                <a:spLocks noChangeArrowheads="1"/>
              </p:cNvSpPr>
              <p:nvPr/>
            </p:nvSpPr>
            <p:spPr bwMode="auto">
              <a:xfrm>
                <a:off x="3068" y="3834"/>
                <a:ext cx="1229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  <a:r>
                  <a:rPr lang="es-ES_tradnl">
                    <a:latin typeface="Times New Roman" pitchFamily="18" charset="0"/>
                  </a:rPr>
                  <a:t>’&lt;</a:t>
                </a:r>
                <a:r>
                  <a:rPr lang="es-ES_tradnl" i="1">
                    <a:latin typeface="Times New Roman" pitchFamily="18" charset="0"/>
                  </a:rPr>
                  <a:t>n; R</a:t>
                </a:r>
                <a:r>
                  <a:rPr lang="es-ES_tradnl">
                    <a:latin typeface="Times New Roman" pitchFamily="18" charset="0"/>
                  </a:rPr>
                  <a:t>&gt;0  </a:t>
                </a:r>
                <a:r>
                  <a:rPr lang="es-ES_tradnl">
                    <a:latin typeface="Times New Roman" pitchFamily="18" charset="0"/>
                    <a:sym typeface="Symbol" pitchFamily="18" charset="2"/>
                  </a:rPr>
                  <a:t>  </a:t>
                </a:r>
                <a:r>
                  <a:rPr lang="es-ES_tradnl" i="1">
                    <a:latin typeface="Times New Roman" pitchFamily="18" charset="0"/>
                    <a:sym typeface="Symbol" pitchFamily="18" charset="2"/>
                  </a:rPr>
                  <a:t>f</a:t>
                </a:r>
                <a:r>
                  <a:rPr lang="es-ES_tradnl">
                    <a:latin typeface="Times New Roman" pitchFamily="18" charset="0"/>
                    <a:sym typeface="Symbol" pitchFamily="18" charset="2"/>
                  </a:rPr>
                  <a:t> &gt;0</a:t>
                </a:r>
                <a:endParaRPr lang="es-ES_tradnl" i="1">
                  <a:latin typeface="Times New Roman" pitchFamily="18" charset="0"/>
                  <a:sym typeface="Symbol" pitchFamily="18" charset="2"/>
                </a:endParaRPr>
              </a:p>
            </p:txBody>
          </p:sp>
          <p:sp>
            <p:nvSpPr>
              <p:cNvPr id="4291" name="Oval 92"/>
              <p:cNvSpPr>
                <a:spLocks noChangeArrowheads="1"/>
              </p:cNvSpPr>
              <p:nvPr/>
            </p:nvSpPr>
            <p:spPr bwMode="auto">
              <a:xfrm>
                <a:off x="4157" y="3314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sp>
          <p:nvSpPr>
            <p:cNvPr id="4284" name="Text Box 93"/>
            <p:cNvSpPr txBox="1">
              <a:spLocks noChangeArrowheads="1"/>
            </p:cNvSpPr>
            <p:nvPr/>
          </p:nvSpPr>
          <p:spPr bwMode="auto">
            <a:xfrm>
              <a:off x="4102" y="3332"/>
              <a:ext cx="1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200" i="1">
                  <a:latin typeface="Times New Roman" pitchFamily="18" charset="0"/>
                </a:rPr>
                <a:t>C</a:t>
              </a:r>
            </a:p>
          </p:txBody>
        </p:sp>
      </p:grpSp>
      <p:grpSp>
        <p:nvGrpSpPr>
          <p:cNvPr id="6" name="Group 188"/>
          <p:cNvGrpSpPr>
            <a:grpSpLocks/>
          </p:cNvGrpSpPr>
          <p:nvPr/>
        </p:nvGrpSpPr>
        <p:grpSpPr bwMode="auto">
          <a:xfrm>
            <a:off x="-11113" y="4502150"/>
            <a:ext cx="2376488" cy="1849438"/>
            <a:chOff x="-7" y="2836"/>
            <a:chExt cx="1497" cy="1165"/>
          </a:xfrm>
        </p:grpSpPr>
        <p:sp>
          <p:nvSpPr>
            <p:cNvPr id="4276" name="Freeform 63" descr="Onda"/>
            <p:cNvSpPr>
              <a:spLocks/>
            </p:cNvSpPr>
            <p:nvPr/>
          </p:nvSpPr>
          <p:spPr bwMode="auto">
            <a:xfrm>
              <a:off x="-7" y="2837"/>
              <a:ext cx="962" cy="901"/>
            </a:xfrm>
            <a:custGeom>
              <a:avLst/>
              <a:gdLst>
                <a:gd name="T0" fmla="*/ 0 w 962"/>
                <a:gd name="T1" fmla="*/ 43 h 901"/>
                <a:gd name="T2" fmla="*/ 844 w 962"/>
                <a:gd name="T3" fmla="*/ 27 h 901"/>
                <a:gd name="T4" fmla="*/ 709 w 962"/>
                <a:gd name="T5" fmla="*/ 47 h 901"/>
                <a:gd name="T6" fmla="*/ 655 w 962"/>
                <a:gd name="T7" fmla="*/ 74 h 901"/>
                <a:gd name="T8" fmla="*/ 627 w 962"/>
                <a:gd name="T9" fmla="*/ 101 h 901"/>
                <a:gd name="T10" fmla="*/ 614 w 962"/>
                <a:gd name="T11" fmla="*/ 798 h 901"/>
                <a:gd name="T12" fmla="*/ 668 w 962"/>
                <a:gd name="T13" fmla="*/ 867 h 901"/>
                <a:gd name="T14" fmla="*/ 770 w 962"/>
                <a:gd name="T15" fmla="*/ 887 h 901"/>
                <a:gd name="T16" fmla="*/ 750 w 962"/>
                <a:gd name="T17" fmla="*/ 888 h 901"/>
                <a:gd name="T18" fmla="*/ 841 w 962"/>
                <a:gd name="T19" fmla="*/ 888 h 901"/>
                <a:gd name="T20" fmla="*/ 41 w 962"/>
                <a:gd name="T21" fmla="*/ 897 h 9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62"/>
                <a:gd name="T34" fmla="*/ 0 h 901"/>
                <a:gd name="T35" fmla="*/ 962 w 962"/>
                <a:gd name="T36" fmla="*/ 901 h 9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62" h="901">
                  <a:moveTo>
                    <a:pt x="0" y="43"/>
                  </a:moveTo>
                  <a:cubicBezTo>
                    <a:pt x="142" y="40"/>
                    <a:pt x="726" y="26"/>
                    <a:pt x="844" y="27"/>
                  </a:cubicBezTo>
                  <a:cubicBezTo>
                    <a:pt x="962" y="28"/>
                    <a:pt x="741" y="39"/>
                    <a:pt x="709" y="47"/>
                  </a:cubicBezTo>
                  <a:cubicBezTo>
                    <a:pt x="677" y="55"/>
                    <a:pt x="669" y="65"/>
                    <a:pt x="655" y="74"/>
                  </a:cubicBezTo>
                  <a:cubicBezTo>
                    <a:pt x="641" y="83"/>
                    <a:pt x="716" y="0"/>
                    <a:pt x="627" y="101"/>
                  </a:cubicBezTo>
                  <a:cubicBezTo>
                    <a:pt x="627" y="101"/>
                    <a:pt x="620" y="449"/>
                    <a:pt x="614" y="798"/>
                  </a:cubicBezTo>
                  <a:cubicBezTo>
                    <a:pt x="729" y="901"/>
                    <a:pt x="642" y="852"/>
                    <a:pt x="668" y="867"/>
                  </a:cubicBezTo>
                  <a:cubicBezTo>
                    <a:pt x="684" y="886"/>
                    <a:pt x="756" y="884"/>
                    <a:pt x="770" y="887"/>
                  </a:cubicBezTo>
                  <a:cubicBezTo>
                    <a:pt x="784" y="890"/>
                    <a:pt x="738" y="888"/>
                    <a:pt x="750" y="888"/>
                  </a:cubicBezTo>
                  <a:cubicBezTo>
                    <a:pt x="762" y="888"/>
                    <a:pt x="959" y="887"/>
                    <a:pt x="841" y="888"/>
                  </a:cubicBezTo>
                  <a:cubicBezTo>
                    <a:pt x="723" y="889"/>
                    <a:pt x="208" y="895"/>
                    <a:pt x="41" y="897"/>
                  </a:cubicBezTo>
                </a:path>
              </a:pathLst>
            </a:custGeom>
            <a:pattFill prst="wave">
              <a:fgClr>
                <a:schemeClr val="accent1">
                  <a:alpha val="52940"/>
                </a:schemeClr>
              </a:fgClr>
              <a:bgClr>
                <a:schemeClr val="bg1">
                  <a:alpha val="52940"/>
                </a:schemeClr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77" name="Freeform 64" descr="Cuadrícula grande"/>
            <p:cNvSpPr>
              <a:spLocks/>
            </p:cNvSpPr>
            <p:nvPr/>
          </p:nvSpPr>
          <p:spPr bwMode="auto">
            <a:xfrm>
              <a:off x="612" y="2836"/>
              <a:ext cx="817" cy="901"/>
            </a:xfrm>
            <a:custGeom>
              <a:avLst/>
              <a:gdLst>
                <a:gd name="T0" fmla="*/ 813 w 817"/>
                <a:gd name="T1" fmla="*/ 27 h 901"/>
                <a:gd name="T2" fmla="*/ 230 w 817"/>
                <a:gd name="T3" fmla="*/ 27 h 901"/>
                <a:gd name="T4" fmla="*/ 95 w 817"/>
                <a:gd name="T5" fmla="*/ 47 h 901"/>
                <a:gd name="T6" fmla="*/ 41 w 817"/>
                <a:gd name="T7" fmla="*/ 74 h 901"/>
                <a:gd name="T8" fmla="*/ 13 w 817"/>
                <a:gd name="T9" fmla="*/ 101 h 901"/>
                <a:gd name="T10" fmla="*/ 0 w 817"/>
                <a:gd name="T11" fmla="*/ 798 h 901"/>
                <a:gd name="T12" fmla="*/ 54 w 817"/>
                <a:gd name="T13" fmla="*/ 867 h 901"/>
                <a:gd name="T14" fmla="*/ 156 w 817"/>
                <a:gd name="T15" fmla="*/ 887 h 901"/>
                <a:gd name="T16" fmla="*/ 136 w 817"/>
                <a:gd name="T17" fmla="*/ 888 h 901"/>
                <a:gd name="T18" fmla="*/ 227 w 817"/>
                <a:gd name="T19" fmla="*/ 888 h 901"/>
                <a:gd name="T20" fmla="*/ 817 w 817"/>
                <a:gd name="T21" fmla="*/ 888 h 9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17"/>
                <a:gd name="T34" fmla="*/ 0 h 901"/>
                <a:gd name="T35" fmla="*/ 817 w 817"/>
                <a:gd name="T36" fmla="*/ 901 h 9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17" h="901">
                  <a:moveTo>
                    <a:pt x="813" y="27"/>
                  </a:moveTo>
                  <a:cubicBezTo>
                    <a:pt x="716" y="28"/>
                    <a:pt x="350" y="24"/>
                    <a:pt x="230" y="27"/>
                  </a:cubicBezTo>
                  <a:cubicBezTo>
                    <a:pt x="110" y="30"/>
                    <a:pt x="127" y="39"/>
                    <a:pt x="95" y="47"/>
                  </a:cubicBezTo>
                  <a:cubicBezTo>
                    <a:pt x="63" y="55"/>
                    <a:pt x="55" y="65"/>
                    <a:pt x="41" y="74"/>
                  </a:cubicBezTo>
                  <a:cubicBezTo>
                    <a:pt x="27" y="83"/>
                    <a:pt x="102" y="0"/>
                    <a:pt x="13" y="101"/>
                  </a:cubicBezTo>
                  <a:cubicBezTo>
                    <a:pt x="13" y="101"/>
                    <a:pt x="6" y="449"/>
                    <a:pt x="0" y="798"/>
                  </a:cubicBezTo>
                  <a:cubicBezTo>
                    <a:pt x="115" y="901"/>
                    <a:pt x="28" y="852"/>
                    <a:pt x="54" y="867"/>
                  </a:cubicBezTo>
                  <a:cubicBezTo>
                    <a:pt x="70" y="886"/>
                    <a:pt x="142" y="884"/>
                    <a:pt x="156" y="887"/>
                  </a:cubicBezTo>
                  <a:cubicBezTo>
                    <a:pt x="170" y="890"/>
                    <a:pt x="124" y="888"/>
                    <a:pt x="136" y="888"/>
                  </a:cubicBezTo>
                  <a:cubicBezTo>
                    <a:pt x="148" y="888"/>
                    <a:pt x="114" y="888"/>
                    <a:pt x="227" y="888"/>
                  </a:cubicBezTo>
                  <a:cubicBezTo>
                    <a:pt x="340" y="888"/>
                    <a:pt x="578" y="888"/>
                    <a:pt x="817" y="888"/>
                  </a:cubicBezTo>
                </a:path>
              </a:pathLst>
            </a:custGeom>
            <a:pattFill prst="lgGrid">
              <a:fgClr>
                <a:srgbClr val="FF9900">
                  <a:alpha val="52940"/>
                </a:srgbClr>
              </a:fgClr>
              <a:bgClr>
                <a:schemeClr val="bg1">
                  <a:alpha val="52940"/>
                </a:schemeClr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78" name="AutoShape 65"/>
            <p:cNvSpPr>
              <a:spLocks/>
            </p:cNvSpPr>
            <p:nvPr/>
          </p:nvSpPr>
          <p:spPr bwMode="auto">
            <a:xfrm>
              <a:off x="612" y="2863"/>
              <a:ext cx="272" cy="862"/>
            </a:xfrm>
            <a:prstGeom prst="leftBracket">
              <a:avLst>
                <a:gd name="adj" fmla="val 26409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79" name="Text Box 66"/>
            <p:cNvSpPr txBox="1">
              <a:spLocks noChangeArrowheads="1"/>
            </p:cNvSpPr>
            <p:nvPr/>
          </p:nvSpPr>
          <p:spPr bwMode="auto">
            <a:xfrm>
              <a:off x="327" y="344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4280" name="Text Box 67"/>
            <p:cNvSpPr txBox="1">
              <a:spLocks noChangeArrowheads="1"/>
            </p:cNvSpPr>
            <p:nvPr/>
          </p:nvSpPr>
          <p:spPr bwMode="auto">
            <a:xfrm>
              <a:off x="748" y="346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4281" name="Text Box 68"/>
            <p:cNvSpPr txBox="1">
              <a:spLocks noChangeArrowheads="1"/>
            </p:cNvSpPr>
            <p:nvPr/>
          </p:nvSpPr>
          <p:spPr bwMode="auto">
            <a:xfrm>
              <a:off x="249" y="3770"/>
              <a:ext cx="1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’&lt;</a:t>
              </a:r>
              <a:r>
                <a:rPr lang="es-ES_tradnl" i="1">
                  <a:latin typeface="Times New Roman" pitchFamily="18" charset="0"/>
                </a:rPr>
                <a:t>n; R</a:t>
              </a:r>
              <a:r>
                <a:rPr lang="es-ES_tradnl">
                  <a:latin typeface="Times New Roman" pitchFamily="18" charset="0"/>
                </a:rPr>
                <a:t>&gt;0  </a:t>
              </a:r>
              <a:r>
                <a:rPr lang="es-ES_tradnl">
                  <a:latin typeface="Times New Roman" pitchFamily="18" charset="0"/>
                  <a:sym typeface="Symbol" pitchFamily="18" charset="2"/>
                </a:rPr>
                <a:t>  </a:t>
              </a:r>
              <a:r>
                <a:rPr lang="es-ES_tradnl" i="1">
                  <a:latin typeface="Times New Roman" pitchFamily="18" charset="0"/>
                  <a:sym typeface="Symbol" pitchFamily="18" charset="2"/>
                </a:rPr>
                <a:t>f</a:t>
              </a:r>
              <a:r>
                <a:rPr lang="es-ES_tradnl">
                  <a:latin typeface="Times New Roman" pitchFamily="18" charset="0"/>
                  <a:sym typeface="Symbol" pitchFamily="18" charset="2"/>
                </a:rPr>
                <a:t>’&lt;0</a:t>
              </a:r>
              <a:endParaRPr lang="es-ES_tradnl" i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282" name="Oval 74"/>
            <p:cNvSpPr>
              <a:spLocks noChangeArrowheads="1"/>
            </p:cNvSpPr>
            <p:nvPr/>
          </p:nvSpPr>
          <p:spPr bwMode="auto">
            <a:xfrm>
              <a:off x="1338" y="3250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</p:grpSp>
      <p:grpSp>
        <p:nvGrpSpPr>
          <p:cNvPr id="7" name="Group 186"/>
          <p:cNvGrpSpPr>
            <a:grpSpLocks/>
          </p:cNvGrpSpPr>
          <p:nvPr/>
        </p:nvGrpSpPr>
        <p:grpSpPr bwMode="auto">
          <a:xfrm>
            <a:off x="4787900" y="2565400"/>
            <a:ext cx="2033588" cy="1849438"/>
            <a:chOff x="3036" y="1630"/>
            <a:chExt cx="1281" cy="1165"/>
          </a:xfrm>
        </p:grpSpPr>
        <p:grpSp>
          <p:nvGrpSpPr>
            <p:cNvPr id="4267" name="Group 185"/>
            <p:cNvGrpSpPr>
              <a:grpSpLocks/>
            </p:cNvGrpSpPr>
            <p:nvPr/>
          </p:nvGrpSpPr>
          <p:grpSpPr bwMode="auto">
            <a:xfrm>
              <a:off x="3036" y="1630"/>
              <a:ext cx="1281" cy="1165"/>
              <a:chOff x="3036" y="1630"/>
              <a:chExt cx="1281" cy="1165"/>
            </a:xfrm>
          </p:grpSpPr>
          <p:sp>
            <p:nvSpPr>
              <p:cNvPr id="4269" name="Freeform 48" descr="Onda"/>
              <p:cNvSpPr>
                <a:spLocks/>
              </p:cNvSpPr>
              <p:nvPr/>
            </p:nvSpPr>
            <p:spPr bwMode="auto">
              <a:xfrm>
                <a:off x="3036" y="1631"/>
                <a:ext cx="728" cy="901"/>
              </a:xfrm>
              <a:custGeom>
                <a:avLst/>
                <a:gdLst>
                  <a:gd name="T0" fmla="*/ 61 w 728"/>
                  <a:gd name="T1" fmla="*/ 22 h 901"/>
                  <a:gd name="T2" fmla="*/ 640 w 728"/>
                  <a:gd name="T3" fmla="*/ 27 h 901"/>
                  <a:gd name="T4" fmla="*/ 505 w 728"/>
                  <a:gd name="T5" fmla="*/ 47 h 901"/>
                  <a:gd name="T6" fmla="*/ 451 w 728"/>
                  <a:gd name="T7" fmla="*/ 74 h 901"/>
                  <a:gd name="T8" fmla="*/ 423 w 728"/>
                  <a:gd name="T9" fmla="*/ 101 h 901"/>
                  <a:gd name="T10" fmla="*/ 410 w 728"/>
                  <a:gd name="T11" fmla="*/ 798 h 901"/>
                  <a:gd name="T12" fmla="*/ 464 w 728"/>
                  <a:gd name="T13" fmla="*/ 867 h 901"/>
                  <a:gd name="T14" fmla="*/ 566 w 728"/>
                  <a:gd name="T15" fmla="*/ 887 h 901"/>
                  <a:gd name="T16" fmla="*/ 546 w 728"/>
                  <a:gd name="T17" fmla="*/ 888 h 901"/>
                  <a:gd name="T18" fmla="*/ 637 w 728"/>
                  <a:gd name="T19" fmla="*/ 888 h 901"/>
                  <a:gd name="T20" fmla="*/ 0 w 728"/>
                  <a:gd name="T21" fmla="*/ 890 h 90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28"/>
                  <a:gd name="T34" fmla="*/ 0 h 901"/>
                  <a:gd name="T35" fmla="*/ 728 w 728"/>
                  <a:gd name="T36" fmla="*/ 901 h 90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28" h="901">
                    <a:moveTo>
                      <a:pt x="61" y="22"/>
                    </a:moveTo>
                    <a:cubicBezTo>
                      <a:pt x="159" y="24"/>
                      <a:pt x="566" y="23"/>
                      <a:pt x="640" y="27"/>
                    </a:cubicBezTo>
                    <a:cubicBezTo>
                      <a:pt x="714" y="31"/>
                      <a:pt x="537" y="39"/>
                      <a:pt x="505" y="47"/>
                    </a:cubicBezTo>
                    <a:cubicBezTo>
                      <a:pt x="473" y="55"/>
                      <a:pt x="465" y="65"/>
                      <a:pt x="451" y="74"/>
                    </a:cubicBezTo>
                    <a:cubicBezTo>
                      <a:pt x="437" y="83"/>
                      <a:pt x="512" y="0"/>
                      <a:pt x="423" y="101"/>
                    </a:cubicBezTo>
                    <a:cubicBezTo>
                      <a:pt x="423" y="101"/>
                      <a:pt x="416" y="449"/>
                      <a:pt x="410" y="798"/>
                    </a:cubicBezTo>
                    <a:cubicBezTo>
                      <a:pt x="525" y="901"/>
                      <a:pt x="438" y="852"/>
                      <a:pt x="464" y="867"/>
                    </a:cubicBezTo>
                    <a:cubicBezTo>
                      <a:pt x="480" y="886"/>
                      <a:pt x="552" y="884"/>
                      <a:pt x="566" y="887"/>
                    </a:cubicBezTo>
                    <a:cubicBezTo>
                      <a:pt x="580" y="890"/>
                      <a:pt x="534" y="888"/>
                      <a:pt x="546" y="888"/>
                    </a:cubicBezTo>
                    <a:cubicBezTo>
                      <a:pt x="558" y="888"/>
                      <a:pt x="728" y="888"/>
                      <a:pt x="637" y="888"/>
                    </a:cubicBezTo>
                    <a:cubicBezTo>
                      <a:pt x="546" y="888"/>
                      <a:pt x="133" y="890"/>
                      <a:pt x="0" y="890"/>
                    </a:cubicBezTo>
                  </a:path>
                </a:pathLst>
              </a:custGeom>
              <a:pattFill prst="wave">
                <a:fgClr>
                  <a:schemeClr val="accent1">
                    <a:alpha val="52940"/>
                  </a:schemeClr>
                </a:fgClr>
                <a:bgClr>
                  <a:schemeClr val="bg1">
                    <a:alpha val="52940"/>
                  </a:schemeClr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70" name="Freeform 49" descr="Cuadrícula grande"/>
              <p:cNvSpPr>
                <a:spLocks/>
              </p:cNvSpPr>
              <p:nvPr/>
            </p:nvSpPr>
            <p:spPr bwMode="auto">
              <a:xfrm>
                <a:off x="3451" y="1630"/>
                <a:ext cx="817" cy="901"/>
              </a:xfrm>
              <a:custGeom>
                <a:avLst/>
                <a:gdLst>
                  <a:gd name="T0" fmla="*/ 813 w 817"/>
                  <a:gd name="T1" fmla="*/ 27 h 901"/>
                  <a:gd name="T2" fmla="*/ 230 w 817"/>
                  <a:gd name="T3" fmla="*/ 27 h 901"/>
                  <a:gd name="T4" fmla="*/ 95 w 817"/>
                  <a:gd name="T5" fmla="*/ 47 h 901"/>
                  <a:gd name="T6" fmla="*/ 41 w 817"/>
                  <a:gd name="T7" fmla="*/ 74 h 901"/>
                  <a:gd name="T8" fmla="*/ 13 w 817"/>
                  <a:gd name="T9" fmla="*/ 101 h 901"/>
                  <a:gd name="T10" fmla="*/ 0 w 817"/>
                  <a:gd name="T11" fmla="*/ 798 h 901"/>
                  <a:gd name="T12" fmla="*/ 54 w 817"/>
                  <a:gd name="T13" fmla="*/ 867 h 901"/>
                  <a:gd name="T14" fmla="*/ 156 w 817"/>
                  <a:gd name="T15" fmla="*/ 887 h 901"/>
                  <a:gd name="T16" fmla="*/ 136 w 817"/>
                  <a:gd name="T17" fmla="*/ 888 h 901"/>
                  <a:gd name="T18" fmla="*/ 227 w 817"/>
                  <a:gd name="T19" fmla="*/ 888 h 901"/>
                  <a:gd name="T20" fmla="*/ 817 w 817"/>
                  <a:gd name="T21" fmla="*/ 888 h 90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17"/>
                  <a:gd name="T34" fmla="*/ 0 h 901"/>
                  <a:gd name="T35" fmla="*/ 817 w 817"/>
                  <a:gd name="T36" fmla="*/ 901 h 90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17" h="901">
                    <a:moveTo>
                      <a:pt x="813" y="27"/>
                    </a:moveTo>
                    <a:cubicBezTo>
                      <a:pt x="716" y="28"/>
                      <a:pt x="350" y="24"/>
                      <a:pt x="230" y="27"/>
                    </a:cubicBezTo>
                    <a:cubicBezTo>
                      <a:pt x="110" y="30"/>
                      <a:pt x="127" y="39"/>
                      <a:pt x="95" y="47"/>
                    </a:cubicBezTo>
                    <a:cubicBezTo>
                      <a:pt x="63" y="55"/>
                      <a:pt x="55" y="65"/>
                      <a:pt x="41" y="74"/>
                    </a:cubicBezTo>
                    <a:cubicBezTo>
                      <a:pt x="27" y="83"/>
                      <a:pt x="102" y="0"/>
                      <a:pt x="13" y="101"/>
                    </a:cubicBezTo>
                    <a:cubicBezTo>
                      <a:pt x="13" y="101"/>
                      <a:pt x="6" y="449"/>
                      <a:pt x="0" y="798"/>
                    </a:cubicBezTo>
                    <a:cubicBezTo>
                      <a:pt x="115" y="901"/>
                      <a:pt x="28" y="852"/>
                      <a:pt x="54" y="867"/>
                    </a:cubicBezTo>
                    <a:cubicBezTo>
                      <a:pt x="70" y="886"/>
                      <a:pt x="142" y="884"/>
                      <a:pt x="156" y="887"/>
                    </a:cubicBezTo>
                    <a:cubicBezTo>
                      <a:pt x="170" y="890"/>
                      <a:pt x="124" y="888"/>
                      <a:pt x="136" y="888"/>
                    </a:cubicBezTo>
                    <a:cubicBezTo>
                      <a:pt x="148" y="888"/>
                      <a:pt x="114" y="888"/>
                      <a:pt x="227" y="888"/>
                    </a:cubicBezTo>
                    <a:cubicBezTo>
                      <a:pt x="340" y="888"/>
                      <a:pt x="578" y="888"/>
                      <a:pt x="817" y="888"/>
                    </a:cubicBezTo>
                  </a:path>
                </a:pathLst>
              </a:custGeom>
              <a:pattFill prst="lgGrid">
                <a:fgClr>
                  <a:srgbClr val="FF9900">
                    <a:alpha val="52940"/>
                  </a:srgbClr>
                </a:fgClr>
                <a:bgClr>
                  <a:schemeClr val="bg1">
                    <a:alpha val="52940"/>
                  </a:schemeClr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71" name="AutoShape 50"/>
              <p:cNvSpPr>
                <a:spLocks/>
              </p:cNvSpPr>
              <p:nvPr/>
            </p:nvSpPr>
            <p:spPr bwMode="auto">
              <a:xfrm>
                <a:off x="3451" y="1657"/>
                <a:ext cx="272" cy="862"/>
              </a:xfrm>
              <a:prstGeom prst="leftBracket">
                <a:avLst>
                  <a:gd name="adj" fmla="val 26409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272" name="Text Box 51"/>
              <p:cNvSpPr txBox="1">
                <a:spLocks noChangeArrowheads="1"/>
              </p:cNvSpPr>
              <p:nvPr/>
            </p:nvSpPr>
            <p:spPr bwMode="auto">
              <a:xfrm>
                <a:off x="3166" y="2242"/>
                <a:ext cx="18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</a:p>
            </p:txBody>
          </p:sp>
          <p:sp>
            <p:nvSpPr>
              <p:cNvPr id="4273" name="Text Box 52"/>
              <p:cNvSpPr txBox="1">
                <a:spLocks noChangeArrowheads="1"/>
              </p:cNvSpPr>
              <p:nvPr/>
            </p:nvSpPr>
            <p:spPr bwMode="auto">
              <a:xfrm>
                <a:off x="3587" y="2257"/>
                <a:ext cx="27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  <a:r>
                  <a:rPr lang="es-ES_tradnl">
                    <a:latin typeface="Times New Roman" pitchFamily="18" charset="0"/>
                  </a:rPr>
                  <a:t>’</a:t>
                </a:r>
              </a:p>
            </p:txBody>
          </p:sp>
          <p:sp>
            <p:nvSpPr>
              <p:cNvPr id="4274" name="Text Box 53"/>
              <p:cNvSpPr txBox="1">
                <a:spLocks noChangeArrowheads="1"/>
              </p:cNvSpPr>
              <p:nvPr/>
            </p:nvSpPr>
            <p:spPr bwMode="auto">
              <a:xfrm>
                <a:off x="3088" y="2564"/>
                <a:ext cx="1229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  <a:r>
                  <a:rPr lang="es-ES_tradnl">
                    <a:latin typeface="Times New Roman" pitchFamily="18" charset="0"/>
                  </a:rPr>
                  <a:t>’&gt;</a:t>
                </a:r>
                <a:r>
                  <a:rPr lang="es-ES_tradnl" i="1">
                    <a:latin typeface="Times New Roman" pitchFamily="18" charset="0"/>
                  </a:rPr>
                  <a:t>n; R</a:t>
                </a:r>
                <a:r>
                  <a:rPr lang="es-ES_tradnl">
                    <a:latin typeface="Times New Roman" pitchFamily="18" charset="0"/>
                  </a:rPr>
                  <a:t>&gt;0  </a:t>
                </a:r>
                <a:r>
                  <a:rPr lang="es-ES_tradnl">
                    <a:latin typeface="Times New Roman" pitchFamily="18" charset="0"/>
                    <a:sym typeface="Symbol" pitchFamily="18" charset="2"/>
                  </a:rPr>
                  <a:t>  </a:t>
                </a:r>
                <a:r>
                  <a:rPr lang="es-ES_tradnl" i="1">
                    <a:latin typeface="Times New Roman" pitchFamily="18" charset="0"/>
                    <a:sym typeface="Symbol" pitchFamily="18" charset="2"/>
                  </a:rPr>
                  <a:t>f</a:t>
                </a:r>
                <a:r>
                  <a:rPr lang="es-ES_tradnl">
                    <a:latin typeface="Times New Roman" pitchFamily="18" charset="0"/>
                    <a:sym typeface="Symbol" pitchFamily="18" charset="2"/>
                  </a:rPr>
                  <a:t> &lt;0</a:t>
                </a:r>
                <a:endParaRPr lang="es-ES_tradnl" i="1">
                  <a:latin typeface="Times New Roman" pitchFamily="18" charset="0"/>
                  <a:sym typeface="Symbol" pitchFamily="18" charset="2"/>
                </a:endParaRPr>
              </a:p>
            </p:txBody>
          </p:sp>
          <p:sp>
            <p:nvSpPr>
              <p:cNvPr id="4275" name="Oval 59"/>
              <p:cNvSpPr>
                <a:spLocks noChangeArrowheads="1"/>
              </p:cNvSpPr>
              <p:nvPr/>
            </p:nvSpPr>
            <p:spPr bwMode="auto">
              <a:xfrm>
                <a:off x="4177" y="2044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sp>
          <p:nvSpPr>
            <p:cNvPr id="4268" name="Text Box 60"/>
            <p:cNvSpPr txBox="1">
              <a:spLocks noChangeArrowheads="1"/>
            </p:cNvSpPr>
            <p:nvPr/>
          </p:nvSpPr>
          <p:spPr bwMode="auto">
            <a:xfrm>
              <a:off x="4106" y="2055"/>
              <a:ext cx="1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200" i="1">
                  <a:latin typeface="Times New Roman" pitchFamily="18" charset="0"/>
                </a:rPr>
                <a:t>C</a:t>
              </a:r>
            </a:p>
          </p:txBody>
        </p:sp>
      </p:grpSp>
      <p:grpSp>
        <p:nvGrpSpPr>
          <p:cNvPr id="9" name="Group 183"/>
          <p:cNvGrpSpPr>
            <a:grpSpLocks/>
          </p:cNvGrpSpPr>
          <p:nvPr/>
        </p:nvGrpSpPr>
        <p:grpSpPr bwMode="auto">
          <a:xfrm>
            <a:off x="0" y="2565400"/>
            <a:ext cx="2376488" cy="1849438"/>
            <a:chOff x="-7" y="1616"/>
            <a:chExt cx="1497" cy="1165"/>
          </a:xfrm>
        </p:grpSpPr>
        <p:sp>
          <p:nvSpPr>
            <p:cNvPr id="4259" name="Freeform 37" descr="Onda"/>
            <p:cNvSpPr>
              <a:spLocks/>
            </p:cNvSpPr>
            <p:nvPr/>
          </p:nvSpPr>
          <p:spPr bwMode="auto">
            <a:xfrm>
              <a:off x="-7" y="1617"/>
              <a:ext cx="962" cy="901"/>
            </a:xfrm>
            <a:custGeom>
              <a:avLst/>
              <a:gdLst>
                <a:gd name="T0" fmla="*/ 0 w 962"/>
                <a:gd name="T1" fmla="*/ 43 h 901"/>
                <a:gd name="T2" fmla="*/ 844 w 962"/>
                <a:gd name="T3" fmla="*/ 27 h 901"/>
                <a:gd name="T4" fmla="*/ 709 w 962"/>
                <a:gd name="T5" fmla="*/ 47 h 901"/>
                <a:gd name="T6" fmla="*/ 655 w 962"/>
                <a:gd name="T7" fmla="*/ 74 h 901"/>
                <a:gd name="T8" fmla="*/ 627 w 962"/>
                <a:gd name="T9" fmla="*/ 101 h 901"/>
                <a:gd name="T10" fmla="*/ 614 w 962"/>
                <a:gd name="T11" fmla="*/ 798 h 901"/>
                <a:gd name="T12" fmla="*/ 668 w 962"/>
                <a:gd name="T13" fmla="*/ 867 h 901"/>
                <a:gd name="T14" fmla="*/ 770 w 962"/>
                <a:gd name="T15" fmla="*/ 887 h 901"/>
                <a:gd name="T16" fmla="*/ 750 w 962"/>
                <a:gd name="T17" fmla="*/ 888 h 901"/>
                <a:gd name="T18" fmla="*/ 841 w 962"/>
                <a:gd name="T19" fmla="*/ 888 h 901"/>
                <a:gd name="T20" fmla="*/ 27 w 962"/>
                <a:gd name="T21" fmla="*/ 877 h 9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62"/>
                <a:gd name="T34" fmla="*/ 0 h 901"/>
                <a:gd name="T35" fmla="*/ 962 w 962"/>
                <a:gd name="T36" fmla="*/ 901 h 9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62" h="901">
                  <a:moveTo>
                    <a:pt x="0" y="43"/>
                  </a:moveTo>
                  <a:cubicBezTo>
                    <a:pt x="142" y="40"/>
                    <a:pt x="726" y="26"/>
                    <a:pt x="844" y="27"/>
                  </a:cubicBezTo>
                  <a:cubicBezTo>
                    <a:pt x="962" y="28"/>
                    <a:pt x="741" y="39"/>
                    <a:pt x="709" y="47"/>
                  </a:cubicBezTo>
                  <a:cubicBezTo>
                    <a:pt x="677" y="55"/>
                    <a:pt x="669" y="65"/>
                    <a:pt x="655" y="74"/>
                  </a:cubicBezTo>
                  <a:cubicBezTo>
                    <a:pt x="641" y="83"/>
                    <a:pt x="716" y="0"/>
                    <a:pt x="627" y="101"/>
                  </a:cubicBezTo>
                  <a:cubicBezTo>
                    <a:pt x="627" y="101"/>
                    <a:pt x="620" y="449"/>
                    <a:pt x="614" y="798"/>
                  </a:cubicBezTo>
                  <a:cubicBezTo>
                    <a:pt x="729" y="901"/>
                    <a:pt x="642" y="852"/>
                    <a:pt x="668" y="867"/>
                  </a:cubicBezTo>
                  <a:cubicBezTo>
                    <a:pt x="684" y="886"/>
                    <a:pt x="756" y="884"/>
                    <a:pt x="770" y="887"/>
                  </a:cubicBezTo>
                  <a:cubicBezTo>
                    <a:pt x="784" y="890"/>
                    <a:pt x="738" y="888"/>
                    <a:pt x="750" y="888"/>
                  </a:cubicBezTo>
                  <a:cubicBezTo>
                    <a:pt x="762" y="888"/>
                    <a:pt x="961" y="890"/>
                    <a:pt x="841" y="888"/>
                  </a:cubicBezTo>
                  <a:cubicBezTo>
                    <a:pt x="721" y="886"/>
                    <a:pt x="197" y="879"/>
                    <a:pt x="27" y="877"/>
                  </a:cubicBezTo>
                </a:path>
              </a:pathLst>
            </a:custGeom>
            <a:pattFill prst="wave">
              <a:fgClr>
                <a:schemeClr val="accent1">
                  <a:alpha val="52940"/>
                </a:schemeClr>
              </a:fgClr>
              <a:bgClr>
                <a:schemeClr val="bg1">
                  <a:alpha val="52940"/>
                </a:schemeClr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60" name="Freeform 36" descr="Cuadrícula grande"/>
            <p:cNvSpPr>
              <a:spLocks/>
            </p:cNvSpPr>
            <p:nvPr/>
          </p:nvSpPr>
          <p:spPr bwMode="auto">
            <a:xfrm>
              <a:off x="612" y="1616"/>
              <a:ext cx="817" cy="901"/>
            </a:xfrm>
            <a:custGeom>
              <a:avLst/>
              <a:gdLst>
                <a:gd name="T0" fmla="*/ 813 w 817"/>
                <a:gd name="T1" fmla="*/ 27 h 901"/>
                <a:gd name="T2" fmla="*/ 230 w 817"/>
                <a:gd name="T3" fmla="*/ 27 h 901"/>
                <a:gd name="T4" fmla="*/ 95 w 817"/>
                <a:gd name="T5" fmla="*/ 47 h 901"/>
                <a:gd name="T6" fmla="*/ 41 w 817"/>
                <a:gd name="T7" fmla="*/ 74 h 901"/>
                <a:gd name="T8" fmla="*/ 13 w 817"/>
                <a:gd name="T9" fmla="*/ 101 h 901"/>
                <a:gd name="T10" fmla="*/ 0 w 817"/>
                <a:gd name="T11" fmla="*/ 798 h 901"/>
                <a:gd name="T12" fmla="*/ 54 w 817"/>
                <a:gd name="T13" fmla="*/ 867 h 901"/>
                <a:gd name="T14" fmla="*/ 156 w 817"/>
                <a:gd name="T15" fmla="*/ 887 h 901"/>
                <a:gd name="T16" fmla="*/ 136 w 817"/>
                <a:gd name="T17" fmla="*/ 888 h 901"/>
                <a:gd name="T18" fmla="*/ 227 w 817"/>
                <a:gd name="T19" fmla="*/ 888 h 901"/>
                <a:gd name="T20" fmla="*/ 817 w 817"/>
                <a:gd name="T21" fmla="*/ 888 h 9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17"/>
                <a:gd name="T34" fmla="*/ 0 h 901"/>
                <a:gd name="T35" fmla="*/ 817 w 817"/>
                <a:gd name="T36" fmla="*/ 901 h 9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17" h="901">
                  <a:moveTo>
                    <a:pt x="813" y="27"/>
                  </a:moveTo>
                  <a:cubicBezTo>
                    <a:pt x="716" y="28"/>
                    <a:pt x="350" y="24"/>
                    <a:pt x="230" y="27"/>
                  </a:cubicBezTo>
                  <a:cubicBezTo>
                    <a:pt x="110" y="30"/>
                    <a:pt x="127" y="39"/>
                    <a:pt x="95" y="47"/>
                  </a:cubicBezTo>
                  <a:cubicBezTo>
                    <a:pt x="63" y="55"/>
                    <a:pt x="55" y="65"/>
                    <a:pt x="41" y="74"/>
                  </a:cubicBezTo>
                  <a:cubicBezTo>
                    <a:pt x="27" y="83"/>
                    <a:pt x="102" y="0"/>
                    <a:pt x="13" y="101"/>
                  </a:cubicBezTo>
                  <a:cubicBezTo>
                    <a:pt x="13" y="101"/>
                    <a:pt x="6" y="449"/>
                    <a:pt x="0" y="798"/>
                  </a:cubicBezTo>
                  <a:cubicBezTo>
                    <a:pt x="115" y="901"/>
                    <a:pt x="28" y="852"/>
                    <a:pt x="54" y="867"/>
                  </a:cubicBezTo>
                  <a:cubicBezTo>
                    <a:pt x="70" y="886"/>
                    <a:pt x="142" y="884"/>
                    <a:pt x="156" y="887"/>
                  </a:cubicBezTo>
                  <a:cubicBezTo>
                    <a:pt x="170" y="890"/>
                    <a:pt x="124" y="888"/>
                    <a:pt x="136" y="888"/>
                  </a:cubicBezTo>
                  <a:cubicBezTo>
                    <a:pt x="148" y="888"/>
                    <a:pt x="114" y="888"/>
                    <a:pt x="227" y="888"/>
                  </a:cubicBezTo>
                  <a:cubicBezTo>
                    <a:pt x="340" y="888"/>
                    <a:pt x="578" y="888"/>
                    <a:pt x="817" y="888"/>
                  </a:cubicBezTo>
                </a:path>
              </a:pathLst>
            </a:custGeom>
            <a:pattFill prst="lgGrid">
              <a:fgClr>
                <a:srgbClr val="FF9900">
                  <a:alpha val="52940"/>
                </a:srgbClr>
              </a:fgClr>
              <a:bgClr>
                <a:schemeClr val="bg1">
                  <a:alpha val="52940"/>
                </a:schemeClr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61" name="AutoShape 32"/>
            <p:cNvSpPr>
              <a:spLocks/>
            </p:cNvSpPr>
            <p:nvPr/>
          </p:nvSpPr>
          <p:spPr bwMode="auto">
            <a:xfrm>
              <a:off x="612" y="1643"/>
              <a:ext cx="272" cy="862"/>
            </a:xfrm>
            <a:prstGeom prst="leftBracket">
              <a:avLst>
                <a:gd name="adj" fmla="val 26409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62" name="Text Box 34"/>
            <p:cNvSpPr txBox="1">
              <a:spLocks noChangeArrowheads="1"/>
            </p:cNvSpPr>
            <p:nvPr/>
          </p:nvSpPr>
          <p:spPr bwMode="auto">
            <a:xfrm>
              <a:off x="327" y="222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4263" name="Text Box 35"/>
            <p:cNvSpPr txBox="1">
              <a:spLocks noChangeArrowheads="1"/>
            </p:cNvSpPr>
            <p:nvPr/>
          </p:nvSpPr>
          <p:spPr bwMode="auto">
            <a:xfrm>
              <a:off x="748" y="224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4264" name="Text Box 38"/>
            <p:cNvSpPr txBox="1">
              <a:spLocks noChangeArrowheads="1"/>
            </p:cNvSpPr>
            <p:nvPr/>
          </p:nvSpPr>
          <p:spPr bwMode="auto">
            <a:xfrm>
              <a:off x="249" y="2550"/>
              <a:ext cx="1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’&gt;</a:t>
              </a:r>
              <a:r>
                <a:rPr lang="es-ES_tradnl" i="1">
                  <a:latin typeface="Times New Roman" pitchFamily="18" charset="0"/>
                </a:rPr>
                <a:t>n; R</a:t>
              </a:r>
              <a:r>
                <a:rPr lang="es-ES_tradnl">
                  <a:latin typeface="Times New Roman" pitchFamily="18" charset="0"/>
                </a:rPr>
                <a:t>&gt;0  </a:t>
              </a:r>
              <a:r>
                <a:rPr lang="es-ES_tradnl">
                  <a:latin typeface="Times New Roman" pitchFamily="18" charset="0"/>
                  <a:sym typeface="Symbol" pitchFamily="18" charset="2"/>
                </a:rPr>
                <a:t>  </a:t>
              </a:r>
              <a:r>
                <a:rPr lang="es-ES_tradnl" i="1">
                  <a:latin typeface="Times New Roman" pitchFamily="18" charset="0"/>
                  <a:sym typeface="Symbol" pitchFamily="18" charset="2"/>
                </a:rPr>
                <a:t>f</a:t>
              </a:r>
              <a:r>
                <a:rPr lang="es-ES_tradnl">
                  <a:latin typeface="Times New Roman" pitchFamily="18" charset="0"/>
                  <a:sym typeface="Symbol" pitchFamily="18" charset="2"/>
                </a:rPr>
                <a:t>’&gt;0</a:t>
              </a:r>
              <a:endParaRPr lang="es-ES_tradnl" i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265" name="Oval 44"/>
            <p:cNvSpPr>
              <a:spLocks noChangeArrowheads="1"/>
            </p:cNvSpPr>
            <p:nvPr/>
          </p:nvSpPr>
          <p:spPr bwMode="auto">
            <a:xfrm>
              <a:off x="1338" y="2030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66" name="Text Box 45"/>
            <p:cNvSpPr txBox="1">
              <a:spLocks noChangeArrowheads="1"/>
            </p:cNvSpPr>
            <p:nvPr/>
          </p:nvSpPr>
          <p:spPr bwMode="auto">
            <a:xfrm>
              <a:off x="1292" y="2160"/>
              <a:ext cx="1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200" i="1">
                  <a:latin typeface="Times New Roman" pitchFamily="18" charset="0"/>
                </a:rPr>
                <a:t>C</a:t>
              </a:r>
            </a:p>
          </p:txBody>
        </p:sp>
      </p:grpSp>
      <p:sp>
        <p:nvSpPr>
          <p:cNvPr id="4110" name="Text Box 4"/>
          <p:cNvSpPr txBox="1">
            <a:spLocks noChangeArrowheads="1"/>
          </p:cNvSpPr>
          <p:nvPr/>
        </p:nvSpPr>
        <p:spPr bwMode="auto">
          <a:xfrm>
            <a:off x="447675" y="136525"/>
            <a:ext cx="37115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Fórmula de las dioptras esféricas </a:t>
            </a:r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4211638" y="44450"/>
          <a:ext cx="1382712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cuación" r:id="rId3" imgW="863280" imgH="393480" progId="Equation.3">
                  <p:embed/>
                </p:oleObj>
              </mc:Choice>
              <mc:Fallback>
                <p:oleObj name="Ecuación" r:id="rId3" imgW="86328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4450"/>
                        <a:ext cx="1382712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81"/>
          <p:cNvGrpSpPr>
            <a:grpSpLocks/>
          </p:cNvGrpSpPr>
          <p:nvPr/>
        </p:nvGrpSpPr>
        <p:grpSpPr bwMode="auto">
          <a:xfrm>
            <a:off x="323850" y="693738"/>
            <a:ext cx="4176713" cy="574675"/>
            <a:chOff x="204" y="437"/>
            <a:chExt cx="2631" cy="362"/>
          </a:xfrm>
        </p:grpSpPr>
        <p:sp>
          <p:nvSpPr>
            <p:cNvPr id="4256" name="Line 8"/>
            <p:cNvSpPr>
              <a:spLocks noChangeShapeType="1"/>
            </p:cNvSpPr>
            <p:nvPr/>
          </p:nvSpPr>
          <p:spPr bwMode="auto">
            <a:xfrm>
              <a:off x="2835" y="437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57" name="Line 9"/>
            <p:cNvSpPr>
              <a:spLocks noChangeShapeType="1"/>
            </p:cNvSpPr>
            <p:nvPr/>
          </p:nvSpPr>
          <p:spPr bwMode="auto">
            <a:xfrm flipH="1">
              <a:off x="341" y="663"/>
              <a:ext cx="24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graphicFrame>
          <p:nvGraphicFramePr>
            <p:cNvPr id="4104" name="Object 10"/>
            <p:cNvGraphicFramePr>
              <a:graphicFrameLocks noChangeAspect="1"/>
            </p:cNvGraphicFramePr>
            <p:nvPr/>
          </p:nvGraphicFramePr>
          <p:xfrm>
            <a:off x="1066" y="437"/>
            <a:ext cx="976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name="Ecuación" r:id="rId5" imgW="1091880" imgH="203040" progId="Equation.3">
                    <p:embed/>
                  </p:oleObj>
                </mc:Choice>
                <mc:Fallback>
                  <p:oleObj name="Ecuación" r:id="rId5" imgW="1091880" imgH="2030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437"/>
                          <a:ext cx="976" cy="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58" name="Text Box 11"/>
            <p:cNvSpPr txBox="1">
              <a:spLocks noChangeArrowheads="1"/>
            </p:cNvSpPr>
            <p:nvPr/>
          </p:nvSpPr>
          <p:spPr bwMode="auto">
            <a:xfrm>
              <a:off x="204" y="626"/>
              <a:ext cx="258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200"/>
                <a:t>Objeto en el infinito, imagen en el foco principal imagen </a:t>
              </a:r>
              <a:r>
                <a:rPr lang="es-ES_tradnl" sz="1200" i="1">
                  <a:latin typeface="Times New Roman" pitchFamily="18" charset="0"/>
                </a:rPr>
                <a:t>F</a:t>
              </a:r>
              <a:r>
                <a:rPr lang="es-ES_tradnl" sz="1200">
                  <a:latin typeface="Times New Roman" pitchFamily="18" charset="0"/>
                </a:rPr>
                <a:t>’</a:t>
              </a:r>
              <a:endParaRPr lang="es-ES_tradnl" sz="1200"/>
            </a:p>
          </p:txBody>
        </p:sp>
      </p:grpSp>
      <p:grpSp>
        <p:nvGrpSpPr>
          <p:cNvPr id="11" name="Group 201"/>
          <p:cNvGrpSpPr>
            <a:grpSpLocks/>
          </p:cNvGrpSpPr>
          <p:nvPr/>
        </p:nvGrpSpPr>
        <p:grpSpPr bwMode="auto">
          <a:xfrm>
            <a:off x="4859338" y="693738"/>
            <a:ext cx="3965575" cy="633412"/>
            <a:chOff x="3061" y="437"/>
            <a:chExt cx="2498" cy="399"/>
          </a:xfrm>
        </p:grpSpPr>
        <p:graphicFrame>
          <p:nvGraphicFramePr>
            <p:cNvPr id="4103" name="Object 13"/>
            <p:cNvGraphicFramePr>
              <a:graphicFrameLocks noChangeAspect="1"/>
            </p:cNvGraphicFramePr>
            <p:nvPr/>
          </p:nvGraphicFramePr>
          <p:xfrm>
            <a:off x="3832" y="482"/>
            <a:ext cx="886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" name="Ecuación" r:id="rId7" imgW="990360" imgH="203040" progId="Equation.3">
                    <p:embed/>
                  </p:oleObj>
                </mc:Choice>
                <mc:Fallback>
                  <p:oleObj name="Ecuación" r:id="rId7" imgW="990360" imgH="20304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2" y="482"/>
                          <a:ext cx="886" cy="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53" name="Text Box 14"/>
            <p:cNvSpPr txBox="1">
              <a:spLocks noChangeArrowheads="1"/>
            </p:cNvSpPr>
            <p:nvPr/>
          </p:nvSpPr>
          <p:spPr bwMode="auto">
            <a:xfrm>
              <a:off x="3073" y="663"/>
              <a:ext cx="248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200"/>
                <a:t>Imagen en el infinito, objeto en el foco principal objeto </a:t>
              </a:r>
              <a:r>
                <a:rPr lang="es-ES_tradnl" sz="1200" i="1">
                  <a:latin typeface="Times New Roman" pitchFamily="18" charset="0"/>
                </a:rPr>
                <a:t>F</a:t>
              </a:r>
              <a:endParaRPr lang="es-ES_tradnl" sz="1200"/>
            </a:p>
          </p:txBody>
        </p:sp>
        <p:sp>
          <p:nvSpPr>
            <p:cNvPr id="4254" name="Line 15"/>
            <p:cNvSpPr>
              <a:spLocks noChangeShapeType="1"/>
            </p:cNvSpPr>
            <p:nvPr/>
          </p:nvSpPr>
          <p:spPr bwMode="auto">
            <a:xfrm>
              <a:off x="3061" y="437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55" name="Line 16"/>
            <p:cNvSpPr>
              <a:spLocks noChangeShapeType="1"/>
            </p:cNvSpPr>
            <p:nvPr/>
          </p:nvSpPr>
          <p:spPr bwMode="auto">
            <a:xfrm flipH="1">
              <a:off x="3065" y="663"/>
              <a:ext cx="24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</p:grpSp>
      <p:graphicFrame>
        <p:nvGraphicFramePr>
          <p:cNvPr id="13329" name="Object 17"/>
          <p:cNvGraphicFramePr>
            <a:graphicFrameLocks noChangeAspect="1"/>
          </p:cNvGraphicFramePr>
          <p:nvPr/>
        </p:nvGraphicFramePr>
        <p:xfrm>
          <a:off x="179388" y="1341438"/>
          <a:ext cx="138271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cuación" r:id="rId9" imgW="863280" imgH="393480" progId="Equation.3">
                  <p:embed/>
                </p:oleObj>
              </mc:Choice>
              <mc:Fallback>
                <p:oleObj name="Ecuación" r:id="rId9" imgW="863280" imgH="393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341438"/>
                        <a:ext cx="1382712" cy="63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1" name="Object 19"/>
          <p:cNvGraphicFramePr>
            <a:graphicFrameLocks noChangeAspect="1"/>
          </p:cNvGraphicFramePr>
          <p:nvPr/>
        </p:nvGraphicFramePr>
        <p:xfrm>
          <a:off x="2124075" y="1341438"/>
          <a:ext cx="1036638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cuación" r:id="rId11" imgW="647640" imgH="419040" progId="Equation.3">
                  <p:embed/>
                </p:oleObj>
              </mc:Choice>
              <mc:Fallback>
                <p:oleObj name="Ecuación" r:id="rId11" imgW="647640" imgH="419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341438"/>
                        <a:ext cx="1036638" cy="671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5" name="Text Box 23"/>
          <p:cNvSpPr txBox="1">
            <a:spLocks noChangeArrowheads="1"/>
          </p:cNvSpPr>
          <p:nvPr/>
        </p:nvSpPr>
        <p:spPr bwMode="auto">
          <a:xfrm>
            <a:off x="1641475" y="1430338"/>
            <a:ext cx="409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sym typeface="Symbol" pitchFamily="18" charset="2"/>
              </a:rPr>
              <a:t></a:t>
            </a:r>
          </a:p>
        </p:txBody>
      </p:sp>
      <p:graphicFrame>
        <p:nvGraphicFramePr>
          <p:cNvPr id="13336" name="Object 24"/>
          <p:cNvGraphicFramePr>
            <a:graphicFrameLocks noChangeAspect="1"/>
          </p:cNvGraphicFramePr>
          <p:nvPr/>
        </p:nvGraphicFramePr>
        <p:xfrm>
          <a:off x="5478463" y="1341438"/>
          <a:ext cx="138271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cuación" r:id="rId13" imgW="863280" imgH="393480" progId="Equation.3">
                  <p:embed/>
                </p:oleObj>
              </mc:Choice>
              <mc:Fallback>
                <p:oleObj name="Ecuación" r:id="rId13" imgW="863280" imgH="393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8463" y="1341438"/>
                        <a:ext cx="1382712" cy="63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7" name="Object 25"/>
          <p:cNvGraphicFramePr>
            <a:graphicFrameLocks noChangeAspect="1"/>
          </p:cNvGraphicFramePr>
          <p:nvPr/>
        </p:nvGraphicFramePr>
        <p:xfrm>
          <a:off x="7353300" y="1341438"/>
          <a:ext cx="117792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cuación" r:id="rId15" imgW="736560" imgH="419040" progId="Equation.3">
                  <p:embed/>
                </p:oleObj>
              </mc:Choice>
              <mc:Fallback>
                <p:oleObj name="Ecuación" r:id="rId15" imgW="736560" imgH="4190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1341438"/>
                        <a:ext cx="1177925" cy="671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8" name="Oval 26"/>
          <p:cNvSpPr>
            <a:spLocks noChangeArrowheads="1"/>
          </p:cNvSpPr>
          <p:nvPr/>
        </p:nvSpPr>
        <p:spPr bwMode="auto">
          <a:xfrm>
            <a:off x="5508625" y="1270000"/>
            <a:ext cx="215900" cy="790575"/>
          </a:xfrm>
          <a:prstGeom prst="ellipse">
            <a:avLst/>
          </a:prstGeom>
          <a:noFill/>
          <a:ln w="1587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339" name="Line 27"/>
          <p:cNvSpPr>
            <a:spLocks noChangeShapeType="1"/>
          </p:cNvSpPr>
          <p:nvPr/>
        </p:nvSpPr>
        <p:spPr bwMode="auto">
          <a:xfrm>
            <a:off x="5619750" y="2055813"/>
            <a:ext cx="144463" cy="144462"/>
          </a:xfrm>
          <a:prstGeom prst="line">
            <a:avLst/>
          </a:prstGeom>
          <a:noFill/>
          <a:ln w="127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3340" name="Oval 28"/>
          <p:cNvSpPr>
            <a:spLocks noChangeArrowheads="1"/>
          </p:cNvSpPr>
          <p:nvPr/>
        </p:nvSpPr>
        <p:spPr bwMode="auto">
          <a:xfrm>
            <a:off x="5867400" y="1701800"/>
            <a:ext cx="360363" cy="287338"/>
          </a:xfrm>
          <a:prstGeom prst="ellipse">
            <a:avLst/>
          </a:prstGeom>
          <a:noFill/>
          <a:ln w="1270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341" name="Text Box 29"/>
          <p:cNvSpPr txBox="1">
            <a:spLocks noChangeArrowheads="1"/>
          </p:cNvSpPr>
          <p:nvPr/>
        </p:nvSpPr>
        <p:spPr bwMode="auto">
          <a:xfrm>
            <a:off x="6940550" y="1430338"/>
            <a:ext cx="409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sym typeface="Symbol" pitchFamily="18" charset="2"/>
              </a:rPr>
              <a:t></a:t>
            </a:r>
          </a:p>
        </p:txBody>
      </p:sp>
      <p:grpSp>
        <p:nvGrpSpPr>
          <p:cNvPr id="12" name="Group 182"/>
          <p:cNvGrpSpPr>
            <a:grpSpLocks/>
          </p:cNvGrpSpPr>
          <p:nvPr/>
        </p:nvGrpSpPr>
        <p:grpSpPr bwMode="auto">
          <a:xfrm>
            <a:off x="107950" y="1270000"/>
            <a:ext cx="998538" cy="1108075"/>
            <a:chOff x="68" y="800"/>
            <a:chExt cx="629" cy="698"/>
          </a:xfrm>
        </p:grpSpPr>
        <p:sp>
          <p:nvSpPr>
            <p:cNvPr id="4249" name="Oval 20"/>
            <p:cNvSpPr>
              <a:spLocks noChangeArrowheads="1"/>
            </p:cNvSpPr>
            <p:nvPr/>
          </p:nvSpPr>
          <p:spPr bwMode="auto">
            <a:xfrm>
              <a:off x="385" y="800"/>
              <a:ext cx="136" cy="498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50" name="Line 21"/>
            <p:cNvSpPr>
              <a:spLocks noChangeShapeType="1"/>
            </p:cNvSpPr>
            <p:nvPr/>
          </p:nvSpPr>
          <p:spPr bwMode="auto">
            <a:xfrm>
              <a:off x="455" y="1295"/>
              <a:ext cx="91" cy="91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51" name="Oval 22"/>
            <p:cNvSpPr>
              <a:spLocks noChangeArrowheads="1"/>
            </p:cNvSpPr>
            <p:nvPr/>
          </p:nvSpPr>
          <p:spPr bwMode="auto">
            <a:xfrm>
              <a:off x="68" y="1071"/>
              <a:ext cx="227" cy="181"/>
            </a:xfrm>
            <a:prstGeom prst="ellips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52" name="Text Box 30"/>
            <p:cNvSpPr txBox="1">
              <a:spLocks noChangeArrowheads="1"/>
            </p:cNvSpPr>
            <p:nvPr/>
          </p:nvSpPr>
          <p:spPr bwMode="auto">
            <a:xfrm>
              <a:off x="509" y="1267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>
                  <a:solidFill>
                    <a:srgbClr val="FF9900"/>
                  </a:solidFill>
                  <a:latin typeface="Times New Roman" pitchFamily="18" charset="0"/>
                </a:rPr>
                <a:t>0</a:t>
              </a:r>
            </a:p>
          </p:txBody>
        </p:sp>
      </p:grpSp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5713413" y="19827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solidFill>
                  <a:srgbClr val="FF9900"/>
                </a:solidFill>
                <a:latin typeface="Times New Roman" pitchFamily="18" charset="0"/>
              </a:rPr>
              <a:t>0</a:t>
            </a:r>
          </a:p>
        </p:txBody>
      </p:sp>
      <p:grpSp>
        <p:nvGrpSpPr>
          <p:cNvPr id="13" name="Group 184"/>
          <p:cNvGrpSpPr>
            <a:grpSpLocks/>
          </p:cNvGrpSpPr>
          <p:nvPr/>
        </p:nvGrpSpPr>
        <p:grpSpPr bwMode="auto">
          <a:xfrm>
            <a:off x="7938" y="3040063"/>
            <a:ext cx="2260600" cy="431800"/>
            <a:chOff x="5" y="1915"/>
            <a:chExt cx="1424" cy="272"/>
          </a:xfrm>
        </p:grpSpPr>
        <p:sp>
          <p:nvSpPr>
            <p:cNvPr id="4244" name="Line 39"/>
            <p:cNvSpPr>
              <a:spLocks noChangeShapeType="1"/>
            </p:cNvSpPr>
            <p:nvPr/>
          </p:nvSpPr>
          <p:spPr bwMode="auto">
            <a:xfrm>
              <a:off x="22" y="1915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45" name="Line 40"/>
            <p:cNvSpPr>
              <a:spLocks noChangeShapeType="1"/>
            </p:cNvSpPr>
            <p:nvPr/>
          </p:nvSpPr>
          <p:spPr bwMode="auto">
            <a:xfrm>
              <a:off x="12" y="2187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46" name="Line 41"/>
            <p:cNvSpPr>
              <a:spLocks noChangeShapeType="1"/>
            </p:cNvSpPr>
            <p:nvPr/>
          </p:nvSpPr>
          <p:spPr bwMode="auto">
            <a:xfrm>
              <a:off x="5" y="2051"/>
              <a:ext cx="142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47" name="Line 42"/>
            <p:cNvSpPr>
              <a:spLocks noChangeShapeType="1"/>
            </p:cNvSpPr>
            <p:nvPr/>
          </p:nvSpPr>
          <p:spPr bwMode="auto">
            <a:xfrm flipV="1">
              <a:off x="612" y="1960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48" name="Line 43"/>
            <p:cNvSpPr>
              <a:spLocks noChangeShapeType="1"/>
            </p:cNvSpPr>
            <p:nvPr/>
          </p:nvSpPr>
          <p:spPr bwMode="auto">
            <a:xfrm flipH="1" flipV="1">
              <a:off x="612" y="1915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3358" name="Oval 46"/>
          <p:cNvSpPr>
            <a:spLocks noChangeArrowheads="1"/>
          </p:cNvSpPr>
          <p:nvPr/>
        </p:nvSpPr>
        <p:spPr bwMode="auto">
          <a:xfrm>
            <a:off x="1536700" y="3222625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359" name="Text Box 47"/>
          <p:cNvSpPr txBox="1">
            <a:spLocks noChangeArrowheads="1"/>
          </p:cNvSpPr>
          <p:nvPr/>
        </p:nvSpPr>
        <p:spPr bwMode="auto">
          <a:xfrm>
            <a:off x="1476375" y="2897188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grpSp>
        <p:nvGrpSpPr>
          <p:cNvPr id="14" name="Group 187"/>
          <p:cNvGrpSpPr>
            <a:grpSpLocks/>
          </p:cNvGrpSpPr>
          <p:nvPr/>
        </p:nvGrpSpPr>
        <p:grpSpPr bwMode="auto">
          <a:xfrm>
            <a:off x="5197475" y="3073400"/>
            <a:ext cx="1433513" cy="409575"/>
            <a:chOff x="3274" y="1936"/>
            <a:chExt cx="903" cy="258"/>
          </a:xfrm>
        </p:grpSpPr>
        <p:sp>
          <p:nvSpPr>
            <p:cNvPr id="4239" name="Line 54"/>
            <p:cNvSpPr>
              <a:spLocks noChangeShapeType="1"/>
            </p:cNvSpPr>
            <p:nvPr/>
          </p:nvSpPr>
          <p:spPr bwMode="auto">
            <a:xfrm>
              <a:off x="3450" y="1936"/>
              <a:ext cx="72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40" name="Line 55"/>
            <p:cNvSpPr>
              <a:spLocks noChangeShapeType="1"/>
            </p:cNvSpPr>
            <p:nvPr/>
          </p:nvSpPr>
          <p:spPr bwMode="auto">
            <a:xfrm>
              <a:off x="3450" y="2194"/>
              <a:ext cx="72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41" name="Freeform 56"/>
            <p:cNvSpPr>
              <a:spLocks/>
            </p:cNvSpPr>
            <p:nvPr/>
          </p:nvSpPr>
          <p:spPr bwMode="auto">
            <a:xfrm>
              <a:off x="3287" y="2062"/>
              <a:ext cx="890" cy="4"/>
            </a:xfrm>
            <a:custGeom>
              <a:avLst/>
              <a:gdLst>
                <a:gd name="T0" fmla="*/ 0 w 890"/>
                <a:gd name="T1" fmla="*/ 0 h 4"/>
                <a:gd name="T2" fmla="*/ 890 w 890"/>
                <a:gd name="T3" fmla="*/ 4 h 4"/>
                <a:gd name="T4" fmla="*/ 0 60000 65536"/>
                <a:gd name="T5" fmla="*/ 0 60000 65536"/>
                <a:gd name="T6" fmla="*/ 0 w 890"/>
                <a:gd name="T7" fmla="*/ 0 h 4"/>
                <a:gd name="T8" fmla="*/ 890 w 890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0" h="4">
                  <a:moveTo>
                    <a:pt x="0" y="0"/>
                  </a:moveTo>
                  <a:lnTo>
                    <a:pt x="890" y="4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42" name="Freeform 57"/>
            <p:cNvSpPr>
              <a:spLocks/>
            </p:cNvSpPr>
            <p:nvPr/>
          </p:nvSpPr>
          <p:spPr bwMode="auto">
            <a:xfrm>
              <a:off x="3287" y="1940"/>
              <a:ext cx="170" cy="122"/>
            </a:xfrm>
            <a:custGeom>
              <a:avLst/>
              <a:gdLst>
                <a:gd name="T0" fmla="*/ 0 w 170"/>
                <a:gd name="T1" fmla="*/ 122 h 122"/>
                <a:gd name="T2" fmla="*/ 170 w 170"/>
                <a:gd name="T3" fmla="*/ 0 h 122"/>
                <a:gd name="T4" fmla="*/ 0 60000 65536"/>
                <a:gd name="T5" fmla="*/ 0 60000 65536"/>
                <a:gd name="T6" fmla="*/ 0 w 170"/>
                <a:gd name="T7" fmla="*/ 0 h 122"/>
                <a:gd name="T8" fmla="*/ 170 w 170"/>
                <a:gd name="T9" fmla="*/ 122 h 1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0" h="122">
                  <a:moveTo>
                    <a:pt x="0" y="122"/>
                  </a:moveTo>
                  <a:lnTo>
                    <a:pt x="170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43" name="Freeform 58"/>
            <p:cNvSpPr>
              <a:spLocks/>
            </p:cNvSpPr>
            <p:nvPr/>
          </p:nvSpPr>
          <p:spPr bwMode="auto">
            <a:xfrm>
              <a:off x="3274" y="2062"/>
              <a:ext cx="183" cy="128"/>
            </a:xfrm>
            <a:custGeom>
              <a:avLst/>
              <a:gdLst>
                <a:gd name="T0" fmla="*/ 183 w 183"/>
                <a:gd name="T1" fmla="*/ 128 h 128"/>
                <a:gd name="T2" fmla="*/ 0 w 183"/>
                <a:gd name="T3" fmla="*/ 0 h 128"/>
                <a:gd name="T4" fmla="*/ 0 60000 65536"/>
                <a:gd name="T5" fmla="*/ 0 60000 65536"/>
                <a:gd name="T6" fmla="*/ 0 w 183"/>
                <a:gd name="T7" fmla="*/ 0 h 128"/>
                <a:gd name="T8" fmla="*/ 183 w 183"/>
                <a:gd name="T9" fmla="*/ 128 h 12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3" h="128">
                  <a:moveTo>
                    <a:pt x="183" y="128"/>
                  </a:move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3373" name="Oval 61"/>
          <p:cNvSpPr>
            <a:spLocks noChangeArrowheads="1"/>
          </p:cNvSpPr>
          <p:nvPr/>
        </p:nvSpPr>
        <p:spPr bwMode="auto">
          <a:xfrm>
            <a:off x="5189538" y="3244850"/>
            <a:ext cx="71437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374" name="Text Box 62"/>
          <p:cNvSpPr txBox="1">
            <a:spLocks noChangeArrowheads="1"/>
          </p:cNvSpPr>
          <p:nvPr/>
        </p:nvSpPr>
        <p:spPr bwMode="auto">
          <a:xfrm>
            <a:off x="5045075" y="288607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  <a:endParaRPr lang="es-ES_tradnl">
              <a:latin typeface="Times New Roman" pitchFamily="18" charset="0"/>
            </a:endParaRPr>
          </a:p>
        </p:txBody>
      </p:sp>
      <p:grpSp>
        <p:nvGrpSpPr>
          <p:cNvPr id="15" name="Group 189"/>
          <p:cNvGrpSpPr>
            <a:grpSpLocks/>
          </p:cNvGrpSpPr>
          <p:nvPr/>
        </p:nvGrpSpPr>
        <p:grpSpPr bwMode="auto">
          <a:xfrm>
            <a:off x="7938" y="4624388"/>
            <a:ext cx="2116137" cy="1150937"/>
            <a:chOff x="5" y="2913"/>
            <a:chExt cx="1333" cy="725"/>
          </a:xfrm>
        </p:grpSpPr>
        <p:sp>
          <p:nvSpPr>
            <p:cNvPr id="4234" name="Line 69"/>
            <p:cNvSpPr>
              <a:spLocks noChangeShapeType="1"/>
            </p:cNvSpPr>
            <p:nvPr/>
          </p:nvSpPr>
          <p:spPr bwMode="auto">
            <a:xfrm>
              <a:off x="22" y="3135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35" name="Line 70"/>
            <p:cNvSpPr>
              <a:spLocks noChangeShapeType="1"/>
            </p:cNvSpPr>
            <p:nvPr/>
          </p:nvSpPr>
          <p:spPr bwMode="auto">
            <a:xfrm>
              <a:off x="12" y="3407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36" name="Line 71"/>
            <p:cNvSpPr>
              <a:spLocks noChangeShapeType="1"/>
            </p:cNvSpPr>
            <p:nvPr/>
          </p:nvSpPr>
          <p:spPr bwMode="auto">
            <a:xfrm>
              <a:off x="5" y="3271"/>
              <a:ext cx="133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37" name="Line 72"/>
            <p:cNvSpPr>
              <a:spLocks noChangeShapeType="1"/>
            </p:cNvSpPr>
            <p:nvPr/>
          </p:nvSpPr>
          <p:spPr bwMode="auto">
            <a:xfrm flipV="1">
              <a:off x="612" y="2913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38" name="Line 73"/>
            <p:cNvSpPr>
              <a:spLocks noChangeShapeType="1"/>
            </p:cNvSpPr>
            <p:nvPr/>
          </p:nvSpPr>
          <p:spPr bwMode="auto">
            <a:xfrm flipH="1" flipV="1">
              <a:off x="612" y="3411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3387" name="Text Box 75"/>
          <p:cNvSpPr txBox="1">
            <a:spLocks noChangeArrowheads="1"/>
          </p:cNvSpPr>
          <p:nvPr/>
        </p:nvSpPr>
        <p:spPr bwMode="auto">
          <a:xfrm>
            <a:off x="2028825" y="5229225"/>
            <a:ext cx="2857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 i="1">
                <a:latin typeface="Times New Roman" pitchFamily="18" charset="0"/>
              </a:rPr>
              <a:t>C</a:t>
            </a:r>
          </a:p>
        </p:txBody>
      </p:sp>
      <p:sp>
        <p:nvSpPr>
          <p:cNvPr id="13388" name="Oval 76"/>
          <p:cNvSpPr>
            <a:spLocks noChangeArrowheads="1"/>
          </p:cNvSpPr>
          <p:nvPr/>
        </p:nvSpPr>
        <p:spPr bwMode="auto">
          <a:xfrm>
            <a:off x="385763" y="5159375"/>
            <a:ext cx="71437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389" name="Text Box 77"/>
          <p:cNvSpPr txBox="1">
            <a:spLocks noChangeArrowheads="1"/>
          </p:cNvSpPr>
          <p:nvPr/>
        </p:nvSpPr>
        <p:spPr bwMode="auto">
          <a:xfrm>
            <a:off x="250825" y="4905375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3390" name="Line 78"/>
          <p:cNvSpPr>
            <a:spLocks noChangeShapeType="1"/>
          </p:cNvSpPr>
          <p:nvPr/>
        </p:nvSpPr>
        <p:spPr bwMode="auto">
          <a:xfrm flipH="1" flipV="1">
            <a:off x="34925" y="5067300"/>
            <a:ext cx="1008063" cy="360363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3391" name="Line 79"/>
          <p:cNvSpPr>
            <a:spLocks noChangeShapeType="1"/>
          </p:cNvSpPr>
          <p:nvPr/>
        </p:nvSpPr>
        <p:spPr bwMode="auto">
          <a:xfrm flipV="1">
            <a:off x="-36513" y="4983163"/>
            <a:ext cx="1008063" cy="360362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3392" name="Line 80"/>
          <p:cNvSpPr>
            <a:spLocks noChangeShapeType="1"/>
          </p:cNvSpPr>
          <p:nvPr/>
        </p:nvSpPr>
        <p:spPr bwMode="auto">
          <a:xfrm>
            <a:off x="4699000" y="1119188"/>
            <a:ext cx="0" cy="5661025"/>
          </a:xfrm>
          <a:prstGeom prst="line">
            <a:avLst/>
          </a:prstGeom>
          <a:noFill/>
          <a:ln w="9525">
            <a:solidFill>
              <a:srgbClr val="969696"/>
            </a:solidFill>
            <a:prstDash val="lgDashDot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grpSp>
        <p:nvGrpSpPr>
          <p:cNvPr id="16" name="Group 192"/>
          <p:cNvGrpSpPr>
            <a:grpSpLocks/>
          </p:cNvGrpSpPr>
          <p:nvPr/>
        </p:nvGrpSpPr>
        <p:grpSpPr bwMode="auto">
          <a:xfrm>
            <a:off x="5165725" y="4891088"/>
            <a:ext cx="1433513" cy="792162"/>
            <a:chOff x="3254" y="3081"/>
            <a:chExt cx="903" cy="499"/>
          </a:xfrm>
        </p:grpSpPr>
        <p:sp>
          <p:nvSpPr>
            <p:cNvPr id="4229" name="Line 87"/>
            <p:cNvSpPr>
              <a:spLocks noChangeShapeType="1"/>
            </p:cNvSpPr>
            <p:nvPr/>
          </p:nvSpPr>
          <p:spPr bwMode="auto">
            <a:xfrm>
              <a:off x="3430" y="3206"/>
              <a:ext cx="72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30" name="Line 88"/>
            <p:cNvSpPr>
              <a:spLocks noChangeShapeType="1"/>
            </p:cNvSpPr>
            <p:nvPr/>
          </p:nvSpPr>
          <p:spPr bwMode="auto">
            <a:xfrm>
              <a:off x="3430" y="3464"/>
              <a:ext cx="72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31" name="Freeform 89"/>
            <p:cNvSpPr>
              <a:spLocks/>
            </p:cNvSpPr>
            <p:nvPr/>
          </p:nvSpPr>
          <p:spPr bwMode="auto">
            <a:xfrm>
              <a:off x="3267" y="3332"/>
              <a:ext cx="890" cy="4"/>
            </a:xfrm>
            <a:custGeom>
              <a:avLst/>
              <a:gdLst>
                <a:gd name="T0" fmla="*/ 0 w 890"/>
                <a:gd name="T1" fmla="*/ 0 h 4"/>
                <a:gd name="T2" fmla="*/ 890 w 890"/>
                <a:gd name="T3" fmla="*/ 4 h 4"/>
                <a:gd name="T4" fmla="*/ 0 60000 65536"/>
                <a:gd name="T5" fmla="*/ 0 60000 65536"/>
                <a:gd name="T6" fmla="*/ 0 w 890"/>
                <a:gd name="T7" fmla="*/ 0 h 4"/>
                <a:gd name="T8" fmla="*/ 890 w 890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0" h="4">
                  <a:moveTo>
                    <a:pt x="0" y="0"/>
                  </a:moveTo>
                  <a:lnTo>
                    <a:pt x="890" y="4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32" name="Freeform 90"/>
            <p:cNvSpPr>
              <a:spLocks/>
            </p:cNvSpPr>
            <p:nvPr/>
          </p:nvSpPr>
          <p:spPr bwMode="auto">
            <a:xfrm>
              <a:off x="3254" y="3458"/>
              <a:ext cx="170" cy="122"/>
            </a:xfrm>
            <a:custGeom>
              <a:avLst/>
              <a:gdLst>
                <a:gd name="T0" fmla="*/ 0 w 170"/>
                <a:gd name="T1" fmla="*/ 122 h 122"/>
                <a:gd name="T2" fmla="*/ 170 w 170"/>
                <a:gd name="T3" fmla="*/ 0 h 122"/>
                <a:gd name="T4" fmla="*/ 0 60000 65536"/>
                <a:gd name="T5" fmla="*/ 0 60000 65536"/>
                <a:gd name="T6" fmla="*/ 0 w 170"/>
                <a:gd name="T7" fmla="*/ 0 h 122"/>
                <a:gd name="T8" fmla="*/ 170 w 170"/>
                <a:gd name="T9" fmla="*/ 122 h 1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0" h="122">
                  <a:moveTo>
                    <a:pt x="0" y="122"/>
                  </a:moveTo>
                  <a:lnTo>
                    <a:pt x="170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33" name="Freeform 91"/>
            <p:cNvSpPr>
              <a:spLocks/>
            </p:cNvSpPr>
            <p:nvPr/>
          </p:nvSpPr>
          <p:spPr bwMode="auto">
            <a:xfrm>
              <a:off x="3254" y="3081"/>
              <a:ext cx="183" cy="128"/>
            </a:xfrm>
            <a:custGeom>
              <a:avLst/>
              <a:gdLst>
                <a:gd name="T0" fmla="*/ 183 w 183"/>
                <a:gd name="T1" fmla="*/ 128 h 128"/>
                <a:gd name="T2" fmla="*/ 0 w 183"/>
                <a:gd name="T3" fmla="*/ 0 h 128"/>
                <a:gd name="T4" fmla="*/ 0 60000 65536"/>
                <a:gd name="T5" fmla="*/ 0 60000 65536"/>
                <a:gd name="T6" fmla="*/ 0 w 183"/>
                <a:gd name="T7" fmla="*/ 0 h 128"/>
                <a:gd name="T8" fmla="*/ 183 w 183"/>
                <a:gd name="T9" fmla="*/ 128 h 12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3" h="128">
                  <a:moveTo>
                    <a:pt x="183" y="128"/>
                  </a:move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3406" name="Oval 94"/>
          <p:cNvSpPr>
            <a:spLocks noChangeArrowheads="1"/>
          </p:cNvSpPr>
          <p:nvPr/>
        </p:nvSpPr>
        <p:spPr bwMode="auto">
          <a:xfrm>
            <a:off x="5675313" y="5249863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407" name="Text Box 95"/>
          <p:cNvSpPr txBox="1">
            <a:spLocks noChangeArrowheads="1"/>
          </p:cNvSpPr>
          <p:nvPr/>
        </p:nvSpPr>
        <p:spPr bwMode="auto">
          <a:xfrm>
            <a:off x="5651500" y="496728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  <a:endParaRPr lang="es-ES_tradnl">
              <a:latin typeface="Times New Roman" pitchFamily="18" charset="0"/>
            </a:endParaRPr>
          </a:p>
        </p:txBody>
      </p:sp>
      <p:grpSp>
        <p:nvGrpSpPr>
          <p:cNvPr id="17" name="Group 193"/>
          <p:cNvGrpSpPr>
            <a:grpSpLocks/>
          </p:cNvGrpSpPr>
          <p:nvPr/>
        </p:nvGrpSpPr>
        <p:grpSpPr bwMode="auto">
          <a:xfrm>
            <a:off x="5411788" y="5062538"/>
            <a:ext cx="312737" cy="420687"/>
            <a:chOff x="3409" y="3189"/>
            <a:chExt cx="197" cy="265"/>
          </a:xfrm>
        </p:grpSpPr>
        <p:sp>
          <p:nvSpPr>
            <p:cNvPr id="4227" name="Freeform 96"/>
            <p:cNvSpPr>
              <a:spLocks/>
            </p:cNvSpPr>
            <p:nvPr/>
          </p:nvSpPr>
          <p:spPr bwMode="auto">
            <a:xfrm>
              <a:off x="3436" y="3332"/>
              <a:ext cx="170" cy="122"/>
            </a:xfrm>
            <a:custGeom>
              <a:avLst/>
              <a:gdLst>
                <a:gd name="T0" fmla="*/ 0 w 170"/>
                <a:gd name="T1" fmla="*/ 122 h 122"/>
                <a:gd name="T2" fmla="*/ 170 w 170"/>
                <a:gd name="T3" fmla="*/ 0 h 122"/>
                <a:gd name="T4" fmla="*/ 0 60000 65536"/>
                <a:gd name="T5" fmla="*/ 0 60000 65536"/>
                <a:gd name="T6" fmla="*/ 0 w 170"/>
                <a:gd name="T7" fmla="*/ 0 h 122"/>
                <a:gd name="T8" fmla="*/ 170 w 170"/>
                <a:gd name="T9" fmla="*/ 122 h 1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0" h="122">
                  <a:moveTo>
                    <a:pt x="0" y="122"/>
                  </a:moveTo>
                  <a:lnTo>
                    <a:pt x="170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28" name="Freeform 97"/>
            <p:cNvSpPr>
              <a:spLocks/>
            </p:cNvSpPr>
            <p:nvPr/>
          </p:nvSpPr>
          <p:spPr bwMode="auto">
            <a:xfrm>
              <a:off x="3409" y="3189"/>
              <a:ext cx="183" cy="128"/>
            </a:xfrm>
            <a:custGeom>
              <a:avLst/>
              <a:gdLst>
                <a:gd name="T0" fmla="*/ 183 w 183"/>
                <a:gd name="T1" fmla="*/ 128 h 128"/>
                <a:gd name="T2" fmla="*/ 0 w 183"/>
                <a:gd name="T3" fmla="*/ 0 h 128"/>
                <a:gd name="T4" fmla="*/ 0 60000 65536"/>
                <a:gd name="T5" fmla="*/ 0 60000 65536"/>
                <a:gd name="T6" fmla="*/ 0 w 183"/>
                <a:gd name="T7" fmla="*/ 0 h 128"/>
                <a:gd name="T8" fmla="*/ 183 w 183"/>
                <a:gd name="T9" fmla="*/ 128 h 12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3" h="128">
                  <a:moveTo>
                    <a:pt x="183" y="128"/>
                  </a:move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8" name="Group 196"/>
          <p:cNvGrpSpPr>
            <a:grpSpLocks/>
          </p:cNvGrpSpPr>
          <p:nvPr/>
        </p:nvGrpSpPr>
        <p:grpSpPr bwMode="auto">
          <a:xfrm>
            <a:off x="2503488" y="2686050"/>
            <a:ext cx="1982787" cy="1125538"/>
            <a:chOff x="1577" y="1692"/>
            <a:chExt cx="1249" cy="709"/>
          </a:xfrm>
        </p:grpSpPr>
        <p:sp>
          <p:nvSpPr>
            <p:cNvPr id="4222" name="Line 104"/>
            <p:cNvSpPr>
              <a:spLocks noChangeShapeType="1"/>
            </p:cNvSpPr>
            <p:nvPr/>
          </p:nvSpPr>
          <p:spPr bwMode="auto">
            <a:xfrm>
              <a:off x="1594" y="1915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23" name="Line 105"/>
            <p:cNvSpPr>
              <a:spLocks noChangeShapeType="1"/>
            </p:cNvSpPr>
            <p:nvPr/>
          </p:nvSpPr>
          <p:spPr bwMode="auto">
            <a:xfrm>
              <a:off x="1584" y="2187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24" name="Line 106"/>
            <p:cNvSpPr>
              <a:spLocks noChangeShapeType="1"/>
            </p:cNvSpPr>
            <p:nvPr/>
          </p:nvSpPr>
          <p:spPr bwMode="auto">
            <a:xfrm>
              <a:off x="1577" y="2051"/>
              <a:ext cx="12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25" name="Line 107"/>
            <p:cNvSpPr>
              <a:spLocks noChangeShapeType="1"/>
            </p:cNvSpPr>
            <p:nvPr/>
          </p:nvSpPr>
          <p:spPr bwMode="auto">
            <a:xfrm flipV="1">
              <a:off x="2191" y="1692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26" name="Line 108"/>
            <p:cNvSpPr>
              <a:spLocks noChangeShapeType="1"/>
            </p:cNvSpPr>
            <p:nvPr/>
          </p:nvSpPr>
          <p:spPr bwMode="auto">
            <a:xfrm flipH="1" flipV="1">
              <a:off x="2184" y="2174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3424" name="Text Box 112"/>
          <p:cNvSpPr txBox="1">
            <a:spLocks noChangeArrowheads="1"/>
          </p:cNvSpPr>
          <p:nvPr/>
        </p:nvSpPr>
        <p:spPr bwMode="auto">
          <a:xfrm>
            <a:off x="2767013" y="295116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3425" name="Line 113"/>
          <p:cNvSpPr>
            <a:spLocks noChangeShapeType="1"/>
          </p:cNvSpPr>
          <p:nvPr/>
        </p:nvSpPr>
        <p:spPr bwMode="auto">
          <a:xfrm flipH="1" flipV="1">
            <a:off x="2627313" y="3141663"/>
            <a:ext cx="1008062" cy="360362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3426" name="Line 114"/>
          <p:cNvSpPr>
            <a:spLocks noChangeShapeType="1"/>
          </p:cNvSpPr>
          <p:nvPr/>
        </p:nvSpPr>
        <p:spPr bwMode="auto">
          <a:xfrm flipV="1">
            <a:off x="2798763" y="2935288"/>
            <a:ext cx="1008062" cy="360362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3423" name="Oval 111"/>
          <p:cNvSpPr>
            <a:spLocks noChangeArrowheads="1"/>
          </p:cNvSpPr>
          <p:nvPr/>
        </p:nvSpPr>
        <p:spPr bwMode="auto">
          <a:xfrm>
            <a:off x="2905125" y="3211513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grpSp>
        <p:nvGrpSpPr>
          <p:cNvPr id="19" name="Group 197"/>
          <p:cNvGrpSpPr>
            <a:grpSpLocks/>
          </p:cNvGrpSpPr>
          <p:nvPr/>
        </p:nvGrpSpPr>
        <p:grpSpPr bwMode="auto">
          <a:xfrm>
            <a:off x="6877050" y="2565400"/>
            <a:ext cx="2003425" cy="1806575"/>
            <a:chOff x="4332" y="1616"/>
            <a:chExt cx="1262" cy="1138"/>
          </a:xfrm>
        </p:grpSpPr>
        <p:sp>
          <p:nvSpPr>
            <p:cNvPr id="4205" name="Freeform 115" descr="Cuadrícula grande"/>
            <p:cNvSpPr>
              <a:spLocks/>
            </p:cNvSpPr>
            <p:nvPr/>
          </p:nvSpPr>
          <p:spPr bwMode="auto">
            <a:xfrm flipH="1">
              <a:off x="4628" y="1617"/>
              <a:ext cx="962" cy="901"/>
            </a:xfrm>
            <a:custGeom>
              <a:avLst/>
              <a:gdLst>
                <a:gd name="T0" fmla="*/ 0 w 962"/>
                <a:gd name="T1" fmla="*/ 43 h 901"/>
                <a:gd name="T2" fmla="*/ 844 w 962"/>
                <a:gd name="T3" fmla="*/ 27 h 901"/>
                <a:gd name="T4" fmla="*/ 709 w 962"/>
                <a:gd name="T5" fmla="*/ 47 h 901"/>
                <a:gd name="T6" fmla="*/ 655 w 962"/>
                <a:gd name="T7" fmla="*/ 74 h 901"/>
                <a:gd name="T8" fmla="*/ 627 w 962"/>
                <a:gd name="T9" fmla="*/ 101 h 901"/>
                <a:gd name="T10" fmla="*/ 614 w 962"/>
                <a:gd name="T11" fmla="*/ 798 h 901"/>
                <a:gd name="T12" fmla="*/ 668 w 962"/>
                <a:gd name="T13" fmla="*/ 867 h 901"/>
                <a:gd name="T14" fmla="*/ 770 w 962"/>
                <a:gd name="T15" fmla="*/ 887 h 901"/>
                <a:gd name="T16" fmla="*/ 750 w 962"/>
                <a:gd name="T17" fmla="*/ 888 h 901"/>
                <a:gd name="T18" fmla="*/ 841 w 962"/>
                <a:gd name="T19" fmla="*/ 888 h 901"/>
                <a:gd name="T20" fmla="*/ 27 w 962"/>
                <a:gd name="T21" fmla="*/ 877 h 9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62"/>
                <a:gd name="T34" fmla="*/ 0 h 901"/>
                <a:gd name="T35" fmla="*/ 962 w 962"/>
                <a:gd name="T36" fmla="*/ 901 h 9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62" h="901">
                  <a:moveTo>
                    <a:pt x="0" y="43"/>
                  </a:moveTo>
                  <a:cubicBezTo>
                    <a:pt x="142" y="40"/>
                    <a:pt x="726" y="26"/>
                    <a:pt x="844" y="27"/>
                  </a:cubicBezTo>
                  <a:cubicBezTo>
                    <a:pt x="962" y="28"/>
                    <a:pt x="741" y="39"/>
                    <a:pt x="709" y="47"/>
                  </a:cubicBezTo>
                  <a:cubicBezTo>
                    <a:pt x="677" y="55"/>
                    <a:pt x="669" y="65"/>
                    <a:pt x="655" y="74"/>
                  </a:cubicBezTo>
                  <a:cubicBezTo>
                    <a:pt x="641" y="83"/>
                    <a:pt x="716" y="0"/>
                    <a:pt x="627" y="101"/>
                  </a:cubicBezTo>
                  <a:cubicBezTo>
                    <a:pt x="627" y="101"/>
                    <a:pt x="620" y="449"/>
                    <a:pt x="614" y="798"/>
                  </a:cubicBezTo>
                  <a:cubicBezTo>
                    <a:pt x="729" y="901"/>
                    <a:pt x="642" y="852"/>
                    <a:pt x="668" y="867"/>
                  </a:cubicBezTo>
                  <a:cubicBezTo>
                    <a:pt x="684" y="886"/>
                    <a:pt x="756" y="884"/>
                    <a:pt x="770" y="887"/>
                  </a:cubicBezTo>
                  <a:cubicBezTo>
                    <a:pt x="784" y="890"/>
                    <a:pt x="738" y="888"/>
                    <a:pt x="750" y="888"/>
                  </a:cubicBezTo>
                  <a:cubicBezTo>
                    <a:pt x="762" y="888"/>
                    <a:pt x="961" y="890"/>
                    <a:pt x="841" y="888"/>
                  </a:cubicBezTo>
                  <a:cubicBezTo>
                    <a:pt x="721" y="886"/>
                    <a:pt x="197" y="879"/>
                    <a:pt x="27" y="877"/>
                  </a:cubicBezTo>
                </a:path>
              </a:pathLst>
            </a:custGeom>
            <a:pattFill prst="lgGrid">
              <a:fgClr>
                <a:srgbClr val="FFCC99">
                  <a:alpha val="52940"/>
                </a:srgbClr>
              </a:fgClr>
              <a:bgClr>
                <a:schemeClr val="bg1">
                  <a:alpha val="52940"/>
                </a:schemeClr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06" name="Freeform 116" descr="Onda"/>
            <p:cNvSpPr>
              <a:spLocks/>
            </p:cNvSpPr>
            <p:nvPr/>
          </p:nvSpPr>
          <p:spPr bwMode="auto">
            <a:xfrm>
              <a:off x="4443" y="1616"/>
              <a:ext cx="512" cy="901"/>
            </a:xfrm>
            <a:custGeom>
              <a:avLst/>
              <a:gdLst>
                <a:gd name="T0" fmla="*/ 0 w 512"/>
                <a:gd name="T1" fmla="*/ 21 h 901"/>
                <a:gd name="T2" fmla="*/ 282 w 512"/>
                <a:gd name="T3" fmla="*/ 27 h 901"/>
                <a:gd name="T4" fmla="*/ 417 w 512"/>
                <a:gd name="T5" fmla="*/ 47 h 901"/>
                <a:gd name="T6" fmla="*/ 471 w 512"/>
                <a:gd name="T7" fmla="*/ 74 h 901"/>
                <a:gd name="T8" fmla="*/ 499 w 512"/>
                <a:gd name="T9" fmla="*/ 101 h 901"/>
                <a:gd name="T10" fmla="*/ 512 w 512"/>
                <a:gd name="T11" fmla="*/ 798 h 901"/>
                <a:gd name="T12" fmla="*/ 458 w 512"/>
                <a:gd name="T13" fmla="*/ 867 h 901"/>
                <a:gd name="T14" fmla="*/ 356 w 512"/>
                <a:gd name="T15" fmla="*/ 887 h 901"/>
                <a:gd name="T16" fmla="*/ 376 w 512"/>
                <a:gd name="T17" fmla="*/ 888 h 901"/>
                <a:gd name="T18" fmla="*/ 285 w 512"/>
                <a:gd name="T19" fmla="*/ 888 h 901"/>
                <a:gd name="T20" fmla="*/ 34 w 512"/>
                <a:gd name="T21" fmla="*/ 874 h 9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12"/>
                <a:gd name="T34" fmla="*/ 0 h 901"/>
                <a:gd name="T35" fmla="*/ 512 w 512"/>
                <a:gd name="T36" fmla="*/ 901 h 9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12" h="901">
                  <a:moveTo>
                    <a:pt x="0" y="21"/>
                  </a:moveTo>
                  <a:cubicBezTo>
                    <a:pt x="46" y="22"/>
                    <a:pt x="212" y="23"/>
                    <a:pt x="282" y="27"/>
                  </a:cubicBezTo>
                  <a:cubicBezTo>
                    <a:pt x="352" y="31"/>
                    <a:pt x="385" y="39"/>
                    <a:pt x="417" y="47"/>
                  </a:cubicBezTo>
                  <a:cubicBezTo>
                    <a:pt x="449" y="55"/>
                    <a:pt x="457" y="65"/>
                    <a:pt x="471" y="74"/>
                  </a:cubicBezTo>
                  <a:cubicBezTo>
                    <a:pt x="485" y="83"/>
                    <a:pt x="410" y="0"/>
                    <a:pt x="499" y="101"/>
                  </a:cubicBezTo>
                  <a:cubicBezTo>
                    <a:pt x="499" y="101"/>
                    <a:pt x="506" y="449"/>
                    <a:pt x="512" y="798"/>
                  </a:cubicBezTo>
                  <a:cubicBezTo>
                    <a:pt x="397" y="901"/>
                    <a:pt x="484" y="852"/>
                    <a:pt x="458" y="867"/>
                  </a:cubicBezTo>
                  <a:cubicBezTo>
                    <a:pt x="442" y="886"/>
                    <a:pt x="370" y="884"/>
                    <a:pt x="356" y="887"/>
                  </a:cubicBezTo>
                  <a:cubicBezTo>
                    <a:pt x="342" y="890"/>
                    <a:pt x="388" y="888"/>
                    <a:pt x="376" y="888"/>
                  </a:cubicBezTo>
                  <a:cubicBezTo>
                    <a:pt x="364" y="888"/>
                    <a:pt x="342" y="890"/>
                    <a:pt x="285" y="888"/>
                  </a:cubicBezTo>
                  <a:cubicBezTo>
                    <a:pt x="228" y="886"/>
                    <a:pt x="86" y="877"/>
                    <a:pt x="34" y="874"/>
                  </a:cubicBezTo>
                </a:path>
              </a:pathLst>
            </a:custGeom>
            <a:pattFill prst="wave">
              <a:fgClr>
                <a:schemeClr val="accent1">
                  <a:alpha val="52940"/>
                </a:schemeClr>
              </a:fgClr>
              <a:bgClr>
                <a:schemeClr val="bg1">
                  <a:alpha val="52940"/>
                </a:schemeClr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07" name="AutoShape 117"/>
            <p:cNvSpPr>
              <a:spLocks/>
            </p:cNvSpPr>
            <p:nvPr/>
          </p:nvSpPr>
          <p:spPr bwMode="auto">
            <a:xfrm flipH="1">
              <a:off x="4682" y="1643"/>
              <a:ext cx="272" cy="862"/>
            </a:xfrm>
            <a:prstGeom prst="leftBracket">
              <a:avLst>
                <a:gd name="adj" fmla="val 26409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08" name="Text Box 118"/>
            <p:cNvSpPr txBox="1">
              <a:spLocks noChangeArrowheads="1"/>
            </p:cNvSpPr>
            <p:nvPr/>
          </p:nvSpPr>
          <p:spPr bwMode="auto">
            <a:xfrm>
              <a:off x="4654" y="222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4209" name="Text Box 119"/>
            <p:cNvSpPr txBox="1">
              <a:spLocks noChangeArrowheads="1"/>
            </p:cNvSpPr>
            <p:nvPr/>
          </p:nvSpPr>
          <p:spPr bwMode="auto">
            <a:xfrm>
              <a:off x="5075" y="224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4210" name="Text Box 120"/>
            <p:cNvSpPr txBox="1">
              <a:spLocks noChangeArrowheads="1"/>
            </p:cNvSpPr>
            <p:nvPr/>
          </p:nvSpPr>
          <p:spPr bwMode="auto">
            <a:xfrm>
              <a:off x="4365" y="2523"/>
              <a:ext cx="12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’&gt;</a:t>
              </a:r>
              <a:r>
                <a:rPr lang="es-ES_tradnl" i="1">
                  <a:latin typeface="Times New Roman" pitchFamily="18" charset="0"/>
                </a:rPr>
                <a:t>n; R</a:t>
              </a:r>
              <a:r>
                <a:rPr lang="es-ES_tradnl">
                  <a:latin typeface="Times New Roman" pitchFamily="18" charset="0"/>
                </a:rPr>
                <a:t>&lt;0  </a:t>
              </a:r>
              <a:r>
                <a:rPr lang="es-ES_tradnl">
                  <a:latin typeface="Times New Roman" pitchFamily="18" charset="0"/>
                  <a:sym typeface="Symbol" pitchFamily="18" charset="2"/>
                </a:rPr>
                <a:t>  </a:t>
              </a:r>
              <a:r>
                <a:rPr lang="es-ES_tradnl" i="1">
                  <a:latin typeface="Times New Roman" pitchFamily="18" charset="0"/>
                  <a:sym typeface="Symbol" pitchFamily="18" charset="2"/>
                </a:rPr>
                <a:t>f </a:t>
              </a:r>
              <a:r>
                <a:rPr lang="es-ES_tradnl">
                  <a:latin typeface="Times New Roman" pitchFamily="18" charset="0"/>
                  <a:sym typeface="Symbol" pitchFamily="18" charset="2"/>
                </a:rPr>
                <a:t>&gt;0</a:t>
              </a:r>
              <a:endParaRPr lang="es-ES_tradnl" i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211" name="Line 121"/>
            <p:cNvSpPr>
              <a:spLocks noChangeShapeType="1"/>
            </p:cNvSpPr>
            <p:nvPr/>
          </p:nvSpPr>
          <p:spPr bwMode="auto">
            <a:xfrm>
              <a:off x="4942" y="1915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12" name="Line 122"/>
            <p:cNvSpPr>
              <a:spLocks noChangeShapeType="1"/>
            </p:cNvSpPr>
            <p:nvPr/>
          </p:nvSpPr>
          <p:spPr bwMode="auto">
            <a:xfrm>
              <a:off x="4959" y="2187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13" name="Line 123"/>
            <p:cNvSpPr>
              <a:spLocks noChangeShapeType="1"/>
            </p:cNvSpPr>
            <p:nvPr/>
          </p:nvSpPr>
          <p:spPr bwMode="auto">
            <a:xfrm>
              <a:off x="4332" y="2051"/>
              <a:ext cx="119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14" name="Line 124"/>
            <p:cNvSpPr>
              <a:spLocks noChangeShapeType="1"/>
            </p:cNvSpPr>
            <p:nvPr/>
          </p:nvSpPr>
          <p:spPr bwMode="auto">
            <a:xfrm flipV="1">
              <a:off x="4332" y="2181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15" name="Line 125"/>
            <p:cNvSpPr>
              <a:spLocks noChangeShapeType="1"/>
            </p:cNvSpPr>
            <p:nvPr/>
          </p:nvSpPr>
          <p:spPr bwMode="auto">
            <a:xfrm flipH="1" flipV="1">
              <a:off x="4339" y="1699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16" name="Oval 126"/>
            <p:cNvSpPr>
              <a:spLocks noChangeArrowheads="1"/>
            </p:cNvSpPr>
            <p:nvPr/>
          </p:nvSpPr>
          <p:spPr bwMode="auto">
            <a:xfrm>
              <a:off x="4456" y="2030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17" name="Text Box 127"/>
            <p:cNvSpPr txBox="1">
              <a:spLocks noChangeArrowheads="1"/>
            </p:cNvSpPr>
            <p:nvPr/>
          </p:nvSpPr>
          <p:spPr bwMode="auto">
            <a:xfrm>
              <a:off x="4389" y="2038"/>
              <a:ext cx="1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200" i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218" name="Text Box 128"/>
            <p:cNvSpPr txBox="1">
              <a:spLocks noChangeArrowheads="1"/>
            </p:cNvSpPr>
            <p:nvPr/>
          </p:nvSpPr>
          <p:spPr bwMode="auto">
            <a:xfrm>
              <a:off x="5232" y="1849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F</a:t>
              </a:r>
              <a:endParaRPr lang="es-ES_tradnl">
                <a:latin typeface="Times New Roman" pitchFamily="18" charset="0"/>
              </a:endParaRPr>
            </a:p>
          </p:txBody>
        </p:sp>
        <p:sp>
          <p:nvSpPr>
            <p:cNvPr id="4219" name="Line 129"/>
            <p:cNvSpPr>
              <a:spLocks noChangeShapeType="1"/>
            </p:cNvSpPr>
            <p:nvPr/>
          </p:nvSpPr>
          <p:spPr bwMode="auto">
            <a:xfrm flipH="1" flipV="1">
              <a:off x="4855" y="1881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20" name="Line 130"/>
            <p:cNvSpPr>
              <a:spLocks noChangeShapeType="1"/>
            </p:cNvSpPr>
            <p:nvPr/>
          </p:nvSpPr>
          <p:spPr bwMode="auto">
            <a:xfrm flipV="1">
              <a:off x="4851" y="1993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21" name="Oval 131"/>
            <p:cNvSpPr>
              <a:spLocks noChangeArrowheads="1"/>
            </p:cNvSpPr>
            <p:nvPr/>
          </p:nvSpPr>
          <p:spPr bwMode="auto">
            <a:xfrm>
              <a:off x="5316" y="2023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</p:grpSp>
      <p:grpSp>
        <p:nvGrpSpPr>
          <p:cNvPr id="20" name="Group 198"/>
          <p:cNvGrpSpPr>
            <a:grpSpLocks/>
          </p:cNvGrpSpPr>
          <p:nvPr/>
        </p:nvGrpSpPr>
        <p:grpSpPr bwMode="auto">
          <a:xfrm>
            <a:off x="2516188" y="4518025"/>
            <a:ext cx="2022475" cy="1806575"/>
            <a:chOff x="1585" y="2846"/>
            <a:chExt cx="1274" cy="1138"/>
          </a:xfrm>
        </p:grpSpPr>
        <p:sp>
          <p:nvSpPr>
            <p:cNvPr id="4190" name="Freeform 132" descr="Cuadrícula grande"/>
            <p:cNvSpPr>
              <a:spLocks/>
            </p:cNvSpPr>
            <p:nvPr/>
          </p:nvSpPr>
          <p:spPr bwMode="auto">
            <a:xfrm flipH="1">
              <a:off x="1881" y="2847"/>
              <a:ext cx="962" cy="901"/>
            </a:xfrm>
            <a:custGeom>
              <a:avLst/>
              <a:gdLst>
                <a:gd name="T0" fmla="*/ 0 w 962"/>
                <a:gd name="T1" fmla="*/ 43 h 901"/>
                <a:gd name="T2" fmla="*/ 844 w 962"/>
                <a:gd name="T3" fmla="*/ 27 h 901"/>
                <a:gd name="T4" fmla="*/ 709 w 962"/>
                <a:gd name="T5" fmla="*/ 47 h 901"/>
                <a:gd name="T6" fmla="*/ 655 w 962"/>
                <a:gd name="T7" fmla="*/ 74 h 901"/>
                <a:gd name="T8" fmla="*/ 627 w 962"/>
                <a:gd name="T9" fmla="*/ 101 h 901"/>
                <a:gd name="T10" fmla="*/ 614 w 962"/>
                <a:gd name="T11" fmla="*/ 798 h 901"/>
                <a:gd name="T12" fmla="*/ 668 w 962"/>
                <a:gd name="T13" fmla="*/ 867 h 901"/>
                <a:gd name="T14" fmla="*/ 770 w 962"/>
                <a:gd name="T15" fmla="*/ 887 h 901"/>
                <a:gd name="T16" fmla="*/ 750 w 962"/>
                <a:gd name="T17" fmla="*/ 888 h 901"/>
                <a:gd name="T18" fmla="*/ 841 w 962"/>
                <a:gd name="T19" fmla="*/ 888 h 901"/>
                <a:gd name="T20" fmla="*/ 27 w 962"/>
                <a:gd name="T21" fmla="*/ 877 h 9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62"/>
                <a:gd name="T34" fmla="*/ 0 h 901"/>
                <a:gd name="T35" fmla="*/ 962 w 962"/>
                <a:gd name="T36" fmla="*/ 901 h 9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62" h="901">
                  <a:moveTo>
                    <a:pt x="0" y="43"/>
                  </a:moveTo>
                  <a:cubicBezTo>
                    <a:pt x="142" y="40"/>
                    <a:pt x="726" y="26"/>
                    <a:pt x="844" y="27"/>
                  </a:cubicBezTo>
                  <a:cubicBezTo>
                    <a:pt x="962" y="28"/>
                    <a:pt x="741" y="39"/>
                    <a:pt x="709" y="47"/>
                  </a:cubicBezTo>
                  <a:cubicBezTo>
                    <a:pt x="677" y="55"/>
                    <a:pt x="669" y="65"/>
                    <a:pt x="655" y="74"/>
                  </a:cubicBezTo>
                  <a:cubicBezTo>
                    <a:pt x="641" y="83"/>
                    <a:pt x="716" y="0"/>
                    <a:pt x="627" y="101"/>
                  </a:cubicBezTo>
                  <a:cubicBezTo>
                    <a:pt x="627" y="101"/>
                    <a:pt x="620" y="449"/>
                    <a:pt x="614" y="798"/>
                  </a:cubicBezTo>
                  <a:cubicBezTo>
                    <a:pt x="729" y="901"/>
                    <a:pt x="642" y="852"/>
                    <a:pt x="668" y="867"/>
                  </a:cubicBezTo>
                  <a:cubicBezTo>
                    <a:pt x="684" y="886"/>
                    <a:pt x="756" y="884"/>
                    <a:pt x="770" y="887"/>
                  </a:cubicBezTo>
                  <a:cubicBezTo>
                    <a:pt x="784" y="890"/>
                    <a:pt x="738" y="888"/>
                    <a:pt x="750" y="888"/>
                  </a:cubicBezTo>
                  <a:cubicBezTo>
                    <a:pt x="762" y="888"/>
                    <a:pt x="961" y="890"/>
                    <a:pt x="841" y="888"/>
                  </a:cubicBezTo>
                  <a:cubicBezTo>
                    <a:pt x="721" y="886"/>
                    <a:pt x="197" y="879"/>
                    <a:pt x="27" y="877"/>
                  </a:cubicBezTo>
                </a:path>
              </a:pathLst>
            </a:custGeom>
            <a:pattFill prst="lgGrid">
              <a:fgClr>
                <a:srgbClr val="FFCC99">
                  <a:alpha val="52940"/>
                </a:srgbClr>
              </a:fgClr>
              <a:bgClr>
                <a:schemeClr val="bg1">
                  <a:alpha val="52940"/>
                </a:schemeClr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191" name="Freeform 133" descr="Onda"/>
            <p:cNvSpPr>
              <a:spLocks/>
            </p:cNvSpPr>
            <p:nvPr/>
          </p:nvSpPr>
          <p:spPr bwMode="auto">
            <a:xfrm>
              <a:off x="1696" y="2846"/>
              <a:ext cx="512" cy="901"/>
            </a:xfrm>
            <a:custGeom>
              <a:avLst/>
              <a:gdLst>
                <a:gd name="T0" fmla="*/ 0 w 512"/>
                <a:gd name="T1" fmla="*/ 21 h 901"/>
                <a:gd name="T2" fmla="*/ 282 w 512"/>
                <a:gd name="T3" fmla="*/ 27 h 901"/>
                <a:gd name="T4" fmla="*/ 417 w 512"/>
                <a:gd name="T5" fmla="*/ 47 h 901"/>
                <a:gd name="T6" fmla="*/ 471 w 512"/>
                <a:gd name="T7" fmla="*/ 74 h 901"/>
                <a:gd name="T8" fmla="*/ 499 w 512"/>
                <a:gd name="T9" fmla="*/ 101 h 901"/>
                <a:gd name="T10" fmla="*/ 512 w 512"/>
                <a:gd name="T11" fmla="*/ 798 h 901"/>
                <a:gd name="T12" fmla="*/ 458 w 512"/>
                <a:gd name="T13" fmla="*/ 867 h 901"/>
                <a:gd name="T14" fmla="*/ 356 w 512"/>
                <a:gd name="T15" fmla="*/ 887 h 901"/>
                <a:gd name="T16" fmla="*/ 376 w 512"/>
                <a:gd name="T17" fmla="*/ 888 h 901"/>
                <a:gd name="T18" fmla="*/ 285 w 512"/>
                <a:gd name="T19" fmla="*/ 888 h 901"/>
                <a:gd name="T20" fmla="*/ 34 w 512"/>
                <a:gd name="T21" fmla="*/ 874 h 9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12"/>
                <a:gd name="T34" fmla="*/ 0 h 901"/>
                <a:gd name="T35" fmla="*/ 512 w 512"/>
                <a:gd name="T36" fmla="*/ 901 h 9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12" h="901">
                  <a:moveTo>
                    <a:pt x="0" y="21"/>
                  </a:moveTo>
                  <a:cubicBezTo>
                    <a:pt x="46" y="22"/>
                    <a:pt x="212" y="23"/>
                    <a:pt x="282" y="27"/>
                  </a:cubicBezTo>
                  <a:cubicBezTo>
                    <a:pt x="352" y="31"/>
                    <a:pt x="385" y="39"/>
                    <a:pt x="417" y="47"/>
                  </a:cubicBezTo>
                  <a:cubicBezTo>
                    <a:pt x="449" y="55"/>
                    <a:pt x="457" y="65"/>
                    <a:pt x="471" y="74"/>
                  </a:cubicBezTo>
                  <a:cubicBezTo>
                    <a:pt x="485" y="83"/>
                    <a:pt x="410" y="0"/>
                    <a:pt x="499" y="101"/>
                  </a:cubicBezTo>
                  <a:cubicBezTo>
                    <a:pt x="499" y="101"/>
                    <a:pt x="506" y="449"/>
                    <a:pt x="512" y="798"/>
                  </a:cubicBezTo>
                  <a:cubicBezTo>
                    <a:pt x="397" y="901"/>
                    <a:pt x="484" y="852"/>
                    <a:pt x="458" y="867"/>
                  </a:cubicBezTo>
                  <a:cubicBezTo>
                    <a:pt x="442" y="886"/>
                    <a:pt x="370" y="884"/>
                    <a:pt x="356" y="887"/>
                  </a:cubicBezTo>
                  <a:cubicBezTo>
                    <a:pt x="342" y="890"/>
                    <a:pt x="388" y="888"/>
                    <a:pt x="376" y="888"/>
                  </a:cubicBezTo>
                  <a:cubicBezTo>
                    <a:pt x="364" y="888"/>
                    <a:pt x="342" y="890"/>
                    <a:pt x="285" y="888"/>
                  </a:cubicBezTo>
                  <a:cubicBezTo>
                    <a:pt x="228" y="886"/>
                    <a:pt x="86" y="877"/>
                    <a:pt x="34" y="874"/>
                  </a:cubicBezTo>
                </a:path>
              </a:pathLst>
            </a:custGeom>
            <a:pattFill prst="wave">
              <a:fgClr>
                <a:schemeClr val="accent1">
                  <a:alpha val="52940"/>
                </a:schemeClr>
              </a:fgClr>
              <a:bgClr>
                <a:schemeClr val="bg1">
                  <a:alpha val="52940"/>
                </a:schemeClr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192" name="AutoShape 134"/>
            <p:cNvSpPr>
              <a:spLocks/>
            </p:cNvSpPr>
            <p:nvPr/>
          </p:nvSpPr>
          <p:spPr bwMode="auto">
            <a:xfrm flipH="1">
              <a:off x="1935" y="2873"/>
              <a:ext cx="272" cy="862"/>
            </a:xfrm>
            <a:prstGeom prst="leftBracket">
              <a:avLst>
                <a:gd name="adj" fmla="val 26409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193" name="Text Box 135"/>
            <p:cNvSpPr txBox="1">
              <a:spLocks noChangeArrowheads="1"/>
            </p:cNvSpPr>
            <p:nvPr/>
          </p:nvSpPr>
          <p:spPr bwMode="auto">
            <a:xfrm>
              <a:off x="1907" y="345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4194" name="Text Box 136"/>
            <p:cNvSpPr txBox="1">
              <a:spLocks noChangeArrowheads="1"/>
            </p:cNvSpPr>
            <p:nvPr/>
          </p:nvSpPr>
          <p:spPr bwMode="auto">
            <a:xfrm>
              <a:off x="2328" y="347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4195" name="Text Box 137"/>
            <p:cNvSpPr txBox="1">
              <a:spLocks noChangeArrowheads="1"/>
            </p:cNvSpPr>
            <p:nvPr/>
          </p:nvSpPr>
          <p:spPr bwMode="auto">
            <a:xfrm>
              <a:off x="1618" y="3753"/>
              <a:ext cx="1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’&lt;</a:t>
              </a:r>
              <a:r>
                <a:rPr lang="es-ES_tradnl" i="1">
                  <a:latin typeface="Times New Roman" pitchFamily="18" charset="0"/>
                </a:rPr>
                <a:t>n; R</a:t>
              </a:r>
              <a:r>
                <a:rPr lang="es-ES_tradnl">
                  <a:latin typeface="Times New Roman" pitchFamily="18" charset="0"/>
                </a:rPr>
                <a:t>&lt;0  </a:t>
              </a:r>
              <a:r>
                <a:rPr lang="es-ES_tradnl">
                  <a:latin typeface="Times New Roman" pitchFamily="18" charset="0"/>
                  <a:sym typeface="Symbol" pitchFamily="18" charset="2"/>
                </a:rPr>
                <a:t>  </a:t>
              </a:r>
              <a:r>
                <a:rPr lang="es-ES_tradnl" i="1">
                  <a:latin typeface="Times New Roman" pitchFamily="18" charset="0"/>
                  <a:sym typeface="Symbol" pitchFamily="18" charset="2"/>
                </a:rPr>
                <a:t>f</a:t>
              </a:r>
              <a:r>
                <a:rPr lang="es-ES_tradnl">
                  <a:latin typeface="Times New Roman" pitchFamily="18" charset="0"/>
                  <a:sym typeface="Symbol" pitchFamily="18" charset="2"/>
                </a:rPr>
                <a:t>’&gt;0</a:t>
              </a:r>
              <a:endParaRPr lang="es-ES_tradnl" i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196" name="Line 138"/>
            <p:cNvSpPr>
              <a:spLocks noChangeShapeType="1"/>
            </p:cNvSpPr>
            <p:nvPr/>
          </p:nvSpPr>
          <p:spPr bwMode="auto">
            <a:xfrm>
              <a:off x="1602" y="3145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197" name="Line 139"/>
            <p:cNvSpPr>
              <a:spLocks noChangeShapeType="1"/>
            </p:cNvSpPr>
            <p:nvPr/>
          </p:nvSpPr>
          <p:spPr bwMode="auto">
            <a:xfrm>
              <a:off x="1599" y="3417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198" name="Line 140"/>
            <p:cNvSpPr>
              <a:spLocks noChangeShapeType="1"/>
            </p:cNvSpPr>
            <p:nvPr/>
          </p:nvSpPr>
          <p:spPr bwMode="auto">
            <a:xfrm>
              <a:off x="1585" y="3281"/>
              <a:ext cx="124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199" name="Line 141"/>
            <p:cNvSpPr>
              <a:spLocks noChangeShapeType="1"/>
            </p:cNvSpPr>
            <p:nvPr/>
          </p:nvSpPr>
          <p:spPr bwMode="auto">
            <a:xfrm flipV="1">
              <a:off x="2199" y="3189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00" name="Line 142"/>
            <p:cNvSpPr>
              <a:spLocks noChangeShapeType="1"/>
            </p:cNvSpPr>
            <p:nvPr/>
          </p:nvSpPr>
          <p:spPr bwMode="auto">
            <a:xfrm flipH="1" flipV="1">
              <a:off x="2192" y="3141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01" name="Oval 143"/>
            <p:cNvSpPr>
              <a:spLocks noChangeArrowheads="1"/>
            </p:cNvSpPr>
            <p:nvPr/>
          </p:nvSpPr>
          <p:spPr bwMode="auto">
            <a:xfrm>
              <a:off x="1709" y="3260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02" name="Text Box 144"/>
            <p:cNvSpPr txBox="1">
              <a:spLocks noChangeArrowheads="1"/>
            </p:cNvSpPr>
            <p:nvPr/>
          </p:nvSpPr>
          <p:spPr bwMode="auto">
            <a:xfrm>
              <a:off x="1642" y="3268"/>
              <a:ext cx="1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200" i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203" name="Text Box 145"/>
            <p:cNvSpPr txBox="1">
              <a:spLocks noChangeArrowheads="1"/>
            </p:cNvSpPr>
            <p:nvPr/>
          </p:nvSpPr>
          <p:spPr bwMode="auto">
            <a:xfrm>
              <a:off x="2492" y="3067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F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4204" name="Oval 148"/>
            <p:cNvSpPr>
              <a:spLocks noChangeArrowheads="1"/>
            </p:cNvSpPr>
            <p:nvPr/>
          </p:nvSpPr>
          <p:spPr bwMode="auto">
            <a:xfrm>
              <a:off x="2563" y="3253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13462" name="Freeform 150" descr="Onda"/>
          <p:cNvSpPr>
            <a:spLocks/>
          </p:cNvSpPr>
          <p:nvPr/>
        </p:nvSpPr>
        <p:spPr bwMode="auto">
          <a:xfrm>
            <a:off x="6980238" y="4613275"/>
            <a:ext cx="812800" cy="1430338"/>
          </a:xfrm>
          <a:custGeom>
            <a:avLst/>
            <a:gdLst>
              <a:gd name="T0" fmla="*/ 0 w 512"/>
              <a:gd name="T1" fmla="*/ 2147483647 h 901"/>
              <a:gd name="T2" fmla="*/ 2147483647 w 512"/>
              <a:gd name="T3" fmla="*/ 2147483647 h 901"/>
              <a:gd name="T4" fmla="*/ 2147483647 w 512"/>
              <a:gd name="T5" fmla="*/ 2147483647 h 901"/>
              <a:gd name="T6" fmla="*/ 2147483647 w 512"/>
              <a:gd name="T7" fmla="*/ 2147483647 h 901"/>
              <a:gd name="T8" fmla="*/ 2147483647 w 512"/>
              <a:gd name="T9" fmla="*/ 2147483647 h 901"/>
              <a:gd name="T10" fmla="*/ 2147483647 w 512"/>
              <a:gd name="T11" fmla="*/ 2147483647 h 901"/>
              <a:gd name="T12" fmla="*/ 2147483647 w 512"/>
              <a:gd name="T13" fmla="*/ 2147483647 h 901"/>
              <a:gd name="T14" fmla="*/ 2147483647 w 512"/>
              <a:gd name="T15" fmla="*/ 2147483647 h 901"/>
              <a:gd name="T16" fmla="*/ 2147483647 w 512"/>
              <a:gd name="T17" fmla="*/ 2147483647 h 901"/>
              <a:gd name="T18" fmla="*/ 2147483647 w 512"/>
              <a:gd name="T19" fmla="*/ 2147483647 h 901"/>
              <a:gd name="T20" fmla="*/ 2147483647 w 512"/>
              <a:gd name="T21" fmla="*/ 2147483647 h 90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12"/>
              <a:gd name="T34" fmla="*/ 0 h 901"/>
              <a:gd name="T35" fmla="*/ 512 w 512"/>
              <a:gd name="T36" fmla="*/ 901 h 901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12" h="901">
                <a:moveTo>
                  <a:pt x="0" y="21"/>
                </a:moveTo>
                <a:cubicBezTo>
                  <a:pt x="46" y="22"/>
                  <a:pt x="212" y="23"/>
                  <a:pt x="282" y="27"/>
                </a:cubicBezTo>
                <a:cubicBezTo>
                  <a:pt x="352" y="31"/>
                  <a:pt x="385" y="39"/>
                  <a:pt x="417" y="47"/>
                </a:cubicBezTo>
                <a:cubicBezTo>
                  <a:pt x="449" y="55"/>
                  <a:pt x="457" y="65"/>
                  <a:pt x="471" y="74"/>
                </a:cubicBezTo>
                <a:cubicBezTo>
                  <a:pt x="485" y="83"/>
                  <a:pt x="410" y="0"/>
                  <a:pt x="499" y="101"/>
                </a:cubicBezTo>
                <a:cubicBezTo>
                  <a:pt x="499" y="101"/>
                  <a:pt x="506" y="449"/>
                  <a:pt x="512" y="798"/>
                </a:cubicBezTo>
                <a:cubicBezTo>
                  <a:pt x="397" y="901"/>
                  <a:pt x="484" y="852"/>
                  <a:pt x="458" y="867"/>
                </a:cubicBezTo>
                <a:cubicBezTo>
                  <a:pt x="442" y="886"/>
                  <a:pt x="370" y="884"/>
                  <a:pt x="356" y="887"/>
                </a:cubicBezTo>
                <a:cubicBezTo>
                  <a:pt x="342" y="890"/>
                  <a:pt x="388" y="888"/>
                  <a:pt x="376" y="888"/>
                </a:cubicBezTo>
                <a:cubicBezTo>
                  <a:pt x="364" y="888"/>
                  <a:pt x="342" y="890"/>
                  <a:pt x="285" y="888"/>
                </a:cubicBezTo>
                <a:cubicBezTo>
                  <a:pt x="228" y="886"/>
                  <a:pt x="86" y="877"/>
                  <a:pt x="34" y="874"/>
                </a:cubicBezTo>
              </a:path>
            </a:pathLst>
          </a:custGeom>
          <a:pattFill prst="wave">
            <a:fgClr>
              <a:schemeClr val="accent1">
                <a:alpha val="52940"/>
              </a:schemeClr>
            </a:fgClr>
            <a:bgClr>
              <a:schemeClr val="bg1">
                <a:alpha val="52940"/>
              </a:schemeClr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grpSp>
        <p:nvGrpSpPr>
          <p:cNvPr id="21" name="Group 199"/>
          <p:cNvGrpSpPr>
            <a:grpSpLocks/>
          </p:cNvGrpSpPr>
          <p:nvPr/>
        </p:nvGrpSpPr>
        <p:grpSpPr bwMode="auto">
          <a:xfrm>
            <a:off x="6804025" y="4614863"/>
            <a:ext cx="2003425" cy="1804987"/>
            <a:chOff x="4286" y="2907"/>
            <a:chExt cx="1262" cy="1137"/>
          </a:xfrm>
        </p:grpSpPr>
        <p:sp>
          <p:nvSpPr>
            <p:cNvPr id="4176" name="Freeform 149" descr="Cuadrícula grande"/>
            <p:cNvSpPr>
              <a:spLocks/>
            </p:cNvSpPr>
            <p:nvPr/>
          </p:nvSpPr>
          <p:spPr bwMode="auto">
            <a:xfrm flipH="1">
              <a:off x="4582" y="2907"/>
              <a:ext cx="962" cy="901"/>
            </a:xfrm>
            <a:custGeom>
              <a:avLst/>
              <a:gdLst>
                <a:gd name="T0" fmla="*/ 0 w 962"/>
                <a:gd name="T1" fmla="*/ 43 h 901"/>
                <a:gd name="T2" fmla="*/ 844 w 962"/>
                <a:gd name="T3" fmla="*/ 27 h 901"/>
                <a:gd name="T4" fmla="*/ 709 w 962"/>
                <a:gd name="T5" fmla="*/ 47 h 901"/>
                <a:gd name="T6" fmla="*/ 655 w 962"/>
                <a:gd name="T7" fmla="*/ 74 h 901"/>
                <a:gd name="T8" fmla="*/ 627 w 962"/>
                <a:gd name="T9" fmla="*/ 101 h 901"/>
                <a:gd name="T10" fmla="*/ 614 w 962"/>
                <a:gd name="T11" fmla="*/ 798 h 901"/>
                <a:gd name="T12" fmla="*/ 668 w 962"/>
                <a:gd name="T13" fmla="*/ 867 h 901"/>
                <a:gd name="T14" fmla="*/ 770 w 962"/>
                <a:gd name="T15" fmla="*/ 887 h 901"/>
                <a:gd name="T16" fmla="*/ 750 w 962"/>
                <a:gd name="T17" fmla="*/ 888 h 901"/>
                <a:gd name="T18" fmla="*/ 841 w 962"/>
                <a:gd name="T19" fmla="*/ 888 h 901"/>
                <a:gd name="T20" fmla="*/ 27 w 962"/>
                <a:gd name="T21" fmla="*/ 877 h 9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62"/>
                <a:gd name="T34" fmla="*/ 0 h 901"/>
                <a:gd name="T35" fmla="*/ 962 w 962"/>
                <a:gd name="T36" fmla="*/ 901 h 9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62" h="901">
                  <a:moveTo>
                    <a:pt x="0" y="43"/>
                  </a:moveTo>
                  <a:cubicBezTo>
                    <a:pt x="142" y="40"/>
                    <a:pt x="726" y="26"/>
                    <a:pt x="844" y="27"/>
                  </a:cubicBezTo>
                  <a:cubicBezTo>
                    <a:pt x="962" y="28"/>
                    <a:pt x="741" y="39"/>
                    <a:pt x="709" y="47"/>
                  </a:cubicBezTo>
                  <a:cubicBezTo>
                    <a:pt x="677" y="55"/>
                    <a:pt x="669" y="65"/>
                    <a:pt x="655" y="74"/>
                  </a:cubicBezTo>
                  <a:cubicBezTo>
                    <a:pt x="641" y="83"/>
                    <a:pt x="716" y="0"/>
                    <a:pt x="627" y="101"/>
                  </a:cubicBezTo>
                  <a:cubicBezTo>
                    <a:pt x="627" y="101"/>
                    <a:pt x="620" y="449"/>
                    <a:pt x="614" y="798"/>
                  </a:cubicBezTo>
                  <a:cubicBezTo>
                    <a:pt x="729" y="901"/>
                    <a:pt x="642" y="852"/>
                    <a:pt x="668" y="867"/>
                  </a:cubicBezTo>
                  <a:cubicBezTo>
                    <a:pt x="684" y="886"/>
                    <a:pt x="756" y="884"/>
                    <a:pt x="770" y="887"/>
                  </a:cubicBezTo>
                  <a:cubicBezTo>
                    <a:pt x="784" y="890"/>
                    <a:pt x="738" y="888"/>
                    <a:pt x="750" y="888"/>
                  </a:cubicBezTo>
                  <a:cubicBezTo>
                    <a:pt x="762" y="888"/>
                    <a:pt x="961" y="890"/>
                    <a:pt x="841" y="888"/>
                  </a:cubicBezTo>
                  <a:cubicBezTo>
                    <a:pt x="721" y="886"/>
                    <a:pt x="197" y="879"/>
                    <a:pt x="27" y="877"/>
                  </a:cubicBezTo>
                </a:path>
              </a:pathLst>
            </a:custGeom>
            <a:pattFill prst="lgGrid">
              <a:fgClr>
                <a:srgbClr val="FFCC99">
                  <a:alpha val="52940"/>
                </a:srgbClr>
              </a:fgClr>
              <a:bgClr>
                <a:schemeClr val="bg1">
                  <a:alpha val="52940"/>
                </a:schemeClr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177" name="AutoShape 151"/>
            <p:cNvSpPr>
              <a:spLocks/>
            </p:cNvSpPr>
            <p:nvPr/>
          </p:nvSpPr>
          <p:spPr bwMode="auto">
            <a:xfrm flipH="1">
              <a:off x="4636" y="2933"/>
              <a:ext cx="272" cy="862"/>
            </a:xfrm>
            <a:prstGeom prst="leftBracket">
              <a:avLst>
                <a:gd name="adj" fmla="val 26409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178" name="Text Box 152"/>
            <p:cNvSpPr txBox="1">
              <a:spLocks noChangeArrowheads="1"/>
            </p:cNvSpPr>
            <p:nvPr/>
          </p:nvSpPr>
          <p:spPr bwMode="auto">
            <a:xfrm>
              <a:off x="4608" y="351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4179" name="Text Box 153"/>
            <p:cNvSpPr txBox="1">
              <a:spLocks noChangeArrowheads="1"/>
            </p:cNvSpPr>
            <p:nvPr/>
          </p:nvSpPr>
          <p:spPr bwMode="auto">
            <a:xfrm>
              <a:off x="5029" y="353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4180" name="Text Box 154"/>
            <p:cNvSpPr txBox="1">
              <a:spLocks noChangeArrowheads="1"/>
            </p:cNvSpPr>
            <p:nvPr/>
          </p:nvSpPr>
          <p:spPr bwMode="auto">
            <a:xfrm>
              <a:off x="4319" y="3813"/>
              <a:ext cx="12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’&lt;</a:t>
              </a:r>
              <a:r>
                <a:rPr lang="es-ES_tradnl" i="1">
                  <a:latin typeface="Times New Roman" pitchFamily="18" charset="0"/>
                </a:rPr>
                <a:t>n; R</a:t>
              </a:r>
              <a:r>
                <a:rPr lang="es-ES_tradnl">
                  <a:latin typeface="Times New Roman" pitchFamily="18" charset="0"/>
                </a:rPr>
                <a:t>&lt;0  </a:t>
              </a:r>
              <a:r>
                <a:rPr lang="es-ES_tradnl">
                  <a:latin typeface="Times New Roman" pitchFamily="18" charset="0"/>
                  <a:sym typeface="Symbol" pitchFamily="18" charset="2"/>
                </a:rPr>
                <a:t>  </a:t>
              </a:r>
              <a:r>
                <a:rPr lang="es-ES_tradnl" i="1">
                  <a:latin typeface="Times New Roman" pitchFamily="18" charset="0"/>
                  <a:sym typeface="Symbol" pitchFamily="18" charset="2"/>
                </a:rPr>
                <a:t>f</a:t>
              </a:r>
              <a:r>
                <a:rPr lang="es-ES_tradnl">
                  <a:latin typeface="Times New Roman" pitchFamily="18" charset="0"/>
                  <a:sym typeface="Symbol" pitchFamily="18" charset="2"/>
                </a:rPr>
                <a:t> &lt;0</a:t>
              </a:r>
              <a:endParaRPr lang="es-ES_tradnl" i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181" name="Line 155"/>
            <p:cNvSpPr>
              <a:spLocks noChangeShapeType="1"/>
            </p:cNvSpPr>
            <p:nvPr/>
          </p:nvSpPr>
          <p:spPr bwMode="auto">
            <a:xfrm>
              <a:off x="4921" y="3205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182" name="Line 156"/>
            <p:cNvSpPr>
              <a:spLocks noChangeShapeType="1"/>
            </p:cNvSpPr>
            <p:nvPr/>
          </p:nvSpPr>
          <p:spPr bwMode="auto">
            <a:xfrm>
              <a:off x="4921" y="3477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183" name="Line 157"/>
            <p:cNvSpPr>
              <a:spLocks noChangeShapeType="1"/>
            </p:cNvSpPr>
            <p:nvPr/>
          </p:nvSpPr>
          <p:spPr bwMode="auto">
            <a:xfrm>
              <a:off x="4286" y="3341"/>
              <a:ext cx="124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184" name="Line 158"/>
            <p:cNvSpPr>
              <a:spLocks noChangeShapeType="1"/>
            </p:cNvSpPr>
            <p:nvPr/>
          </p:nvSpPr>
          <p:spPr bwMode="auto">
            <a:xfrm flipV="1">
              <a:off x="4286" y="3203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185" name="Line 159"/>
            <p:cNvSpPr>
              <a:spLocks noChangeShapeType="1"/>
            </p:cNvSpPr>
            <p:nvPr/>
          </p:nvSpPr>
          <p:spPr bwMode="auto">
            <a:xfrm flipH="1" flipV="1">
              <a:off x="4286" y="3248"/>
              <a:ext cx="635" cy="22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186" name="Oval 160"/>
            <p:cNvSpPr>
              <a:spLocks noChangeArrowheads="1"/>
            </p:cNvSpPr>
            <p:nvPr/>
          </p:nvSpPr>
          <p:spPr bwMode="auto">
            <a:xfrm>
              <a:off x="4410" y="3320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187" name="Text Box 161"/>
            <p:cNvSpPr txBox="1">
              <a:spLocks noChangeArrowheads="1"/>
            </p:cNvSpPr>
            <p:nvPr/>
          </p:nvSpPr>
          <p:spPr bwMode="auto">
            <a:xfrm>
              <a:off x="4343" y="3328"/>
              <a:ext cx="1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200" i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188" name="Text Box 162"/>
            <p:cNvSpPr txBox="1">
              <a:spLocks noChangeArrowheads="1"/>
            </p:cNvSpPr>
            <p:nvPr/>
          </p:nvSpPr>
          <p:spPr bwMode="auto">
            <a:xfrm>
              <a:off x="4422" y="3127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F</a:t>
              </a:r>
              <a:endParaRPr lang="es-ES_tradnl">
                <a:latin typeface="Times New Roman" pitchFamily="18" charset="0"/>
              </a:endParaRPr>
            </a:p>
          </p:txBody>
        </p:sp>
        <p:sp>
          <p:nvSpPr>
            <p:cNvPr id="4189" name="Oval 163"/>
            <p:cNvSpPr>
              <a:spLocks noChangeArrowheads="1"/>
            </p:cNvSpPr>
            <p:nvPr/>
          </p:nvSpPr>
          <p:spPr bwMode="auto">
            <a:xfrm>
              <a:off x="4513" y="3313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</p:grpSp>
      <p:grpSp>
        <p:nvGrpSpPr>
          <p:cNvPr id="22" name="Group 200"/>
          <p:cNvGrpSpPr>
            <a:grpSpLocks/>
          </p:cNvGrpSpPr>
          <p:nvPr/>
        </p:nvGrpSpPr>
        <p:grpSpPr bwMode="auto">
          <a:xfrm>
            <a:off x="5033963" y="11113"/>
            <a:ext cx="2397125" cy="765175"/>
            <a:chOff x="3171" y="7"/>
            <a:chExt cx="1510" cy="482"/>
          </a:xfrm>
        </p:grpSpPr>
        <p:sp>
          <p:nvSpPr>
            <p:cNvPr id="4171" name="Oval 164"/>
            <p:cNvSpPr>
              <a:spLocks noChangeArrowheads="1"/>
            </p:cNvSpPr>
            <p:nvPr/>
          </p:nvSpPr>
          <p:spPr bwMode="auto">
            <a:xfrm>
              <a:off x="3171" y="7"/>
              <a:ext cx="362" cy="482"/>
            </a:xfrm>
            <a:prstGeom prst="ellipse">
              <a:avLst/>
            </a:prstGeom>
            <a:noFill/>
            <a:ln w="19050">
              <a:solidFill>
                <a:srgbClr val="CC99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172" name="Line 165"/>
            <p:cNvSpPr>
              <a:spLocks noChangeShapeType="1"/>
            </p:cNvSpPr>
            <p:nvPr/>
          </p:nvSpPr>
          <p:spPr bwMode="auto">
            <a:xfrm>
              <a:off x="3515" y="346"/>
              <a:ext cx="249" cy="0"/>
            </a:xfrm>
            <a:prstGeom prst="line">
              <a:avLst/>
            </a:prstGeom>
            <a:noFill/>
            <a:ln w="19050">
              <a:solidFill>
                <a:srgbClr val="CC99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173" name="Rectangle 166"/>
            <p:cNvSpPr>
              <a:spLocks noChangeArrowheads="1"/>
            </p:cNvSpPr>
            <p:nvPr/>
          </p:nvSpPr>
          <p:spPr bwMode="auto">
            <a:xfrm>
              <a:off x="3754" y="205"/>
              <a:ext cx="206" cy="272"/>
            </a:xfrm>
            <a:prstGeom prst="rect">
              <a:avLst/>
            </a:prstGeom>
            <a:noFill/>
            <a:ln w="19050">
              <a:solidFill>
                <a:srgbClr val="CC99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174" name="Text Box 167"/>
            <p:cNvSpPr txBox="1">
              <a:spLocks noChangeArrowheads="1"/>
            </p:cNvSpPr>
            <p:nvPr/>
          </p:nvSpPr>
          <p:spPr bwMode="auto">
            <a:xfrm>
              <a:off x="3769" y="219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>
                  <a:sym typeface="Symbol" pitchFamily="18" charset="2"/>
                </a:rPr>
                <a:t></a:t>
              </a:r>
            </a:p>
          </p:txBody>
        </p:sp>
        <p:sp>
          <p:nvSpPr>
            <p:cNvPr id="4175" name="Text Box 168"/>
            <p:cNvSpPr txBox="1">
              <a:spLocks noChangeArrowheads="1"/>
            </p:cNvSpPr>
            <p:nvPr/>
          </p:nvSpPr>
          <p:spPr bwMode="auto">
            <a:xfrm>
              <a:off x="4005" y="219"/>
              <a:ext cx="6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/>
                <a:t>Potencia</a:t>
              </a:r>
            </a:p>
          </p:txBody>
        </p:sp>
      </p:grpSp>
      <p:sp>
        <p:nvSpPr>
          <p:cNvPr id="13481" name="Rectangle 169"/>
          <p:cNvSpPr>
            <a:spLocks noChangeArrowheads="1"/>
          </p:cNvSpPr>
          <p:nvPr/>
        </p:nvSpPr>
        <p:spPr bwMode="auto">
          <a:xfrm>
            <a:off x="107950" y="2492375"/>
            <a:ext cx="2303463" cy="1944688"/>
          </a:xfrm>
          <a:prstGeom prst="rect">
            <a:avLst/>
          </a:prstGeom>
          <a:noFill/>
          <a:ln w="19050">
            <a:solidFill>
              <a:srgbClr val="CC99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482" name="Rectangle 170"/>
          <p:cNvSpPr>
            <a:spLocks noChangeArrowheads="1"/>
          </p:cNvSpPr>
          <p:nvPr/>
        </p:nvSpPr>
        <p:spPr bwMode="auto">
          <a:xfrm>
            <a:off x="4786313" y="2492375"/>
            <a:ext cx="2017712" cy="1944688"/>
          </a:xfrm>
          <a:prstGeom prst="rect">
            <a:avLst/>
          </a:prstGeom>
          <a:noFill/>
          <a:ln w="19050">
            <a:solidFill>
              <a:srgbClr val="CC99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483" name="Rectangle 171"/>
          <p:cNvSpPr>
            <a:spLocks noChangeArrowheads="1"/>
          </p:cNvSpPr>
          <p:nvPr/>
        </p:nvSpPr>
        <p:spPr bwMode="auto">
          <a:xfrm>
            <a:off x="2411413" y="4508500"/>
            <a:ext cx="2232025" cy="1944688"/>
          </a:xfrm>
          <a:prstGeom prst="rect">
            <a:avLst/>
          </a:prstGeom>
          <a:noFill/>
          <a:ln w="19050">
            <a:solidFill>
              <a:srgbClr val="CC99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484" name="Rectangle 172"/>
          <p:cNvSpPr>
            <a:spLocks noChangeArrowheads="1"/>
          </p:cNvSpPr>
          <p:nvPr/>
        </p:nvSpPr>
        <p:spPr bwMode="auto">
          <a:xfrm>
            <a:off x="6804025" y="4508500"/>
            <a:ext cx="2089150" cy="1944688"/>
          </a:xfrm>
          <a:prstGeom prst="rect">
            <a:avLst/>
          </a:prstGeom>
          <a:noFill/>
          <a:ln w="19050">
            <a:solidFill>
              <a:srgbClr val="CC99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485" name="Text Box 173"/>
          <p:cNvSpPr txBox="1">
            <a:spLocks noChangeArrowheads="1"/>
          </p:cNvSpPr>
          <p:nvPr/>
        </p:nvSpPr>
        <p:spPr bwMode="auto">
          <a:xfrm>
            <a:off x="107950" y="2492375"/>
            <a:ext cx="563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sym typeface="Symbol" pitchFamily="18" charset="2"/>
              </a:rPr>
              <a:t>&gt;0</a:t>
            </a:r>
          </a:p>
        </p:txBody>
      </p:sp>
      <p:sp>
        <p:nvSpPr>
          <p:cNvPr id="13486" name="Text Box 174"/>
          <p:cNvSpPr txBox="1">
            <a:spLocks noChangeArrowheads="1"/>
          </p:cNvSpPr>
          <p:nvPr/>
        </p:nvSpPr>
        <p:spPr bwMode="auto">
          <a:xfrm>
            <a:off x="4643438" y="2492375"/>
            <a:ext cx="695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sym typeface="Symbol" pitchFamily="18" charset="2"/>
              </a:rPr>
              <a:t>  &gt;0</a:t>
            </a:r>
          </a:p>
        </p:txBody>
      </p:sp>
      <p:sp>
        <p:nvSpPr>
          <p:cNvPr id="13487" name="Text Box 175"/>
          <p:cNvSpPr txBox="1">
            <a:spLocks noChangeArrowheads="1"/>
          </p:cNvSpPr>
          <p:nvPr/>
        </p:nvSpPr>
        <p:spPr bwMode="auto">
          <a:xfrm>
            <a:off x="2339975" y="4508500"/>
            <a:ext cx="563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sym typeface="Symbol" pitchFamily="18" charset="2"/>
              </a:rPr>
              <a:t>&gt;0</a:t>
            </a:r>
          </a:p>
        </p:txBody>
      </p:sp>
      <p:sp>
        <p:nvSpPr>
          <p:cNvPr id="13488" name="Text Box 176"/>
          <p:cNvSpPr txBox="1">
            <a:spLocks noChangeArrowheads="1"/>
          </p:cNvSpPr>
          <p:nvPr/>
        </p:nvSpPr>
        <p:spPr bwMode="auto">
          <a:xfrm>
            <a:off x="6804025" y="4508500"/>
            <a:ext cx="563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sym typeface="Symbol" pitchFamily="18" charset="2"/>
              </a:rPr>
              <a:t>&gt;0</a:t>
            </a:r>
          </a:p>
        </p:txBody>
      </p:sp>
      <p:sp>
        <p:nvSpPr>
          <p:cNvPr id="13489" name="Text Box 177"/>
          <p:cNvSpPr txBox="1">
            <a:spLocks noChangeArrowheads="1"/>
          </p:cNvSpPr>
          <p:nvPr/>
        </p:nvSpPr>
        <p:spPr bwMode="auto">
          <a:xfrm rot="-1580782">
            <a:off x="312738" y="2498725"/>
            <a:ext cx="1158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>
                <a:solidFill>
                  <a:srgbClr val="CC99FF"/>
                </a:solidFill>
              </a:rPr>
              <a:t>convergente</a:t>
            </a:r>
          </a:p>
        </p:txBody>
      </p:sp>
      <p:sp>
        <p:nvSpPr>
          <p:cNvPr id="13490" name="Text Box 178"/>
          <p:cNvSpPr txBox="1">
            <a:spLocks noChangeArrowheads="1"/>
          </p:cNvSpPr>
          <p:nvPr/>
        </p:nvSpPr>
        <p:spPr bwMode="auto">
          <a:xfrm rot="-1580782">
            <a:off x="4816475" y="2503488"/>
            <a:ext cx="1158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>
                <a:solidFill>
                  <a:srgbClr val="CC99FF"/>
                </a:solidFill>
              </a:rPr>
              <a:t>convergente</a:t>
            </a:r>
          </a:p>
        </p:txBody>
      </p:sp>
      <p:sp>
        <p:nvSpPr>
          <p:cNvPr id="13491" name="Text Box 179"/>
          <p:cNvSpPr txBox="1">
            <a:spLocks noChangeArrowheads="1"/>
          </p:cNvSpPr>
          <p:nvPr/>
        </p:nvSpPr>
        <p:spPr bwMode="auto">
          <a:xfrm rot="-1580782">
            <a:off x="2711450" y="6381750"/>
            <a:ext cx="1158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>
                <a:solidFill>
                  <a:srgbClr val="CC99FF"/>
                </a:solidFill>
              </a:rPr>
              <a:t>convergente</a:t>
            </a:r>
          </a:p>
        </p:txBody>
      </p:sp>
      <p:sp>
        <p:nvSpPr>
          <p:cNvPr id="13492" name="Text Box 180"/>
          <p:cNvSpPr txBox="1">
            <a:spLocks noChangeArrowheads="1"/>
          </p:cNvSpPr>
          <p:nvPr/>
        </p:nvSpPr>
        <p:spPr bwMode="auto">
          <a:xfrm rot="-1580782">
            <a:off x="6826250" y="6413500"/>
            <a:ext cx="1158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>
                <a:solidFill>
                  <a:srgbClr val="CC99FF"/>
                </a:solidFill>
              </a:rPr>
              <a:t>convergente</a:t>
            </a:r>
          </a:p>
        </p:txBody>
      </p:sp>
      <p:sp>
        <p:nvSpPr>
          <p:cNvPr id="13514" name="Text Box 202"/>
          <p:cNvSpPr txBox="1">
            <a:spLocks noChangeArrowheads="1"/>
          </p:cNvSpPr>
          <p:nvPr/>
        </p:nvSpPr>
        <p:spPr bwMode="auto">
          <a:xfrm>
            <a:off x="8532813" y="658336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5</a:t>
            </a:r>
          </a:p>
        </p:txBody>
      </p:sp>
      <p:sp>
        <p:nvSpPr>
          <p:cNvPr id="196" name="Rectangle 169"/>
          <p:cNvSpPr>
            <a:spLocks noChangeArrowheads="1"/>
          </p:cNvSpPr>
          <p:nvPr/>
        </p:nvSpPr>
        <p:spPr bwMode="auto">
          <a:xfrm>
            <a:off x="2500313" y="2500313"/>
            <a:ext cx="2143125" cy="1944687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97" name="Text Box 177"/>
          <p:cNvSpPr txBox="1">
            <a:spLocks noChangeArrowheads="1"/>
          </p:cNvSpPr>
          <p:nvPr/>
        </p:nvSpPr>
        <p:spPr bwMode="auto">
          <a:xfrm rot="1985095">
            <a:off x="3479800" y="2611438"/>
            <a:ext cx="1019175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>
                <a:solidFill>
                  <a:srgbClr val="00B050"/>
                </a:solidFill>
              </a:rPr>
              <a:t>divergente</a:t>
            </a:r>
          </a:p>
        </p:txBody>
      </p:sp>
      <p:sp>
        <p:nvSpPr>
          <p:cNvPr id="199" name="Rectangle 169"/>
          <p:cNvSpPr>
            <a:spLocks noChangeArrowheads="1"/>
          </p:cNvSpPr>
          <p:nvPr/>
        </p:nvSpPr>
        <p:spPr bwMode="auto">
          <a:xfrm>
            <a:off x="6858000" y="2484438"/>
            <a:ext cx="2160588" cy="1944687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0" name="Text Box 177"/>
          <p:cNvSpPr txBox="1">
            <a:spLocks noChangeArrowheads="1"/>
          </p:cNvSpPr>
          <p:nvPr/>
        </p:nvSpPr>
        <p:spPr bwMode="auto">
          <a:xfrm rot="1985095">
            <a:off x="7837488" y="2581275"/>
            <a:ext cx="10191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>
                <a:solidFill>
                  <a:srgbClr val="00B050"/>
                </a:solidFill>
              </a:rPr>
              <a:t>divergente</a:t>
            </a:r>
          </a:p>
        </p:txBody>
      </p:sp>
      <p:sp>
        <p:nvSpPr>
          <p:cNvPr id="202" name="Text Box 177"/>
          <p:cNvSpPr txBox="1">
            <a:spLocks noChangeArrowheads="1"/>
          </p:cNvSpPr>
          <p:nvPr/>
        </p:nvSpPr>
        <p:spPr bwMode="auto">
          <a:xfrm rot="1985095">
            <a:off x="1385888" y="4611688"/>
            <a:ext cx="9207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>
                <a:solidFill>
                  <a:srgbClr val="00B050"/>
                </a:solidFill>
              </a:rPr>
              <a:t>divergete</a:t>
            </a:r>
          </a:p>
        </p:txBody>
      </p:sp>
      <p:sp>
        <p:nvSpPr>
          <p:cNvPr id="203" name="Text Box 177"/>
          <p:cNvSpPr txBox="1">
            <a:spLocks noChangeArrowheads="1"/>
          </p:cNvSpPr>
          <p:nvPr/>
        </p:nvSpPr>
        <p:spPr bwMode="auto">
          <a:xfrm rot="1985095">
            <a:off x="5645150" y="4611688"/>
            <a:ext cx="10191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>
                <a:solidFill>
                  <a:srgbClr val="00B050"/>
                </a:solidFill>
              </a:rPr>
              <a:t>divergente</a:t>
            </a:r>
          </a:p>
        </p:txBody>
      </p:sp>
      <p:sp>
        <p:nvSpPr>
          <p:cNvPr id="204" name="Rectangle 169"/>
          <p:cNvSpPr>
            <a:spLocks noChangeArrowheads="1"/>
          </p:cNvSpPr>
          <p:nvPr/>
        </p:nvSpPr>
        <p:spPr bwMode="auto">
          <a:xfrm>
            <a:off x="142875" y="4497388"/>
            <a:ext cx="2214563" cy="1944687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5" name="Rectangle 169"/>
          <p:cNvSpPr>
            <a:spLocks noChangeArrowheads="1"/>
          </p:cNvSpPr>
          <p:nvPr/>
        </p:nvSpPr>
        <p:spPr bwMode="auto">
          <a:xfrm>
            <a:off x="4748213" y="4500563"/>
            <a:ext cx="2000250" cy="1944687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6" name="205 CuadroTexto"/>
          <p:cNvSpPr txBox="1">
            <a:spLocks noChangeArrowheads="1"/>
          </p:cNvSpPr>
          <p:nvPr/>
        </p:nvSpPr>
        <p:spPr bwMode="auto">
          <a:xfrm>
            <a:off x="1785938" y="2000250"/>
            <a:ext cx="2603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i="1">
                <a:latin typeface="Times New Roman" pitchFamily="18" charset="0"/>
                <a:cs typeface="Times New Roman" pitchFamily="18" charset="0"/>
              </a:rPr>
              <a:t>f’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 : distancia focal imagen</a:t>
            </a:r>
            <a:endParaRPr lang="es-ES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7" name="206 CuadroTexto"/>
          <p:cNvSpPr txBox="1">
            <a:spLocks noChangeArrowheads="1"/>
          </p:cNvSpPr>
          <p:nvPr/>
        </p:nvSpPr>
        <p:spPr bwMode="auto">
          <a:xfrm>
            <a:off x="6254750" y="2000250"/>
            <a:ext cx="23447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: distancia focal objeto</a:t>
            </a:r>
            <a:endParaRPr lang="es-ES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8" name="207 CuadroTexto"/>
          <p:cNvSpPr txBox="1"/>
          <p:nvPr/>
        </p:nvSpPr>
        <p:spPr>
          <a:xfrm>
            <a:off x="7572375" y="214313"/>
            <a:ext cx="1416050" cy="646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s-ES" b="1" dirty="0"/>
              <a:t>Focos</a:t>
            </a:r>
          </a:p>
          <a:p>
            <a:pPr algn="ctr">
              <a:defRPr/>
            </a:pPr>
            <a:r>
              <a:rPr lang="es-ES" b="1" dirty="0"/>
              <a:t>Principales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1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1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5" grpId="0"/>
      <p:bldP spid="13338" grpId="0" animBg="1"/>
      <p:bldP spid="13339" grpId="0" animBg="1"/>
      <p:bldP spid="13340" grpId="0" animBg="1"/>
      <p:bldP spid="13341" grpId="0"/>
      <p:bldP spid="13343" grpId="0"/>
      <p:bldP spid="13358" grpId="0" animBg="1"/>
      <p:bldP spid="13373" grpId="0" animBg="1"/>
      <p:bldP spid="13374" grpId="0"/>
      <p:bldP spid="13387" grpId="0"/>
      <p:bldP spid="13388" grpId="0" animBg="1"/>
      <p:bldP spid="13389" grpId="0"/>
      <p:bldP spid="13390" grpId="0" animBg="1"/>
      <p:bldP spid="13391" grpId="0" animBg="1"/>
      <p:bldP spid="13392" grpId="0" animBg="1"/>
      <p:bldP spid="13406" grpId="0" animBg="1"/>
      <p:bldP spid="13407" grpId="0"/>
      <p:bldP spid="13424" grpId="0"/>
      <p:bldP spid="13425" grpId="0" animBg="1"/>
      <p:bldP spid="13426" grpId="0" animBg="1"/>
      <p:bldP spid="13423" grpId="0" animBg="1"/>
      <p:bldP spid="13462" grpId="0" animBg="1"/>
      <p:bldP spid="13481" grpId="0" animBg="1"/>
      <p:bldP spid="13482" grpId="0" animBg="1"/>
      <p:bldP spid="13483" grpId="0" animBg="1"/>
      <p:bldP spid="13484" grpId="0" animBg="1"/>
      <p:bldP spid="13485" grpId="0"/>
      <p:bldP spid="13486" grpId="0"/>
      <p:bldP spid="13487" grpId="0"/>
      <p:bldP spid="13488" grpId="0"/>
      <p:bldP spid="13489" grpId="0"/>
      <p:bldP spid="13490" grpId="0"/>
      <p:bldP spid="13491" grpId="0"/>
      <p:bldP spid="196" grpId="0" animBg="1"/>
      <p:bldP spid="197" grpId="0"/>
      <p:bldP spid="199" grpId="0" animBg="1"/>
      <p:bldP spid="200" grpId="0"/>
      <p:bldP spid="202" grpId="0"/>
      <p:bldP spid="203" grpId="0"/>
      <p:bldP spid="204" grpId="0" animBg="1"/>
      <p:bldP spid="205" grpId="0" animBg="1"/>
      <p:bldP spid="206" grpId="0"/>
      <p:bldP spid="207" grpId="0"/>
      <p:bldP spid="20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357188" y="285750"/>
          <a:ext cx="28670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cuación" r:id="rId3" imgW="1790640" imgH="419040" progId="Equation.3">
                  <p:embed/>
                </p:oleObj>
              </mc:Choice>
              <mc:Fallback>
                <p:oleObj name="Ecuación" r:id="rId3" imgW="179064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285750"/>
                        <a:ext cx="2867025" cy="669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5124" name="Freeform 7" descr="Onda"/>
          <p:cNvSpPr>
            <a:spLocks/>
          </p:cNvSpPr>
          <p:nvPr/>
        </p:nvSpPr>
        <p:spPr bwMode="auto">
          <a:xfrm>
            <a:off x="85725" y="1025525"/>
            <a:ext cx="4167188" cy="4389438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5125" name="Freeform 8" descr="Cuadrícula grande"/>
          <p:cNvSpPr>
            <a:spLocks/>
          </p:cNvSpPr>
          <p:nvPr/>
        </p:nvSpPr>
        <p:spPr bwMode="auto">
          <a:xfrm>
            <a:off x="3614738" y="944563"/>
            <a:ext cx="5837237" cy="4484687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5126" name="Line 9"/>
          <p:cNvSpPr>
            <a:spLocks noChangeShapeType="1"/>
          </p:cNvSpPr>
          <p:nvPr/>
        </p:nvSpPr>
        <p:spPr bwMode="auto">
          <a:xfrm>
            <a:off x="722313" y="3243263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5127" name="AutoShape 10"/>
          <p:cNvSpPr>
            <a:spLocks/>
          </p:cNvSpPr>
          <p:nvPr/>
        </p:nvSpPr>
        <p:spPr bwMode="auto">
          <a:xfrm>
            <a:off x="3635375" y="1000125"/>
            <a:ext cx="360363" cy="4392613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5128" name="Line 11"/>
          <p:cNvSpPr>
            <a:spLocks noChangeShapeType="1"/>
          </p:cNvSpPr>
          <p:nvPr/>
        </p:nvSpPr>
        <p:spPr bwMode="auto">
          <a:xfrm flipV="1">
            <a:off x="827088" y="2224088"/>
            <a:ext cx="0" cy="10080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5129" name="Oval 12"/>
          <p:cNvSpPr>
            <a:spLocks noChangeArrowheads="1"/>
          </p:cNvSpPr>
          <p:nvPr/>
        </p:nvSpPr>
        <p:spPr bwMode="auto">
          <a:xfrm>
            <a:off x="2317750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5130" name="Oval 13"/>
          <p:cNvSpPr>
            <a:spLocks noChangeArrowheads="1"/>
          </p:cNvSpPr>
          <p:nvPr/>
        </p:nvSpPr>
        <p:spPr bwMode="auto">
          <a:xfrm>
            <a:off x="6154738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5131" name="Text Box 14"/>
          <p:cNvSpPr txBox="1">
            <a:spLocks noChangeArrowheads="1"/>
          </p:cNvSpPr>
          <p:nvPr/>
        </p:nvSpPr>
        <p:spPr bwMode="auto">
          <a:xfrm>
            <a:off x="2160588" y="32607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5132" name="Text Box 15"/>
          <p:cNvSpPr txBox="1">
            <a:spLocks noChangeArrowheads="1"/>
          </p:cNvSpPr>
          <p:nvPr/>
        </p:nvSpPr>
        <p:spPr bwMode="auto">
          <a:xfrm>
            <a:off x="6034088" y="2857500"/>
            <a:ext cx="400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5133" name="Text Box 16"/>
          <p:cNvSpPr txBox="1">
            <a:spLocks noChangeArrowheads="1"/>
          </p:cNvSpPr>
          <p:nvPr/>
        </p:nvSpPr>
        <p:spPr bwMode="auto">
          <a:xfrm>
            <a:off x="3059113" y="48895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5134" name="Text Box 17"/>
          <p:cNvSpPr txBox="1">
            <a:spLocks noChangeArrowheads="1"/>
          </p:cNvSpPr>
          <p:nvPr/>
        </p:nvSpPr>
        <p:spPr bwMode="auto">
          <a:xfrm>
            <a:off x="3851275" y="488950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755650" y="2224088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4355" name="Freeform 19"/>
          <p:cNvSpPr>
            <a:spLocks/>
          </p:cNvSpPr>
          <p:nvPr/>
        </p:nvSpPr>
        <p:spPr bwMode="auto">
          <a:xfrm>
            <a:off x="3635375" y="2224088"/>
            <a:ext cx="5303838" cy="2089150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4356" name="Freeform 20"/>
          <p:cNvSpPr>
            <a:spLocks/>
          </p:cNvSpPr>
          <p:nvPr/>
        </p:nvSpPr>
        <p:spPr bwMode="auto">
          <a:xfrm>
            <a:off x="817563" y="2236788"/>
            <a:ext cx="2817812" cy="1828800"/>
          </a:xfrm>
          <a:custGeom>
            <a:avLst/>
            <a:gdLst>
              <a:gd name="T0" fmla="*/ 0 w 1775"/>
              <a:gd name="T1" fmla="*/ 0 h 1152"/>
              <a:gd name="T2" fmla="*/ 2147483647 w 1775"/>
              <a:gd name="T3" fmla="*/ 2147483647 h 1152"/>
              <a:gd name="T4" fmla="*/ 0 60000 65536"/>
              <a:gd name="T5" fmla="*/ 0 60000 65536"/>
              <a:gd name="T6" fmla="*/ 0 w 1775"/>
              <a:gd name="T7" fmla="*/ 0 h 1152"/>
              <a:gd name="T8" fmla="*/ 1775 w 1775"/>
              <a:gd name="T9" fmla="*/ 1152 h 11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4357" name="Line 21"/>
          <p:cNvSpPr>
            <a:spLocks noChangeShapeType="1"/>
          </p:cNvSpPr>
          <p:nvPr/>
        </p:nvSpPr>
        <p:spPr bwMode="auto">
          <a:xfrm>
            <a:off x="3635375" y="4075113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58" name="Freeform 22"/>
          <p:cNvSpPr>
            <a:spLocks/>
          </p:cNvSpPr>
          <p:nvPr/>
        </p:nvSpPr>
        <p:spPr bwMode="auto">
          <a:xfrm>
            <a:off x="827088" y="2224088"/>
            <a:ext cx="8220075" cy="2014537"/>
          </a:xfrm>
          <a:custGeom>
            <a:avLst/>
            <a:gdLst>
              <a:gd name="T0" fmla="*/ 0 w 5178"/>
              <a:gd name="T1" fmla="*/ 0 h 1269"/>
              <a:gd name="T2" fmla="*/ 2147483647 w 5178"/>
              <a:gd name="T3" fmla="*/ 2147483647 h 1269"/>
              <a:gd name="T4" fmla="*/ 0 60000 65536"/>
              <a:gd name="T5" fmla="*/ 0 60000 65536"/>
              <a:gd name="T6" fmla="*/ 0 w 5178"/>
              <a:gd name="T7" fmla="*/ 0 h 1269"/>
              <a:gd name="T8" fmla="*/ 5178 w 5178"/>
              <a:gd name="T9" fmla="*/ 1269 h 12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178" h="1269">
                <a:moveTo>
                  <a:pt x="0" y="0"/>
                </a:moveTo>
                <a:lnTo>
                  <a:pt x="5178" y="1269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5140" name="Line 23"/>
          <p:cNvSpPr>
            <a:spLocks noChangeShapeType="1"/>
          </p:cNvSpPr>
          <p:nvPr/>
        </p:nvSpPr>
        <p:spPr bwMode="auto">
          <a:xfrm>
            <a:off x="5003800" y="3089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4360" name="Freeform 24"/>
          <p:cNvSpPr>
            <a:spLocks/>
          </p:cNvSpPr>
          <p:nvPr/>
        </p:nvSpPr>
        <p:spPr bwMode="auto">
          <a:xfrm>
            <a:off x="8304213" y="3238500"/>
            <a:ext cx="1587" cy="831850"/>
          </a:xfrm>
          <a:custGeom>
            <a:avLst/>
            <a:gdLst>
              <a:gd name="T0" fmla="*/ 0 w 14"/>
              <a:gd name="T1" fmla="*/ 0 h 570"/>
              <a:gd name="T2" fmla="*/ 2147483647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14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5142" name="Text Box 25"/>
          <p:cNvSpPr txBox="1">
            <a:spLocks noChangeArrowheads="1"/>
          </p:cNvSpPr>
          <p:nvPr/>
        </p:nvSpPr>
        <p:spPr bwMode="auto">
          <a:xfrm>
            <a:off x="647700" y="3181350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8101013" y="2873375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5144" name="Text Box 27"/>
          <p:cNvSpPr txBox="1">
            <a:spLocks noChangeArrowheads="1"/>
          </p:cNvSpPr>
          <p:nvPr/>
        </p:nvSpPr>
        <p:spPr bwMode="auto">
          <a:xfrm>
            <a:off x="684213" y="1865313"/>
            <a:ext cx="376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8135938" y="4168775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5146" name="Text Box 29"/>
          <p:cNvSpPr txBox="1">
            <a:spLocks noChangeArrowheads="1"/>
          </p:cNvSpPr>
          <p:nvPr/>
        </p:nvSpPr>
        <p:spPr bwMode="auto">
          <a:xfrm>
            <a:off x="539750" y="25130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8316913" y="344963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4367" name="Line 31"/>
          <p:cNvSpPr>
            <a:spLocks noChangeShapeType="1"/>
          </p:cNvSpPr>
          <p:nvPr/>
        </p:nvSpPr>
        <p:spPr bwMode="auto">
          <a:xfrm>
            <a:off x="827088" y="2224088"/>
            <a:ext cx="2808287" cy="1008062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4368" name="Freeform 32"/>
          <p:cNvSpPr>
            <a:spLocks/>
          </p:cNvSpPr>
          <p:nvPr/>
        </p:nvSpPr>
        <p:spPr bwMode="auto">
          <a:xfrm>
            <a:off x="3635375" y="3232150"/>
            <a:ext cx="5143500" cy="920750"/>
          </a:xfrm>
          <a:custGeom>
            <a:avLst/>
            <a:gdLst>
              <a:gd name="T0" fmla="*/ 0 w 3240"/>
              <a:gd name="T1" fmla="*/ 0 h 580"/>
              <a:gd name="T2" fmla="*/ 2147483647 w 3240"/>
              <a:gd name="T3" fmla="*/ 2147483647 h 580"/>
              <a:gd name="T4" fmla="*/ 0 60000 65536"/>
              <a:gd name="T5" fmla="*/ 0 60000 65536"/>
              <a:gd name="T6" fmla="*/ 0 w 3240"/>
              <a:gd name="T7" fmla="*/ 0 h 580"/>
              <a:gd name="T8" fmla="*/ 3240 w 3240"/>
              <a:gd name="T9" fmla="*/ 580 h 5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40" h="580">
                <a:moveTo>
                  <a:pt x="0" y="0"/>
                </a:moveTo>
                <a:lnTo>
                  <a:pt x="3240" y="580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5150" name="Text Box 33"/>
          <p:cNvSpPr txBox="1">
            <a:spLocks noChangeArrowheads="1"/>
          </p:cNvSpPr>
          <p:nvPr/>
        </p:nvSpPr>
        <p:spPr bwMode="auto">
          <a:xfrm>
            <a:off x="5643563" y="5016500"/>
            <a:ext cx="33448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</a:t>
            </a:r>
            <a:r>
              <a:rPr lang="es-ES_tradnl">
                <a:latin typeface="Times New Roman" pitchFamily="18" charset="0"/>
              </a:rPr>
              <a:t> &gt; 0, </a:t>
            </a:r>
            <a:r>
              <a:rPr lang="es-ES_tradnl" i="1">
                <a:latin typeface="Times New Roman" pitchFamily="18" charset="0"/>
              </a:rPr>
              <a:t>n &lt; n</a:t>
            </a:r>
            <a:r>
              <a:rPr lang="es-ES_tradnl">
                <a:latin typeface="Times New Roman" pitchFamily="18" charset="0"/>
              </a:rPr>
              <a:t>’, dioptra convergente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8296275" y="6473825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6</a:t>
            </a:r>
          </a:p>
        </p:txBody>
      </p:sp>
      <p:sp>
        <p:nvSpPr>
          <p:cNvPr id="5152" name="33 CuadroTexto"/>
          <p:cNvSpPr txBox="1">
            <a:spLocks noChangeArrowheads="1"/>
          </p:cNvSpPr>
          <p:nvPr/>
        </p:nvSpPr>
        <p:spPr bwMode="auto">
          <a:xfrm>
            <a:off x="214313" y="3659188"/>
            <a:ext cx="169068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Objeto Real (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" sz="1400">
                <a:latin typeface="Times New Roman" pitchFamily="18" charset="0"/>
                <a:cs typeface="Times New Roman" pitchFamily="18" charset="0"/>
              </a:rPr>
              <a:t> &lt; 0</a:t>
            </a:r>
            <a:r>
              <a:rPr lang="es-ES" sz="1400"/>
              <a:t>)</a:t>
            </a:r>
          </a:p>
        </p:txBody>
      </p:sp>
      <p:sp>
        <p:nvSpPr>
          <p:cNvPr id="5153" name="Text Box 36"/>
          <p:cNvSpPr txBox="1">
            <a:spLocks noChangeArrowheads="1"/>
          </p:cNvSpPr>
          <p:nvPr/>
        </p:nvSpPr>
        <p:spPr bwMode="auto">
          <a:xfrm>
            <a:off x="4806950" y="343535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5154" name="36 CuadroTexto"/>
          <p:cNvSpPr txBox="1">
            <a:spLocks noChangeArrowheads="1"/>
          </p:cNvSpPr>
          <p:nvPr/>
        </p:nvSpPr>
        <p:spPr bwMode="auto">
          <a:xfrm>
            <a:off x="3643313" y="285750"/>
            <a:ext cx="4775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Formación de Imágenes – Rayos Principales</a:t>
            </a:r>
          </a:p>
        </p:txBody>
      </p:sp>
      <p:sp>
        <p:nvSpPr>
          <p:cNvPr id="38" name="37 CuadroTexto"/>
          <p:cNvSpPr txBox="1">
            <a:spLocks noChangeArrowheads="1"/>
          </p:cNvSpPr>
          <p:nvPr/>
        </p:nvSpPr>
        <p:spPr bwMode="auto">
          <a:xfrm>
            <a:off x="357188" y="5572125"/>
            <a:ext cx="84994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00FF"/>
                </a:solidFill>
              </a:rPr>
              <a:t>(1) Incidente: dirección paralela al eje principal. Refractado: dirección que pasa por foco principal imagen</a:t>
            </a:r>
          </a:p>
        </p:txBody>
      </p:sp>
      <p:sp>
        <p:nvSpPr>
          <p:cNvPr id="39" name="38 CuadroTexto"/>
          <p:cNvSpPr txBox="1">
            <a:spLocks noChangeArrowheads="1"/>
          </p:cNvSpPr>
          <p:nvPr/>
        </p:nvSpPr>
        <p:spPr bwMode="auto">
          <a:xfrm>
            <a:off x="357188" y="5835650"/>
            <a:ext cx="83010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A50021"/>
                </a:solidFill>
              </a:rPr>
              <a:t>(2) Incidente: dirección pasa por el foco principal imagen. Refractado: dirección paralela al eje principal</a:t>
            </a:r>
          </a:p>
        </p:txBody>
      </p:sp>
      <p:sp>
        <p:nvSpPr>
          <p:cNvPr id="40" name="39 CuadroTexto"/>
          <p:cNvSpPr txBox="1">
            <a:spLocks noChangeArrowheads="1"/>
          </p:cNvSpPr>
          <p:nvPr/>
        </p:nvSpPr>
        <p:spPr bwMode="auto">
          <a:xfrm>
            <a:off x="358775" y="6121400"/>
            <a:ext cx="65976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CCFF"/>
                </a:solidFill>
              </a:rPr>
              <a:t>(3) Incidente: dirección pasa por el centro de la dioptra. Refractado: no se desvía</a:t>
            </a:r>
          </a:p>
        </p:txBody>
      </p:sp>
      <p:sp>
        <p:nvSpPr>
          <p:cNvPr id="41" name="40 CuadroTexto"/>
          <p:cNvSpPr txBox="1">
            <a:spLocks noChangeArrowheads="1"/>
          </p:cNvSpPr>
          <p:nvPr/>
        </p:nvSpPr>
        <p:spPr bwMode="auto">
          <a:xfrm>
            <a:off x="2214563" y="1857375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42" name="41 CuadroTexto"/>
          <p:cNvSpPr txBox="1">
            <a:spLocks noChangeArrowheads="1"/>
          </p:cNvSpPr>
          <p:nvPr/>
        </p:nvSpPr>
        <p:spPr bwMode="auto">
          <a:xfrm>
            <a:off x="1214438" y="2714625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43" name="42 CuadroTexto"/>
          <p:cNvSpPr txBox="1">
            <a:spLocks noChangeArrowheads="1"/>
          </p:cNvSpPr>
          <p:nvPr/>
        </p:nvSpPr>
        <p:spPr bwMode="auto">
          <a:xfrm>
            <a:off x="2366963" y="230505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44" name="43 CuadroTexto"/>
          <p:cNvSpPr txBox="1">
            <a:spLocks noChangeArrowheads="1"/>
          </p:cNvSpPr>
          <p:nvPr/>
        </p:nvSpPr>
        <p:spPr bwMode="auto">
          <a:xfrm>
            <a:off x="7286625" y="4572000"/>
            <a:ext cx="17653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Imagen Real (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_tradnl" sz="1400">
                <a:latin typeface="Times New Roman" pitchFamily="18" charset="0"/>
              </a:rPr>
              <a:t>’</a:t>
            </a:r>
            <a:r>
              <a:rPr lang="es-ES" sz="1400">
                <a:latin typeface="Times New Roman" pitchFamily="18" charset="0"/>
                <a:cs typeface="Times New Roman" pitchFamily="18" charset="0"/>
              </a:rPr>
              <a:t> &gt; 0</a:t>
            </a:r>
            <a:r>
              <a:rPr lang="es-ES" sz="1400"/>
              <a:t>)</a:t>
            </a:r>
          </a:p>
        </p:txBody>
      </p:sp>
      <p:sp>
        <p:nvSpPr>
          <p:cNvPr id="45" name="44 CuadroTexto"/>
          <p:cNvSpPr txBox="1">
            <a:spLocks noChangeArrowheads="1"/>
          </p:cNvSpPr>
          <p:nvPr/>
        </p:nvSpPr>
        <p:spPr bwMode="auto">
          <a:xfrm>
            <a:off x="857250" y="6488113"/>
            <a:ext cx="39020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Los rayos refractados se cortan </a:t>
            </a:r>
            <a:r>
              <a:rPr lang="es-ES" sz="1400">
                <a:sym typeface="Symbol" pitchFamily="18" charset="2"/>
              </a:rPr>
              <a:t></a:t>
            </a:r>
            <a:r>
              <a:rPr lang="es-ES" sz="1400"/>
              <a:t> imagen real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4" grpId="0" animBg="1"/>
      <p:bldP spid="14355" grpId="0" animBg="1"/>
      <p:bldP spid="14356" grpId="0" animBg="1"/>
      <p:bldP spid="14357" grpId="0" animBg="1"/>
      <p:bldP spid="14358" grpId="0" animBg="1"/>
      <p:bldP spid="14360" grpId="0" animBg="1"/>
      <p:bldP spid="14362" grpId="0"/>
      <p:bldP spid="14364" grpId="0"/>
      <p:bldP spid="14366" grpId="0"/>
      <p:bldP spid="14367" grpId="0" animBg="1"/>
      <p:bldP spid="14368" grpId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571500" y="357188"/>
          <a:ext cx="28670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cuación" r:id="rId3" imgW="1790640" imgH="419040" progId="Equation.3">
                  <p:embed/>
                </p:oleObj>
              </mc:Choice>
              <mc:Fallback>
                <p:oleObj name="Ecuación" r:id="rId3" imgW="179064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357188"/>
                        <a:ext cx="2867025" cy="669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3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graphicFrame>
        <p:nvGraphicFramePr>
          <p:cNvPr id="6147" name="Object 4"/>
          <p:cNvGraphicFramePr>
            <a:graphicFrameLocks noChangeAspect="1"/>
          </p:cNvGraphicFramePr>
          <p:nvPr/>
        </p:nvGraphicFramePr>
        <p:xfrm>
          <a:off x="6357938" y="428625"/>
          <a:ext cx="1281112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cuación" r:id="rId5" imgW="799920" imgH="393480" progId="Equation.3">
                  <p:embed/>
                </p:oleObj>
              </mc:Choice>
              <mc:Fallback>
                <p:oleObj name="Ecuación" r:id="rId5" imgW="79992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38" y="428625"/>
                        <a:ext cx="1281112" cy="6302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Freeform 5" descr="Onda"/>
          <p:cNvSpPr>
            <a:spLocks/>
          </p:cNvSpPr>
          <p:nvPr/>
        </p:nvSpPr>
        <p:spPr bwMode="auto">
          <a:xfrm>
            <a:off x="85725" y="1509713"/>
            <a:ext cx="4167188" cy="4389437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6153" name="Freeform 6" descr="Cuadrícula grande"/>
          <p:cNvSpPr>
            <a:spLocks/>
          </p:cNvSpPr>
          <p:nvPr/>
        </p:nvSpPr>
        <p:spPr bwMode="auto">
          <a:xfrm>
            <a:off x="3614738" y="1458913"/>
            <a:ext cx="5837237" cy="4484687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6154" name="Line 7"/>
          <p:cNvSpPr>
            <a:spLocks noChangeShapeType="1"/>
          </p:cNvSpPr>
          <p:nvPr/>
        </p:nvSpPr>
        <p:spPr bwMode="auto">
          <a:xfrm>
            <a:off x="722313" y="3727450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6155" name="AutoShape 8"/>
          <p:cNvSpPr>
            <a:spLocks/>
          </p:cNvSpPr>
          <p:nvPr/>
        </p:nvSpPr>
        <p:spPr bwMode="auto">
          <a:xfrm>
            <a:off x="3635375" y="1484313"/>
            <a:ext cx="360363" cy="4392612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6156" name="Line 9"/>
          <p:cNvSpPr>
            <a:spLocks noChangeShapeType="1"/>
          </p:cNvSpPr>
          <p:nvPr/>
        </p:nvSpPr>
        <p:spPr bwMode="auto">
          <a:xfrm flipV="1">
            <a:off x="827088" y="2708275"/>
            <a:ext cx="0" cy="10080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6157" name="Oval 10"/>
          <p:cNvSpPr>
            <a:spLocks noChangeArrowheads="1"/>
          </p:cNvSpPr>
          <p:nvPr/>
        </p:nvSpPr>
        <p:spPr bwMode="auto">
          <a:xfrm>
            <a:off x="2317750" y="368935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6158" name="Oval 11"/>
          <p:cNvSpPr>
            <a:spLocks noChangeArrowheads="1"/>
          </p:cNvSpPr>
          <p:nvPr/>
        </p:nvSpPr>
        <p:spPr bwMode="auto">
          <a:xfrm>
            <a:off x="6154738" y="368935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6159" name="Text Box 12"/>
          <p:cNvSpPr txBox="1">
            <a:spLocks noChangeArrowheads="1"/>
          </p:cNvSpPr>
          <p:nvPr/>
        </p:nvSpPr>
        <p:spPr bwMode="auto">
          <a:xfrm>
            <a:off x="2160588" y="374491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6160" name="Text Box 13"/>
          <p:cNvSpPr txBox="1">
            <a:spLocks noChangeArrowheads="1"/>
          </p:cNvSpPr>
          <p:nvPr/>
        </p:nvSpPr>
        <p:spPr bwMode="auto">
          <a:xfrm>
            <a:off x="6034088" y="334010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6161" name="Text Box 14"/>
          <p:cNvSpPr txBox="1">
            <a:spLocks noChangeArrowheads="1"/>
          </p:cNvSpPr>
          <p:nvPr/>
        </p:nvSpPr>
        <p:spPr bwMode="auto">
          <a:xfrm>
            <a:off x="3059113" y="53736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6162" name="Text Box 15"/>
          <p:cNvSpPr txBox="1">
            <a:spLocks noChangeArrowheads="1"/>
          </p:cNvSpPr>
          <p:nvPr/>
        </p:nvSpPr>
        <p:spPr bwMode="auto">
          <a:xfrm>
            <a:off x="3851275" y="537368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755650" y="2708275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7425" name="Freeform 17"/>
          <p:cNvSpPr>
            <a:spLocks/>
          </p:cNvSpPr>
          <p:nvPr/>
        </p:nvSpPr>
        <p:spPr bwMode="auto">
          <a:xfrm>
            <a:off x="3635375" y="2708275"/>
            <a:ext cx="5303838" cy="2089150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7426" name="Freeform 18"/>
          <p:cNvSpPr>
            <a:spLocks/>
          </p:cNvSpPr>
          <p:nvPr/>
        </p:nvSpPr>
        <p:spPr bwMode="auto">
          <a:xfrm>
            <a:off x="817563" y="2720975"/>
            <a:ext cx="2817812" cy="1828800"/>
          </a:xfrm>
          <a:custGeom>
            <a:avLst/>
            <a:gdLst>
              <a:gd name="T0" fmla="*/ 0 w 1775"/>
              <a:gd name="T1" fmla="*/ 0 h 1152"/>
              <a:gd name="T2" fmla="*/ 2147483647 w 1775"/>
              <a:gd name="T3" fmla="*/ 2147483647 h 1152"/>
              <a:gd name="T4" fmla="*/ 0 60000 65536"/>
              <a:gd name="T5" fmla="*/ 0 60000 65536"/>
              <a:gd name="T6" fmla="*/ 0 w 1775"/>
              <a:gd name="T7" fmla="*/ 0 h 1152"/>
              <a:gd name="T8" fmla="*/ 1775 w 1775"/>
              <a:gd name="T9" fmla="*/ 1152 h 11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7427" name="Line 19"/>
          <p:cNvSpPr>
            <a:spLocks noChangeShapeType="1"/>
          </p:cNvSpPr>
          <p:nvPr/>
        </p:nvSpPr>
        <p:spPr bwMode="auto">
          <a:xfrm>
            <a:off x="3635375" y="4559300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7428" name="Freeform 20"/>
          <p:cNvSpPr>
            <a:spLocks/>
          </p:cNvSpPr>
          <p:nvPr/>
        </p:nvSpPr>
        <p:spPr bwMode="auto">
          <a:xfrm>
            <a:off x="827088" y="2708275"/>
            <a:ext cx="8220075" cy="2014538"/>
          </a:xfrm>
          <a:custGeom>
            <a:avLst/>
            <a:gdLst>
              <a:gd name="T0" fmla="*/ 0 w 5178"/>
              <a:gd name="T1" fmla="*/ 0 h 1269"/>
              <a:gd name="T2" fmla="*/ 2147483647 w 5178"/>
              <a:gd name="T3" fmla="*/ 2147483647 h 1269"/>
              <a:gd name="T4" fmla="*/ 0 60000 65536"/>
              <a:gd name="T5" fmla="*/ 0 60000 65536"/>
              <a:gd name="T6" fmla="*/ 0 w 5178"/>
              <a:gd name="T7" fmla="*/ 0 h 1269"/>
              <a:gd name="T8" fmla="*/ 5178 w 5178"/>
              <a:gd name="T9" fmla="*/ 1269 h 12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178" h="1269">
                <a:moveTo>
                  <a:pt x="0" y="0"/>
                </a:moveTo>
                <a:lnTo>
                  <a:pt x="5178" y="1269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7429" name="Line 21"/>
          <p:cNvSpPr>
            <a:spLocks noChangeShapeType="1"/>
          </p:cNvSpPr>
          <p:nvPr/>
        </p:nvSpPr>
        <p:spPr bwMode="auto">
          <a:xfrm>
            <a:off x="5003800" y="357346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6169" name="Freeform 22"/>
          <p:cNvSpPr>
            <a:spLocks/>
          </p:cNvSpPr>
          <p:nvPr/>
        </p:nvSpPr>
        <p:spPr bwMode="auto">
          <a:xfrm>
            <a:off x="8304213" y="3722688"/>
            <a:ext cx="1587" cy="831850"/>
          </a:xfrm>
          <a:custGeom>
            <a:avLst/>
            <a:gdLst>
              <a:gd name="T0" fmla="*/ 0 w 14"/>
              <a:gd name="T1" fmla="*/ 0 h 570"/>
              <a:gd name="T2" fmla="*/ 2147483647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14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6170" name="Text Box 23"/>
          <p:cNvSpPr txBox="1">
            <a:spLocks noChangeArrowheads="1"/>
          </p:cNvSpPr>
          <p:nvPr/>
        </p:nvSpPr>
        <p:spPr bwMode="auto">
          <a:xfrm>
            <a:off x="647700" y="366553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6171" name="Text Box 24"/>
          <p:cNvSpPr txBox="1">
            <a:spLocks noChangeArrowheads="1"/>
          </p:cNvSpPr>
          <p:nvPr/>
        </p:nvSpPr>
        <p:spPr bwMode="auto">
          <a:xfrm>
            <a:off x="8101013" y="335756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6172" name="Text Box 25"/>
          <p:cNvSpPr txBox="1">
            <a:spLocks noChangeArrowheads="1"/>
          </p:cNvSpPr>
          <p:nvPr/>
        </p:nvSpPr>
        <p:spPr bwMode="auto">
          <a:xfrm>
            <a:off x="684213" y="2349500"/>
            <a:ext cx="376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6173" name="Text Box 26"/>
          <p:cNvSpPr txBox="1">
            <a:spLocks noChangeArrowheads="1"/>
          </p:cNvSpPr>
          <p:nvPr/>
        </p:nvSpPr>
        <p:spPr bwMode="auto">
          <a:xfrm>
            <a:off x="8135938" y="465296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6174" name="Text Box 27"/>
          <p:cNvSpPr txBox="1">
            <a:spLocks noChangeArrowheads="1"/>
          </p:cNvSpPr>
          <p:nvPr/>
        </p:nvSpPr>
        <p:spPr bwMode="auto">
          <a:xfrm>
            <a:off x="539750" y="29972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</a:p>
        </p:txBody>
      </p:sp>
      <p:sp>
        <p:nvSpPr>
          <p:cNvPr id="6175" name="Text Box 28"/>
          <p:cNvSpPr txBox="1">
            <a:spLocks noChangeArrowheads="1"/>
          </p:cNvSpPr>
          <p:nvPr/>
        </p:nvSpPr>
        <p:spPr bwMode="auto">
          <a:xfrm>
            <a:off x="8316913" y="39338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6176" name="Line 29"/>
          <p:cNvSpPr>
            <a:spLocks noChangeShapeType="1"/>
          </p:cNvSpPr>
          <p:nvPr/>
        </p:nvSpPr>
        <p:spPr bwMode="auto">
          <a:xfrm>
            <a:off x="827088" y="2708275"/>
            <a:ext cx="2808287" cy="100806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6177" name="Freeform 30"/>
          <p:cNvSpPr>
            <a:spLocks/>
          </p:cNvSpPr>
          <p:nvPr/>
        </p:nvSpPr>
        <p:spPr bwMode="auto">
          <a:xfrm>
            <a:off x="3635375" y="3716338"/>
            <a:ext cx="5143500" cy="920750"/>
          </a:xfrm>
          <a:custGeom>
            <a:avLst/>
            <a:gdLst>
              <a:gd name="T0" fmla="*/ 0 w 3240"/>
              <a:gd name="T1" fmla="*/ 0 h 580"/>
              <a:gd name="T2" fmla="*/ 2147483647 w 3240"/>
              <a:gd name="T3" fmla="*/ 2147483647 h 580"/>
              <a:gd name="T4" fmla="*/ 0 60000 65536"/>
              <a:gd name="T5" fmla="*/ 0 60000 65536"/>
              <a:gd name="T6" fmla="*/ 0 w 3240"/>
              <a:gd name="T7" fmla="*/ 0 h 580"/>
              <a:gd name="T8" fmla="*/ 3240 w 3240"/>
              <a:gd name="T9" fmla="*/ 580 h 5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40" h="580">
                <a:moveTo>
                  <a:pt x="0" y="0"/>
                </a:moveTo>
                <a:lnTo>
                  <a:pt x="3240" y="580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7439" name="Arc 31"/>
          <p:cNvSpPr>
            <a:spLocks/>
          </p:cNvSpPr>
          <p:nvPr/>
        </p:nvSpPr>
        <p:spPr bwMode="auto">
          <a:xfrm flipH="1">
            <a:off x="2627313" y="3429000"/>
            <a:ext cx="73025" cy="287338"/>
          </a:xfrm>
          <a:custGeom>
            <a:avLst/>
            <a:gdLst>
              <a:gd name="T0" fmla="*/ 0 w 21600"/>
              <a:gd name="T1" fmla="*/ 0 h 21600"/>
              <a:gd name="T2" fmla="*/ 1246271678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7440" name="Arc 32"/>
          <p:cNvSpPr>
            <a:spLocks/>
          </p:cNvSpPr>
          <p:nvPr/>
        </p:nvSpPr>
        <p:spPr bwMode="auto">
          <a:xfrm rot="2263616">
            <a:off x="4719638" y="3713163"/>
            <a:ext cx="68262" cy="287337"/>
          </a:xfrm>
          <a:custGeom>
            <a:avLst/>
            <a:gdLst>
              <a:gd name="T0" fmla="*/ 0 w 20319"/>
              <a:gd name="T1" fmla="*/ 0 h 21600"/>
              <a:gd name="T2" fmla="*/ 1107621480 w 20319"/>
              <a:gd name="T3" fmla="*/ 2147483647 h 21600"/>
              <a:gd name="T4" fmla="*/ 0 w 20319"/>
              <a:gd name="T5" fmla="*/ 2147483647 h 21600"/>
              <a:gd name="T6" fmla="*/ 0 60000 65536"/>
              <a:gd name="T7" fmla="*/ 0 60000 65536"/>
              <a:gd name="T8" fmla="*/ 0 60000 65536"/>
              <a:gd name="T9" fmla="*/ 0 w 20319"/>
              <a:gd name="T10" fmla="*/ 0 h 21600"/>
              <a:gd name="T11" fmla="*/ 20319 w 2031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319" h="21600" fill="none" extrusionOk="0">
                <a:moveTo>
                  <a:pt x="-1" y="0"/>
                </a:moveTo>
                <a:cubicBezTo>
                  <a:pt x="9104" y="0"/>
                  <a:pt x="17230" y="5708"/>
                  <a:pt x="20319" y="14272"/>
                </a:cubicBezTo>
              </a:path>
              <a:path w="20319" h="21600" stroke="0" extrusionOk="0">
                <a:moveTo>
                  <a:pt x="-1" y="0"/>
                </a:moveTo>
                <a:cubicBezTo>
                  <a:pt x="9104" y="0"/>
                  <a:pt x="17230" y="5708"/>
                  <a:pt x="20319" y="14272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7441" name="Text Box 33"/>
          <p:cNvSpPr txBox="1">
            <a:spLocks noChangeArrowheads="1"/>
          </p:cNvSpPr>
          <p:nvPr/>
        </p:nvSpPr>
        <p:spPr bwMode="auto">
          <a:xfrm>
            <a:off x="2247900" y="3302000"/>
            <a:ext cx="309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  <a:sym typeface="Symbol" pitchFamily="18" charset="2"/>
              </a:rPr>
              <a:t></a:t>
            </a:r>
          </a:p>
        </p:txBody>
      </p:sp>
      <p:sp>
        <p:nvSpPr>
          <p:cNvPr id="17442" name="Text Box 34"/>
          <p:cNvSpPr txBox="1">
            <a:spLocks noChangeArrowheads="1"/>
          </p:cNvSpPr>
          <p:nvPr/>
        </p:nvSpPr>
        <p:spPr bwMode="auto">
          <a:xfrm>
            <a:off x="4765675" y="3633788"/>
            <a:ext cx="385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  <a:sym typeface="Symbol" pitchFamily="18" charset="2"/>
              </a:rPr>
              <a:t>’</a:t>
            </a:r>
          </a:p>
        </p:txBody>
      </p:sp>
      <p:sp>
        <p:nvSpPr>
          <p:cNvPr id="17444" name="Text Box 36"/>
          <p:cNvSpPr txBox="1">
            <a:spLocks noChangeArrowheads="1"/>
          </p:cNvSpPr>
          <p:nvPr/>
        </p:nvSpPr>
        <p:spPr bwMode="auto">
          <a:xfrm>
            <a:off x="8296275" y="6473825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7</a:t>
            </a:r>
          </a:p>
        </p:txBody>
      </p:sp>
      <p:sp>
        <p:nvSpPr>
          <p:cNvPr id="6183" name="38 CuadroTexto"/>
          <p:cNvSpPr txBox="1">
            <a:spLocks noChangeArrowheads="1"/>
          </p:cNvSpPr>
          <p:nvPr/>
        </p:nvSpPr>
        <p:spPr bwMode="auto">
          <a:xfrm>
            <a:off x="4214813" y="500063"/>
            <a:ext cx="18780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Aumento Lateral</a:t>
            </a:r>
          </a:p>
        </p:txBody>
      </p:sp>
      <p:graphicFrame>
        <p:nvGraphicFramePr>
          <p:cNvPr id="17445" name="Object 37"/>
          <p:cNvGraphicFramePr>
            <a:graphicFrameLocks noChangeAspect="1"/>
          </p:cNvGraphicFramePr>
          <p:nvPr/>
        </p:nvGraphicFramePr>
        <p:xfrm>
          <a:off x="6858000" y="1643063"/>
          <a:ext cx="18478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cuación" r:id="rId7" imgW="1155600" imgH="203040" progId="Equation.3">
                  <p:embed/>
                </p:oleObj>
              </mc:Choice>
              <mc:Fallback>
                <p:oleObj name="Ecuación" r:id="rId7" imgW="1155600" imgH="2030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643063"/>
                        <a:ext cx="184785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4" name="Text Box 33"/>
          <p:cNvSpPr txBox="1">
            <a:spLocks noChangeArrowheads="1"/>
          </p:cNvSpPr>
          <p:nvPr/>
        </p:nvSpPr>
        <p:spPr bwMode="auto">
          <a:xfrm>
            <a:off x="5643563" y="5572125"/>
            <a:ext cx="33448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</a:t>
            </a:r>
            <a:r>
              <a:rPr lang="es-ES_tradnl">
                <a:latin typeface="Times New Roman" pitchFamily="18" charset="0"/>
              </a:rPr>
              <a:t> &gt; 0, </a:t>
            </a:r>
            <a:r>
              <a:rPr lang="es-ES_tradnl" i="1">
                <a:latin typeface="Times New Roman" pitchFamily="18" charset="0"/>
              </a:rPr>
              <a:t>n &lt; n</a:t>
            </a:r>
            <a:r>
              <a:rPr lang="es-ES_tradnl">
                <a:latin typeface="Times New Roman" pitchFamily="18" charset="0"/>
              </a:rPr>
              <a:t>’, dioptra convergente</a:t>
            </a:r>
          </a:p>
        </p:txBody>
      </p:sp>
      <p:sp>
        <p:nvSpPr>
          <p:cNvPr id="42" name="41 CuadroTexto"/>
          <p:cNvSpPr txBox="1">
            <a:spLocks noChangeArrowheads="1"/>
          </p:cNvSpPr>
          <p:nvPr/>
        </p:nvSpPr>
        <p:spPr bwMode="auto">
          <a:xfrm>
            <a:off x="3643313" y="1643063"/>
            <a:ext cx="30210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Ley de Snell (aplicada en el vértice)</a:t>
            </a:r>
          </a:p>
        </p:txBody>
      </p:sp>
      <p:sp>
        <p:nvSpPr>
          <p:cNvPr id="6186" name="Line 45"/>
          <p:cNvSpPr>
            <a:spLocks noChangeShapeType="1"/>
          </p:cNvSpPr>
          <p:nvPr/>
        </p:nvSpPr>
        <p:spPr bwMode="auto">
          <a:xfrm flipH="1">
            <a:off x="785813" y="4098925"/>
            <a:ext cx="285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6187" name="Text Box 47"/>
          <p:cNvSpPr txBox="1">
            <a:spLocks noChangeArrowheads="1"/>
          </p:cNvSpPr>
          <p:nvPr/>
        </p:nvSpPr>
        <p:spPr bwMode="auto">
          <a:xfrm>
            <a:off x="2103438" y="4071938"/>
            <a:ext cx="7254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</a:rPr>
              <a:t> (&lt;0)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6188" name="Text Box 48"/>
          <p:cNvSpPr txBox="1">
            <a:spLocks noChangeArrowheads="1"/>
          </p:cNvSpPr>
          <p:nvPr/>
        </p:nvSpPr>
        <p:spPr bwMode="auto">
          <a:xfrm>
            <a:off x="4783138" y="5143500"/>
            <a:ext cx="801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</a:rPr>
              <a:t>’ (&gt;0)</a:t>
            </a:r>
            <a:endParaRPr lang="es-ES_tradnl" i="1">
              <a:latin typeface="Times New Roman" pitchFamily="18" charset="0"/>
            </a:endParaRPr>
          </a:p>
        </p:txBody>
      </p:sp>
      <p:cxnSp>
        <p:nvCxnSpPr>
          <p:cNvPr id="47" name="46 Conector recto de flecha"/>
          <p:cNvCxnSpPr/>
          <p:nvPr/>
        </p:nvCxnSpPr>
        <p:spPr>
          <a:xfrm>
            <a:off x="3643313" y="5153025"/>
            <a:ext cx="4643437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446" name="Object 38"/>
          <p:cNvGraphicFramePr>
            <a:graphicFrameLocks noChangeAspect="1"/>
          </p:cNvGraphicFramePr>
          <p:nvPr/>
        </p:nvGraphicFramePr>
        <p:xfrm>
          <a:off x="7219950" y="2000250"/>
          <a:ext cx="99536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cuación" r:id="rId9" imgW="622080" imgH="393480" progId="Equation.3">
                  <p:embed/>
                </p:oleObj>
              </mc:Choice>
              <mc:Fallback>
                <p:oleObj name="Ecuación" r:id="rId9" imgW="622080" imgH="3934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2000250"/>
                        <a:ext cx="995363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7" name="Object 39"/>
          <p:cNvGraphicFramePr>
            <a:graphicFrameLocks noChangeAspect="1"/>
          </p:cNvGraphicFramePr>
          <p:nvPr/>
        </p:nvGraphicFramePr>
        <p:xfrm>
          <a:off x="7159625" y="2728913"/>
          <a:ext cx="10763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cuación" r:id="rId11" imgW="672840" imgH="393480" progId="Equation.3">
                  <p:embed/>
                </p:oleObj>
              </mc:Choice>
              <mc:Fallback>
                <p:oleObj name="Ecuación" r:id="rId11" imgW="672840" imgH="39348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25" y="2728913"/>
                        <a:ext cx="1076325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49 Elipse"/>
          <p:cNvSpPr/>
          <p:nvPr/>
        </p:nvSpPr>
        <p:spPr>
          <a:xfrm>
            <a:off x="6715125" y="1143000"/>
            <a:ext cx="2071688" cy="2428875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69" name="68 Forma libre"/>
          <p:cNvSpPr/>
          <p:nvPr/>
        </p:nvSpPr>
        <p:spPr>
          <a:xfrm>
            <a:off x="7727950" y="498475"/>
            <a:ext cx="1149350" cy="954088"/>
          </a:xfrm>
          <a:custGeom>
            <a:avLst/>
            <a:gdLst>
              <a:gd name="connsiteX0" fmla="*/ 801666 w 1148219"/>
              <a:gd name="connsiteY0" fmla="*/ 954066 h 954066"/>
              <a:gd name="connsiteX1" fmla="*/ 1014608 w 1148219"/>
              <a:gd name="connsiteY1" fmla="*/ 114822 h 954066"/>
              <a:gd name="connsiteX2" fmla="*/ 0 w 1148219"/>
              <a:gd name="connsiteY2" fmla="*/ 265135 h 95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8219" h="954066">
                <a:moveTo>
                  <a:pt x="801666" y="954066"/>
                </a:moveTo>
                <a:cubicBezTo>
                  <a:pt x="974942" y="591855"/>
                  <a:pt x="1148219" y="229644"/>
                  <a:pt x="1014608" y="114822"/>
                </a:cubicBezTo>
                <a:cubicBezTo>
                  <a:pt x="880997" y="0"/>
                  <a:pt x="440498" y="132567"/>
                  <a:pt x="0" y="265135"/>
                </a:cubicBezTo>
              </a:path>
            </a:pathLst>
          </a:cu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4" grpId="0" animBg="1"/>
      <p:bldP spid="17425" grpId="0" animBg="1"/>
      <p:bldP spid="17426" grpId="0" animBg="1"/>
      <p:bldP spid="17427" grpId="0" animBg="1"/>
      <p:bldP spid="17428" grpId="0" animBg="1"/>
      <p:bldP spid="17429" grpId="0" animBg="1"/>
      <p:bldP spid="17439" grpId="0" animBg="1"/>
      <p:bldP spid="17440" grpId="0" animBg="1"/>
      <p:bldP spid="42" grpId="0"/>
      <p:bldP spid="50" grpId="0" animBg="1"/>
      <p:bldP spid="6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1763713" y="285750"/>
          <a:ext cx="28670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cuación" r:id="rId3" imgW="1790640" imgH="419040" progId="Equation.3">
                  <p:embed/>
                </p:oleObj>
              </mc:Choice>
              <mc:Fallback>
                <p:oleObj name="Ecuación" r:id="rId3" imgW="179064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85750"/>
                        <a:ext cx="2867025" cy="669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3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7173" name="Freeform 4" descr="Onda"/>
          <p:cNvSpPr>
            <a:spLocks/>
          </p:cNvSpPr>
          <p:nvPr/>
        </p:nvSpPr>
        <p:spPr bwMode="auto">
          <a:xfrm>
            <a:off x="85725" y="1193800"/>
            <a:ext cx="4167188" cy="4389438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7174" name="Freeform 5" descr="Cuadrícula grande"/>
          <p:cNvSpPr>
            <a:spLocks/>
          </p:cNvSpPr>
          <p:nvPr/>
        </p:nvSpPr>
        <p:spPr bwMode="auto">
          <a:xfrm>
            <a:off x="3614738" y="1143000"/>
            <a:ext cx="5837237" cy="4484688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7175" name="Line 6"/>
          <p:cNvSpPr>
            <a:spLocks noChangeShapeType="1"/>
          </p:cNvSpPr>
          <p:nvPr/>
        </p:nvSpPr>
        <p:spPr bwMode="auto">
          <a:xfrm>
            <a:off x="722313" y="3411538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7176" name="AutoShape 7"/>
          <p:cNvSpPr>
            <a:spLocks/>
          </p:cNvSpPr>
          <p:nvPr/>
        </p:nvSpPr>
        <p:spPr bwMode="auto">
          <a:xfrm>
            <a:off x="3635375" y="1168400"/>
            <a:ext cx="360363" cy="4392613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7177" name="Line 8"/>
          <p:cNvSpPr>
            <a:spLocks noChangeShapeType="1"/>
          </p:cNvSpPr>
          <p:nvPr/>
        </p:nvSpPr>
        <p:spPr bwMode="auto">
          <a:xfrm flipV="1">
            <a:off x="827088" y="2392363"/>
            <a:ext cx="0" cy="10080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19465" name="Oval 9"/>
          <p:cNvSpPr>
            <a:spLocks noChangeArrowheads="1"/>
          </p:cNvSpPr>
          <p:nvPr/>
        </p:nvSpPr>
        <p:spPr bwMode="auto">
          <a:xfrm>
            <a:off x="2317750" y="3373438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6348413" y="33829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2160588" y="342900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6227763" y="303371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7182" name="Text Box 13"/>
          <p:cNvSpPr txBox="1">
            <a:spLocks noChangeArrowheads="1"/>
          </p:cNvSpPr>
          <p:nvPr/>
        </p:nvSpPr>
        <p:spPr bwMode="auto">
          <a:xfrm>
            <a:off x="3059113" y="505777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7183" name="Text Box 14"/>
          <p:cNvSpPr txBox="1">
            <a:spLocks noChangeArrowheads="1"/>
          </p:cNvSpPr>
          <p:nvPr/>
        </p:nvSpPr>
        <p:spPr bwMode="auto">
          <a:xfrm>
            <a:off x="3851275" y="505777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9472" name="Freeform 16"/>
          <p:cNvSpPr>
            <a:spLocks/>
          </p:cNvSpPr>
          <p:nvPr/>
        </p:nvSpPr>
        <p:spPr bwMode="auto">
          <a:xfrm>
            <a:off x="3624263" y="1187450"/>
            <a:ext cx="1562100" cy="1219200"/>
          </a:xfrm>
          <a:custGeom>
            <a:avLst/>
            <a:gdLst>
              <a:gd name="T0" fmla="*/ 0 w 984"/>
              <a:gd name="T1" fmla="*/ 2147483647 h 768"/>
              <a:gd name="T2" fmla="*/ 2147483647 w 984"/>
              <a:gd name="T3" fmla="*/ 0 h 768"/>
              <a:gd name="T4" fmla="*/ 0 60000 65536"/>
              <a:gd name="T5" fmla="*/ 0 60000 65536"/>
              <a:gd name="T6" fmla="*/ 0 w 984"/>
              <a:gd name="T7" fmla="*/ 0 h 768"/>
              <a:gd name="T8" fmla="*/ 984 w 984"/>
              <a:gd name="T9" fmla="*/ 768 h 76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84" h="768">
                <a:moveTo>
                  <a:pt x="0" y="768"/>
                </a:moveTo>
                <a:lnTo>
                  <a:pt x="984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9473" name="Freeform 17"/>
          <p:cNvSpPr>
            <a:spLocks/>
          </p:cNvSpPr>
          <p:nvPr/>
        </p:nvSpPr>
        <p:spPr bwMode="auto">
          <a:xfrm>
            <a:off x="817563" y="2405063"/>
            <a:ext cx="2820987" cy="503237"/>
          </a:xfrm>
          <a:custGeom>
            <a:avLst/>
            <a:gdLst>
              <a:gd name="T0" fmla="*/ 0 w 1777"/>
              <a:gd name="T1" fmla="*/ 0 h 317"/>
              <a:gd name="T2" fmla="*/ 2147483647 w 1777"/>
              <a:gd name="T3" fmla="*/ 2147483647 h 317"/>
              <a:gd name="T4" fmla="*/ 0 60000 65536"/>
              <a:gd name="T5" fmla="*/ 0 60000 65536"/>
              <a:gd name="T6" fmla="*/ 0 w 1777"/>
              <a:gd name="T7" fmla="*/ 0 h 317"/>
              <a:gd name="T8" fmla="*/ 1777 w 1777"/>
              <a:gd name="T9" fmla="*/ 317 h 31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7" h="317">
                <a:moveTo>
                  <a:pt x="0" y="0"/>
                </a:moveTo>
                <a:lnTo>
                  <a:pt x="1777" y="317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9475" name="Freeform 19"/>
          <p:cNvSpPr>
            <a:spLocks/>
          </p:cNvSpPr>
          <p:nvPr/>
        </p:nvSpPr>
        <p:spPr bwMode="auto">
          <a:xfrm>
            <a:off x="827088" y="2392363"/>
            <a:ext cx="8220075" cy="2014537"/>
          </a:xfrm>
          <a:custGeom>
            <a:avLst/>
            <a:gdLst>
              <a:gd name="T0" fmla="*/ 0 w 5178"/>
              <a:gd name="T1" fmla="*/ 0 h 1269"/>
              <a:gd name="T2" fmla="*/ 2147483647 w 5178"/>
              <a:gd name="T3" fmla="*/ 2147483647 h 1269"/>
              <a:gd name="T4" fmla="*/ 0 60000 65536"/>
              <a:gd name="T5" fmla="*/ 0 60000 65536"/>
              <a:gd name="T6" fmla="*/ 0 w 5178"/>
              <a:gd name="T7" fmla="*/ 0 h 1269"/>
              <a:gd name="T8" fmla="*/ 5178 w 5178"/>
              <a:gd name="T9" fmla="*/ 1269 h 12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178" h="1269">
                <a:moveTo>
                  <a:pt x="0" y="0"/>
                </a:moveTo>
                <a:lnTo>
                  <a:pt x="5178" y="1269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7187" name="Line 20"/>
          <p:cNvSpPr>
            <a:spLocks noChangeShapeType="1"/>
          </p:cNvSpPr>
          <p:nvPr/>
        </p:nvSpPr>
        <p:spPr bwMode="auto">
          <a:xfrm>
            <a:off x="5003800" y="325755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9477" name="Freeform 21"/>
          <p:cNvSpPr>
            <a:spLocks/>
          </p:cNvSpPr>
          <p:nvPr/>
        </p:nvSpPr>
        <p:spPr bwMode="auto">
          <a:xfrm flipV="1">
            <a:off x="2995613" y="2927350"/>
            <a:ext cx="1587" cy="471488"/>
          </a:xfrm>
          <a:custGeom>
            <a:avLst/>
            <a:gdLst>
              <a:gd name="T0" fmla="*/ 0 w 14"/>
              <a:gd name="T1" fmla="*/ 0 h 570"/>
              <a:gd name="T2" fmla="*/ 2147483647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14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7189" name="Text Box 22"/>
          <p:cNvSpPr txBox="1">
            <a:spLocks noChangeArrowheads="1"/>
          </p:cNvSpPr>
          <p:nvPr/>
        </p:nvSpPr>
        <p:spPr bwMode="auto">
          <a:xfrm>
            <a:off x="647700" y="33496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9479" name="Text Box 23"/>
          <p:cNvSpPr txBox="1">
            <a:spLocks noChangeArrowheads="1"/>
          </p:cNvSpPr>
          <p:nvPr/>
        </p:nvSpPr>
        <p:spPr bwMode="auto">
          <a:xfrm>
            <a:off x="2771775" y="3368675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7191" name="Text Box 24"/>
          <p:cNvSpPr txBox="1">
            <a:spLocks noChangeArrowheads="1"/>
          </p:cNvSpPr>
          <p:nvPr/>
        </p:nvSpPr>
        <p:spPr bwMode="auto">
          <a:xfrm>
            <a:off x="684213" y="2033588"/>
            <a:ext cx="376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9481" name="Text Box 25"/>
          <p:cNvSpPr txBox="1">
            <a:spLocks noChangeArrowheads="1"/>
          </p:cNvSpPr>
          <p:nvPr/>
        </p:nvSpPr>
        <p:spPr bwMode="auto">
          <a:xfrm>
            <a:off x="2843213" y="260191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7193" name="Text Box 26"/>
          <p:cNvSpPr txBox="1">
            <a:spLocks noChangeArrowheads="1"/>
          </p:cNvSpPr>
          <p:nvPr/>
        </p:nvSpPr>
        <p:spPr bwMode="auto">
          <a:xfrm>
            <a:off x="539750" y="26812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</a:p>
        </p:txBody>
      </p:sp>
      <p:sp>
        <p:nvSpPr>
          <p:cNvPr id="19483" name="Text Box 27"/>
          <p:cNvSpPr txBox="1">
            <a:spLocks noChangeArrowheads="1"/>
          </p:cNvSpPr>
          <p:nvPr/>
        </p:nvSpPr>
        <p:spPr bwMode="auto">
          <a:xfrm>
            <a:off x="2960688" y="30416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9487" name="Freeform 31"/>
          <p:cNvSpPr>
            <a:spLocks/>
          </p:cNvSpPr>
          <p:nvPr/>
        </p:nvSpPr>
        <p:spPr bwMode="auto">
          <a:xfrm>
            <a:off x="2098675" y="2401888"/>
            <a:ext cx="1562100" cy="1219200"/>
          </a:xfrm>
          <a:custGeom>
            <a:avLst/>
            <a:gdLst>
              <a:gd name="T0" fmla="*/ 0 w 984"/>
              <a:gd name="T1" fmla="*/ 2147483647 h 768"/>
              <a:gd name="T2" fmla="*/ 2147483647 w 984"/>
              <a:gd name="T3" fmla="*/ 0 h 768"/>
              <a:gd name="T4" fmla="*/ 0 60000 65536"/>
              <a:gd name="T5" fmla="*/ 0 60000 65536"/>
              <a:gd name="T6" fmla="*/ 0 w 984"/>
              <a:gd name="T7" fmla="*/ 0 h 768"/>
              <a:gd name="T8" fmla="*/ 984 w 984"/>
              <a:gd name="T9" fmla="*/ 768 h 76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84" h="768">
                <a:moveTo>
                  <a:pt x="0" y="768"/>
                </a:moveTo>
                <a:lnTo>
                  <a:pt x="984" y="0"/>
                </a:lnTo>
              </a:path>
            </a:pathLst>
          </a:custGeom>
          <a:noFill/>
          <a:ln w="25400">
            <a:solidFill>
              <a:srgbClr val="0000FF"/>
            </a:solidFill>
            <a:prstDash val="lgDashDot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9489" name="Line 33"/>
          <p:cNvSpPr>
            <a:spLocks noChangeShapeType="1"/>
          </p:cNvSpPr>
          <p:nvPr/>
        </p:nvSpPr>
        <p:spPr bwMode="auto">
          <a:xfrm>
            <a:off x="3635375" y="2916238"/>
            <a:ext cx="403225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9490" name="Line 34"/>
          <p:cNvSpPr>
            <a:spLocks noChangeShapeType="1"/>
          </p:cNvSpPr>
          <p:nvPr/>
        </p:nvSpPr>
        <p:spPr bwMode="auto">
          <a:xfrm>
            <a:off x="1893888" y="2930525"/>
            <a:ext cx="1835150" cy="0"/>
          </a:xfrm>
          <a:prstGeom prst="line">
            <a:avLst/>
          </a:prstGeom>
          <a:noFill/>
          <a:ln w="25400">
            <a:solidFill>
              <a:srgbClr val="993366"/>
            </a:solidFill>
            <a:prstDash val="lgDashDot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9491" name="Freeform 35"/>
          <p:cNvSpPr>
            <a:spLocks/>
          </p:cNvSpPr>
          <p:nvPr/>
        </p:nvSpPr>
        <p:spPr bwMode="auto">
          <a:xfrm>
            <a:off x="3635375" y="2916238"/>
            <a:ext cx="2820988" cy="503237"/>
          </a:xfrm>
          <a:custGeom>
            <a:avLst/>
            <a:gdLst>
              <a:gd name="T0" fmla="*/ 0 w 1777"/>
              <a:gd name="T1" fmla="*/ 0 h 317"/>
              <a:gd name="T2" fmla="*/ 2147483647 w 1777"/>
              <a:gd name="T3" fmla="*/ 2147483647 h 317"/>
              <a:gd name="T4" fmla="*/ 0 60000 65536"/>
              <a:gd name="T5" fmla="*/ 0 60000 65536"/>
              <a:gd name="T6" fmla="*/ 0 w 1777"/>
              <a:gd name="T7" fmla="*/ 0 h 317"/>
              <a:gd name="T8" fmla="*/ 1777 w 1777"/>
              <a:gd name="T9" fmla="*/ 317 h 31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7" h="317">
                <a:moveTo>
                  <a:pt x="0" y="0"/>
                </a:moveTo>
                <a:lnTo>
                  <a:pt x="1777" y="317"/>
                </a:lnTo>
              </a:path>
            </a:pathLst>
          </a:custGeom>
          <a:noFill/>
          <a:ln w="25400">
            <a:solidFill>
              <a:srgbClr val="99336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7199" name="Text Box 36"/>
          <p:cNvSpPr txBox="1">
            <a:spLocks noChangeArrowheads="1"/>
          </p:cNvSpPr>
          <p:nvPr/>
        </p:nvSpPr>
        <p:spPr bwMode="auto">
          <a:xfrm>
            <a:off x="4806950" y="3567113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graphicFrame>
        <p:nvGraphicFramePr>
          <p:cNvPr id="7171" name="Object 37"/>
          <p:cNvGraphicFramePr>
            <a:graphicFrameLocks noChangeAspect="1"/>
          </p:cNvGraphicFramePr>
          <p:nvPr/>
        </p:nvGraphicFramePr>
        <p:xfrm>
          <a:off x="5364163" y="312738"/>
          <a:ext cx="128111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cuación" r:id="rId5" imgW="799920" imgH="393480" progId="Equation.3">
                  <p:embed/>
                </p:oleObj>
              </mc:Choice>
              <mc:Fallback>
                <p:oleObj name="Ecuación" r:id="rId5" imgW="799920" imgH="3934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12738"/>
                        <a:ext cx="1281112" cy="6302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1" name="Freeform 15"/>
          <p:cNvSpPr>
            <a:spLocks/>
          </p:cNvSpPr>
          <p:nvPr/>
        </p:nvSpPr>
        <p:spPr bwMode="auto">
          <a:xfrm>
            <a:off x="831850" y="2390775"/>
            <a:ext cx="2794000" cy="3175"/>
          </a:xfrm>
          <a:custGeom>
            <a:avLst/>
            <a:gdLst>
              <a:gd name="T0" fmla="*/ 0 w 1760"/>
              <a:gd name="T1" fmla="*/ 0 h 2"/>
              <a:gd name="T2" fmla="*/ 2147483647 w 1760"/>
              <a:gd name="T3" fmla="*/ 2147483647 h 2"/>
              <a:gd name="T4" fmla="*/ 0 60000 65536"/>
              <a:gd name="T5" fmla="*/ 0 60000 65536"/>
              <a:gd name="T6" fmla="*/ 0 w 1760"/>
              <a:gd name="T7" fmla="*/ 0 h 2"/>
              <a:gd name="T8" fmla="*/ 1760 w 1760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60" h="2">
                <a:moveTo>
                  <a:pt x="0" y="0"/>
                </a:moveTo>
                <a:lnTo>
                  <a:pt x="1760" y="2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9494" name="Text Box 38"/>
          <p:cNvSpPr txBox="1">
            <a:spLocks noChangeArrowheads="1"/>
          </p:cNvSpPr>
          <p:nvPr/>
        </p:nvSpPr>
        <p:spPr bwMode="auto">
          <a:xfrm>
            <a:off x="8296275" y="6473825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8</a:t>
            </a:r>
          </a:p>
        </p:txBody>
      </p:sp>
      <p:sp>
        <p:nvSpPr>
          <p:cNvPr id="37" name="36 CuadroTexto"/>
          <p:cNvSpPr txBox="1">
            <a:spLocks noChangeArrowheads="1"/>
          </p:cNvSpPr>
          <p:nvPr/>
        </p:nvSpPr>
        <p:spPr bwMode="auto">
          <a:xfrm>
            <a:off x="357188" y="5715000"/>
            <a:ext cx="84994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00FF"/>
                </a:solidFill>
              </a:rPr>
              <a:t>(1) Incidente: dirección paralela al eje principal. Refractado: dirección que pasa por foco principal imagen</a:t>
            </a:r>
          </a:p>
        </p:txBody>
      </p:sp>
      <p:sp>
        <p:nvSpPr>
          <p:cNvPr id="38" name="37 CuadroTexto"/>
          <p:cNvSpPr txBox="1">
            <a:spLocks noChangeArrowheads="1"/>
          </p:cNvSpPr>
          <p:nvPr/>
        </p:nvSpPr>
        <p:spPr bwMode="auto">
          <a:xfrm>
            <a:off x="357188" y="5978525"/>
            <a:ext cx="82407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A50021"/>
                </a:solidFill>
              </a:rPr>
              <a:t>(2) Incidente: dirección pasa por el foco principal objeto. Refractado: dirección paralela al eje principal</a:t>
            </a:r>
          </a:p>
        </p:txBody>
      </p:sp>
      <p:sp>
        <p:nvSpPr>
          <p:cNvPr id="39" name="38 CuadroTexto"/>
          <p:cNvSpPr txBox="1">
            <a:spLocks noChangeArrowheads="1"/>
          </p:cNvSpPr>
          <p:nvPr/>
        </p:nvSpPr>
        <p:spPr bwMode="auto">
          <a:xfrm>
            <a:off x="358775" y="6264275"/>
            <a:ext cx="65976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CCFF"/>
                </a:solidFill>
              </a:rPr>
              <a:t>(3) Incidente: dirección pasa por el centro de la dioptra. Refractado: no se desvía</a:t>
            </a:r>
          </a:p>
        </p:txBody>
      </p:sp>
      <p:sp>
        <p:nvSpPr>
          <p:cNvPr id="7205" name="Text Box 33"/>
          <p:cNvSpPr txBox="1">
            <a:spLocks noChangeArrowheads="1"/>
          </p:cNvSpPr>
          <p:nvPr/>
        </p:nvSpPr>
        <p:spPr bwMode="auto">
          <a:xfrm>
            <a:off x="5643563" y="4643438"/>
            <a:ext cx="3190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</a:t>
            </a:r>
            <a:r>
              <a:rPr lang="es-ES_tradnl">
                <a:latin typeface="Times New Roman" pitchFamily="18" charset="0"/>
              </a:rPr>
              <a:t> &gt; 0, </a:t>
            </a:r>
            <a:r>
              <a:rPr lang="es-ES_tradnl" i="1">
                <a:latin typeface="Times New Roman" pitchFamily="18" charset="0"/>
              </a:rPr>
              <a:t>n &gt; n</a:t>
            </a:r>
            <a:r>
              <a:rPr lang="es-ES_tradnl">
                <a:latin typeface="Times New Roman" pitchFamily="18" charset="0"/>
              </a:rPr>
              <a:t>’, dioptra divergente</a:t>
            </a:r>
          </a:p>
        </p:txBody>
      </p:sp>
      <p:sp>
        <p:nvSpPr>
          <p:cNvPr id="41" name="40 CuadroTexto"/>
          <p:cNvSpPr txBox="1">
            <a:spLocks noChangeArrowheads="1"/>
          </p:cNvSpPr>
          <p:nvPr/>
        </p:nvSpPr>
        <p:spPr bwMode="auto">
          <a:xfrm>
            <a:off x="2214563" y="2357438"/>
            <a:ext cx="4365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42" name="41 CuadroTexto"/>
          <p:cNvSpPr txBox="1">
            <a:spLocks noChangeArrowheads="1"/>
          </p:cNvSpPr>
          <p:nvPr/>
        </p:nvSpPr>
        <p:spPr bwMode="auto">
          <a:xfrm>
            <a:off x="1214438" y="2519363"/>
            <a:ext cx="4365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43" name="42 CuadroTexto"/>
          <p:cNvSpPr txBox="1">
            <a:spLocks noChangeArrowheads="1"/>
          </p:cNvSpPr>
          <p:nvPr/>
        </p:nvSpPr>
        <p:spPr bwMode="auto">
          <a:xfrm>
            <a:off x="2286000" y="2000250"/>
            <a:ext cx="4365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7209" name="43 CuadroTexto"/>
          <p:cNvSpPr txBox="1">
            <a:spLocks noChangeArrowheads="1"/>
          </p:cNvSpPr>
          <p:nvPr/>
        </p:nvSpPr>
        <p:spPr bwMode="auto">
          <a:xfrm>
            <a:off x="142875" y="3621088"/>
            <a:ext cx="16906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Objeto Real (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" sz="1400">
                <a:latin typeface="Times New Roman" pitchFamily="18" charset="0"/>
                <a:cs typeface="Times New Roman" pitchFamily="18" charset="0"/>
              </a:rPr>
              <a:t> &lt; 0</a:t>
            </a:r>
            <a:r>
              <a:rPr lang="es-ES" sz="1400"/>
              <a:t>)</a:t>
            </a:r>
          </a:p>
        </p:txBody>
      </p:sp>
      <p:sp>
        <p:nvSpPr>
          <p:cNvPr id="45" name="44 CuadroTexto"/>
          <p:cNvSpPr txBox="1">
            <a:spLocks noChangeArrowheads="1"/>
          </p:cNvSpPr>
          <p:nvPr/>
        </p:nvSpPr>
        <p:spPr bwMode="auto">
          <a:xfrm>
            <a:off x="1785938" y="3857625"/>
            <a:ext cx="1900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Imagen Virtual (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_tradnl" sz="1400">
                <a:latin typeface="Times New Roman" pitchFamily="18" charset="0"/>
              </a:rPr>
              <a:t>’</a:t>
            </a:r>
            <a:r>
              <a:rPr lang="es-ES" sz="1400">
                <a:latin typeface="Times New Roman" pitchFamily="18" charset="0"/>
                <a:cs typeface="Times New Roman" pitchFamily="18" charset="0"/>
              </a:rPr>
              <a:t> &lt; 0</a:t>
            </a:r>
            <a:r>
              <a:rPr lang="es-ES" sz="1400"/>
              <a:t>)</a:t>
            </a:r>
          </a:p>
        </p:txBody>
      </p:sp>
      <p:sp>
        <p:nvSpPr>
          <p:cNvPr id="46" name="45 CuadroTexto"/>
          <p:cNvSpPr txBox="1">
            <a:spLocks noChangeArrowheads="1"/>
          </p:cNvSpPr>
          <p:nvPr/>
        </p:nvSpPr>
        <p:spPr bwMode="auto">
          <a:xfrm>
            <a:off x="857250" y="6550025"/>
            <a:ext cx="58324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Las prolongaciones de los rayos refractados se cortan </a:t>
            </a:r>
            <a:r>
              <a:rPr lang="es-ES" sz="1400">
                <a:sym typeface="Symbol" pitchFamily="18" charset="2"/>
              </a:rPr>
              <a:t></a:t>
            </a:r>
            <a:r>
              <a:rPr lang="es-ES" sz="1400"/>
              <a:t> imagen virtual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 animBg="1"/>
      <p:bldP spid="19466" grpId="0" animBg="1"/>
      <p:bldP spid="19467" grpId="0"/>
      <p:bldP spid="19468" grpId="0"/>
      <p:bldP spid="19472" grpId="0" animBg="1"/>
      <p:bldP spid="19473" grpId="0" animBg="1"/>
      <p:bldP spid="19475" grpId="0" animBg="1"/>
      <p:bldP spid="19477" grpId="0" animBg="1"/>
      <p:bldP spid="19479" grpId="0"/>
      <p:bldP spid="19481" grpId="0"/>
      <p:bldP spid="19483" grpId="0"/>
      <p:bldP spid="19487" grpId="0" animBg="1"/>
      <p:bldP spid="19489" grpId="0" animBg="1"/>
      <p:bldP spid="19490" grpId="0" animBg="1"/>
      <p:bldP spid="19491" grpId="0" animBg="1"/>
      <p:bldP spid="19471" grpId="0" animBg="1"/>
      <p:bldP spid="37" grpId="0"/>
      <p:bldP spid="38" grpId="0"/>
      <p:bldP spid="41" grpId="0"/>
      <p:bldP spid="43" grpId="0"/>
      <p:bldP spid="45" grpId="0"/>
      <p:bldP spid="45" grpId="1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reeform 8" descr="Cuadrícula grande"/>
          <p:cNvSpPr>
            <a:spLocks noChangeAspect="1"/>
          </p:cNvSpPr>
          <p:nvPr/>
        </p:nvSpPr>
        <p:spPr bwMode="auto">
          <a:xfrm>
            <a:off x="2071688" y="71438"/>
            <a:ext cx="4857750" cy="2281237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5363" name="Freeform 7" descr="Onda"/>
          <p:cNvSpPr>
            <a:spLocks noChangeAspect="1"/>
          </p:cNvSpPr>
          <p:nvPr/>
        </p:nvSpPr>
        <p:spPr bwMode="auto">
          <a:xfrm>
            <a:off x="0" y="71438"/>
            <a:ext cx="2405063" cy="2232025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5364" name="Line 9"/>
          <p:cNvSpPr>
            <a:spLocks noChangeShapeType="1"/>
          </p:cNvSpPr>
          <p:nvPr/>
        </p:nvSpPr>
        <p:spPr bwMode="auto">
          <a:xfrm>
            <a:off x="0" y="1139825"/>
            <a:ext cx="838835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5365" name="AutoShape 10"/>
          <p:cNvSpPr>
            <a:spLocks noChangeAspect="1"/>
          </p:cNvSpPr>
          <p:nvPr/>
        </p:nvSpPr>
        <p:spPr bwMode="auto">
          <a:xfrm>
            <a:off x="2071688" y="71438"/>
            <a:ext cx="182562" cy="2233612"/>
          </a:xfrm>
          <a:prstGeom prst="leftBracket">
            <a:avLst>
              <a:gd name="adj" fmla="val 101957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66" name="Line 11"/>
          <p:cNvSpPr>
            <a:spLocks noChangeAspect="1" noChangeShapeType="1"/>
          </p:cNvSpPr>
          <p:nvPr/>
        </p:nvSpPr>
        <p:spPr bwMode="auto">
          <a:xfrm flipV="1">
            <a:off x="214313" y="500063"/>
            <a:ext cx="0" cy="6254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7" name="Freeform 20"/>
          <p:cNvSpPr>
            <a:spLocks noChangeAspect="1"/>
          </p:cNvSpPr>
          <p:nvPr/>
        </p:nvSpPr>
        <p:spPr bwMode="auto">
          <a:xfrm>
            <a:off x="180975" y="509588"/>
            <a:ext cx="1890713" cy="1225550"/>
          </a:xfrm>
          <a:custGeom>
            <a:avLst/>
            <a:gdLst>
              <a:gd name="T0" fmla="*/ 0 w 1775"/>
              <a:gd name="T1" fmla="*/ 0 h 1152"/>
              <a:gd name="T2" fmla="*/ 2147483647 w 1775"/>
              <a:gd name="T3" fmla="*/ 2147483647 h 1152"/>
              <a:gd name="T4" fmla="*/ 0 60000 65536"/>
              <a:gd name="T5" fmla="*/ 0 60000 65536"/>
              <a:gd name="T6" fmla="*/ 0 w 1775"/>
              <a:gd name="T7" fmla="*/ 0 h 1152"/>
              <a:gd name="T8" fmla="*/ 1775 w 1775"/>
              <a:gd name="T9" fmla="*/ 1152 h 11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5368" name="Oval 13"/>
          <p:cNvSpPr>
            <a:spLocks noChangeArrowheads="1"/>
          </p:cNvSpPr>
          <p:nvPr/>
        </p:nvSpPr>
        <p:spPr bwMode="auto">
          <a:xfrm>
            <a:off x="4037013" y="1108075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69" name="Text Box 15"/>
          <p:cNvSpPr txBox="1">
            <a:spLocks noChangeArrowheads="1"/>
          </p:cNvSpPr>
          <p:nvPr/>
        </p:nvSpPr>
        <p:spPr bwMode="auto">
          <a:xfrm>
            <a:off x="3886200" y="642938"/>
            <a:ext cx="4000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15370" name="Oval 13"/>
          <p:cNvSpPr>
            <a:spLocks noChangeArrowheads="1"/>
          </p:cNvSpPr>
          <p:nvPr/>
        </p:nvSpPr>
        <p:spPr bwMode="auto">
          <a:xfrm>
            <a:off x="1130300" y="1112838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71" name="Text Box 15"/>
          <p:cNvSpPr txBox="1">
            <a:spLocks noChangeArrowheads="1"/>
          </p:cNvSpPr>
          <p:nvPr/>
        </p:nvSpPr>
        <p:spPr bwMode="auto">
          <a:xfrm>
            <a:off x="1071563" y="785813"/>
            <a:ext cx="4000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214313" y="525463"/>
            <a:ext cx="18716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2071688" y="525463"/>
            <a:ext cx="4140200" cy="1295400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8" name="Line 21"/>
          <p:cNvSpPr>
            <a:spLocks noChangeShapeType="1"/>
          </p:cNvSpPr>
          <p:nvPr/>
        </p:nvSpPr>
        <p:spPr bwMode="auto">
          <a:xfrm>
            <a:off x="2071688" y="1714500"/>
            <a:ext cx="4319587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9" name="Freeform 24"/>
          <p:cNvSpPr>
            <a:spLocks/>
          </p:cNvSpPr>
          <p:nvPr/>
        </p:nvSpPr>
        <p:spPr bwMode="auto">
          <a:xfrm>
            <a:off x="5891213" y="1143000"/>
            <a:ext cx="1587" cy="612775"/>
          </a:xfrm>
          <a:custGeom>
            <a:avLst/>
            <a:gdLst>
              <a:gd name="T0" fmla="*/ 0 w 14"/>
              <a:gd name="T1" fmla="*/ 0 h 570"/>
              <a:gd name="T2" fmla="*/ 2147483647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14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15376" name="Text Box 25"/>
          <p:cNvSpPr txBox="1">
            <a:spLocks noChangeArrowheads="1"/>
          </p:cNvSpPr>
          <p:nvPr/>
        </p:nvSpPr>
        <p:spPr bwMode="auto">
          <a:xfrm>
            <a:off x="0" y="121443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5377" name="Text Box 25"/>
          <p:cNvSpPr txBox="1">
            <a:spLocks noChangeArrowheads="1"/>
          </p:cNvSpPr>
          <p:nvPr/>
        </p:nvSpPr>
        <p:spPr bwMode="auto">
          <a:xfrm>
            <a:off x="71438" y="14287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5378" name="Freeform 8" descr="Cuadrícula grande"/>
          <p:cNvSpPr>
            <a:spLocks noChangeAspect="1"/>
          </p:cNvSpPr>
          <p:nvPr/>
        </p:nvSpPr>
        <p:spPr bwMode="auto">
          <a:xfrm>
            <a:off x="2071688" y="2428875"/>
            <a:ext cx="4857750" cy="2281238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5379" name="Freeform 7" descr="Onda"/>
          <p:cNvSpPr>
            <a:spLocks noChangeAspect="1"/>
          </p:cNvSpPr>
          <p:nvPr/>
        </p:nvSpPr>
        <p:spPr bwMode="auto">
          <a:xfrm>
            <a:off x="0" y="2428875"/>
            <a:ext cx="2405063" cy="2232025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5380" name="Line 9"/>
          <p:cNvSpPr>
            <a:spLocks noChangeAspect="1" noChangeShapeType="1"/>
          </p:cNvSpPr>
          <p:nvPr/>
        </p:nvSpPr>
        <p:spPr bwMode="auto">
          <a:xfrm>
            <a:off x="0" y="3497263"/>
            <a:ext cx="6715125" cy="31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5381" name="AutoShape 10"/>
          <p:cNvSpPr>
            <a:spLocks noChangeAspect="1"/>
          </p:cNvSpPr>
          <p:nvPr/>
        </p:nvSpPr>
        <p:spPr bwMode="auto">
          <a:xfrm>
            <a:off x="2071688" y="2428875"/>
            <a:ext cx="182562" cy="2233613"/>
          </a:xfrm>
          <a:prstGeom prst="leftBracket">
            <a:avLst>
              <a:gd name="adj" fmla="val 101957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82" name="Line 11"/>
          <p:cNvSpPr>
            <a:spLocks noChangeAspect="1" noChangeShapeType="1"/>
          </p:cNvSpPr>
          <p:nvPr/>
        </p:nvSpPr>
        <p:spPr bwMode="auto">
          <a:xfrm flipV="1">
            <a:off x="1168400" y="2857500"/>
            <a:ext cx="0" cy="6254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15383" name="Oval 13"/>
          <p:cNvSpPr>
            <a:spLocks noChangeArrowheads="1"/>
          </p:cNvSpPr>
          <p:nvPr/>
        </p:nvSpPr>
        <p:spPr bwMode="auto">
          <a:xfrm>
            <a:off x="4037013" y="346551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84" name="Text Box 15"/>
          <p:cNvSpPr txBox="1">
            <a:spLocks noChangeArrowheads="1"/>
          </p:cNvSpPr>
          <p:nvPr/>
        </p:nvSpPr>
        <p:spPr bwMode="auto">
          <a:xfrm>
            <a:off x="3886200" y="3000375"/>
            <a:ext cx="400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15385" name="Oval 13"/>
          <p:cNvSpPr>
            <a:spLocks noChangeArrowheads="1"/>
          </p:cNvSpPr>
          <p:nvPr/>
        </p:nvSpPr>
        <p:spPr bwMode="auto">
          <a:xfrm>
            <a:off x="1130300" y="3470275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86" name="Text Box 15"/>
          <p:cNvSpPr txBox="1">
            <a:spLocks noChangeArrowheads="1"/>
          </p:cNvSpPr>
          <p:nvPr/>
        </p:nvSpPr>
        <p:spPr bwMode="auto">
          <a:xfrm>
            <a:off x="1071563" y="3143250"/>
            <a:ext cx="400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32" name="Line 18"/>
          <p:cNvSpPr>
            <a:spLocks noChangeShapeType="1"/>
          </p:cNvSpPr>
          <p:nvPr/>
        </p:nvSpPr>
        <p:spPr bwMode="auto">
          <a:xfrm>
            <a:off x="214313" y="2882900"/>
            <a:ext cx="18716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33" name="Freeform 19"/>
          <p:cNvSpPr>
            <a:spLocks/>
          </p:cNvSpPr>
          <p:nvPr/>
        </p:nvSpPr>
        <p:spPr bwMode="auto">
          <a:xfrm>
            <a:off x="2071688" y="2882900"/>
            <a:ext cx="4140200" cy="1295400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5389" name="Text Box 25"/>
          <p:cNvSpPr txBox="1">
            <a:spLocks noChangeArrowheads="1"/>
          </p:cNvSpPr>
          <p:nvPr/>
        </p:nvSpPr>
        <p:spPr bwMode="auto">
          <a:xfrm>
            <a:off x="1000125" y="357187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5390" name="Text Box 25"/>
          <p:cNvSpPr txBox="1">
            <a:spLocks noChangeArrowheads="1"/>
          </p:cNvSpPr>
          <p:nvPr/>
        </p:nvSpPr>
        <p:spPr bwMode="auto">
          <a:xfrm>
            <a:off x="1000125" y="250031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5391" name="Freeform 8" descr="Cuadrícula grande"/>
          <p:cNvSpPr>
            <a:spLocks noChangeAspect="1"/>
          </p:cNvSpPr>
          <p:nvPr/>
        </p:nvSpPr>
        <p:spPr bwMode="auto">
          <a:xfrm>
            <a:off x="2071688" y="4714875"/>
            <a:ext cx="4857750" cy="2281238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5392" name="Freeform 7" descr="Onda"/>
          <p:cNvSpPr>
            <a:spLocks noChangeAspect="1"/>
          </p:cNvSpPr>
          <p:nvPr/>
        </p:nvSpPr>
        <p:spPr bwMode="auto">
          <a:xfrm>
            <a:off x="0" y="4786313"/>
            <a:ext cx="2405063" cy="2232025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5393" name="Line 9"/>
          <p:cNvSpPr>
            <a:spLocks noChangeAspect="1" noChangeShapeType="1"/>
          </p:cNvSpPr>
          <p:nvPr/>
        </p:nvSpPr>
        <p:spPr bwMode="auto">
          <a:xfrm>
            <a:off x="0" y="6145213"/>
            <a:ext cx="6715125" cy="31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5394" name="AutoShape 10"/>
          <p:cNvSpPr>
            <a:spLocks noChangeAspect="1"/>
          </p:cNvSpPr>
          <p:nvPr/>
        </p:nvSpPr>
        <p:spPr bwMode="auto">
          <a:xfrm>
            <a:off x="2071688" y="4643438"/>
            <a:ext cx="182562" cy="2233612"/>
          </a:xfrm>
          <a:prstGeom prst="leftBracket">
            <a:avLst>
              <a:gd name="adj" fmla="val 101957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95" name="Line 11"/>
          <p:cNvSpPr>
            <a:spLocks noChangeAspect="1" noChangeShapeType="1"/>
          </p:cNvSpPr>
          <p:nvPr/>
        </p:nvSpPr>
        <p:spPr bwMode="auto">
          <a:xfrm flipV="1">
            <a:off x="1617663" y="5543550"/>
            <a:ext cx="0" cy="6254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43" name="Freeform 20"/>
          <p:cNvSpPr>
            <a:spLocks noChangeAspect="1"/>
          </p:cNvSpPr>
          <p:nvPr/>
        </p:nvSpPr>
        <p:spPr bwMode="auto">
          <a:xfrm rot="5601460">
            <a:off x="654843" y="5152232"/>
            <a:ext cx="1668463" cy="1143000"/>
          </a:xfrm>
          <a:custGeom>
            <a:avLst/>
            <a:gdLst>
              <a:gd name="T0" fmla="*/ 0 w 1775"/>
              <a:gd name="T1" fmla="*/ 0 h 1152"/>
              <a:gd name="T2" fmla="*/ 2147483647 w 1775"/>
              <a:gd name="T3" fmla="*/ 2147483647 h 1152"/>
              <a:gd name="T4" fmla="*/ 0 60000 65536"/>
              <a:gd name="T5" fmla="*/ 0 60000 65536"/>
              <a:gd name="T6" fmla="*/ 0 w 1775"/>
              <a:gd name="T7" fmla="*/ 0 h 1152"/>
              <a:gd name="T8" fmla="*/ 1775 w 1775"/>
              <a:gd name="T9" fmla="*/ 1152 h 11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5397" name="Oval 13"/>
          <p:cNvSpPr>
            <a:spLocks noChangeArrowheads="1"/>
          </p:cNvSpPr>
          <p:nvPr/>
        </p:nvSpPr>
        <p:spPr bwMode="auto">
          <a:xfrm>
            <a:off x="4037013" y="61134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98" name="Text Box 15"/>
          <p:cNvSpPr txBox="1">
            <a:spLocks noChangeArrowheads="1"/>
          </p:cNvSpPr>
          <p:nvPr/>
        </p:nvSpPr>
        <p:spPr bwMode="auto">
          <a:xfrm>
            <a:off x="3886200" y="5648325"/>
            <a:ext cx="400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15399" name="Oval 13"/>
          <p:cNvSpPr>
            <a:spLocks noChangeArrowheads="1"/>
          </p:cNvSpPr>
          <p:nvPr/>
        </p:nvSpPr>
        <p:spPr bwMode="auto">
          <a:xfrm>
            <a:off x="1130300" y="6118225"/>
            <a:ext cx="73025" cy="698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400" name="Text Box 15"/>
          <p:cNvSpPr txBox="1">
            <a:spLocks noChangeArrowheads="1"/>
          </p:cNvSpPr>
          <p:nvPr/>
        </p:nvSpPr>
        <p:spPr bwMode="auto">
          <a:xfrm>
            <a:off x="1071563" y="5791200"/>
            <a:ext cx="400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48" name="Line 18"/>
          <p:cNvSpPr>
            <a:spLocks noChangeShapeType="1"/>
          </p:cNvSpPr>
          <p:nvPr/>
        </p:nvSpPr>
        <p:spPr bwMode="auto">
          <a:xfrm>
            <a:off x="214313" y="5530850"/>
            <a:ext cx="18716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49" name="Freeform 19"/>
          <p:cNvSpPr>
            <a:spLocks/>
          </p:cNvSpPr>
          <p:nvPr/>
        </p:nvSpPr>
        <p:spPr bwMode="auto">
          <a:xfrm>
            <a:off x="2071688" y="5530850"/>
            <a:ext cx="4140200" cy="1295400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50" name="Line 21"/>
          <p:cNvSpPr>
            <a:spLocks noChangeShapeType="1"/>
          </p:cNvSpPr>
          <p:nvPr/>
        </p:nvSpPr>
        <p:spPr bwMode="auto">
          <a:xfrm>
            <a:off x="2071688" y="4967288"/>
            <a:ext cx="4319587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51" name="Freeform 24"/>
          <p:cNvSpPr>
            <a:spLocks/>
          </p:cNvSpPr>
          <p:nvPr/>
        </p:nvSpPr>
        <p:spPr bwMode="auto">
          <a:xfrm>
            <a:off x="312738" y="4975225"/>
            <a:ext cx="0" cy="1189038"/>
          </a:xfrm>
          <a:custGeom>
            <a:avLst/>
            <a:gdLst>
              <a:gd name="T0" fmla="*/ 0 w 14"/>
              <a:gd name="T1" fmla="*/ 0 h 570"/>
              <a:gd name="T2" fmla="*/ 0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0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triangle" w="med" len="med"/>
            <a:tailEnd type="non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15405" name="Text Box 25"/>
          <p:cNvSpPr txBox="1">
            <a:spLocks noChangeArrowheads="1"/>
          </p:cNvSpPr>
          <p:nvPr/>
        </p:nvSpPr>
        <p:spPr bwMode="auto">
          <a:xfrm>
            <a:off x="1428750" y="61436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5406" name="Text Box 25"/>
          <p:cNvSpPr txBox="1">
            <a:spLocks noChangeArrowheads="1"/>
          </p:cNvSpPr>
          <p:nvPr/>
        </p:nvSpPr>
        <p:spPr bwMode="auto">
          <a:xfrm>
            <a:off x="1643063" y="55721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54" name="Freeform 22"/>
          <p:cNvSpPr>
            <a:spLocks/>
          </p:cNvSpPr>
          <p:nvPr/>
        </p:nvSpPr>
        <p:spPr bwMode="auto">
          <a:xfrm>
            <a:off x="214313" y="546100"/>
            <a:ext cx="6588125" cy="1368425"/>
          </a:xfrm>
          <a:custGeom>
            <a:avLst/>
            <a:gdLst>
              <a:gd name="T0" fmla="*/ 0 w 5178"/>
              <a:gd name="T1" fmla="*/ 0 h 1269"/>
              <a:gd name="T2" fmla="*/ 2147483647 w 5178"/>
              <a:gd name="T3" fmla="*/ 2147483647 h 1269"/>
              <a:gd name="T4" fmla="*/ 0 60000 65536"/>
              <a:gd name="T5" fmla="*/ 0 60000 65536"/>
              <a:gd name="T6" fmla="*/ 0 w 5178"/>
              <a:gd name="T7" fmla="*/ 0 h 1269"/>
              <a:gd name="T8" fmla="*/ 5178 w 5178"/>
              <a:gd name="T9" fmla="*/ 1269 h 12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178" h="1269">
                <a:moveTo>
                  <a:pt x="0" y="0"/>
                </a:moveTo>
                <a:lnTo>
                  <a:pt x="5178" y="1269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5408" name="Line 23"/>
          <p:cNvSpPr>
            <a:spLocks noChangeShapeType="1"/>
          </p:cNvSpPr>
          <p:nvPr/>
        </p:nvSpPr>
        <p:spPr bwMode="auto">
          <a:xfrm>
            <a:off x="3122613" y="9985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5409" name="Text Box 15"/>
          <p:cNvSpPr txBox="1">
            <a:spLocks noChangeArrowheads="1"/>
          </p:cNvSpPr>
          <p:nvPr/>
        </p:nvSpPr>
        <p:spPr bwMode="auto">
          <a:xfrm>
            <a:off x="2928938" y="1285875"/>
            <a:ext cx="400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15410" name="Line 23"/>
          <p:cNvSpPr>
            <a:spLocks noChangeShapeType="1"/>
          </p:cNvSpPr>
          <p:nvPr/>
        </p:nvSpPr>
        <p:spPr bwMode="auto">
          <a:xfrm>
            <a:off x="3122613" y="335756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5411" name="Text Box 15"/>
          <p:cNvSpPr txBox="1">
            <a:spLocks noChangeArrowheads="1"/>
          </p:cNvSpPr>
          <p:nvPr/>
        </p:nvSpPr>
        <p:spPr bwMode="auto">
          <a:xfrm>
            <a:off x="2928938" y="3625850"/>
            <a:ext cx="400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60" name="Freeform 22"/>
          <p:cNvSpPr>
            <a:spLocks/>
          </p:cNvSpPr>
          <p:nvPr/>
        </p:nvSpPr>
        <p:spPr bwMode="auto">
          <a:xfrm>
            <a:off x="1155700" y="2913063"/>
            <a:ext cx="5273675" cy="1582737"/>
          </a:xfrm>
          <a:custGeom>
            <a:avLst/>
            <a:gdLst>
              <a:gd name="T0" fmla="*/ 0 w 5178"/>
              <a:gd name="T1" fmla="*/ 0 h 1269"/>
              <a:gd name="T2" fmla="*/ 2147483647 w 5178"/>
              <a:gd name="T3" fmla="*/ 2147483647 h 1269"/>
              <a:gd name="T4" fmla="*/ 0 60000 65536"/>
              <a:gd name="T5" fmla="*/ 0 60000 65536"/>
              <a:gd name="T6" fmla="*/ 0 w 5178"/>
              <a:gd name="T7" fmla="*/ 0 h 1269"/>
              <a:gd name="T8" fmla="*/ 5178 w 5178"/>
              <a:gd name="T9" fmla="*/ 1269 h 12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178" h="1269">
                <a:moveTo>
                  <a:pt x="0" y="0"/>
                </a:moveTo>
                <a:lnTo>
                  <a:pt x="5178" y="1269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61" name="Freeform 19"/>
          <p:cNvSpPr>
            <a:spLocks noChangeAspect="1"/>
          </p:cNvSpPr>
          <p:nvPr/>
        </p:nvSpPr>
        <p:spPr bwMode="auto">
          <a:xfrm>
            <a:off x="357188" y="5000625"/>
            <a:ext cx="1817687" cy="568325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prstDash val="dashDot"/>
            <a:round/>
            <a:headEnd/>
            <a:tailEnd type="non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62" name="Line 21"/>
          <p:cNvSpPr>
            <a:spLocks noChangeShapeType="1"/>
          </p:cNvSpPr>
          <p:nvPr/>
        </p:nvSpPr>
        <p:spPr bwMode="auto">
          <a:xfrm>
            <a:off x="271463" y="4975225"/>
            <a:ext cx="1943100" cy="0"/>
          </a:xfrm>
          <a:prstGeom prst="line">
            <a:avLst/>
          </a:prstGeom>
          <a:noFill/>
          <a:ln w="25400">
            <a:solidFill>
              <a:srgbClr val="993366"/>
            </a:solidFill>
            <a:prstDash val="dashDot"/>
            <a:round/>
            <a:headEnd/>
            <a:tailEnd type="non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5415" name="Text Box 15"/>
          <p:cNvSpPr txBox="1">
            <a:spLocks noChangeArrowheads="1"/>
          </p:cNvSpPr>
          <p:nvPr/>
        </p:nvSpPr>
        <p:spPr bwMode="auto">
          <a:xfrm>
            <a:off x="2928938" y="6273800"/>
            <a:ext cx="400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15416" name="Line 23"/>
          <p:cNvSpPr>
            <a:spLocks noChangeShapeType="1"/>
          </p:cNvSpPr>
          <p:nvPr/>
        </p:nvSpPr>
        <p:spPr bwMode="auto">
          <a:xfrm>
            <a:off x="3117850" y="599916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73" name="Text Box 25"/>
          <p:cNvSpPr txBox="1">
            <a:spLocks noChangeArrowheads="1"/>
          </p:cNvSpPr>
          <p:nvPr/>
        </p:nvSpPr>
        <p:spPr bwMode="auto">
          <a:xfrm>
            <a:off x="5715000" y="785813"/>
            <a:ext cx="3937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A’</a:t>
            </a:r>
          </a:p>
        </p:txBody>
      </p:sp>
      <p:sp>
        <p:nvSpPr>
          <p:cNvPr id="74" name="Text Box 25"/>
          <p:cNvSpPr txBox="1">
            <a:spLocks noChangeArrowheads="1"/>
          </p:cNvSpPr>
          <p:nvPr/>
        </p:nvSpPr>
        <p:spPr bwMode="auto">
          <a:xfrm>
            <a:off x="5715000" y="1785938"/>
            <a:ext cx="4032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B’</a:t>
            </a:r>
          </a:p>
        </p:txBody>
      </p:sp>
      <p:sp>
        <p:nvSpPr>
          <p:cNvPr id="75" name="Text Box 25"/>
          <p:cNvSpPr txBox="1">
            <a:spLocks noChangeArrowheads="1"/>
          </p:cNvSpPr>
          <p:nvPr/>
        </p:nvSpPr>
        <p:spPr bwMode="auto">
          <a:xfrm>
            <a:off x="142875" y="4572000"/>
            <a:ext cx="403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B’</a:t>
            </a:r>
          </a:p>
        </p:txBody>
      </p:sp>
      <p:sp>
        <p:nvSpPr>
          <p:cNvPr id="76" name="Text Box 25"/>
          <p:cNvSpPr txBox="1">
            <a:spLocks noChangeArrowheads="1"/>
          </p:cNvSpPr>
          <p:nvPr/>
        </p:nvSpPr>
        <p:spPr bwMode="auto">
          <a:xfrm>
            <a:off x="142875" y="6143625"/>
            <a:ext cx="3937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A’</a:t>
            </a:r>
          </a:p>
        </p:txBody>
      </p:sp>
      <p:sp>
        <p:nvSpPr>
          <p:cNvPr id="15421" name="76 CuadroTexto"/>
          <p:cNvSpPr txBox="1">
            <a:spLocks noChangeArrowheads="1"/>
          </p:cNvSpPr>
          <p:nvPr/>
        </p:nvSpPr>
        <p:spPr bwMode="auto">
          <a:xfrm>
            <a:off x="6643688" y="785813"/>
            <a:ext cx="23399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Objetos reales (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&lt; 0)</a:t>
            </a:r>
          </a:p>
        </p:txBody>
      </p:sp>
      <p:sp>
        <p:nvSpPr>
          <p:cNvPr id="15422" name="77 CuadroTexto"/>
          <p:cNvSpPr txBox="1">
            <a:spLocks noChangeArrowheads="1"/>
          </p:cNvSpPr>
          <p:nvPr/>
        </p:nvSpPr>
        <p:spPr bwMode="auto">
          <a:xfrm>
            <a:off x="6599238" y="142875"/>
            <a:ext cx="2544762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"/>
              <a:t>Dioptras Convergentes</a:t>
            </a:r>
          </a:p>
          <a:p>
            <a:pPr algn="ctr"/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 &lt; 0;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’ &gt;0</a:t>
            </a:r>
          </a:p>
        </p:txBody>
      </p:sp>
      <p:sp>
        <p:nvSpPr>
          <p:cNvPr id="79" name="78 CuadroTexto"/>
          <p:cNvSpPr txBox="1">
            <a:spLocks noChangeArrowheads="1"/>
          </p:cNvSpPr>
          <p:nvPr/>
        </p:nvSpPr>
        <p:spPr bwMode="auto">
          <a:xfrm>
            <a:off x="6678613" y="1428750"/>
            <a:ext cx="2536825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Si 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 &lt;&lt; f</a:t>
            </a:r>
            <a:r>
              <a:rPr lang="es-ES" sz="1400">
                <a:latin typeface="Times New Roman" pitchFamily="18" charset="0"/>
                <a:cs typeface="Times New Roman" pitchFamily="18" charset="0"/>
              </a:rPr>
              <a:t>, la imagen es real</a:t>
            </a:r>
          </a:p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e invertida. Si está el objeto está</a:t>
            </a:r>
          </a:p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 muy alejado de la dioptra, </a:t>
            </a:r>
          </a:p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dicha imagen es menor que el </a:t>
            </a:r>
          </a:p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objeto. Si dicho objeto se va </a:t>
            </a:r>
          </a:p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acercando a la distancia focal </a:t>
            </a:r>
          </a:p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objeto , la imagen se va alejando</a:t>
            </a:r>
          </a:p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de la dioptra y va aumentando.</a:t>
            </a:r>
          </a:p>
          <a:p>
            <a:endParaRPr lang="es-ES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79 CuadroTexto"/>
          <p:cNvSpPr txBox="1">
            <a:spLocks noChangeArrowheads="1"/>
          </p:cNvSpPr>
          <p:nvPr/>
        </p:nvSpPr>
        <p:spPr bwMode="auto">
          <a:xfrm>
            <a:off x="6643688" y="3571875"/>
            <a:ext cx="235585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.Si 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 = f</a:t>
            </a:r>
            <a:r>
              <a:rPr lang="es-ES" sz="1400">
                <a:latin typeface="Times New Roman" pitchFamily="18" charset="0"/>
                <a:cs typeface="Times New Roman" pitchFamily="18" charset="0"/>
              </a:rPr>
              <a:t>, los rayos emergen de</a:t>
            </a:r>
          </a:p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la dioptra paralelos entre sí, y </a:t>
            </a:r>
          </a:p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no se forma imagen. </a:t>
            </a:r>
          </a:p>
          <a:p>
            <a:endParaRPr lang="es-ES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80 CuadroTexto"/>
          <p:cNvSpPr txBox="1">
            <a:spLocks noChangeArrowheads="1"/>
          </p:cNvSpPr>
          <p:nvPr/>
        </p:nvSpPr>
        <p:spPr bwMode="auto">
          <a:xfrm>
            <a:off x="6788150" y="4929188"/>
            <a:ext cx="235585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.Si 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f  </a:t>
            </a:r>
            <a:r>
              <a:rPr lang="es-ES" sz="1400">
                <a:latin typeface="Times New Roman" pitchFamily="18" charset="0"/>
                <a:cs typeface="Times New Roman" pitchFamily="18" charset="0"/>
              </a:rPr>
              <a:t>&lt; 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 &lt; </a:t>
            </a:r>
            <a:r>
              <a:rPr lang="es-ES" sz="1400">
                <a:latin typeface="Times New Roman" pitchFamily="18" charset="0"/>
                <a:cs typeface="Times New Roman" pitchFamily="18" charset="0"/>
              </a:rPr>
              <a:t>0, la imagen es </a:t>
            </a:r>
          </a:p>
          <a:p>
            <a:r>
              <a:rPr lang="es-ES" sz="1400">
                <a:latin typeface="Times New Roman" pitchFamily="18" charset="0"/>
                <a:cs typeface="Times New Roman" pitchFamily="18" charset="0"/>
              </a:rPr>
              <a:t>virtual, derecha y mayor</a:t>
            </a:r>
          </a:p>
          <a:p>
            <a:endParaRPr lang="es-ES" sz="1400">
              <a:latin typeface="Times New Roman" pitchFamily="18" charset="0"/>
              <a:cs typeface="Times New Roman" pitchFamily="18" charset="0"/>
            </a:endParaRPr>
          </a:p>
          <a:p>
            <a:endParaRPr lang="es-ES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Line 11"/>
          <p:cNvSpPr>
            <a:spLocks noChangeAspect="1" noChangeShapeType="1"/>
          </p:cNvSpPr>
          <p:nvPr/>
        </p:nvSpPr>
        <p:spPr bwMode="auto">
          <a:xfrm flipV="1">
            <a:off x="500063" y="500063"/>
            <a:ext cx="0" cy="625475"/>
          </a:xfrm>
          <a:prstGeom prst="line">
            <a:avLst/>
          </a:prstGeom>
          <a:noFill/>
          <a:ln w="19050">
            <a:solidFill>
              <a:srgbClr val="7030A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85" name="Freeform 24"/>
          <p:cNvSpPr>
            <a:spLocks/>
          </p:cNvSpPr>
          <p:nvPr/>
        </p:nvSpPr>
        <p:spPr bwMode="auto">
          <a:xfrm>
            <a:off x="6786563" y="1143000"/>
            <a:ext cx="0" cy="1285875"/>
          </a:xfrm>
          <a:custGeom>
            <a:avLst/>
            <a:gdLst>
              <a:gd name="T0" fmla="*/ 0 w 14"/>
              <a:gd name="T1" fmla="*/ 0 h 570"/>
              <a:gd name="T2" fmla="*/ 0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0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86" name="Line 11"/>
          <p:cNvSpPr>
            <a:spLocks noChangeAspect="1" noChangeShapeType="1"/>
          </p:cNvSpPr>
          <p:nvPr/>
        </p:nvSpPr>
        <p:spPr bwMode="auto">
          <a:xfrm flipV="1">
            <a:off x="857250" y="500063"/>
            <a:ext cx="0" cy="625475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87" name="Freeform 24"/>
          <p:cNvSpPr>
            <a:spLocks/>
          </p:cNvSpPr>
          <p:nvPr/>
        </p:nvSpPr>
        <p:spPr bwMode="auto">
          <a:xfrm>
            <a:off x="8858250" y="1143000"/>
            <a:ext cx="0" cy="2214563"/>
          </a:xfrm>
          <a:custGeom>
            <a:avLst/>
            <a:gdLst>
              <a:gd name="T0" fmla="*/ 0 w 14"/>
              <a:gd name="T1" fmla="*/ 0 h 570"/>
              <a:gd name="T2" fmla="*/ 0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0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0099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88" name="Text Box 38"/>
          <p:cNvSpPr txBox="1">
            <a:spLocks noChangeArrowheads="1"/>
          </p:cNvSpPr>
          <p:nvPr/>
        </p:nvSpPr>
        <p:spPr bwMode="auto">
          <a:xfrm>
            <a:off x="8296275" y="6473825"/>
            <a:ext cx="269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9</a:t>
            </a:r>
          </a:p>
        </p:txBody>
      </p:sp>
      <p:cxnSp>
        <p:nvCxnSpPr>
          <p:cNvPr id="90" name="89 Conector recto"/>
          <p:cNvCxnSpPr>
            <a:cxnSpLocks/>
          </p:cNvCxnSpPr>
          <p:nvPr/>
        </p:nvCxnSpPr>
        <p:spPr>
          <a:xfrm>
            <a:off x="244475" y="4978400"/>
            <a:ext cx="3317875" cy="1368425"/>
          </a:xfrm>
          <a:prstGeom prst="line">
            <a:avLst/>
          </a:prstGeom>
          <a:ln w="15875">
            <a:solidFill>
              <a:srgbClr val="00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32" name="Text Box 33"/>
          <p:cNvSpPr txBox="1">
            <a:spLocks noChangeArrowheads="1"/>
          </p:cNvSpPr>
          <p:nvPr/>
        </p:nvSpPr>
        <p:spPr bwMode="auto">
          <a:xfrm>
            <a:off x="4857750" y="214313"/>
            <a:ext cx="13938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</a:rPr>
              <a:t>R &gt; 0, </a:t>
            </a:r>
            <a:r>
              <a:rPr lang="es-ES_tradnl" i="1">
                <a:latin typeface="Times New Roman" pitchFamily="18" charset="0"/>
              </a:rPr>
              <a:t>n &lt; 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5433" name="Text Box 17"/>
          <p:cNvSpPr txBox="1">
            <a:spLocks noChangeArrowheads="1"/>
          </p:cNvSpPr>
          <p:nvPr/>
        </p:nvSpPr>
        <p:spPr bwMode="auto">
          <a:xfrm>
            <a:off x="2286000" y="1928813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5434" name="Text Box 17"/>
          <p:cNvSpPr txBox="1">
            <a:spLocks noChangeArrowheads="1"/>
          </p:cNvSpPr>
          <p:nvPr/>
        </p:nvSpPr>
        <p:spPr bwMode="auto">
          <a:xfrm>
            <a:off x="2286000" y="4214813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5435" name="Text Box 17"/>
          <p:cNvSpPr txBox="1">
            <a:spLocks noChangeArrowheads="1"/>
          </p:cNvSpPr>
          <p:nvPr/>
        </p:nvSpPr>
        <p:spPr bwMode="auto">
          <a:xfrm>
            <a:off x="2286000" y="649128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5436" name="Text Box 17"/>
          <p:cNvSpPr txBox="1">
            <a:spLocks noChangeArrowheads="1"/>
          </p:cNvSpPr>
          <p:nvPr/>
        </p:nvSpPr>
        <p:spPr bwMode="auto">
          <a:xfrm>
            <a:off x="1571625" y="1928813"/>
            <a:ext cx="3000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endParaRPr lang="es-ES_tradnl">
              <a:latin typeface="Times New Roman" pitchFamily="18" charset="0"/>
            </a:endParaRPr>
          </a:p>
        </p:txBody>
      </p:sp>
      <p:sp>
        <p:nvSpPr>
          <p:cNvPr id="15437" name="Text Box 17"/>
          <p:cNvSpPr txBox="1">
            <a:spLocks noChangeArrowheads="1"/>
          </p:cNvSpPr>
          <p:nvPr/>
        </p:nvSpPr>
        <p:spPr bwMode="auto">
          <a:xfrm>
            <a:off x="1571625" y="4214813"/>
            <a:ext cx="3000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endParaRPr lang="es-ES_tradnl">
              <a:latin typeface="Times New Roman" pitchFamily="18" charset="0"/>
            </a:endParaRPr>
          </a:p>
        </p:txBody>
      </p:sp>
      <p:sp>
        <p:nvSpPr>
          <p:cNvPr id="15438" name="Text Box 17"/>
          <p:cNvSpPr txBox="1">
            <a:spLocks noChangeArrowheads="1"/>
          </p:cNvSpPr>
          <p:nvPr/>
        </p:nvSpPr>
        <p:spPr bwMode="auto">
          <a:xfrm>
            <a:off x="1571625" y="6491288"/>
            <a:ext cx="3000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endParaRPr lang="es-ES_tradnl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4500"/>
                            </p:stCondLst>
                            <p:childTnLst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500"/>
                            </p:stCondLst>
                            <p:childTnLst>
                              <p:par>
                                <p:cTn id="1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5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  <p:bldP spid="17" grpId="0" animBg="1"/>
      <p:bldP spid="18" grpId="0" animBg="1"/>
      <p:bldP spid="19" grpId="0" animBg="1"/>
      <p:bldP spid="32" grpId="0" animBg="1"/>
      <p:bldP spid="33" grpId="0" animBg="1"/>
      <p:bldP spid="43" grpId="0" animBg="1"/>
      <p:bldP spid="48" grpId="0" animBg="1"/>
      <p:bldP spid="49" grpId="0" animBg="1"/>
      <p:bldP spid="50" grpId="0" animBg="1"/>
      <p:bldP spid="51" grpId="0" animBg="1"/>
      <p:bldP spid="54" grpId="0" animBg="1"/>
      <p:bldP spid="60" grpId="0" animBg="1"/>
      <p:bldP spid="61" grpId="0" animBg="1"/>
      <p:bldP spid="62" grpId="0" animBg="1"/>
      <p:bldP spid="73" grpId="0"/>
      <p:bldP spid="74" grpId="0"/>
      <p:bldP spid="75" grpId="0"/>
      <p:bldP spid="76" grpId="0"/>
      <p:bldP spid="79" grpId="0"/>
      <p:bldP spid="80" grpId="0"/>
      <p:bldP spid="81" grpId="0"/>
      <p:bldP spid="82" grpId="0" animBg="1"/>
      <p:bldP spid="82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5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16387" name="Freeform 7" descr="Onda"/>
          <p:cNvSpPr>
            <a:spLocks/>
          </p:cNvSpPr>
          <p:nvPr/>
        </p:nvSpPr>
        <p:spPr bwMode="auto">
          <a:xfrm>
            <a:off x="85725" y="1025525"/>
            <a:ext cx="4167188" cy="4389438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6388" name="Freeform 8" descr="Cuadrícula grande"/>
          <p:cNvSpPr>
            <a:spLocks/>
          </p:cNvSpPr>
          <p:nvPr/>
        </p:nvSpPr>
        <p:spPr bwMode="auto">
          <a:xfrm>
            <a:off x="3614738" y="944563"/>
            <a:ext cx="5837237" cy="4484687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6389" name="Line 9"/>
          <p:cNvSpPr>
            <a:spLocks noChangeShapeType="1"/>
          </p:cNvSpPr>
          <p:nvPr/>
        </p:nvSpPr>
        <p:spPr bwMode="auto">
          <a:xfrm>
            <a:off x="722313" y="3243263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6390" name="AutoShape 10"/>
          <p:cNvSpPr>
            <a:spLocks/>
          </p:cNvSpPr>
          <p:nvPr/>
        </p:nvSpPr>
        <p:spPr bwMode="auto">
          <a:xfrm>
            <a:off x="3635375" y="1000125"/>
            <a:ext cx="360363" cy="4392613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6391" name="Oval 12"/>
          <p:cNvSpPr>
            <a:spLocks noChangeArrowheads="1"/>
          </p:cNvSpPr>
          <p:nvPr/>
        </p:nvSpPr>
        <p:spPr bwMode="auto">
          <a:xfrm>
            <a:off x="2317750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6392" name="Oval 13"/>
          <p:cNvSpPr>
            <a:spLocks noChangeArrowheads="1"/>
          </p:cNvSpPr>
          <p:nvPr/>
        </p:nvSpPr>
        <p:spPr bwMode="auto">
          <a:xfrm>
            <a:off x="6154738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6393" name="Text Box 14"/>
          <p:cNvSpPr txBox="1">
            <a:spLocks noChangeArrowheads="1"/>
          </p:cNvSpPr>
          <p:nvPr/>
        </p:nvSpPr>
        <p:spPr bwMode="auto">
          <a:xfrm>
            <a:off x="2160588" y="32607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16394" name="Text Box 15"/>
          <p:cNvSpPr txBox="1">
            <a:spLocks noChangeArrowheads="1"/>
          </p:cNvSpPr>
          <p:nvPr/>
        </p:nvSpPr>
        <p:spPr bwMode="auto">
          <a:xfrm>
            <a:off x="6034088" y="285591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16395" name="Text Box 16"/>
          <p:cNvSpPr txBox="1">
            <a:spLocks noChangeArrowheads="1"/>
          </p:cNvSpPr>
          <p:nvPr/>
        </p:nvSpPr>
        <p:spPr bwMode="auto">
          <a:xfrm>
            <a:off x="3059113" y="48895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6396" name="Text Box 17"/>
          <p:cNvSpPr txBox="1">
            <a:spLocks noChangeArrowheads="1"/>
          </p:cNvSpPr>
          <p:nvPr/>
        </p:nvSpPr>
        <p:spPr bwMode="auto">
          <a:xfrm>
            <a:off x="3851275" y="488950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755650" y="2224088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55" name="Freeform 19"/>
          <p:cNvSpPr>
            <a:spLocks/>
          </p:cNvSpPr>
          <p:nvPr/>
        </p:nvSpPr>
        <p:spPr bwMode="auto">
          <a:xfrm>
            <a:off x="3635375" y="2224088"/>
            <a:ext cx="5303838" cy="2089150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4356" name="Freeform 20"/>
          <p:cNvSpPr>
            <a:spLocks noChangeAspect="1"/>
          </p:cNvSpPr>
          <p:nvPr/>
        </p:nvSpPr>
        <p:spPr bwMode="auto">
          <a:xfrm flipV="1">
            <a:off x="428625" y="2954338"/>
            <a:ext cx="3189288" cy="754062"/>
          </a:xfrm>
          <a:custGeom>
            <a:avLst/>
            <a:gdLst>
              <a:gd name="T0" fmla="*/ 0 w 1775"/>
              <a:gd name="T1" fmla="*/ 0 h 1152"/>
              <a:gd name="T2" fmla="*/ 2147483647 w 1775"/>
              <a:gd name="T3" fmla="*/ 2147483647 h 1152"/>
              <a:gd name="T4" fmla="*/ 0 60000 65536"/>
              <a:gd name="T5" fmla="*/ 0 60000 65536"/>
              <a:gd name="T6" fmla="*/ 0 w 1775"/>
              <a:gd name="T7" fmla="*/ 0 h 1152"/>
              <a:gd name="T8" fmla="*/ 1775 w 1775"/>
              <a:gd name="T9" fmla="*/ 1152 h 11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4357" name="Line 21"/>
          <p:cNvSpPr>
            <a:spLocks noChangeShapeType="1"/>
          </p:cNvSpPr>
          <p:nvPr/>
        </p:nvSpPr>
        <p:spPr bwMode="auto">
          <a:xfrm>
            <a:off x="3617913" y="2941638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6401" name="Line 23"/>
          <p:cNvSpPr>
            <a:spLocks noChangeShapeType="1"/>
          </p:cNvSpPr>
          <p:nvPr/>
        </p:nvSpPr>
        <p:spPr bwMode="auto">
          <a:xfrm>
            <a:off x="5003800" y="3089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6402" name="Text Box 25"/>
          <p:cNvSpPr txBox="1">
            <a:spLocks noChangeArrowheads="1"/>
          </p:cNvSpPr>
          <p:nvPr/>
        </p:nvSpPr>
        <p:spPr bwMode="auto">
          <a:xfrm>
            <a:off x="6500813" y="31337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5286375" y="3286125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6404" name="Text Box 27"/>
          <p:cNvSpPr txBox="1">
            <a:spLocks noChangeArrowheads="1"/>
          </p:cNvSpPr>
          <p:nvPr/>
        </p:nvSpPr>
        <p:spPr bwMode="auto">
          <a:xfrm>
            <a:off x="6519863" y="1857375"/>
            <a:ext cx="376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5314950" y="257175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6406" name="Text Box 33"/>
          <p:cNvSpPr txBox="1">
            <a:spLocks noChangeArrowheads="1"/>
          </p:cNvSpPr>
          <p:nvPr/>
        </p:nvSpPr>
        <p:spPr bwMode="auto">
          <a:xfrm>
            <a:off x="5643563" y="5016500"/>
            <a:ext cx="33448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</a:rPr>
              <a:t>R &gt; 0, </a:t>
            </a:r>
            <a:r>
              <a:rPr lang="es-ES_tradnl" i="1">
                <a:latin typeface="Times New Roman" pitchFamily="18" charset="0"/>
              </a:rPr>
              <a:t>n &lt; n</a:t>
            </a:r>
            <a:r>
              <a:rPr lang="es-ES_tradnl">
                <a:latin typeface="Times New Roman" pitchFamily="18" charset="0"/>
              </a:rPr>
              <a:t>’, dioptra convergente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8296275" y="6473825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10</a:t>
            </a:r>
          </a:p>
        </p:txBody>
      </p:sp>
      <p:sp>
        <p:nvSpPr>
          <p:cNvPr id="34" name="33 CuadroTexto"/>
          <p:cNvSpPr txBox="1">
            <a:spLocks noChangeArrowheads="1"/>
          </p:cNvSpPr>
          <p:nvPr/>
        </p:nvSpPr>
        <p:spPr bwMode="auto">
          <a:xfrm>
            <a:off x="2214563" y="714375"/>
            <a:ext cx="52816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Si el objeto es virtual (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" sz="1400"/>
              <a:t> &gt; 0), la imagen es real, derecha y menor</a:t>
            </a:r>
          </a:p>
        </p:txBody>
      </p:sp>
      <p:sp>
        <p:nvSpPr>
          <p:cNvPr id="16409" name="Text Box 36"/>
          <p:cNvSpPr txBox="1">
            <a:spLocks noChangeArrowheads="1"/>
          </p:cNvSpPr>
          <p:nvPr/>
        </p:nvSpPr>
        <p:spPr bwMode="auto">
          <a:xfrm>
            <a:off x="4806950" y="343535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41" name="40 CuadroTexto"/>
          <p:cNvSpPr txBox="1">
            <a:spLocks noChangeArrowheads="1"/>
          </p:cNvSpPr>
          <p:nvPr/>
        </p:nvSpPr>
        <p:spPr bwMode="auto">
          <a:xfrm>
            <a:off x="2214563" y="1857375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42" name="41 CuadroTexto"/>
          <p:cNvSpPr txBox="1">
            <a:spLocks noChangeArrowheads="1"/>
          </p:cNvSpPr>
          <p:nvPr/>
        </p:nvSpPr>
        <p:spPr bwMode="auto">
          <a:xfrm>
            <a:off x="2357438" y="285750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cxnSp>
        <p:nvCxnSpPr>
          <p:cNvPr id="37" name="36 Conector recto"/>
          <p:cNvCxnSpPr>
            <a:cxnSpLocks noChangeAspect="1"/>
          </p:cNvCxnSpPr>
          <p:nvPr/>
        </p:nvCxnSpPr>
        <p:spPr>
          <a:xfrm flipV="1">
            <a:off x="3643313" y="1716088"/>
            <a:ext cx="3879850" cy="2355850"/>
          </a:xfrm>
          <a:prstGeom prst="line">
            <a:avLst/>
          </a:prstGeom>
          <a:ln w="25400">
            <a:solidFill>
              <a:srgbClr val="00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>
            <a:cxnSpLocks noChangeAspect="1"/>
          </p:cNvCxnSpPr>
          <p:nvPr/>
        </p:nvCxnSpPr>
        <p:spPr>
          <a:xfrm flipV="1">
            <a:off x="1571625" y="4071938"/>
            <a:ext cx="2105025" cy="1277937"/>
          </a:xfrm>
          <a:prstGeom prst="line">
            <a:avLst/>
          </a:prstGeom>
          <a:ln w="25400">
            <a:solidFill>
              <a:srgbClr val="00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14" name="Line 11"/>
          <p:cNvSpPr>
            <a:spLocks noChangeShapeType="1"/>
          </p:cNvSpPr>
          <p:nvPr/>
        </p:nvSpPr>
        <p:spPr bwMode="auto">
          <a:xfrm flipV="1">
            <a:off x="6684963" y="2214563"/>
            <a:ext cx="0" cy="10080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40" name="Freeform 20"/>
          <p:cNvSpPr>
            <a:spLocks noChangeAspect="1"/>
          </p:cNvSpPr>
          <p:nvPr/>
        </p:nvSpPr>
        <p:spPr bwMode="auto">
          <a:xfrm flipV="1">
            <a:off x="3617913" y="1903413"/>
            <a:ext cx="4384675" cy="1038225"/>
          </a:xfrm>
          <a:custGeom>
            <a:avLst/>
            <a:gdLst>
              <a:gd name="T0" fmla="*/ 0 w 1775"/>
              <a:gd name="T1" fmla="*/ 0 h 1152"/>
              <a:gd name="T2" fmla="*/ 2147483647 w 1775"/>
              <a:gd name="T3" fmla="*/ 2147483647 h 1152"/>
              <a:gd name="T4" fmla="*/ 0 60000 65536"/>
              <a:gd name="T5" fmla="*/ 0 60000 65536"/>
              <a:gd name="T6" fmla="*/ 0 w 1775"/>
              <a:gd name="T7" fmla="*/ 0 h 1152"/>
              <a:gd name="T8" fmla="*/ 1775 w 1775"/>
              <a:gd name="T9" fmla="*/ 1152 h 11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43" name="42 CuadroTexto"/>
          <p:cNvSpPr txBox="1">
            <a:spLocks noChangeArrowheads="1"/>
          </p:cNvSpPr>
          <p:nvPr/>
        </p:nvSpPr>
        <p:spPr bwMode="auto">
          <a:xfrm>
            <a:off x="2643188" y="4162425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14360" name="Freeform 24"/>
          <p:cNvSpPr>
            <a:spLocks/>
          </p:cNvSpPr>
          <p:nvPr/>
        </p:nvSpPr>
        <p:spPr bwMode="auto">
          <a:xfrm>
            <a:off x="5500688" y="2928938"/>
            <a:ext cx="1587" cy="323850"/>
          </a:xfrm>
          <a:custGeom>
            <a:avLst/>
            <a:gdLst>
              <a:gd name="T0" fmla="*/ 0 w 14"/>
              <a:gd name="T1" fmla="*/ 0 h 570"/>
              <a:gd name="T2" fmla="*/ 2147483647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14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triangle" w="med" len="med"/>
            <a:tailEnd type="non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45" name="44 CuadroTexto"/>
          <p:cNvSpPr txBox="1">
            <a:spLocks noChangeArrowheads="1"/>
          </p:cNvSpPr>
          <p:nvPr/>
        </p:nvSpPr>
        <p:spPr bwMode="auto">
          <a:xfrm>
            <a:off x="4643438" y="4000500"/>
            <a:ext cx="19970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/>
              <a:t>Imagen Real (</a:t>
            </a:r>
            <a:r>
              <a:rPr lang="es-ES" sz="16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_tradnl" sz="1600">
                <a:latin typeface="Times New Roman" pitchFamily="18" charset="0"/>
              </a:rPr>
              <a:t>’</a:t>
            </a:r>
            <a:r>
              <a:rPr lang="es-ES" sz="1600">
                <a:latin typeface="Times New Roman" pitchFamily="18" charset="0"/>
                <a:cs typeface="Times New Roman" pitchFamily="18" charset="0"/>
              </a:rPr>
              <a:t> &gt; 0</a:t>
            </a:r>
            <a:r>
              <a:rPr lang="es-ES" sz="1600"/>
              <a:t>)</a:t>
            </a:r>
          </a:p>
        </p:txBody>
      </p:sp>
      <p:sp>
        <p:nvSpPr>
          <p:cNvPr id="16419" name="45 CuadroTexto"/>
          <p:cNvSpPr txBox="1">
            <a:spLocks noChangeArrowheads="1"/>
          </p:cNvSpPr>
          <p:nvPr/>
        </p:nvSpPr>
        <p:spPr bwMode="auto">
          <a:xfrm>
            <a:off x="5500688" y="285750"/>
            <a:ext cx="2571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Objetos virtuales (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&gt; 0)</a:t>
            </a:r>
          </a:p>
        </p:txBody>
      </p:sp>
      <p:sp>
        <p:nvSpPr>
          <p:cNvPr id="16420" name="46 CuadroTexto"/>
          <p:cNvSpPr txBox="1">
            <a:spLocks noChangeArrowheads="1"/>
          </p:cNvSpPr>
          <p:nvPr/>
        </p:nvSpPr>
        <p:spPr bwMode="auto">
          <a:xfrm>
            <a:off x="285750" y="142875"/>
            <a:ext cx="25447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"/>
              <a:t>Dioptras Convergentes</a:t>
            </a:r>
          </a:p>
          <a:p>
            <a:pPr algn="ctr"/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 &lt; 0;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’ &gt;0</a:t>
            </a:r>
          </a:p>
        </p:txBody>
      </p:sp>
      <p:sp>
        <p:nvSpPr>
          <p:cNvPr id="48" name="Line 18"/>
          <p:cNvSpPr>
            <a:spLocks noChangeShapeType="1"/>
          </p:cNvSpPr>
          <p:nvPr/>
        </p:nvSpPr>
        <p:spPr bwMode="auto">
          <a:xfrm>
            <a:off x="3643313" y="2214563"/>
            <a:ext cx="40005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39" name="38 CuadroTexto"/>
          <p:cNvSpPr txBox="1">
            <a:spLocks noChangeArrowheads="1"/>
          </p:cNvSpPr>
          <p:nvPr/>
        </p:nvSpPr>
        <p:spPr bwMode="auto">
          <a:xfrm>
            <a:off x="357188" y="5786438"/>
            <a:ext cx="84994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00FF"/>
                </a:solidFill>
              </a:rPr>
              <a:t>(1) Incidente: dirección paralela al eje principal. Refractado: dirección que pasa por foco principal imagen</a:t>
            </a:r>
          </a:p>
        </p:txBody>
      </p:sp>
      <p:sp>
        <p:nvSpPr>
          <p:cNvPr id="44" name="43 CuadroTexto"/>
          <p:cNvSpPr txBox="1">
            <a:spLocks noChangeArrowheads="1"/>
          </p:cNvSpPr>
          <p:nvPr/>
        </p:nvSpPr>
        <p:spPr bwMode="auto">
          <a:xfrm>
            <a:off x="358775" y="6335713"/>
            <a:ext cx="65976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CCFF"/>
                </a:solidFill>
              </a:rPr>
              <a:t>(3) Incidente: dirección pasa por el centro de la dioptra. Refractado: no se desvía</a:t>
            </a:r>
          </a:p>
        </p:txBody>
      </p:sp>
      <p:sp>
        <p:nvSpPr>
          <p:cNvPr id="46" name="45 CuadroTexto"/>
          <p:cNvSpPr txBox="1">
            <a:spLocks noChangeArrowheads="1"/>
          </p:cNvSpPr>
          <p:nvPr/>
        </p:nvSpPr>
        <p:spPr bwMode="auto">
          <a:xfrm>
            <a:off x="357188" y="6049963"/>
            <a:ext cx="82407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A50021"/>
                </a:solidFill>
              </a:rPr>
              <a:t>(2) Incidente: dirección pasa por el foco principal objeto. Refractado: dirección paralela al eje principal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4" grpId="0" animBg="1"/>
      <p:bldP spid="14355" grpId="0" animBg="1"/>
      <p:bldP spid="14356" grpId="0" animBg="1"/>
      <p:bldP spid="14357" grpId="0" animBg="1"/>
      <p:bldP spid="14362" grpId="0"/>
      <p:bldP spid="14364" grpId="0"/>
      <p:bldP spid="14370" grpId="0"/>
      <p:bldP spid="34" grpId="0"/>
      <p:bldP spid="41" grpId="0"/>
      <p:bldP spid="42" grpId="0"/>
      <p:bldP spid="40" grpId="0" animBg="1"/>
      <p:bldP spid="43" grpId="0"/>
      <p:bldP spid="14360" grpId="0" animBg="1"/>
      <p:bldP spid="45" grpId="0"/>
      <p:bldP spid="48" grpId="0" animBg="1"/>
      <p:bldP spid="39" grpId="0"/>
      <p:bldP spid="44" grpId="0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5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17411" name="Freeform 7" descr="Onda"/>
          <p:cNvSpPr>
            <a:spLocks/>
          </p:cNvSpPr>
          <p:nvPr/>
        </p:nvSpPr>
        <p:spPr bwMode="auto">
          <a:xfrm>
            <a:off x="85725" y="1025525"/>
            <a:ext cx="4167188" cy="4389438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7412" name="Freeform 8" descr="Cuadrícula grande"/>
          <p:cNvSpPr>
            <a:spLocks/>
          </p:cNvSpPr>
          <p:nvPr/>
        </p:nvSpPr>
        <p:spPr bwMode="auto">
          <a:xfrm>
            <a:off x="3592513" y="977900"/>
            <a:ext cx="5837237" cy="4484688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7413" name="Line 9"/>
          <p:cNvSpPr>
            <a:spLocks noChangeShapeType="1"/>
          </p:cNvSpPr>
          <p:nvPr/>
        </p:nvSpPr>
        <p:spPr bwMode="auto">
          <a:xfrm>
            <a:off x="722313" y="3243263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7414" name="Oval 12"/>
          <p:cNvSpPr>
            <a:spLocks noChangeArrowheads="1"/>
          </p:cNvSpPr>
          <p:nvPr/>
        </p:nvSpPr>
        <p:spPr bwMode="auto">
          <a:xfrm>
            <a:off x="785813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7415" name="Oval 13"/>
          <p:cNvSpPr>
            <a:spLocks noChangeArrowheads="1"/>
          </p:cNvSpPr>
          <p:nvPr/>
        </p:nvSpPr>
        <p:spPr bwMode="auto">
          <a:xfrm>
            <a:off x="7643813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7416" name="Text Box 14"/>
          <p:cNvSpPr txBox="1">
            <a:spLocks noChangeArrowheads="1"/>
          </p:cNvSpPr>
          <p:nvPr/>
        </p:nvSpPr>
        <p:spPr bwMode="auto">
          <a:xfrm>
            <a:off x="642938" y="3286125"/>
            <a:ext cx="5016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  <a:r>
              <a:rPr lang="es-ES_tradnl">
                <a:latin typeface="Times New Roman" pitchFamily="18" charset="0"/>
              </a:rPr>
              <a:t>’ </a:t>
            </a:r>
          </a:p>
        </p:txBody>
      </p:sp>
      <p:sp>
        <p:nvSpPr>
          <p:cNvPr id="17417" name="Text Box 15"/>
          <p:cNvSpPr txBox="1">
            <a:spLocks noChangeArrowheads="1"/>
          </p:cNvSpPr>
          <p:nvPr/>
        </p:nvSpPr>
        <p:spPr bwMode="auto">
          <a:xfrm>
            <a:off x="7572375" y="2786063"/>
            <a:ext cx="3254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17418" name="Text Box 16"/>
          <p:cNvSpPr txBox="1">
            <a:spLocks noChangeArrowheads="1"/>
          </p:cNvSpPr>
          <p:nvPr/>
        </p:nvSpPr>
        <p:spPr bwMode="auto">
          <a:xfrm>
            <a:off x="3059113" y="48895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7419" name="Text Box 17"/>
          <p:cNvSpPr txBox="1">
            <a:spLocks noChangeArrowheads="1"/>
          </p:cNvSpPr>
          <p:nvPr/>
        </p:nvSpPr>
        <p:spPr bwMode="auto">
          <a:xfrm>
            <a:off x="3851275" y="488950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785813" y="2214563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4357" name="Line 21"/>
          <p:cNvSpPr>
            <a:spLocks noChangeShapeType="1"/>
          </p:cNvSpPr>
          <p:nvPr/>
        </p:nvSpPr>
        <p:spPr bwMode="auto">
          <a:xfrm>
            <a:off x="3643313" y="2525713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7422" name="Line 23"/>
          <p:cNvSpPr>
            <a:spLocks noChangeShapeType="1"/>
          </p:cNvSpPr>
          <p:nvPr/>
        </p:nvSpPr>
        <p:spPr bwMode="auto">
          <a:xfrm>
            <a:off x="4903788" y="3089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4360" name="Freeform 24"/>
          <p:cNvSpPr>
            <a:spLocks/>
          </p:cNvSpPr>
          <p:nvPr/>
        </p:nvSpPr>
        <p:spPr bwMode="auto">
          <a:xfrm>
            <a:off x="2819400" y="2533650"/>
            <a:ext cx="0" cy="720725"/>
          </a:xfrm>
          <a:custGeom>
            <a:avLst/>
            <a:gdLst>
              <a:gd name="T0" fmla="*/ 0 w 14"/>
              <a:gd name="T1" fmla="*/ 0 h 570"/>
              <a:gd name="T2" fmla="*/ 0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0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triangle" w="med" len="med"/>
            <a:tailEnd type="non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17424" name="Text Box 25"/>
          <p:cNvSpPr txBox="1">
            <a:spLocks noChangeArrowheads="1"/>
          </p:cNvSpPr>
          <p:nvPr/>
        </p:nvSpPr>
        <p:spPr bwMode="auto">
          <a:xfrm>
            <a:off x="1857375" y="32861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2643188" y="3286125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7426" name="Text Box 27"/>
          <p:cNvSpPr txBox="1">
            <a:spLocks noChangeArrowheads="1"/>
          </p:cNvSpPr>
          <p:nvPr/>
        </p:nvSpPr>
        <p:spPr bwMode="auto">
          <a:xfrm>
            <a:off x="1857375" y="1785938"/>
            <a:ext cx="3762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14625" y="2071688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7428" name="Text Box 30"/>
          <p:cNvSpPr txBox="1">
            <a:spLocks noChangeArrowheads="1"/>
          </p:cNvSpPr>
          <p:nvPr/>
        </p:nvSpPr>
        <p:spPr bwMode="auto">
          <a:xfrm>
            <a:off x="8316913" y="344963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4368" name="Freeform 32"/>
          <p:cNvSpPr>
            <a:spLocks/>
          </p:cNvSpPr>
          <p:nvPr/>
        </p:nvSpPr>
        <p:spPr bwMode="auto">
          <a:xfrm>
            <a:off x="1071563" y="1928813"/>
            <a:ext cx="5572125" cy="1928812"/>
          </a:xfrm>
          <a:custGeom>
            <a:avLst/>
            <a:gdLst>
              <a:gd name="T0" fmla="*/ 0 w 3240"/>
              <a:gd name="T1" fmla="*/ 0 h 580"/>
              <a:gd name="T2" fmla="*/ 2147483647 w 3240"/>
              <a:gd name="T3" fmla="*/ 2147483647 h 580"/>
              <a:gd name="T4" fmla="*/ 0 60000 65536"/>
              <a:gd name="T5" fmla="*/ 0 60000 65536"/>
              <a:gd name="T6" fmla="*/ 0 w 3240"/>
              <a:gd name="T7" fmla="*/ 0 h 580"/>
              <a:gd name="T8" fmla="*/ 3240 w 3240"/>
              <a:gd name="T9" fmla="*/ 580 h 5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40" h="580">
                <a:moveTo>
                  <a:pt x="0" y="0"/>
                </a:moveTo>
                <a:lnTo>
                  <a:pt x="3240" y="580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7430" name="Text Box 33"/>
          <p:cNvSpPr txBox="1">
            <a:spLocks noChangeArrowheads="1"/>
          </p:cNvSpPr>
          <p:nvPr/>
        </p:nvSpPr>
        <p:spPr bwMode="auto">
          <a:xfrm>
            <a:off x="6786563" y="5000625"/>
            <a:ext cx="1393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</a:rPr>
              <a:t>R &gt; 0, </a:t>
            </a:r>
            <a:r>
              <a:rPr lang="es-ES_tradnl" i="1">
                <a:latin typeface="Times New Roman" pitchFamily="18" charset="0"/>
              </a:rPr>
              <a:t>n &gt; 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8296275" y="6473825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11</a:t>
            </a:r>
          </a:p>
        </p:txBody>
      </p:sp>
      <p:sp>
        <p:nvSpPr>
          <p:cNvPr id="17432" name="Text Box 36"/>
          <p:cNvSpPr txBox="1">
            <a:spLocks noChangeArrowheads="1"/>
          </p:cNvSpPr>
          <p:nvPr/>
        </p:nvSpPr>
        <p:spPr bwMode="auto">
          <a:xfrm>
            <a:off x="4714875" y="343535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41" name="40 CuadroTexto"/>
          <p:cNvSpPr txBox="1">
            <a:spLocks noChangeArrowheads="1"/>
          </p:cNvSpPr>
          <p:nvPr/>
        </p:nvSpPr>
        <p:spPr bwMode="auto">
          <a:xfrm>
            <a:off x="1428750" y="1857375"/>
            <a:ext cx="4365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42" name="41 CuadroTexto"/>
          <p:cNvSpPr txBox="1">
            <a:spLocks noChangeArrowheads="1"/>
          </p:cNvSpPr>
          <p:nvPr/>
        </p:nvSpPr>
        <p:spPr bwMode="auto">
          <a:xfrm>
            <a:off x="2921000" y="2120900"/>
            <a:ext cx="4365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17435" name="35 CuadroTexto"/>
          <p:cNvSpPr txBox="1">
            <a:spLocks noChangeArrowheads="1"/>
          </p:cNvSpPr>
          <p:nvPr/>
        </p:nvSpPr>
        <p:spPr bwMode="auto">
          <a:xfrm>
            <a:off x="857250" y="1357313"/>
            <a:ext cx="20970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Objetos real (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&lt; 0)</a:t>
            </a:r>
          </a:p>
        </p:txBody>
      </p:sp>
      <p:sp>
        <p:nvSpPr>
          <p:cNvPr id="17436" name="36 CuadroTexto"/>
          <p:cNvSpPr txBox="1">
            <a:spLocks noChangeArrowheads="1"/>
          </p:cNvSpPr>
          <p:nvPr/>
        </p:nvSpPr>
        <p:spPr bwMode="auto">
          <a:xfrm>
            <a:off x="3500438" y="142875"/>
            <a:ext cx="21082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"/>
              <a:t>Dioptra Divergente</a:t>
            </a:r>
          </a:p>
          <a:p>
            <a:pPr algn="ctr"/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  &gt; 0;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’ &lt; 0</a:t>
            </a:r>
          </a:p>
        </p:txBody>
      </p:sp>
      <p:cxnSp>
        <p:nvCxnSpPr>
          <p:cNvPr id="51" name="50 Conector recto"/>
          <p:cNvCxnSpPr/>
          <p:nvPr/>
        </p:nvCxnSpPr>
        <p:spPr>
          <a:xfrm rot="5400000" flipH="1" flipV="1">
            <a:off x="1535906" y="1224757"/>
            <a:ext cx="1152525" cy="3132138"/>
          </a:xfrm>
          <a:prstGeom prst="line">
            <a:avLst/>
          </a:prstGeom>
          <a:ln w="25400">
            <a:solidFill>
              <a:srgbClr val="0000FF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 rot="5400000" flipH="1" flipV="1">
            <a:off x="4599781" y="81757"/>
            <a:ext cx="1152525" cy="3132138"/>
          </a:xfrm>
          <a:prstGeom prst="line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>
            <a:cxnSpLocks noChangeAspect="1"/>
          </p:cNvCxnSpPr>
          <p:nvPr/>
        </p:nvCxnSpPr>
        <p:spPr>
          <a:xfrm rot="10800000">
            <a:off x="2000250" y="2227263"/>
            <a:ext cx="1635125" cy="298450"/>
          </a:xfrm>
          <a:prstGeom prst="line">
            <a:avLst/>
          </a:prstGeom>
          <a:ln w="25400">
            <a:solidFill>
              <a:srgbClr val="A5002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40" name="Line 11"/>
          <p:cNvSpPr>
            <a:spLocks noChangeShapeType="1"/>
          </p:cNvSpPr>
          <p:nvPr/>
        </p:nvSpPr>
        <p:spPr bwMode="auto">
          <a:xfrm flipV="1">
            <a:off x="2012950" y="2214563"/>
            <a:ext cx="0" cy="10445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64" name="63 CuadroTexto"/>
          <p:cNvSpPr txBox="1">
            <a:spLocks noChangeArrowheads="1"/>
          </p:cNvSpPr>
          <p:nvPr/>
        </p:nvSpPr>
        <p:spPr bwMode="auto">
          <a:xfrm>
            <a:off x="3214688" y="2714625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65" name="64 CuadroTexto"/>
          <p:cNvSpPr txBox="1">
            <a:spLocks noChangeArrowheads="1"/>
          </p:cNvSpPr>
          <p:nvPr/>
        </p:nvSpPr>
        <p:spPr bwMode="auto">
          <a:xfrm>
            <a:off x="2500313" y="642938"/>
            <a:ext cx="478631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>
                <a:latin typeface="Times New Roman" pitchFamily="18" charset="0"/>
                <a:cs typeface="Times New Roman" pitchFamily="18" charset="0"/>
              </a:rPr>
              <a:t>Si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&lt; 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0 , la imagen es virtual, menor  y derecha</a:t>
            </a:r>
          </a:p>
          <a:p>
            <a:endParaRPr lang="es-E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70 Conector recto"/>
          <p:cNvCxnSpPr>
            <a:cxnSpLocks noChangeAspect="1"/>
          </p:cNvCxnSpPr>
          <p:nvPr/>
        </p:nvCxnSpPr>
        <p:spPr>
          <a:xfrm rot="10800000">
            <a:off x="3643313" y="2525713"/>
            <a:ext cx="4532312" cy="827087"/>
          </a:xfrm>
          <a:prstGeom prst="line">
            <a:avLst/>
          </a:prstGeom>
          <a:ln w="25400">
            <a:solidFill>
              <a:srgbClr val="A5002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Line 21"/>
          <p:cNvSpPr>
            <a:spLocks noChangeShapeType="1"/>
          </p:cNvSpPr>
          <p:nvPr/>
        </p:nvSpPr>
        <p:spPr bwMode="auto">
          <a:xfrm>
            <a:off x="1285875" y="2559050"/>
            <a:ext cx="2447925" cy="0"/>
          </a:xfrm>
          <a:prstGeom prst="line">
            <a:avLst/>
          </a:prstGeom>
          <a:noFill/>
          <a:ln w="25400">
            <a:solidFill>
              <a:srgbClr val="993366"/>
            </a:solidFill>
            <a:prstDash val="dashDot"/>
            <a:round/>
            <a:headEnd/>
            <a:tailEnd type="non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7445" name="AutoShape 10"/>
          <p:cNvSpPr>
            <a:spLocks/>
          </p:cNvSpPr>
          <p:nvPr/>
        </p:nvSpPr>
        <p:spPr bwMode="auto">
          <a:xfrm>
            <a:off x="3622675" y="1000125"/>
            <a:ext cx="360363" cy="4392613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38" name="37 CuadroTexto"/>
          <p:cNvSpPr txBox="1">
            <a:spLocks noChangeArrowheads="1"/>
          </p:cNvSpPr>
          <p:nvPr/>
        </p:nvSpPr>
        <p:spPr bwMode="auto">
          <a:xfrm>
            <a:off x="357188" y="5786438"/>
            <a:ext cx="84994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00FF"/>
                </a:solidFill>
              </a:rPr>
              <a:t>(1) Incidente: dirección paralela al eje principal. Refractado: dirección que pasa por foco principal imagen</a:t>
            </a:r>
          </a:p>
        </p:txBody>
      </p:sp>
      <p:sp>
        <p:nvSpPr>
          <p:cNvPr id="39" name="38 CuadroTexto"/>
          <p:cNvSpPr txBox="1">
            <a:spLocks noChangeArrowheads="1"/>
          </p:cNvSpPr>
          <p:nvPr/>
        </p:nvSpPr>
        <p:spPr bwMode="auto">
          <a:xfrm>
            <a:off x="358775" y="6335713"/>
            <a:ext cx="65976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CCFF"/>
                </a:solidFill>
              </a:rPr>
              <a:t>(3) Incidente: dirección pasa por el centro de la dioptra. Refractado: no se desvía</a:t>
            </a:r>
          </a:p>
        </p:txBody>
      </p:sp>
      <p:sp>
        <p:nvSpPr>
          <p:cNvPr id="40" name="39 CuadroTexto"/>
          <p:cNvSpPr txBox="1">
            <a:spLocks noChangeArrowheads="1"/>
          </p:cNvSpPr>
          <p:nvPr/>
        </p:nvSpPr>
        <p:spPr bwMode="auto">
          <a:xfrm>
            <a:off x="357188" y="6049963"/>
            <a:ext cx="82407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A50021"/>
                </a:solidFill>
              </a:rPr>
              <a:t>(2) Incidente: dirección pasa por el foco principal objeto. Refractado: dirección paralela al eje principal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4" grpId="0" animBg="1"/>
      <p:bldP spid="14357" grpId="0" animBg="1"/>
      <p:bldP spid="14360" grpId="0" animBg="1"/>
      <p:bldP spid="14362" grpId="0"/>
      <p:bldP spid="14364" grpId="0"/>
      <p:bldP spid="14368" grpId="0" animBg="1"/>
      <p:bldP spid="14370" grpId="0"/>
      <p:bldP spid="41" grpId="0"/>
      <p:bldP spid="42" grpId="0"/>
      <p:bldP spid="64" grpId="0"/>
      <p:bldP spid="65" grpId="0"/>
      <p:bldP spid="72" grpId="0" animBg="1"/>
      <p:bldP spid="38" grpId="0"/>
      <p:bldP spid="39" grpId="0"/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5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18435" name="Freeform 7" descr="Onda"/>
          <p:cNvSpPr>
            <a:spLocks/>
          </p:cNvSpPr>
          <p:nvPr/>
        </p:nvSpPr>
        <p:spPr bwMode="auto">
          <a:xfrm>
            <a:off x="85725" y="1025525"/>
            <a:ext cx="4167188" cy="4389438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8436" name="Freeform 8" descr="Cuadrícula grande"/>
          <p:cNvSpPr>
            <a:spLocks/>
          </p:cNvSpPr>
          <p:nvPr/>
        </p:nvSpPr>
        <p:spPr bwMode="auto">
          <a:xfrm>
            <a:off x="3592513" y="857250"/>
            <a:ext cx="5837237" cy="4484688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8437" name="Line 9"/>
          <p:cNvSpPr>
            <a:spLocks noChangeShapeType="1"/>
          </p:cNvSpPr>
          <p:nvPr/>
        </p:nvSpPr>
        <p:spPr bwMode="auto">
          <a:xfrm>
            <a:off x="722313" y="3243263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8438" name="AutoShape 10"/>
          <p:cNvSpPr>
            <a:spLocks/>
          </p:cNvSpPr>
          <p:nvPr/>
        </p:nvSpPr>
        <p:spPr bwMode="auto">
          <a:xfrm>
            <a:off x="3622675" y="1000125"/>
            <a:ext cx="360363" cy="4392613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8439" name="Oval 12"/>
          <p:cNvSpPr>
            <a:spLocks noChangeArrowheads="1"/>
          </p:cNvSpPr>
          <p:nvPr/>
        </p:nvSpPr>
        <p:spPr bwMode="auto">
          <a:xfrm>
            <a:off x="785813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8440" name="Oval 13"/>
          <p:cNvSpPr>
            <a:spLocks noChangeArrowheads="1"/>
          </p:cNvSpPr>
          <p:nvPr/>
        </p:nvSpPr>
        <p:spPr bwMode="auto">
          <a:xfrm>
            <a:off x="7643813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8441" name="Text Box 14"/>
          <p:cNvSpPr txBox="1">
            <a:spLocks noChangeArrowheads="1"/>
          </p:cNvSpPr>
          <p:nvPr/>
        </p:nvSpPr>
        <p:spPr bwMode="auto">
          <a:xfrm>
            <a:off x="1214438" y="3286125"/>
            <a:ext cx="5016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  <a:r>
              <a:rPr lang="es-ES_tradnl">
                <a:latin typeface="Times New Roman" pitchFamily="18" charset="0"/>
              </a:rPr>
              <a:t>’ </a:t>
            </a:r>
          </a:p>
        </p:txBody>
      </p:sp>
      <p:sp>
        <p:nvSpPr>
          <p:cNvPr id="18442" name="Text Box 15"/>
          <p:cNvSpPr txBox="1">
            <a:spLocks noChangeArrowheads="1"/>
          </p:cNvSpPr>
          <p:nvPr/>
        </p:nvSpPr>
        <p:spPr bwMode="auto">
          <a:xfrm>
            <a:off x="7572375" y="2786063"/>
            <a:ext cx="3254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18443" name="Text Box 16"/>
          <p:cNvSpPr txBox="1">
            <a:spLocks noChangeArrowheads="1"/>
          </p:cNvSpPr>
          <p:nvPr/>
        </p:nvSpPr>
        <p:spPr bwMode="auto">
          <a:xfrm>
            <a:off x="3059113" y="48895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8444" name="Text Box 17"/>
          <p:cNvSpPr txBox="1">
            <a:spLocks noChangeArrowheads="1"/>
          </p:cNvSpPr>
          <p:nvPr/>
        </p:nvSpPr>
        <p:spPr bwMode="auto">
          <a:xfrm>
            <a:off x="3851275" y="488950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785813" y="2214563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4357" name="Line 21"/>
          <p:cNvSpPr>
            <a:spLocks noChangeShapeType="1"/>
          </p:cNvSpPr>
          <p:nvPr/>
        </p:nvSpPr>
        <p:spPr bwMode="auto">
          <a:xfrm>
            <a:off x="3617913" y="1449388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8447" name="Line 23"/>
          <p:cNvSpPr>
            <a:spLocks noChangeShapeType="1"/>
          </p:cNvSpPr>
          <p:nvPr/>
        </p:nvSpPr>
        <p:spPr bwMode="auto">
          <a:xfrm>
            <a:off x="4929188" y="3089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4360" name="Freeform 24"/>
          <p:cNvSpPr>
            <a:spLocks/>
          </p:cNvSpPr>
          <p:nvPr/>
        </p:nvSpPr>
        <p:spPr bwMode="auto">
          <a:xfrm>
            <a:off x="5748338" y="1449388"/>
            <a:ext cx="0" cy="1800225"/>
          </a:xfrm>
          <a:custGeom>
            <a:avLst/>
            <a:gdLst>
              <a:gd name="T0" fmla="*/ 0 w 14"/>
              <a:gd name="T1" fmla="*/ 0 h 570"/>
              <a:gd name="T2" fmla="*/ 0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0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triangle" w="med" len="med"/>
            <a:tailEnd type="non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18449" name="Text Box 25"/>
          <p:cNvSpPr txBox="1">
            <a:spLocks noChangeArrowheads="1"/>
          </p:cNvSpPr>
          <p:nvPr/>
        </p:nvSpPr>
        <p:spPr bwMode="auto">
          <a:xfrm>
            <a:off x="5214938" y="335756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5572125" y="335756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8451" name="Text Box 27"/>
          <p:cNvSpPr txBox="1">
            <a:spLocks noChangeArrowheads="1"/>
          </p:cNvSpPr>
          <p:nvPr/>
        </p:nvSpPr>
        <p:spPr bwMode="auto">
          <a:xfrm>
            <a:off x="5143500" y="1785938"/>
            <a:ext cx="3762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5429250" y="1000125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68" name="Freeform 32"/>
          <p:cNvSpPr>
            <a:spLocks noChangeAspect="1"/>
          </p:cNvSpPr>
          <p:nvPr/>
        </p:nvSpPr>
        <p:spPr bwMode="auto">
          <a:xfrm flipV="1">
            <a:off x="3617913" y="1143000"/>
            <a:ext cx="2251075" cy="5026025"/>
          </a:xfrm>
          <a:custGeom>
            <a:avLst/>
            <a:gdLst>
              <a:gd name="T0" fmla="*/ 0 w 3240"/>
              <a:gd name="T1" fmla="*/ 0 h 580"/>
              <a:gd name="T2" fmla="*/ 2147483647 w 3240"/>
              <a:gd name="T3" fmla="*/ 2147483647 h 580"/>
              <a:gd name="T4" fmla="*/ 0 60000 65536"/>
              <a:gd name="T5" fmla="*/ 0 60000 65536"/>
              <a:gd name="T6" fmla="*/ 0 w 3240"/>
              <a:gd name="T7" fmla="*/ 0 h 580"/>
              <a:gd name="T8" fmla="*/ 3240 w 3240"/>
              <a:gd name="T9" fmla="*/ 580 h 5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40" h="580">
                <a:moveTo>
                  <a:pt x="0" y="0"/>
                </a:moveTo>
                <a:lnTo>
                  <a:pt x="3240" y="580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8454" name="Text Box 33"/>
          <p:cNvSpPr txBox="1">
            <a:spLocks noChangeArrowheads="1"/>
          </p:cNvSpPr>
          <p:nvPr/>
        </p:nvSpPr>
        <p:spPr bwMode="auto">
          <a:xfrm>
            <a:off x="6786563" y="5000625"/>
            <a:ext cx="1393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</a:rPr>
              <a:t>R &gt; 0, </a:t>
            </a:r>
            <a:r>
              <a:rPr lang="es-ES_tradnl" i="1">
                <a:latin typeface="Times New Roman" pitchFamily="18" charset="0"/>
              </a:rPr>
              <a:t>n &gt; 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8296275" y="6473825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12</a:t>
            </a:r>
          </a:p>
        </p:txBody>
      </p:sp>
      <p:sp>
        <p:nvSpPr>
          <p:cNvPr id="18456" name="Text Box 36"/>
          <p:cNvSpPr txBox="1">
            <a:spLocks noChangeArrowheads="1"/>
          </p:cNvSpPr>
          <p:nvPr/>
        </p:nvSpPr>
        <p:spPr bwMode="auto">
          <a:xfrm>
            <a:off x="4806950" y="343535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41" name="40 CuadroTexto"/>
          <p:cNvSpPr txBox="1">
            <a:spLocks noChangeArrowheads="1"/>
          </p:cNvSpPr>
          <p:nvPr/>
        </p:nvSpPr>
        <p:spPr bwMode="auto">
          <a:xfrm>
            <a:off x="1428750" y="1857375"/>
            <a:ext cx="4365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42" name="41 CuadroTexto"/>
          <p:cNvSpPr txBox="1">
            <a:spLocks noChangeArrowheads="1"/>
          </p:cNvSpPr>
          <p:nvPr/>
        </p:nvSpPr>
        <p:spPr bwMode="auto">
          <a:xfrm>
            <a:off x="1643063" y="28575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18459" name="35 CuadroTexto"/>
          <p:cNvSpPr txBox="1">
            <a:spLocks noChangeArrowheads="1"/>
          </p:cNvSpPr>
          <p:nvPr/>
        </p:nvSpPr>
        <p:spPr bwMode="auto">
          <a:xfrm>
            <a:off x="6357938" y="214313"/>
            <a:ext cx="2571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Objetos virtuales (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&gt; 0)</a:t>
            </a:r>
          </a:p>
        </p:txBody>
      </p:sp>
      <p:sp>
        <p:nvSpPr>
          <p:cNvPr id="18460" name="36 CuadroTexto"/>
          <p:cNvSpPr txBox="1">
            <a:spLocks noChangeArrowheads="1"/>
          </p:cNvSpPr>
          <p:nvPr/>
        </p:nvSpPr>
        <p:spPr bwMode="auto">
          <a:xfrm>
            <a:off x="3500438" y="142875"/>
            <a:ext cx="233838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"/>
              <a:t>Dioptras Divergentes</a:t>
            </a:r>
          </a:p>
          <a:p>
            <a:pPr algn="ctr"/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  &gt; 0;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’ &lt; 0</a:t>
            </a:r>
          </a:p>
        </p:txBody>
      </p:sp>
      <p:sp>
        <p:nvSpPr>
          <p:cNvPr id="38" name="Line 18"/>
          <p:cNvSpPr>
            <a:spLocks noChangeShapeType="1"/>
          </p:cNvSpPr>
          <p:nvPr/>
        </p:nvSpPr>
        <p:spPr bwMode="auto">
          <a:xfrm flipV="1">
            <a:off x="3643313" y="2214563"/>
            <a:ext cx="4714875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cxnSp>
        <p:nvCxnSpPr>
          <p:cNvPr id="51" name="50 Conector recto"/>
          <p:cNvCxnSpPr/>
          <p:nvPr/>
        </p:nvCxnSpPr>
        <p:spPr>
          <a:xfrm rot="5400000" flipH="1" flipV="1">
            <a:off x="1535906" y="1224757"/>
            <a:ext cx="1152525" cy="3132138"/>
          </a:xfrm>
          <a:prstGeom prst="line">
            <a:avLst/>
          </a:prstGeom>
          <a:ln w="25400">
            <a:solidFill>
              <a:srgbClr val="0000FF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 rot="10800000">
            <a:off x="3571875" y="1428750"/>
            <a:ext cx="4133850" cy="1836738"/>
          </a:xfrm>
          <a:prstGeom prst="line">
            <a:avLst/>
          </a:prstGeom>
          <a:ln w="25400">
            <a:solidFill>
              <a:srgbClr val="A5002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 rot="5400000" flipH="1" flipV="1">
            <a:off x="4562475" y="106363"/>
            <a:ext cx="1150937" cy="3132138"/>
          </a:xfrm>
          <a:prstGeom prst="line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>
            <a:cxnSpLocks noChangeAspect="1"/>
          </p:cNvCxnSpPr>
          <p:nvPr/>
        </p:nvCxnSpPr>
        <p:spPr>
          <a:xfrm rot="10800000">
            <a:off x="655638" y="128588"/>
            <a:ext cx="3059112" cy="1358900"/>
          </a:xfrm>
          <a:prstGeom prst="line">
            <a:avLst/>
          </a:prstGeom>
          <a:ln w="25400">
            <a:solidFill>
              <a:srgbClr val="A5002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 rot="5400000">
            <a:off x="2539206" y="5287169"/>
            <a:ext cx="2143125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32"/>
          <p:cNvSpPr>
            <a:spLocks noChangeAspect="1"/>
          </p:cNvSpPr>
          <p:nvPr/>
        </p:nvSpPr>
        <p:spPr bwMode="auto">
          <a:xfrm flipV="1">
            <a:off x="3303588" y="6143625"/>
            <a:ext cx="314325" cy="703263"/>
          </a:xfrm>
          <a:custGeom>
            <a:avLst/>
            <a:gdLst>
              <a:gd name="T0" fmla="*/ 0 w 3240"/>
              <a:gd name="T1" fmla="*/ 0 h 580"/>
              <a:gd name="T2" fmla="*/ 2147483647 w 3240"/>
              <a:gd name="T3" fmla="*/ 2147483647 h 580"/>
              <a:gd name="T4" fmla="*/ 0 60000 65536"/>
              <a:gd name="T5" fmla="*/ 0 60000 65536"/>
              <a:gd name="T6" fmla="*/ 0 w 3240"/>
              <a:gd name="T7" fmla="*/ 0 h 580"/>
              <a:gd name="T8" fmla="*/ 3240 w 3240"/>
              <a:gd name="T9" fmla="*/ 580 h 5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40" h="580">
                <a:moveTo>
                  <a:pt x="0" y="0"/>
                </a:moveTo>
                <a:lnTo>
                  <a:pt x="3240" y="580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8468" name="Line 11"/>
          <p:cNvSpPr>
            <a:spLocks noChangeShapeType="1"/>
          </p:cNvSpPr>
          <p:nvPr/>
        </p:nvSpPr>
        <p:spPr bwMode="auto">
          <a:xfrm flipV="1">
            <a:off x="5357813" y="2201863"/>
            <a:ext cx="0" cy="10445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64" name="63 CuadroTexto"/>
          <p:cNvSpPr txBox="1">
            <a:spLocks noChangeArrowheads="1"/>
          </p:cNvSpPr>
          <p:nvPr/>
        </p:nvSpPr>
        <p:spPr bwMode="auto">
          <a:xfrm>
            <a:off x="2928938" y="628650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65" name="64 CuadroTexto"/>
          <p:cNvSpPr txBox="1">
            <a:spLocks noChangeArrowheads="1"/>
          </p:cNvSpPr>
          <p:nvPr/>
        </p:nvSpPr>
        <p:spPr bwMode="auto">
          <a:xfrm>
            <a:off x="4143375" y="5715000"/>
            <a:ext cx="48577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>
                <a:latin typeface="Times New Roman" pitchFamily="18" charset="0"/>
                <a:cs typeface="Times New Roman" pitchFamily="18" charset="0"/>
              </a:rPr>
              <a:t>Si 0 &lt;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, la imagen es real mayor y derecha</a:t>
            </a:r>
          </a:p>
          <a:p>
            <a:endParaRPr lang="es-E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4" grpId="0" animBg="1"/>
      <p:bldP spid="14357" grpId="0" animBg="1"/>
      <p:bldP spid="14360" grpId="0" animBg="1"/>
      <p:bldP spid="14362" grpId="0"/>
      <p:bldP spid="14364" grpId="0"/>
      <p:bldP spid="14368" grpId="0" animBg="1"/>
      <p:bldP spid="14370" grpId="0"/>
      <p:bldP spid="41" grpId="0"/>
      <p:bldP spid="42" grpId="0"/>
      <p:bldP spid="38" grpId="0" animBg="1"/>
      <p:bldP spid="63" grpId="0" animBg="1"/>
      <p:bldP spid="64" grpId="0"/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reeform 7" descr="Onda"/>
          <p:cNvSpPr>
            <a:spLocks noChangeAspect="1"/>
          </p:cNvSpPr>
          <p:nvPr/>
        </p:nvSpPr>
        <p:spPr bwMode="auto">
          <a:xfrm>
            <a:off x="776288" y="3933825"/>
            <a:ext cx="2708275" cy="2852738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19460" name="Freeform 7" descr="Onda"/>
          <p:cNvSpPr>
            <a:spLocks noChangeAspect="1"/>
          </p:cNvSpPr>
          <p:nvPr/>
        </p:nvSpPr>
        <p:spPr bwMode="auto">
          <a:xfrm>
            <a:off x="85725" y="823913"/>
            <a:ext cx="2708275" cy="2852737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9461" name="Freeform 8" descr="Cuadrícula grande"/>
          <p:cNvSpPr>
            <a:spLocks noChangeAspect="1"/>
          </p:cNvSpPr>
          <p:nvPr/>
        </p:nvSpPr>
        <p:spPr bwMode="auto">
          <a:xfrm>
            <a:off x="2428875" y="785813"/>
            <a:ext cx="3794125" cy="2914650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9462" name="Line 9"/>
          <p:cNvSpPr>
            <a:spLocks noChangeAspect="1" noChangeShapeType="1"/>
          </p:cNvSpPr>
          <p:nvPr/>
        </p:nvSpPr>
        <p:spPr bwMode="auto">
          <a:xfrm>
            <a:off x="547688" y="2466975"/>
            <a:ext cx="542925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9463" name="AutoShape 10"/>
          <p:cNvSpPr>
            <a:spLocks noChangeAspect="1"/>
          </p:cNvSpPr>
          <p:nvPr/>
        </p:nvSpPr>
        <p:spPr bwMode="auto">
          <a:xfrm>
            <a:off x="2408238" y="857250"/>
            <a:ext cx="234950" cy="2855913"/>
          </a:xfrm>
          <a:prstGeom prst="leftBracket">
            <a:avLst>
              <a:gd name="adj" fmla="val 101295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9464" name="Oval 12"/>
          <p:cNvSpPr>
            <a:spLocks noChangeAspect="1" noChangeArrowheads="1"/>
          </p:cNvSpPr>
          <p:nvPr/>
        </p:nvSpPr>
        <p:spPr bwMode="auto">
          <a:xfrm>
            <a:off x="663575" y="2428875"/>
            <a:ext cx="47625" cy="476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9465" name="Oval 13"/>
          <p:cNvSpPr>
            <a:spLocks noChangeAspect="1" noChangeArrowheads="1"/>
          </p:cNvSpPr>
          <p:nvPr/>
        </p:nvSpPr>
        <p:spPr bwMode="auto">
          <a:xfrm>
            <a:off x="4919663" y="2428875"/>
            <a:ext cx="47625" cy="460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9466" name="Text Box 14"/>
          <p:cNvSpPr txBox="1">
            <a:spLocks noChangeAspect="1" noChangeArrowheads="1"/>
          </p:cNvSpPr>
          <p:nvPr/>
        </p:nvSpPr>
        <p:spPr bwMode="auto">
          <a:xfrm>
            <a:off x="642938" y="2643188"/>
            <a:ext cx="325437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  <a:r>
              <a:rPr lang="es-ES_tradnl">
                <a:latin typeface="Times New Roman" pitchFamily="18" charset="0"/>
              </a:rPr>
              <a:t>’ </a:t>
            </a:r>
          </a:p>
        </p:txBody>
      </p:sp>
      <p:sp>
        <p:nvSpPr>
          <p:cNvPr id="19467" name="Text Box 15"/>
          <p:cNvSpPr txBox="1">
            <a:spLocks noChangeAspect="1" noChangeArrowheads="1"/>
          </p:cNvSpPr>
          <p:nvPr/>
        </p:nvSpPr>
        <p:spPr bwMode="auto">
          <a:xfrm>
            <a:off x="4770438" y="2487613"/>
            <a:ext cx="211137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19468" name="Text Box 16"/>
          <p:cNvSpPr txBox="1">
            <a:spLocks noChangeAspect="1" noChangeArrowheads="1"/>
          </p:cNvSpPr>
          <p:nvPr/>
        </p:nvSpPr>
        <p:spPr bwMode="auto">
          <a:xfrm>
            <a:off x="2000250" y="3429000"/>
            <a:ext cx="1936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9469" name="Text Box 17"/>
          <p:cNvSpPr txBox="1">
            <a:spLocks noChangeAspect="1" noChangeArrowheads="1"/>
          </p:cNvSpPr>
          <p:nvPr/>
        </p:nvSpPr>
        <p:spPr bwMode="auto">
          <a:xfrm>
            <a:off x="2786063" y="3357563"/>
            <a:ext cx="2428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54" name="Line 18"/>
          <p:cNvSpPr>
            <a:spLocks noChangeAspect="1" noChangeShapeType="1"/>
          </p:cNvSpPr>
          <p:nvPr/>
        </p:nvSpPr>
        <p:spPr bwMode="auto">
          <a:xfrm>
            <a:off x="500063" y="1785938"/>
            <a:ext cx="18716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9471" name="Line 23"/>
          <p:cNvSpPr>
            <a:spLocks noChangeAspect="1" noChangeShapeType="1"/>
          </p:cNvSpPr>
          <p:nvPr/>
        </p:nvSpPr>
        <p:spPr bwMode="auto">
          <a:xfrm>
            <a:off x="3214688" y="2357438"/>
            <a:ext cx="0" cy="187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9472" name="Text Box 25"/>
          <p:cNvSpPr txBox="1">
            <a:spLocks noChangeAspect="1" noChangeArrowheads="1"/>
          </p:cNvSpPr>
          <p:nvPr/>
        </p:nvSpPr>
        <p:spPr bwMode="auto">
          <a:xfrm>
            <a:off x="4351338" y="2487613"/>
            <a:ext cx="5064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 </a:t>
            </a:r>
            <a:r>
              <a:rPr lang="es-ES_tradnl" i="1">
                <a:latin typeface="Times New Roman" pitchFamily="18" charset="0"/>
                <a:sym typeface="Symbol" pitchFamily="18" charset="2"/>
              </a:rPr>
              <a:t>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9473" name="Text Box 27"/>
          <p:cNvSpPr txBox="1">
            <a:spLocks noChangeAspect="1" noChangeArrowheads="1"/>
          </p:cNvSpPr>
          <p:nvPr/>
        </p:nvSpPr>
        <p:spPr bwMode="auto">
          <a:xfrm>
            <a:off x="4786313" y="1431925"/>
            <a:ext cx="2444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4368" name="Freeform 32"/>
          <p:cNvSpPr>
            <a:spLocks/>
          </p:cNvSpPr>
          <p:nvPr/>
        </p:nvSpPr>
        <p:spPr bwMode="auto">
          <a:xfrm flipV="1">
            <a:off x="1374775" y="1500188"/>
            <a:ext cx="4411663" cy="1655762"/>
          </a:xfrm>
          <a:custGeom>
            <a:avLst/>
            <a:gdLst>
              <a:gd name="T0" fmla="*/ 0 w 3240"/>
              <a:gd name="T1" fmla="*/ 0 h 580"/>
              <a:gd name="T2" fmla="*/ 2147483647 w 3240"/>
              <a:gd name="T3" fmla="*/ 2147483647 h 580"/>
              <a:gd name="T4" fmla="*/ 0 60000 65536"/>
              <a:gd name="T5" fmla="*/ 0 60000 65536"/>
              <a:gd name="T6" fmla="*/ 0 w 3240"/>
              <a:gd name="T7" fmla="*/ 0 h 580"/>
              <a:gd name="T8" fmla="*/ 3240 w 3240"/>
              <a:gd name="T9" fmla="*/ 580 h 5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40" h="580">
                <a:moveTo>
                  <a:pt x="0" y="0"/>
                </a:moveTo>
                <a:lnTo>
                  <a:pt x="3240" y="580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9475" name="Text Box 33"/>
          <p:cNvSpPr txBox="1">
            <a:spLocks noChangeAspect="1" noChangeArrowheads="1"/>
          </p:cNvSpPr>
          <p:nvPr/>
        </p:nvSpPr>
        <p:spPr bwMode="auto">
          <a:xfrm>
            <a:off x="4857750" y="928688"/>
            <a:ext cx="1381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</a:t>
            </a:r>
            <a:r>
              <a:rPr lang="es-ES_tradnl">
                <a:latin typeface="Times New Roman" pitchFamily="18" charset="0"/>
              </a:rPr>
              <a:t> &gt; 0, </a:t>
            </a:r>
            <a:r>
              <a:rPr lang="es-ES_tradnl" i="1">
                <a:latin typeface="Times New Roman" pitchFamily="18" charset="0"/>
              </a:rPr>
              <a:t>n &gt; 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9476" name="Text Box 34"/>
          <p:cNvSpPr txBox="1">
            <a:spLocks noChangeArrowheads="1"/>
          </p:cNvSpPr>
          <p:nvPr/>
        </p:nvSpPr>
        <p:spPr bwMode="auto">
          <a:xfrm>
            <a:off x="8296275" y="6473825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14</a:t>
            </a:r>
          </a:p>
        </p:txBody>
      </p:sp>
      <p:sp>
        <p:nvSpPr>
          <p:cNvPr id="19477" name="Text Box 36"/>
          <p:cNvSpPr txBox="1">
            <a:spLocks noChangeAspect="1" noChangeArrowheads="1"/>
          </p:cNvSpPr>
          <p:nvPr/>
        </p:nvSpPr>
        <p:spPr bwMode="auto">
          <a:xfrm>
            <a:off x="3000375" y="2489200"/>
            <a:ext cx="2190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41" name="40 CuadroTexto"/>
          <p:cNvSpPr txBox="1">
            <a:spLocks noChangeAspect="1"/>
          </p:cNvSpPr>
          <p:nvPr/>
        </p:nvSpPr>
        <p:spPr bwMode="auto">
          <a:xfrm>
            <a:off x="1500188" y="1428750"/>
            <a:ext cx="2841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19479" name="35 CuadroTexto"/>
          <p:cNvSpPr txBox="1">
            <a:spLocks noChangeArrowheads="1"/>
          </p:cNvSpPr>
          <p:nvPr/>
        </p:nvSpPr>
        <p:spPr bwMode="auto">
          <a:xfrm>
            <a:off x="6357938" y="214313"/>
            <a:ext cx="2571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Objetos virtuales (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&gt; 0)</a:t>
            </a:r>
          </a:p>
        </p:txBody>
      </p:sp>
      <p:sp>
        <p:nvSpPr>
          <p:cNvPr id="19480" name="36 CuadroTexto"/>
          <p:cNvSpPr txBox="1">
            <a:spLocks noChangeArrowheads="1"/>
          </p:cNvSpPr>
          <p:nvPr/>
        </p:nvSpPr>
        <p:spPr bwMode="auto">
          <a:xfrm>
            <a:off x="3500438" y="142875"/>
            <a:ext cx="233838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"/>
              <a:t>Dioptras Divergentes</a:t>
            </a:r>
          </a:p>
          <a:p>
            <a:pPr algn="ctr"/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  &gt; 0;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’ &lt; 0</a:t>
            </a:r>
          </a:p>
        </p:txBody>
      </p:sp>
      <p:sp>
        <p:nvSpPr>
          <p:cNvPr id="38" name="Line 18"/>
          <p:cNvSpPr>
            <a:spLocks noChangeAspect="1" noChangeShapeType="1"/>
          </p:cNvSpPr>
          <p:nvPr/>
        </p:nvSpPr>
        <p:spPr bwMode="auto">
          <a:xfrm flipV="1">
            <a:off x="2220913" y="1785938"/>
            <a:ext cx="3065462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cxnSp>
        <p:nvCxnSpPr>
          <p:cNvPr id="51" name="50 Conector recto"/>
          <p:cNvCxnSpPr>
            <a:cxnSpLocks noChangeAspect="1"/>
          </p:cNvCxnSpPr>
          <p:nvPr/>
        </p:nvCxnSpPr>
        <p:spPr>
          <a:xfrm rot="5400000" flipH="1" flipV="1">
            <a:off x="1108076" y="1143000"/>
            <a:ext cx="749300" cy="2035175"/>
          </a:xfrm>
          <a:prstGeom prst="line">
            <a:avLst/>
          </a:prstGeom>
          <a:ln w="25400">
            <a:solidFill>
              <a:srgbClr val="0000FF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>
            <a:cxnSpLocks noChangeAspect="1"/>
          </p:cNvCxnSpPr>
          <p:nvPr/>
        </p:nvCxnSpPr>
        <p:spPr>
          <a:xfrm rot="5400000" flipH="1" flipV="1">
            <a:off x="3071813" y="403225"/>
            <a:ext cx="749300" cy="2035175"/>
          </a:xfrm>
          <a:prstGeom prst="line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84" name="Line 11"/>
          <p:cNvSpPr>
            <a:spLocks noChangeAspect="1" noChangeShapeType="1"/>
          </p:cNvSpPr>
          <p:nvPr/>
        </p:nvSpPr>
        <p:spPr bwMode="auto">
          <a:xfrm flipV="1">
            <a:off x="4954588" y="1785938"/>
            <a:ext cx="0" cy="6778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64" name="63 CuadroTexto"/>
          <p:cNvSpPr txBox="1">
            <a:spLocks noChangeAspect="1"/>
          </p:cNvSpPr>
          <p:nvPr/>
        </p:nvSpPr>
        <p:spPr bwMode="auto">
          <a:xfrm>
            <a:off x="1714500" y="3000375"/>
            <a:ext cx="2841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65" name="64 CuadroTexto"/>
          <p:cNvSpPr txBox="1">
            <a:spLocks noChangeArrowheads="1"/>
          </p:cNvSpPr>
          <p:nvPr/>
        </p:nvSpPr>
        <p:spPr bwMode="auto">
          <a:xfrm>
            <a:off x="6143625" y="1714500"/>
            <a:ext cx="27860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>
                <a:latin typeface="Times New Roman" pitchFamily="18" charset="0"/>
                <a:cs typeface="Times New Roman" pitchFamily="18" charset="0"/>
              </a:rPr>
              <a:t>Si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= 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, no se forma imagen </a:t>
            </a:r>
          </a:p>
          <a:p>
            <a:r>
              <a:rPr lang="es-ES">
                <a:latin typeface="Times New Roman" pitchFamily="18" charset="0"/>
                <a:cs typeface="Times New Roman" pitchFamily="18" charset="0"/>
              </a:rPr>
              <a:t>(imagen a infinito)</a:t>
            </a:r>
          </a:p>
        </p:txBody>
      </p:sp>
      <p:sp>
        <p:nvSpPr>
          <p:cNvPr id="19487" name="Text Box 5"/>
          <p:cNvSpPr txBox="1">
            <a:spLocks noChangeArrowheads="1"/>
          </p:cNvSpPr>
          <p:nvPr/>
        </p:nvSpPr>
        <p:spPr bwMode="auto">
          <a:xfrm>
            <a:off x="5127625" y="36433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19488" name="Freeform 8" descr="Cuadrícula grande"/>
          <p:cNvSpPr>
            <a:spLocks noChangeAspect="1"/>
          </p:cNvSpPr>
          <p:nvPr/>
        </p:nvSpPr>
        <p:spPr bwMode="auto">
          <a:xfrm>
            <a:off x="3071813" y="3943350"/>
            <a:ext cx="6572250" cy="2914650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139" y="2584"/>
                </a:moveTo>
                <a:cubicBezTo>
                  <a:pt x="3132" y="2524"/>
                  <a:pt x="3351" y="2293"/>
                  <a:pt x="3381" y="2029"/>
                </a:cubicBezTo>
                <a:cubicBezTo>
                  <a:pt x="3411" y="1765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cubicBezTo>
                  <a:pt x="36" y="162"/>
                  <a:pt x="18" y="217"/>
                  <a:pt x="0" y="271"/>
                </a:cubicBezTo>
                <a:cubicBezTo>
                  <a:pt x="7" y="461"/>
                  <a:pt x="13" y="650"/>
                  <a:pt x="20" y="840"/>
                </a:cubicBezTo>
                <a:cubicBezTo>
                  <a:pt x="14" y="961"/>
                  <a:pt x="9" y="1081"/>
                  <a:pt x="3" y="1202"/>
                </a:cubicBezTo>
                <a:lnTo>
                  <a:pt x="3" y="1429"/>
                </a:lnTo>
                <a:cubicBezTo>
                  <a:pt x="6" y="1494"/>
                  <a:pt x="8" y="1560"/>
                  <a:pt x="11" y="1625"/>
                </a:cubicBezTo>
                <a:lnTo>
                  <a:pt x="20" y="1985"/>
                </a:lnTo>
                <a:cubicBezTo>
                  <a:pt x="22" y="2143"/>
                  <a:pt x="25" y="2302"/>
                  <a:pt x="27" y="2460"/>
                </a:cubicBez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13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9489" name="Line 9"/>
          <p:cNvSpPr>
            <a:spLocks noChangeAspect="1" noChangeShapeType="1"/>
          </p:cNvSpPr>
          <p:nvPr/>
        </p:nvSpPr>
        <p:spPr bwMode="auto">
          <a:xfrm>
            <a:off x="71438" y="5541963"/>
            <a:ext cx="903605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9490" name="AutoShape 10"/>
          <p:cNvSpPr>
            <a:spLocks noChangeAspect="1"/>
          </p:cNvSpPr>
          <p:nvPr/>
        </p:nvSpPr>
        <p:spPr bwMode="auto">
          <a:xfrm>
            <a:off x="3098800" y="3932238"/>
            <a:ext cx="233363" cy="2855912"/>
          </a:xfrm>
          <a:prstGeom prst="leftBracket">
            <a:avLst>
              <a:gd name="adj" fmla="val 101984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9491" name="Oval 12"/>
          <p:cNvSpPr>
            <a:spLocks noChangeAspect="1" noChangeArrowheads="1"/>
          </p:cNvSpPr>
          <p:nvPr/>
        </p:nvSpPr>
        <p:spPr bwMode="auto">
          <a:xfrm>
            <a:off x="1454150" y="5503863"/>
            <a:ext cx="47625" cy="476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9492" name="Oval 13"/>
          <p:cNvSpPr>
            <a:spLocks noChangeAspect="1" noChangeArrowheads="1"/>
          </p:cNvSpPr>
          <p:nvPr/>
        </p:nvSpPr>
        <p:spPr bwMode="auto">
          <a:xfrm>
            <a:off x="5495925" y="5503863"/>
            <a:ext cx="47625" cy="460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9493" name="Text Box 14"/>
          <p:cNvSpPr txBox="1">
            <a:spLocks noChangeAspect="1" noChangeArrowheads="1"/>
          </p:cNvSpPr>
          <p:nvPr/>
        </p:nvSpPr>
        <p:spPr bwMode="auto">
          <a:xfrm>
            <a:off x="1265238" y="5487988"/>
            <a:ext cx="325437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  <a:r>
              <a:rPr lang="es-ES_tradnl">
                <a:latin typeface="Times New Roman" pitchFamily="18" charset="0"/>
              </a:rPr>
              <a:t>’ </a:t>
            </a:r>
          </a:p>
        </p:txBody>
      </p:sp>
      <p:sp>
        <p:nvSpPr>
          <p:cNvPr id="19494" name="Text Box 15"/>
          <p:cNvSpPr txBox="1">
            <a:spLocks noChangeAspect="1" noChangeArrowheads="1"/>
          </p:cNvSpPr>
          <p:nvPr/>
        </p:nvSpPr>
        <p:spPr bwMode="auto">
          <a:xfrm>
            <a:off x="5383213" y="5562600"/>
            <a:ext cx="211137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19495" name="Text Box 16"/>
          <p:cNvSpPr txBox="1">
            <a:spLocks noChangeAspect="1" noChangeArrowheads="1"/>
          </p:cNvSpPr>
          <p:nvPr/>
        </p:nvSpPr>
        <p:spPr bwMode="auto">
          <a:xfrm>
            <a:off x="2689225" y="6503988"/>
            <a:ext cx="1936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9496" name="Text Box 17"/>
          <p:cNvSpPr txBox="1">
            <a:spLocks noChangeAspect="1" noChangeArrowheads="1"/>
          </p:cNvSpPr>
          <p:nvPr/>
        </p:nvSpPr>
        <p:spPr bwMode="auto">
          <a:xfrm>
            <a:off x="3475038" y="6432550"/>
            <a:ext cx="2444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55" name="Line 18"/>
          <p:cNvSpPr>
            <a:spLocks noChangeAspect="1" noChangeShapeType="1"/>
          </p:cNvSpPr>
          <p:nvPr/>
        </p:nvSpPr>
        <p:spPr bwMode="auto">
          <a:xfrm>
            <a:off x="1214438" y="4860925"/>
            <a:ext cx="18716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9498" name="Line 23"/>
          <p:cNvSpPr>
            <a:spLocks noChangeAspect="1" noChangeShapeType="1"/>
          </p:cNvSpPr>
          <p:nvPr/>
        </p:nvSpPr>
        <p:spPr bwMode="auto">
          <a:xfrm>
            <a:off x="3903663" y="5432425"/>
            <a:ext cx="0" cy="187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9499" name="Text Box 25"/>
          <p:cNvSpPr txBox="1">
            <a:spLocks noChangeAspect="1" noChangeArrowheads="1"/>
          </p:cNvSpPr>
          <p:nvPr/>
        </p:nvSpPr>
        <p:spPr bwMode="auto">
          <a:xfrm>
            <a:off x="8764588" y="5572125"/>
            <a:ext cx="3794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 </a:t>
            </a:r>
          </a:p>
        </p:txBody>
      </p:sp>
      <p:sp>
        <p:nvSpPr>
          <p:cNvPr id="19500" name="Text Box 27"/>
          <p:cNvSpPr txBox="1">
            <a:spLocks noChangeAspect="1" noChangeArrowheads="1"/>
          </p:cNvSpPr>
          <p:nvPr/>
        </p:nvSpPr>
        <p:spPr bwMode="auto">
          <a:xfrm>
            <a:off x="8756650" y="4500563"/>
            <a:ext cx="2444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9501" name="Text Box 33"/>
          <p:cNvSpPr txBox="1">
            <a:spLocks noChangeAspect="1" noChangeArrowheads="1"/>
          </p:cNvSpPr>
          <p:nvPr/>
        </p:nvSpPr>
        <p:spPr bwMode="auto">
          <a:xfrm>
            <a:off x="7715250" y="4143375"/>
            <a:ext cx="13811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</a:t>
            </a:r>
            <a:r>
              <a:rPr lang="es-ES_tradnl">
                <a:latin typeface="Times New Roman" pitchFamily="18" charset="0"/>
              </a:rPr>
              <a:t> &gt; 0, </a:t>
            </a:r>
            <a:r>
              <a:rPr lang="es-ES_tradnl" i="1">
                <a:latin typeface="Times New Roman" pitchFamily="18" charset="0"/>
              </a:rPr>
              <a:t>n &gt; 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9502" name="Text Box 36"/>
          <p:cNvSpPr txBox="1">
            <a:spLocks noChangeAspect="1" noChangeArrowheads="1"/>
          </p:cNvSpPr>
          <p:nvPr/>
        </p:nvSpPr>
        <p:spPr bwMode="auto">
          <a:xfrm>
            <a:off x="3689350" y="5500688"/>
            <a:ext cx="2190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68" name="67 CuadroTexto"/>
          <p:cNvSpPr txBox="1">
            <a:spLocks noChangeAspect="1"/>
          </p:cNvSpPr>
          <p:nvPr/>
        </p:nvSpPr>
        <p:spPr bwMode="auto">
          <a:xfrm>
            <a:off x="2189163" y="4503738"/>
            <a:ext cx="284162" cy="22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69" name="Line 18"/>
          <p:cNvSpPr>
            <a:spLocks noChangeShapeType="1"/>
          </p:cNvSpPr>
          <p:nvPr/>
        </p:nvSpPr>
        <p:spPr bwMode="auto">
          <a:xfrm flipV="1">
            <a:off x="2832100" y="4857750"/>
            <a:ext cx="6227763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cxnSp>
        <p:nvCxnSpPr>
          <p:cNvPr id="70" name="69 Conector recto"/>
          <p:cNvCxnSpPr>
            <a:cxnSpLocks noChangeAspect="1"/>
          </p:cNvCxnSpPr>
          <p:nvPr/>
        </p:nvCxnSpPr>
        <p:spPr>
          <a:xfrm flipV="1">
            <a:off x="214313" y="4873625"/>
            <a:ext cx="2963862" cy="1089025"/>
          </a:xfrm>
          <a:prstGeom prst="line">
            <a:avLst/>
          </a:prstGeom>
          <a:ln w="25400">
            <a:solidFill>
              <a:srgbClr val="0000FF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>
            <a:cxnSpLocks noChangeAspect="1"/>
          </p:cNvCxnSpPr>
          <p:nvPr/>
        </p:nvCxnSpPr>
        <p:spPr>
          <a:xfrm rot="5400000" flipH="1" flipV="1">
            <a:off x="3761582" y="3477418"/>
            <a:ext cx="749300" cy="2036763"/>
          </a:xfrm>
          <a:prstGeom prst="line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07" name="Line 11"/>
          <p:cNvSpPr>
            <a:spLocks noChangeAspect="1" noChangeShapeType="1"/>
          </p:cNvSpPr>
          <p:nvPr/>
        </p:nvSpPr>
        <p:spPr bwMode="auto">
          <a:xfrm flipV="1">
            <a:off x="9001125" y="4857750"/>
            <a:ext cx="0" cy="6778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73" name="72 CuadroTexto"/>
          <p:cNvSpPr txBox="1">
            <a:spLocks noChangeAspect="1"/>
          </p:cNvSpPr>
          <p:nvPr/>
        </p:nvSpPr>
        <p:spPr bwMode="auto">
          <a:xfrm>
            <a:off x="2214563" y="6075363"/>
            <a:ext cx="4365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74" name="73 CuadroTexto"/>
          <p:cNvSpPr txBox="1">
            <a:spLocks noChangeArrowheads="1"/>
          </p:cNvSpPr>
          <p:nvPr/>
        </p:nvSpPr>
        <p:spPr bwMode="auto">
          <a:xfrm>
            <a:off x="4500563" y="3429000"/>
            <a:ext cx="4786312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dirty="0">
                <a:latin typeface="Times New Roman" pitchFamily="18" charset="0"/>
                <a:cs typeface="Times New Roman" pitchFamily="18" charset="0"/>
              </a:rPr>
              <a:t>Si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, la imagen es 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virtu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al 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e invertida</a:t>
            </a:r>
          </a:p>
          <a:p>
            <a:r>
              <a:rPr lang="es-ES" dirty="0">
                <a:latin typeface="Times New Roman" pitchFamily="18" charset="0"/>
                <a:cs typeface="Times New Roman" pitchFamily="18" charset="0"/>
              </a:rPr>
              <a:t>(se achica en la medida que el objeto se aleja)</a:t>
            </a:r>
          </a:p>
        </p:txBody>
      </p:sp>
      <p:cxnSp>
        <p:nvCxnSpPr>
          <p:cNvPr id="76" name="75 Conector recto"/>
          <p:cNvCxnSpPr>
            <a:cxnSpLocks noChangeAspect="1"/>
          </p:cNvCxnSpPr>
          <p:nvPr/>
        </p:nvCxnSpPr>
        <p:spPr>
          <a:xfrm flipV="1">
            <a:off x="3071813" y="4929188"/>
            <a:ext cx="5940425" cy="1003300"/>
          </a:xfrm>
          <a:prstGeom prst="line">
            <a:avLst/>
          </a:prstGeom>
          <a:ln w="25400">
            <a:solidFill>
              <a:srgbClr val="A5002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>
            <a:cxnSpLocks/>
          </p:cNvCxnSpPr>
          <p:nvPr/>
        </p:nvCxnSpPr>
        <p:spPr>
          <a:xfrm flipV="1">
            <a:off x="0" y="5929313"/>
            <a:ext cx="3060700" cy="0"/>
          </a:xfrm>
          <a:prstGeom prst="line">
            <a:avLst/>
          </a:prstGeom>
          <a:ln w="25400">
            <a:solidFill>
              <a:srgbClr val="A5002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 de flecha"/>
          <p:cNvCxnSpPr/>
          <p:nvPr/>
        </p:nvCxnSpPr>
        <p:spPr>
          <a:xfrm flipV="1">
            <a:off x="3071813" y="5857875"/>
            <a:ext cx="5143500" cy="71438"/>
          </a:xfrm>
          <a:prstGeom prst="straightConnector1">
            <a:avLst/>
          </a:prstGeom>
          <a:ln w="25400">
            <a:solidFill>
              <a:srgbClr val="A500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"/>
          <p:cNvCxnSpPr>
            <a:cxnSpLocks noChangeAspect="1"/>
          </p:cNvCxnSpPr>
          <p:nvPr/>
        </p:nvCxnSpPr>
        <p:spPr>
          <a:xfrm flipV="1">
            <a:off x="1643063" y="5942013"/>
            <a:ext cx="1439862" cy="242887"/>
          </a:xfrm>
          <a:prstGeom prst="line">
            <a:avLst/>
          </a:prstGeom>
          <a:ln w="25400">
            <a:solidFill>
              <a:srgbClr val="A5002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 de flecha"/>
          <p:cNvCxnSpPr/>
          <p:nvPr/>
        </p:nvCxnSpPr>
        <p:spPr>
          <a:xfrm rot="5400000">
            <a:off x="106363" y="5751513"/>
            <a:ext cx="357187" cy="1587"/>
          </a:xfrm>
          <a:prstGeom prst="straightConnector1">
            <a:avLst/>
          </a:prstGeom>
          <a:ln w="25400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 Box 26"/>
          <p:cNvSpPr txBox="1">
            <a:spLocks noChangeArrowheads="1"/>
          </p:cNvSpPr>
          <p:nvPr/>
        </p:nvSpPr>
        <p:spPr bwMode="auto">
          <a:xfrm>
            <a:off x="142875" y="514350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88" name="Text Box 26"/>
          <p:cNvSpPr txBox="1">
            <a:spLocks noChangeArrowheads="1"/>
          </p:cNvSpPr>
          <p:nvPr/>
        </p:nvSpPr>
        <p:spPr bwMode="auto">
          <a:xfrm>
            <a:off x="142875" y="600075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89" name="Text Box 34"/>
          <p:cNvSpPr txBox="1">
            <a:spLocks noChangeArrowheads="1"/>
          </p:cNvSpPr>
          <p:nvPr/>
        </p:nvSpPr>
        <p:spPr bwMode="auto">
          <a:xfrm>
            <a:off x="8643938" y="6500813"/>
            <a:ext cx="3540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4" grpId="0" animBg="1"/>
      <p:bldP spid="14368" grpId="0" animBg="1"/>
      <p:bldP spid="41" grpId="0"/>
      <p:bldP spid="38" grpId="0" animBg="1"/>
      <p:bldP spid="64" grpId="0"/>
      <p:bldP spid="65" grpId="0"/>
      <p:bldP spid="55" grpId="0" animBg="1"/>
      <p:bldP spid="68" grpId="0"/>
      <p:bldP spid="69" grpId="0" animBg="1"/>
      <p:bldP spid="73" grpId="0"/>
      <p:bldP spid="74" grpId="0"/>
      <p:bldP spid="87" grpId="0"/>
      <p:bldP spid="88" grpId="0"/>
      <p:bldP spid="8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357188" y="285750"/>
          <a:ext cx="28670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cuación" r:id="rId3" imgW="1790640" imgH="419040" progId="Equation.3">
                  <p:embed/>
                </p:oleObj>
              </mc:Choice>
              <mc:Fallback>
                <p:oleObj name="Ecuación" r:id="rId3" imgW="179064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285750"/>
                        <a:ext cx="2867025" cy="669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8197" name="Freeform 7" descr="Onda"/>
          <p:cNvSpPr>
            <a:spLocks/>
          </p:cNvSpPr>
          <p:nvPr/>
        </p:nvSpPr>
        <p:spPr bwMode="auto">
          <a:xfrm>
            <a:off x="134938" y="1071563"/>
            <a:ext cx="4643437" cy="4391025"/>
          </a:xfrm>
          <a:custGeom>
            <a:avLst/>
            <a:gdLst>
              <a:gd name="T0" fmla="*/ 0 w 2250"/>
              <a:gd name="T1" fmla="*/ 2147483647 h 2766"/>
              <a:gd name="T2" fmla="*/ 2147483647 w 2250"/>
              <a:gd name="T3" fmla="*/ 2147483647 h 2766"/>
              <a:gd name="T4" fmla="*/ 2147483647 w 2250"/>
              <a:gd name="T5" fmla="*/ 2147483647 h 2766"/>
              <a:gd name="T6" fmla="*/ 2147483647 w 2250"/>
              <a:gd name="T7" fmla="*/ 2147483647 h 2766"/>
              <a:gd name="T8" fmla="*/ 2147483647 w 2250"/>
              <a:gd name="T9" fmla="*/ 2147483647 h 2766"/>
              <a:gd name="T10" fmla="*/ 2147483647 w 2250"/>
              <a:gd name="T11" fmla="*/ 2147483647 h 2766"/>
              <a:gd name="T12" fmla="*/ 2147483647 w 2250"/>
              <a:gd name="T13" fmla="*/ 2147483647 h 2766"/>
              <a:gd name="T14" fmla="*/ 2147483647 w 2250"/>
              <a:gd name="T15" fmla="*/ 2147483647 h 2766"/>
              <a:gd name="T16" fmla="*/ 2147483647 w 2250"/>
              <a:gd name="T17" fmla="*/ 2147483647 h 2766"/>
              <a:gd name="T18" fmla="*/ 2147483647 w 2250"/>
              <a:gd name="T19" fmla="*/ 2147483647 h 2766"/>
              <a:gd name="T20" fmla="*/ 2147483647 w 2250"/>
              <a:gd name="T21" fmla="*/ 2147483647 h 2766"/>
              <a:gd name="T22" fmla="*/ 2147483647 w 2250"/>
              <a:gd name="T23" fmla="*/ 2147483647 h 2766"/>
              <a:gd name="T24" fmla="*/ 2147483647 w 2250"/>
              <a:gd name="T25" fmla="*/ 2147483647 h 2766"/>
              <a:gd name="T26" fmla="*/ 2147483647 w 2250"/>
              <a:gd name="T27" fmla="*/ 2147483647 h 2766"/>
              <a:gd name="T28" fmla="*/ 2147483647 w 2250"/>
              <a:gd name="T29" fmla="*/ 2147483647 h 2766"/>
              <a:gd name="T30" fmla="*/ 2147483647 w 2250"/>
              <a:gd name="T31" fmla="*/ 2147483647 h 2766"/>
              <a:gd name="T32" fmla="*/ 0 w 2250"/>
              <a:gd name="T33" fmla="*/ 2147483647 h 276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250"/>
              <a:gd name="T52" fmla="*/ 0 h 2766"/>
              <a:gd name="T53" fmla="*/ 2250 w 2250"/>
              <a:gd name="T54" fmla="*/ 2766 h 276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250" h="2766">
                <a:moveTo>
                  <a:pt x="0" y="33"/>
                </a:moveTo>
                <a:lnTo>
                  <a:pt x="1504" y="1"/>
                </a:lnTo>
                <a:lnTo>
                  <a:pt x="2081" y="4"/>
                </a:lnTo>
                <a:cubicBezTo>
                  <a:pt x="2111" y="25"/>
                  <a:pt x="2140" y="47"/>
                  <a:pt x="2170" y="68"/>
                </a:cubicBezTo>
                <a:cubicBezTo>
                  <a:pt x="2159" y="90"/>
                  <a:pt x="2250" y="0"/>
                  <a:pt x="2236" y="184"/>
                </a:cubicBezTo>
                <a:cubicBezTo>
                  <a:pt x="2231" y="513"/>
                  <a:pt x="2225" y="841"/>
                  <a:pt x="2220" y="1170"/>
                </a:cubicBezTo>
                <a:lnTo>
                  <a:pt x="2220" y="1397"/>
                </a:lnTo>
                <a:cubicBezTo>
                  <a:pt x="2223" y="1462"/>
                  <a:pt x="2225" y="1528"/>
                  <a:pt x="2228" y="1593"/>
                </a:cubicBezTo>
                <a:cubicBezTo>
                  <a:pt x="2231" y="1912"/>
                  <a:pt x="2233" y="2230"/>
                  <a:pt x="2236" y="2549"/>
                </a:cubicBezTo>
                <a:lnTo>
                  <a:pt x="2128" y="2657"/>
                </a:lnTo>
                <a:cubicBezTo>
                  <a:pt x="2099" y="2695"/>
                  <a:pt x="2129" y="2720"/>
                  <a:pt x="1910" y="2738"/>
                </a:cubicBezTo>
                <a:lnTo>
                  <a:pt x="949" y="2766"/>
                </a:lnTo>
                <a:lnTo>
                  <a:pt x="596" y="2745"/>
                </a:lnTo>
                <a:cubicBezTo>
                  <a:pt x="466" y="2684"/>
                  <a:pt x="244" y="2598"/>
                  <a:pt x="170" y="2398"/>
                </a:cubicBezTo>
                <a:cubicBezTo>
                  <a:pt x="83" y="2204"/>
                  <a:pt x="82" y="1758"/>
                  <a:pt x="149" y="1544"/>
                </a:cubicBezTo>
                <a:cubicBezTo>
                  <a:pt x="151" y="1449"/>
                  <a:pt x="66" y="1442"/>
                  <a:pt x="95" y="1185"/>
                </a:cubicBezTo>
                <a:cubicBezTo>
                  <a:pt x="70" y="933"/>
                  <a:pt x="0" y="33"/>
                  <a:pt x="0" y="33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8198" name="Freeform 8" descr="Cuadrícula grande"/>
          <p:cNvSpPr>
            <a:spLocks noChangeAspect="1"/>
          </p:cNvSpPr>
          <p:nvPr/>
        </p:nvSpPr>
        <p:spPr bwMode="auto">
          <a:xfrm>
            <a:off x="4572000" y="944563"/>
            <a:ext cx="4929188" cy="4484687"/>
          </a:xfrm>
          <a:custGeom>
            <a:avLst/>
            <a:gdLst>
              <a:gd name="T0" fmla="*/ 2147483647 w 3803"/>
              <a:gd name="T1" fmla="*/ 2147483647 h 2825"/>
              <a:gd name="T2" fmla="*/ 2147483647 w 3803"/>
              <a:gd name="T3" fmla="*/ 2147483647 h 2825"/>
              <a:gd name="T4" fmla="*/ 2147483647 w 3803"/>
              <a:gd name="T5" fmla="*/ 2147483647 h 2825"/>
              <a:gd name="T6" fmla="*/ 2147483647 w 3803"/>
              <a:gd name="T7" fmla="*/ 2147483647 h 2825"/>
              <a:gd name="T8" fmla="*/ 2147483647 w 3803"/>
              <a:gd name="T9" fmla="*/ 2147483647 h 2825"/>
              <a:gd name="T10" fmla="*/ 2147483647 w 3803"/>
              <a:gd name="T11" fmla="*/ 0 h 2825"/>
              <a:gd name="T12" fmla="*/ 2147483647 w 3803"/>
              <a:gd name="T13" fmla="*/ 2147483647 h 2825"/>
              <a:gd name="T14" fmla="*/ 2147483647 w 3803"/>
              <a:gd name="T15" fmla="*/ 2147483647 h 2825"/>
              <a:gd name="T16" fmla="*/ 2147483647 w 3803"/>
              <a:gd name="T17" fmla="*/ 2147483647 h 2825"/>
              <a:gd name="T18" fmla="*/ 2147483647 w 3803"/>
              <a:gd name="T19" fmla="*/ 2147483647 h 2825"/>
              <a:gd name="T20" fmla="*/ 2147483647 w 3803"/>
              <a:gd name="T21" fmla="*/ 2147483647 h 2825"/>
              <a:gd name="T22" fmla="*/ 2147483647 w 3803"/>
              <a:gd name="T23" fmla="*/ 2147483647 h 2825"/>
              <a:gd name="T24" fmla="*/ 2147483647 w 3803"/>
              <a:gd name="T25" fmla="*/ 2147483647 h 2825"/>
              <a:gd name="T26" fmla="*/ 2147483647 w 3803"/>
              <a:gd name="T27" fmla="*/ 2147483647 h 2825"/>
              <a:gd name="T28" fmla="*/ 2147483647 w 3803"/>
              <a:gd name="T29" fmla="*/ 2147483647 h 2825"/>
              <a:gd name="T30" fmla="*/ 2147483647 w 3803"/>
              <a:gd name="T31" fmla="*/ 2147483647 h 2825"/>
              <a:gd name="T32" fmla="*/ 2147483647 w 3803"/>
              <a:gd name="T33" fmla="*/ 2147483647 h 2825"/>
              <a:gd name="T34" fmla="*/ 2147483647 w 3803"/>
              <a:gd name="T35" fmla="*/ 2147483647 h 2825"/>
              <a:gd name="T36" fmla="*/ 2147483647 w 3803"/>
              <a:gd name="T37" fmla="*/ 2147483647 h 2825"/>
              <a:gd name="T38" fmla="*/ 2147483647 w 3803"/>
              <a:gd name="T39" fmla="*/ 2147483647 h 2825"/>
              <a:gd name="T40" fmla="*/ 2147483647 w 3803"/>
              <a:gd name="T41" fmla="*/ 2147483647 h 2825"/>
              <a:gd name="T42" fmla="*/ 2147483647 w 3803"/>
              <a:gd name="T43" fmla="*/ 2147483647 h 2825"/>
              <a:gd name="T44" fmla="*/ 2147483647 w 3803"/>
              <a:gd name="T45" fmla="*/ 2147483647 h 2825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3803"/>
              <a:gd name="T70" fmla="*/ 0 h 2825"/>
              <a:gd name="T71" fmla="*/ 3803 w 3803"/>
              <a:gd name="T72" fmla="*/ 2825 h 2825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3803" h="2825">
                <a:moveTo>
                  <a:pt x="3385" y="2809"/>
                </a:moveTo>
                <a:cubicBezTo>
                  <a:pt x="3378" y="2749"/>
                  <a:pt x="3497" y="2331"/>
                  <a:pt x="3507" y="2029"/>
                </a:cubicBezTo>
                <a:cubicBezTo>
                  <a:pt x="3517" y="1727"/>
                  <a:pt x="3476" y="1199"/>
                  <a:pt x="3446" y="999"/>
                </a:cubicBezTo>
                <a:cubicBezTo>
                  <a:pt x="3292" y="758"/>
                  <a:pt x="3803" y="222"/>
                  <a:pt x="3412" y="57"/>
                </a:cubicBezTo>
                <a:lnTo>
                  <a:pt x="1102" y="6"/>
                </a:lnTo>
                <a:lnTo>
                  <a:pt x="783" y="0"/>
                </a:lnTo>
                <a:lnTo>
                  <a:pt x="295" y="20"/>
                </a:lnTo>
                <a:lnTo>
                  <a:pt x="10" y="45"/>
                </a:lnTo>
                <a:cubicBezTo>
                  <a:pt x="22" y="66"/>
                  <a:pt x="33" y="87"/>
                  <a:pt x="45" y="108"/>
                </a:cubicBezTo>
                <a:cubicBezTo>
                  <a:pt x="116" y="110"/>
                  <a:pt x="144" y="217"/>
                  <a:pt x="126" y="271"/>
                </a:cubicBezTo>
                <a:cubicBezTo>
                  <a:pt x="133" y="461"/>
                  <a:pt x="139" y="650"/>
                  <a:pt x="146" y="840"/>
                </a:cubicBezTo>
                <a:cubicBezTo>
                  <a:pt x="140" y="961"/>
                  <a:pt x="135" y="1081"/>
                  <a:pt x="129" y="1202"/>
                </a:cubicBezTo>
                <a:lnTo>
                  <a:pt x="129" y="1429"/>
                </a:lnTo>
                <a:cubicBezTo>
                  <a:pt x="132" y="1494"/>
                  <a:pt x="134" y="1560"/>
                  <a:pt x="137" y="1625"/>
                </a:cubicBezTo>
                <a:lnTo>
                  <a:pt x="146" y="1985"/>
                </a:lnTo>
                <a:cubicBezTo>
                  <a:pt x="148" y="2143"/>
                  <a:pt x="151" y="2302"/>
                  <a:pt x="153" y="2460"/>
                </a:cubicBezTo>
                <a:cubicBezTo>
                  <a:pt x="166" y="2582"/>
                  <a:pt x="102" y="2668"/>
                  <a:pt x="92" y="2717"/>
                </a:cubicBezTo>
                <a:cubicBezTo>
                  <a:pt x="96" y="2769"/>
                  <a:pt x="0" y="2758"/>
                  <a:pt x="45" y="2770"/>
                </a:cubicBezTo>
                <a:cubicBezTo>
                  <a:pt x="90" y="2782"/>
                  <a:pt x="201" y="2783"/>
                  <a:pt x="363" y="2792"/>
                </a:cubicBezTo>
                <a:lnTo>
                  <a:pt x="1020" y="2825"/>
                </a:lnTo>
                <a:lnTo>
                  <a:pt x="1278" y="2825"/>
                </a:lnTo>
                <a:lnTo>
                  <a:pt x="3060" y="2825"/>
                </a:lnTo>
                <a:lnTo>
                  <a:pt x="3385" y="2809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8199" name="Line 9"/>
          <p:cNvSpPr>
            <a:spLocks noChangeShapeType="1"/>
          </p:cNvSpPr>
          <p:nvPr/>
        </p:nvSpPr>
        <p:spPr bwMode="auto">
          <a:xfrm>
            <a:off x="722313" y="3243263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8200" name="AutoShape 10"/>
          <p:cNvSpPr>
            <a:spLocks/>
          </p:cNvSpPr>
          <p:nvPr/>
        </p:nvSpPr>
        <p:spPr bwMode="auto">
          <a:xfrm rot="10800000">
            <a:off x="4354513" y="1000125"/>
            <a:ext cx="360362" cy="4392613"/>
          </a:xfrm>
          <a:prstGeom prst="leftBracket">
            <a:avLst>
              <a:gd name="adj" fmla="val 101579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8201" name="Line 11"/>
          <p:cNvSpPr>
            <a:spLocks noChangeShapeType="1"/>
          </p:cNvSpPr>
          <p:nvPr/>
        </p:nvSpPr>
        <p:spPr bwMode="auto">
          <a:xfrm flipV="1">
            <a:off x="827088" y="2224088"/>
            <a:ext cx="0" cy="10080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8202" name="Oval 12"/>
          <p:cNvSpPr>
            <a:spLocks noChangeArrowheads="1"/>
          </p:cNvSpPr>
          <p:nvPr/>
        </p:nvSpPr>
        <p:spPr bwMode="auto">
          <a:xfrm>
            <a:off x="1284288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8203" name="Oval 13"/>
          <p:cNvSpPr>
            <a:spLocks noChangeArrowheads="1"/>
          </p:cNvSpPr>
          <p:nvPr/>
        </p:nvSpPr>
        <p:spPr bwMode="auto">
          <a:xfrm>
            <a:off x="6926263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8204" name="Text Box 14"/>
          <p:cNvSpPr txBox="1">
            <a:spLocks noChangeArrowheads="1"/>
          </p:cNvSpPr>
          <p:nvPr/>
        </p:nvSpPr>
        <p:spPr bwMode="auto">
          <a:xfrm>
            <a:off x="1143000" y="3286125"/>
            <a:ext cx="403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8205" name="Text Box 15"/>
          <p:cNvSpPr txBox="1">
            <a:spLocks noChangeArrowheads="1"/>
          </p:cNvSpPr>
          <p:nvPr/>
        </p:nvSpPr>
        <p:spPr bwMode="auto">
          <a:xfrm>
            <a:off x="6815138" y="2857500"/>
            <a:ext cx="400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8206" name="Text Box 17"/>
          <p:cNvSpPr txBox="1">
            <a:spLocks noChangeArrowheads="1"/>
          </p:cNvSpPr>
          <p:nvPr/>
        </p:nvSpPr>
        <p:spPr bwMode="auto">
          <a:xfrm>
            <a:off x="5000625" y="492918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755650" y="2224088"/>
            <a:ext cx="39592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4355" name="Freeform 19"/>
          <p:cNvSpPr>
            <a:spLocks noChangeAspect="1"/>
          </p:cNvSpPr>
          <p:nvPr/>
        </p:nvSpPr>
        <p:spPr bwMode="auto">
          <a:xfrm flipV="1">
            <a:off x="4722813" y="1127125"/>
            <a:ext cx="3635375" cy="1098550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4356" name="Freeform 20"/>
          <p:cNvSpPr>
            <a:spLocks noChangeAspect="1"/>
          </p:cNvSpPr>
          <p:nvPr/>
        </p:nvSpPr>
        <p:spPr bwMode="auto">
          <a:xfrm>
            <a:off x="857250" y="2214563"/>
            <a:ext cx="3835400" cy="654050"/>
          </a:xfrm>
          <a:custGeom>
            <a:avLst/>
            <a:gdLst>
              <a:gd name="T0" fmla="*/ 0 w 1775"/>
              <a:gd name="T1" fmla="*/ 0 h 1152"/>
              <a:gd name="T2" fmla="*/ 2147483647 w 1775"/>
              <a:gd name="T3" fmla="*/ 2147483647 h 1152"/>
              <a:gd name="T4" fmla="*/ 0 60000 65536"/>
              <a:gd name="T5" fmla="*/ 0 60000 65536"/>
              <a:gd name="T6" fmla="*/ 0 w 1775"/>
              <a:gd name="T7" fmla="*/ 0 h 1152"/>
              <a:gd name="T8" fmla="*/ 1775 w 1775"/>
              <a:gd name="T9" fmla="*/ 1152 h 11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4357" name="Line 21"/>
          <p:cNvSpPr>
            <a:spLocks noChangeShapeType="1"/>
          </p:cNvSpPr>
          <p:nvPr/>
        </p:nvSpPr>
        <p:spPr bwMode="auto">
          <a:xfrm flipV="1">
            <a:off x="4714875" y="2857500"/>
            <a:ext cx="4114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58" name="Freeform 22"/>
          <p:cNvSpPr>
            <a:spLocks/>
          </p:cNvSpPr>
          <p:nvPr/>
        </p:nvSpPr>
        <p:spPr bwMode="auto">
          <a:xfrm>
            <a:off x="827088" y="2224088"/>
            <a:ext cx="7316787" cy="2705100"/>
          </a:xfrm>
          <a:custGeom>
            <a:avLst/>
            <a:gdLst>
              <a:gd name="T0" fmla="*/ 0 w 5178"/>
              <a:gd name="T1" fmla="*/ 0 h 1269"/>
              <a:gd name="T2" fmla="*/ 2147483647 w 5178"/>
              <a:gd name="T3" fmla="*/ 2147483647 h 1269"/>
              <a:gd name="T4" fmla="*/ 0 60000 65536"/>
              <a:gd name="T5" fmla="*/ 0 60000 65536"/>
              <a:gd name="T6" fmla="*/ 0 w 5178"/>
              <a:gd name="T7" fmla="*/ 0 h 1269"/>
              <a:gd name="T8" fmla="*/ 5178 w 5178"/>
              <a:gd name="T9" fmla="*/ 1269 h 12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178" h="1269">
                <a:moveTo>
                  <a:pt x="0" y="0"/>
                </a:moveTo>
                <a:lnTo>
                  <a:pt x="5178" y="1269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8212" name="Line 23"/>
          <p:cNvSpPr>
            <a:spLocks noChangeShapeType="1"/>
          </p:cNvSpPr>
          <p:nvPr/>
        </p:nvSpPr>
        <p:spPr bwMode="auto">
          <a:xfrm>
            <a:off x="3586163" y="312896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4360" name="Freeform 24"/>
          <p:cNvSpPr>
            <a:spLocks noChangeAspect="1"/>
          </p:cNvSpPr>
          <p:nvPr/>
        </p:nvSpPr>
        <p:spPr bwMode="auto">
          <a:xfrm>
            <a:off x="2586038" y="2857500"/>
            <a:ext cx="1587" cy="423863"/>
          </a:xfrm>
          <a:custGeom>
            <a:avLst/>
            <a:gdLst>
              <a:gd name="T0" fmla="*/ 0 w 14"/>
              <a:gd name="T1" fmla="*/ 0 h 570"/>
              <a:gd name="T2" fmla="*/ 2147483647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14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triangle" w="med" len="med"/>
            <a:tailEnd type="non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8214" name="Text Box 25"/>
          <p:cNvSpPr txBox="1">
            <a:spLocks noChangeArrowheads="1"/>
          </p:cNvSpPr>
          <p:nvPr/>
        </p:nvSpPr>
        <p:spPr bwMode="auto">
          <a:xfrm>
            <a:off x="647700" y="3181350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2357438" y="335756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8216" name="Text Box 27"/>
          <p:cNvSpPr txBox="1">
            <a:spLocks noChangeArrowheads="1"/>
          </p:cNvSpPr>
          <p:nvPr/>
        </p:nvSpPr>
        <p:spPr bwMode="auto">
          <a:xfrm>
            <a:off x="684213" y="1865313"/>
            <a:ext cx="376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386013" y="2528888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8218" name="Text Box 29"/>
          <p:cNvSpPr txBox="1">
            <a:spLocks noChangeArrowheads="1"/>
          </p:cNvSpPr>
          <p:nvPr/>
        </p:nvSpPr>
        <p:spPr bwMode="auto">
          <a:xfrm>
            <a:off x="539750" y="25130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571750" y="292893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8220" name="Text Box 33"/>
          <p:cNvSpPr txBox="1">
            <a:spLocks noChangeArrowheads="1"/>
          </p:cNvSpPr>
          <p:nvPr/>
        </p:nvSpPr>
        <p:spPr bwMode="auto">
          <a:xfrm>
            <a:off x="5643563" y="5016500"/>
            <a:ext cx="32035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 &lt; </a:t>
            </a:r>
            <a:r>
              <a:rPr lang="es-ES_tradnl">
                <a:latin typeface="Times New Roman" pitchFamily="18" charset="0"/>
              </a:rPr>
              <a:t>0, </a:t>
            </a:r>
            <a:r>
              <a:rPr lang="es-ES_tradnl" i="1">
                <a:latin typeface="Times New Roman" pitchFamily="18" charset="0"/>
              </a:rPr>
              <a:t>n &lt; n</a:t>
            </a:r>
            <a:r>
              <a:rPr lang="es-ES_tradnl">
                <a:latin typeface="Times New Roman" pitchFamily="18" charset="0"/>
              </a:rPr>
              <a:t>’, dioptra divergente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8296275" y="6473825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14</a:t>
            </a:r>
          </a:p>
        </p:txBody>
      </p:sp>
      <p:sp>
        <p:nvSpPr>
          <p:cNvPr id="8222" name="33 CuadroTexto"/>
          <p:cNvSpPr txBox="1">
            <a:spLocks noChangeArrowheads="1"/>
          </p:cNvSpPr>
          <p:nvPr/>
        </p:nvSpPr>
        <p:spPr bwMode="auto">
          <a:xfrm>
            <a:off x="214313" y="3659188"/>
            <a:ext cx="169068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Objeto Real (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" sz="1400">
                <a:latin typeface="Times New Roman" pitchFamily="18" charset="0"/>
                <a:cs typeface="Times New Roman" pitchFamily="18" charset="0"/>
              </a:rPr>
              <a:t> &lt; 0</a:t>
            </a:r>
            <a:r>
              <a:rPr lang="es-ES" sz="1400"/>
              <a:t>)</a:t>
            </a:r>
          </a:p>
        </p:txBody>
      </p:sp>
      <p:sp>
        <p:nvSpPr>
          <p:cNvPr id="8223" name="Text Box 36"/>
          <p:cNvSpPr txBox="1">
            <a:spLocks noChangeArrowheads="1"/>
          </p:cNvSpPr>
          <p:nvPr/>
        </p:nvSpPr>
        <p:spPr bwMode="auto">
          <a:xfrm>
            <a:off x="3429000" y="3429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8224" name="36 CuadroTexto"/>
          <p:cNvSpPr txBox="1">
            <a:spLocks noChangeArrowheads="1"/>
          </p:cNvSpPr>
          <p:nvPr/>
        </p:nvSpPr>
        <p:spPr bwMode="auto">
          <a:xfrm>
            <a:off x="4286250" y="0"/>
            <a:ext cx="4643438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Dioptra cóncava</a:t>
            </a:r>
          </a:p>
          <a:p>
            <a:pPr algn="ctr"/>
            <a:r>
              <a:rPr lang="es-ES" sz="1400"/>
              <a:t>Procedimiento semejante a dioptra convexa de los ejemplos anteriores. </a:t>
            </a:r>
          </a:p>
          <a:p>
            <a:pPr algn="ctr"/>
            <a:r>
              <a:rPr lang="es-ES" sz="1400"/>
              <a:t>Lo importante es el valor de la potencia</a:t>
            </a:r>
          </a:p>
        </p:txBody>
      </p:sp>
      <p:sp>
        <p:nvSpPr>
          <p:cNvPr id="38" name="37 CuadroTexto"/>
          <p:cNvSpPr txBox="1">
            <a:spLocks noChangeArrowheads="1"/>
          </p:cNvSpPr>
          <p:nvPr/>
        </p:nvSpPr>
        <p:spPr bwMode="auto">
          <a:xfrm>
            <a:off x="357188" y="5572125"/>
            <a:ext cx="84994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00FF"/>
                </a:solidFill>
              </a:rPr>
              <a:t>(1) Incidente: dirección paralela al eje principal. Refractado: dirección que pasa por foco principal imagen</a:t>
            </a:r>
          </a:p>
        </p:txBody>
      </p:sp>
      <p:sp>
        <p:nvSpPr>
          <p:cNvPr id="39" name="38 CuadroTexto"/>
          <p:cNvSpPr txBox="1">
            <a:spLocks noChangeArrowheads="1"/>
          </p:cNvSpPr>
          <p:nvPr/>
        </p:nvSpPr>
        <p:spPr bwMode="auto">
          <a:xfrm>
            <a:off x="357188" y="5835650"/>
            <a:ext cx="83010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A50021"/>
                </a:solidFill>
              </a:rPr>
              <a:t>(2) Incidente: dirección pasa por el foco principal imagen. Refractado: dirección paralela al eje principal</a:t>
            </a:r>
          </a:p>
        </p:txBody>
      </p:sp>
      <p:sp>
        <p:nvSpPr>
          <p:cNvPr id="40" name="39 CuadroTexto"/>
          <p:cNvSpPr txBox="1">
            <a:spLocks noChangeArrowheads="1"/>
          </p:cNvSpPr>
          <p:nvPr/>
        </p:nvSpPr>
        <p:spPr bwMode="auto">
          <a:xfrm>
            <a:off x="358775" y="6121400"/>
            <a:ext cx="65976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CCFF"/>
                </a:solidFill>
              </a:rPr>
              <a:t>(3) Incidente: dirección pasa por el centro de la dioptra. Refractado: no se desvía</a:t>
            </a:r>
          </a:p>
        </p:txBody>
      </p:sp>
      <p:sp>
        <p:nvSpPr>
          <p:cNvPr id="41" name="40 CuadroTexto"/>
          <p:cNvSpPr txBox="1">
            <a:spLocks noChangeArrowheads="1"/>
          </p:cNvSpPr>
          <p:nvPr/>
        </p:nvSpPr>
        <p:spPr bwMode="auto">
          <a:xfrm>
            <a:off x="2214563" y="1857375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42" name="41 CuadroTexto"/>
          <p:cNvSpPr txBox="1">
            <a:spLocks noChangeArrowheads="1"/>
          </p:cNvSpPr>
          <p:nvPr/>
        </p:nvSpPr>
        <p:spPr bwMode="auto">
          <a:xfrm>
            <a:off x="2643188" y="2214563"/>
            <a:ext cx="4365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43" name="42 CuadroTexto"/>
          <p:cNvSpPr txBox="1">
            <a:spLocks noChangeArrowheads="1"/>
          </p:cNvSpPr>
          <p:nvPr/>
        </p:nvSpPr>
        <p:spPr bwMode="auto">
          <a:xfrm>
            <a:off x="3071813" y="2786063"/>
            <a:ext cx="4365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44" name="43 CuadroTexto"/>
          <p:cNvSpPr txBox="1">
            <a:spLocks noChangeArrowheads="1"/>
          </p:cNvSpPr>
          <p:nvPr/>
        </p:nvSpPr>
        <p:spPr bwMode="auto">
          <a:xfrm>
            <a:off x="2500313" y="3929063"/>
            <a:ext cx="19415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Imagen Virtuall (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_tradnl" sz="1400">
                <a:latin typeface="Times New Roman" pitchFamily="18" charset="0"/>
              </a:rPr>
              <a:t>’</a:t>
            </a:r>
            <a:r>
              <a:rPr lang="es-ES" sz="1400">
                <a:latin typeface="Times New Roman" pitchFamily="18" charset="0"/>
                <a:cs typeface="Times New Roman" pitchFamily="18" charset="0"/>
              </a:rPr>
              <a:t> &lt; 0</a:t>
            </a:r>
            <a:r>
              <a:rPr lang="es-ES" sz="1400"/>
              <a:t>)</a:t>
            </a:r>
          </a:p>
        </p:txBody>
      </p:sp>
      <p:sp>
        <p:nvSpPr>
          <p:cNvPr id="45" name="44 CuadroTexto"/>
          <p:cNvSpPr txBox="1">
            <a:spLocks noChangeArrowheads="1"/>
          </p:cNvSpPr>
          <p:nvPr/>
        </p:nvSpPr>
        <p:spPr bwMode="auto">
          <a:xfrm>
            <a:off x="857250" y="6488113"/>
            <a:ext cx="58324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Las prolongaciones de los rayos refractados se cortan </a:t>
            </a:r>
            <a:r>
              <a:rPr lang="es-ES" sz="1400">
                <a:sym typeface="Symbol" pitchFamily="18" charset="2"/>
              </a:rPr>
              <a:t></a:t>
            </a:r>
            <a:r>
              <a:rPr lang="es-ES" sz="1400"/>
              <a:t> imagen virtual</a:t>
            </a:r>
          </a:p>
        </p:txBody>
      </p:sp>
      <p:sp>
        <p:nvSpPr>
          <p:cNvPr id="8233" name="Text Box 16"/>
          <p:cNvSpPr txBox="1">
            <a:spLocks noChangeArrowheads="1"/>
          </p:cNvSpPr>
          <p:nvPr/>
        </p:nvSpPr>
        <p:spPr bwMode="auto">
          <a:xfrm>
            <a:off x="3929063" y="49291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48" name="Freeform 19"/>
          <p:cNvSpPr>
            <a:spLocks noChangeAspect="1"/>
          </p:cNvSpPr>
          <p:nvPr/>
        </p:nvSpPr>
        <p:spPr bwMode="auto">
          <a:xfrm flipV="1">
            <a:off x="1214438" y="2214563"/>
            <a:ext cx="3549650" cy="1071562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prstDash val="dashDot"/>
            <a:round/>
            <a:headEnd/>
            <a:tailEnd type="non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49" name="Line 21"/>
          <p:cNvSpPr>
            <a:spLocks noChangeShapeType="1"/>
          </p:cNvSpPr>
          <p:nvPr/>
        </p:nvSpPr>
        <p:spPr bwMode="auto">
          <a:xfrm flipV="1">
            <a:off x="842963" y="2857500"/>
            <a:ext cx="4114800" cy="0"/>
          </a:xfrm>
          <a:prstGeom prst="line">
            <a:avLst/>
          </a:prstGeom>
          <a:noFill/>
          <a:ln w="25400">
            <a:solidFill>
              <a:srgbClr val="993366"/>
            </a:solidFill>
            <a:prstDash val="dashDot"/>
            <a:round/>
            <a:headEnd/>
            <a:tailEnd type="non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51" name="Freeform 20"/>
          <p:cNvSpPr>
            <a:spLocks noChangeAspect="1"/>
          </p:cNvSpPr>
          <p:nvPr/>
        </p:nvSpPr>
        <p:spPr bwMode="auto">
          <a:xfrm>
            <a:off x="4714875" y="2871788"/>
            <a:ext cx="3835400" cy="654050"/>
          </a:xfrm>
          <a:custGeom>
            <a:avLst/>
            <a:gdLst>
              <a:gd name="T0" fmla="*/ 0 w 1775"/>
              <a:gd name="T1" fmla="*/ 0 h 1152"/>
              <a:gd name="T2" fmla="*/ 2147483647 w 1775"/>
              <a:gd name="T3" fmla="*/ 2147483647 h 1152"/>
              <a:gd name="T4" fmla="*/ 0 60000 65536"/>
              <a:gd name="T5" fmla="*/ 0 60000 65536"/>
              <a:gd name="T6" fmla="*/ 0 w 1775"/>
              <a:gd name="T7" fmla="*/ 0 h 1152"/>
              <a:gd name="T8" fmla="*/ 1775 w 1775"/>
              <a:gd name="T9" fmla="*/ 1152 h 11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357188" y="1000125"/>
          <a:ext cx="1281112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cuación" r:id="rId5" imgW="799920" imgH="393480" progId="Equation.3">
                  <p:embed/>
                </p:oleObj>
              </mc:Choice>
              <mc:Fallback>
                <p:oleObj name="Ecuación" r:id="rId5" imgW="79992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000125"/>
                        <a:ext cx="1281112" cy="6302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4" grpId="0" animBg="1"/>
      <p:bldP spid="14355" grpId="0" animBg="1"/>
      <p:bldP spid="14356" grpId="0" animBg="1"/>
      <p:bldP spid="14357" grpId="0" animBg="1"/>
      <p:bldP spid="14358" grpId="0" animBg="1"/>
      <p:bldP spid="14360" grpId="0" animBg="1"/>
      <p:bldP spid="14362" grpId="0"/>
      <p:bldP spid="14364" grpId="0"/>
      <p:bldP spid="14366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8" grpId="0" animBg="1"/>
      <p:bldP spid="49" grpId="0" animBg="1"/>
      <p:bldP spid="5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reeform 7" descr="Onda"/>
          <p:cNvSpPr>
            <a:spLocks/>
          </p:cNvSpPr>
          <p:nvPr/>
        </p:nvSpPr>
        <p:spPr bwMode="auto">
          <a:xfrm>
            <a:off x="85725" y="1025525"/>
            <a:ext cx="4167188" cy="4389438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20483" name="Freeform 8" descr="Cuadrícula grande"/>
          <p:cNvSpPr>
            <a:spLocks/>
          </p:cNvSpPr>
          <p:nvPr/>
        </p:nvSpPr>
        <p:spPr bwMode="auto">
          <a:xfrm>
            <a:off x="3614738" y="944563"/>
            <a:ext cx="5837237" cy="4484687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20484" name="Line 9"/>
          <p:cNvSpPr>
            <a:spLocks noChangeShapeType="1"/>
          </p:cNvSpPr>
          <p:nvPr/>
        </p:nvSpPr>
        <p:spPr bwMode="auto">
          <a:xfrm>
            <a:off x="722313" y="3243263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20485" name="AutoShape 10"/>
          <p:cNvSpPr>
            <a:spLocks/>
          </p:cNvSpPr>
          <p:nvPr/>
        </p:nvSpPr>
        <p:spPr bwMode="auto">
          <a:xfrm>
            <a:off x="3635375" y="1000125"/>
            <a:ext cx="360363" cy="4392613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486" name="Oval 12"/>
          <p:cNvSpPr>
            <a:spLocks noChangeArrowheads="1"/>
          </p:cNvSpPr>
          <p:nvPr/>
        </p:nvSpPr>
        <p:spPr bwMode="auto">
          <a:xfrm>
            <a:off x="2317750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487" name="Text Box 14"/>
          <p:cNvSpPr txBox="1">
            <a:spLocks noChangeArrowheads="1"/>
          </p:cNvSpPr>
          <p:nvPr/>
        </p:nvSpPr>
        <p:spPr bwMode="auto">
          <a:xfrm>
            <a:off x="2160588" y="32607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20488" name="Text Box 16"/>
          <p:cNvSpPr txBox="1">
            <a:spLocks noChangeArrowheads="1"/>
          </p:cNvSpPr>
          <p:nvPr/>
        </p:nvSpPr>
        <p:spPr bwMode="auto">
          <a:xfrm>
            <a:off x="3059113" y="48895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20489" name="Text Box 17"/>
          <p:cNvSpPr txBox="1">
            <a:spLocks noChangeArrowheads="1"/>
          </p:cNvSpPr>
          <p:nvPr/>
        </p:nvSpPr>
        <p:spPr bwMode="auto">
          <a:xfrm>
            <a:off x="3851275" y="488950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755650" y="2224088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4355" name="Freeform 19"/>
          <p:cNvSpPr>
            <a:spLocks/>
          </p:cNvSpPr>
          <p:nvPr/>
        </p:nvSpPr>
        <p:spPr bwMode="auto">
          <a:xfrm>
            <a:off x="3635375" y="2224088"/>
            <a:ext cx="5303838" cy="2089150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4357" name="Line 21"/>
          <p:cNvSpPr>
            <a:spLocks noChangeShapeType="1"/>
          </p:cNvSpPr>
          <p:nvPr/>
        </p:nvSpPr>
        <p:spPr bwMode="auto">
          <a:xfrm>
            <a:off x="3617913" y="2728913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20493" name="Line 23"/>
          <p:cNvSpPr>
            <a:spLocks noChangeShapeType="1"/>
          </p:cNvSpPr>
          <p:nvPr/>
        </p:nvSpPr>
        <p:spPr bwMode="auto">
          <a:xfrm>
            <a:off x="4987925" y="3089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0494" name="Text Box 33"/>
          <p:cNvSpPr txBox="1">
            <a:spLocks noChangeArrowheads="1"/>
          </p:cNvSpPr>
          <p:nvPr/>
        </p:nvSpPr>
        <p:spPr bwMode="auto">
          <a:xfrm>
            <a:off x="5643563" y="5016500"/>
            <a:ext cx="33448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</a:rPr>
              <a:t>R &gt; 0, </a:t>
            </a:r>
            <a:r>
              <a:rPr lang="es-ES_tradnl" i="1">
                <a:latin typeface="Times New Roman" pitchFamily="18" charset="0"/>
              </a:rPr>
              <a:t>n &lt; n</a:t>
            </a:r>
            <a:r>
              <a:rPr lang="es-ES_tradnl">
                <a:latin typeface="Times New Roman" pitchFamily="18" charset="0"/>
              </a:rPr>
              <a:t>’, dioptra convergente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8296275" y="6473825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15</a:t>
            </a:r>
          </a:p>
        </p:txBody>
      </p:sp>
      <p:sp>
        <p:nvSpPr>
          <p:cNvPr id="20496" name="Text Box 36"/>
          <p:cNvSpPr txBox="1">
            <a:spLocks noChangeArrowheads="1"/>
          </p:cNvSpPr>
          <p:nvPr/>
        </p:nvSpPr>
        <p:spPr bwMode="auto">
          <a:xfrm>
            <a:off x="4806950" y="343535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43" name="42 CuadroTexto"/>
          <p:cNvSpPr txBox="1">
            <a:spLocks noChangeArrowheads="1"/>
          </p:cNvSpPr>
          <p:nvPr/>
        </p:nvSpPr>
        <p:spPr bwMode="auto">
          <a:xfrm>
            <a:off x="1785938" y="457200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20498" name="45 CuadroTexto"/>
          <p:cNvSpPr txBox="1">
            <a:spLocks noChangeArrowheads="1"/>
          </p:cNvSpPr>
          <p:nvPr/>
        </p:nvSpPr>
        <p:spPr bwMode="auto">
          <a:xfrm>
            <a:off x="3429000" y="285750"/>
            <a:ext cx="3197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Objeto al infinito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s-ES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 </a:t>
            </a:r>
            <a:r>
              <a:rPr lang="es-ES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; </a:t>
            </a:r>
            <a:r>
              <a:rPr lang="es-ES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s’</a:t>
            </a:r>
            <a:r>
              <a:rPr lang="es-ES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s-ES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f’</a:t>
            </a:r>
            <a:endParaRPr lang="es-E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99" name="46 CuadroTexto"/>
          <p:cNvSpPr txBox="1">
            <a:spLocks noChangeArrowheads="1"/>
          </p:cNvSpPr>
          <p:nvPr/>
        </p:nvSpPr>
        <p:spPr bwMode="auto">
          <a:xfrm>
            <a:off x="285750" y="142875"/>
            <a:ext cx="25447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"/>
              <a:t>Dioptras Convergentes</a:t>
            </a:r>
          </a:p>
          <a:p>
            <a:pPr algn="ctr"/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 &lt; 0;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’ &gt;0</a:t>
            </a:r>
          </a:p>
        </p:txBody>
      </p:sp>
      <p:sp>
        <p:nvSpPr>
          <p:cNvPr id="47" name="Line 18"/>
          <p:cNvSpPr>
            <a:spLocks noChangeShapeType="1"/>
          </p:cNvSpPr>
          <p:nvPr/>
        </p:nvSpPr>
        <p:spPr bwMode="auto">
          <a:xfrm>
            <a:off x="785813" y="2714625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49" name="Line 18"/>
          <p:cNvSpPr>
            <a:spLocks noChangeShapeType="1"/>
          </p:cNvSpPr>
          <p:nvPr/>
        </p:nvSpPr>
        <p:spPr bwMode="auto">
          <a:xfrm>
            <a:off x="733425" y="3724275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50" name="Line 18"/>
          <p:cNvSpPr>
            <a:spLocks noChangeShapeType="1"/>
          </p:cNvSpPr>
          <p:nvPr/>
        </p:nvSpPr>
        <p:spPr bwMode="auto">
          <a:xfrm>
            <a:off x="763588" y="4214813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51" name="Freeform 19"/>
          <p:cNvSpPr>
            <a:spLocks/>
          </p:cNvSpPr>
          <p:nvPr/>
        </p:nvSpPr>
        <p:spPr bwMode="auto">
          <a:xfrm>
            <a:off x="3643313" y="2714625"/>
            <a:ext cx="5214937" cy="1071563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52" name="Freeform 19"/>
          <p:cNvSpPr>
            <a:spLocks/>
          </p:cNvSpPr>
          <p:nvPr/>
        </p:nvSpPr>
        <p:spPr bwMode="auto">
          <a:xfrm flipV="1">
            <a:off x="3643313" y="2786063"/>
            <a:ext cx="5072062" cy="911225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53" name="Freeform 19"/>
          <p:cNvSpPr>
            <a:spLocks/>
          </p:cNvSpPr>
          <p:nvPr/>
        </p:nvSpPr>
        <p:spPr bwMode="auto">
          <a:xfrm flipV="1">
            <a:off x="3643313" y="2428875"/>
            <a:ext cx="4857750" cy="1784350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cxnSp>
        <p:nvCxnSpPr>
          <p:cNvPr id="55" name="54 Conector recto de flecha"/>
          <p:cNvCxnSpPr/>
          <p:nvPr/>
        </p:nvCxnSpPr>
        <p:spPr>
          <a:xfrm flipV="1">
            <a:off x="428625" y="1785938"/>
            <a:ext cx="3214688" cy="1285875"/>
          </a:xfrm>
          <a:prstGeom prst="straightConnector1">
            <a:avLst/>
          </a:prstGeom>
          <a:ln w="25400">
            <a:solidFill>
              <a:srgbClr val="4C07C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 de flecha"/>
          <p:cNvCxnSpPr/>
          <p:nvPr/>
        </p:nvCxnSpPr>
        <p:spPr>
          <a:xfrm flipV="1">
            <a:off x="428625" y="1428750"/>
            <a:ext cx="3214688" cy="1285875"/>
          </a:xfrm>
          <a:prstGeom prst="straightConnector1">
            <a:avLst/>
          </a:prstGeom>
          <a:ln w="25400">
            <a:solidFill>
              <a:srgbClr val="4C07C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 de flecha"/>
          <p:cNvCxnSpPr/>
          <p:nvPr/>
        </p:nvCxnSpPr>
        <p:spPr>
          <a:xfrm flipV="1">
            <a:off x="428625" y="2214563"/>
            <a:ext cx="3214688" cy="1285875"/>
          </a:xfrm>
          <a:prstGeom prst="straightConnector1">
            <a:avLst/>
          </a:prstGeom>
          <a:ln w="25400">
            <a:solidFill>
              <a:srgbClr val="4C07C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 de flecha"/>
          <p:cNvCxnSpPr/>
          <p:nvPr/>
        </p:nvCxnSpPr>
        <p:spPr>
          <a:xfrm flipV="1">
            <a:off x="484188" y="2714625"/>
            <a:ext cx="3214687" cy="1285875"/>
          </a:xfrm>
          <a:prstGeom prst="straightConnector1">
            <a:avLst/>
          </a:prstGeom>
          <a:ln w="25400">
            <a:solidFill>
              <a:srgbClr val="A5002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 de flecha"/>
          <p:cNvCxnSpPr/>
          <p:nvPr/>
        </p:nvCxnSpPr>
        <p:spPr>
          <a:xfrm>
            <a:off x="3643313" y="1439863"/>
            <a:ext cx="3286125" cy="1631950"/>
          </a:xfrm>
          <a:prstGeom prst="straightConnector1">
            <a:avLst/>
          </a:prstGeom>
          <a:ln w="25400">
            <a:solidFill>
              <a:srgbClr val="4C07C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 de flecha"/>
          <p:cNvCxnSpPr/>
          <p:nvPr/>
        </p:nvCxnSpPr>
        <p:spPr>
          <a:xfrm>
            <a:off x="3643313" y="1797050"/>
            <a:ext cx="3357562" cy="1203325"/>
          </a:xfrm>
          <a:prstGeom prst="straightConnector1">
            <a:avLst/>
          </a:prstGeom>
          <a:ln w="25400">
            <a:solidFill>
              <a:srgbClr val="4C07C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 de flecha"/>
          <p:cNvCxnSpPr/>
          <p:nvPr/>
        </p:nvCxnSpPr>
        <p:spPr>
          <a:xfrm>
            <a:off x="3643313" y="2225675"/>
            <a:ext cx="3429000" cy="631825"/>
          </a:xfrm>
          <a:prstGeom prst="straightConnector1">
            <a:avLst/>
          </a:prstGeom>
          <a:ln w="25400">
            <a:solidFill>
              <a:srgbClr val="4C07C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 rot="5400000">
            <a:off x="4495800" y="3035300"/>
            <a:ext cx="3500438" cy="1588"/>
          </a:xfrm>
          <a:prstGeom prst="line">
            <a:avLst/>
          </a:prstGeom>
          <a:ln w="19050">
            <a:solidFill>
              <a:srgbClr val="FF000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 de flecha"/>
          <p:cNvCxnSpPr>
            <a:cxnSpLocks noChangeAspect="1"/>
          </p:cNvCxnSpPr>
          <p:nvPr/>
        </p:nvCxnSpPr>
        <p:spPr>
          <a:xfrm flipV="1">
            <a:off x="836613" y="2198688"/>
            <a:ext cx="6786562" cy="2714625"/>
          </a:xfrm>
          <a:prstGeom prst="straightConnector1">
            <a:avLst/>
          </a:prstGeom>
          <a:ln w="25400">
            <a:solidFill>
              <a:srgbClr val="00CC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73 CuadroTexto"/>
          <p:cNvSpPr txBox="1">
            <a:spLocks noChangeArrowheads="1"/>
          </p:cNvSpPr>
          <p:nvPr/>
        </p:nvSpPr>
        <p:spPr bwMode="auto">
          <a:xfrm>
            <a:off x="1357313" y="3214688"/>
            <a:ext cx="4365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20516" name="74 CuadroTexto"/>
          <p:cNvSpPr txBox="1">
            <a:spLocks noChangeArrowheads="1"/>
          </p:cNvSpPr>
          <p:nvPr/>
        </p:nvSpPr>
        <p:spPr bwMode="auto">
          <a:xfrm>
            <a:off x="5143500" y="642938"/>
            <a:ext cx="2236788" cy="369887"/>
          </a:xfrm>
          <a:prstGeom prst="rect">
            <a:avLst/>
          </a:prstGeom>
          <a:noFill/>
          <a:ln w="9525">
            <a:solidFill>
              <a:srgbClr val="FF0000"/>
            </a:solidFill>
            <a:prstDash val="lgDashDot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Plano Focal Imagen</a:t>
            </a:r>
          </a:p>
        </p:txBody>
      </p:sp>
      <p:sp>
        <p:nvSpPr>
          <p:cNvPr id="20517" name="Oval 13"/>
          <p:cNvSpPr>
            <a:spLocks noChangeArrowheads="1"/>
          </p:cNvSpPr>
          <p:nvPr/>
        </p:nvSpPr>
        <p:spPr bwMode="auto">
          <a:xfrm>
            <a:off x="6205538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518" name="Text Box 15"/>
          <p:cNvSpPr txBox="1">
            <a:spLocks noChangeArrowheads="1"/>
          </p:cNvSpPr>
          <p:nvPr/>
        </p:nvSpPr>
        <p:spPr bwMode="auto">
          <a:xfrm>
            <a:off x="6084888" y="3419475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61" name="Oval 13"/>
          <p:cNvSpPr>
            <a:spLocks noChangeArrowheads="1"/>
          </p:cNvSpPr>
          <p:nvPr/>
        </p:nvSpPr>
        <p:spPr bwMode="auto">
          <a:xfrm>
            <a:off x="6205538" y="2673350"/>
            <a:ext cx="107950" cy="107950"/>
          </a:xfrm>
          <a:prstGeom prst="ellipse">
            <a:avLst/>
          </a:prstGeom>
          <a:solidFill>
            <a:srgbClr val="00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76" name="75 CuadroTexto"/>
          <p:cNvSpPr txBox="1">
            <a:spLocks noChangeArrowheads="1"/>
          </p:cNvSpPr>
          <p:nvPr/>
        </p:nvSpPr>
        <p:spPr bwMode="auto">
          <a:xfrm>
            <a:off x="6500813" y="1714500"/>
            <a:ext cx="18986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200">
                <a:solidFill>
                  <a:srgbClr val="009900"/>
                </a:solidFill>
              </a:rPr>
              <a:t>Foco Secundario Imagen</a:t>
            </a:r>
          </a:p>
        </p:txBody>
      </p:sp>
      <p:cxnSp>
        <p:nvCxnSpPr>
          <p:cNvPr id="78" name="77 Conector curvado"/>
          <p:cNvCxnSpPr/>
          <p:nvPr/>
        </p:nvCxnSpPr>
        <p:spPr>
          <a:xfrm flipV="1">
            <a:off x="6357938" y="1928813"/>
            <a:ext cx="714375" cy="642937"/>
          </a:xfrm>
          <a:prstGeom prst="curvedConnector3">
            <a:avLst>
              <a:gd name="adj1" fmla="val 50000"/>
            </a:avLst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79 CuadroTexto"/>
          <p:cNvSpPr txBox="1">
            <a:spLocks noChangeArrowheads="1"/>
          </p:cNvSpPr>
          <p:nvPr/>
        </p:nvSpPr>
        <p:spPr bwMode="auto">
          <a:xfrm>
            <a:off x="357188" y="5429250"/>
            <a:ext cx="2686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Uso de Rayos Auxiliares</a:t>
            </a:r>
          </a:p>
        </p:txBody>
      </p:sp>
      <p:sp>
        <p:nvSpPr>
          <p:cNvPr id="81" name="80 CuadroTexto"/>
          <p:cNvSpPr txBox="1">
            <a:spLocks noChangeArrowheads="1"/>
          </p:cNvSpPr>
          <p:nvPr/>
        </p:nvSpPr>
        <p:spPr bwMode="auto">
          <a:xfrm>
            <a:off x="101600" y="6072188"/>
            <a:ext cx="90424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Semejante con rayos emergentes paralelos: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= 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>
                <a:cs typeface="Arial" charset="0"/>
              </a:rPr>
              <a:t>define un plano focal objeto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 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0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0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4" grpId="0" animBg="1"/>
      <p:bldP spid="14354" grpId="1" animBg="1"/>
      <p:bldP spid="14355" grpId="0" animBg="1"/>
      <p:bldP spid="14355" grpId="1" animBg="1"/>
      <p:bldP spid="14357" grpId="0" animBg="1"/>
      <p:bldP spid="14370" grpId="0"/>
      <p:bldP spid="43" grpId="0"/>
      <p:bldP spid="47" grpId="0" animBg="1"/>
      <p:bldP spid="47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74" grpId="0"/>
      <p:bldP spid="61" grpId="0" animBg="1"/>
      <p:bldP spid="76" grpId="0"/>
      <p:bldP spid="80" grpId="0"/>
      <p:bldP spid="8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/>
          <p:cNvSpPr txBox="1">
            <a:spLocks noChangeArrowheads="1"/>
          </p:cNvSpPr>
          <p:nvPr/>
        </p:nvSpPr>
        <p:spPr bwMode="auto">
          <a:xfrm>
            <a:off x="395288" y="325438"/>
            <a:ext cx="5861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b="1"/>
              <a:t>Ej. 32.49 – Tipler Mosca - Física Volumen 2B 5ta. Ed.</a:t>
            </a:r>
          </a:p>
        </p:txBody>
      </p:sp>
      <p:sp>
        <p:nvSpPr>
          <p:cNvPr id="21507" name="Text Box 5"/>
          <p:cNvSpPr txBox="1">
            <a:spLocks noChangeArrowheads="1"/>
          </p:cNvSpPr>
          <p:nvPr/>
        </p:nvSpPr>
        <p:spPr bwMode="auto">
          <a:xfrm>
            <a:off x="395288" y="731838"/>
            <a:ext cx="8497887" cy="256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s-ES_tradnl"/>
              <a:t>		Una varilla de vidrio de 96 cm de longitud con un índice de refracción de 1.6 tiene sus extremos tallados en forma de superficies esféricas convexas de radios 8 cm y 16 cm. Un punto objeto de h cm de alto está apoyado sobre el eje de la varilla y a 20 cm del extremo de radio 8 cm. El sistema está inmerso en aire.</a:t>
            </a:r>
          </a:p>
          <a:p>
            <a:pPr marL="342900" indent="-342900">
              <a:buFontTx/>
              <a:buAutoNum type="alphaLcParenR"/>
            </a:pPr>
            <a:r>
              <a:rPr lang="es-ES_tradnl"/>
              <a:t>Hallar la distancia imagen debida a la refracción en la primera superficie.</a:t>
            </a:r>
          </a:p>
          <a:p>
            <a:pPr marL="342900" indent="-342900">
              <a:buFontTx/>
              <a:buAutoNum type="alphaLcParenR"/>
            </a:pPr>
            <a:r>
              <a:rPr lang="es-ES_tradnl"/>
              <a:t>Hallar la imagen final debida a la refracción en ambas superficies.</a:t>
            </a:r>
          </a:p>
          <a:p>
            <a:pPr marL="342900" indent="-342900">
              <a:buFontTx/>
              <a:buAutoNum type="alphaLcParenR"/>
            </a:pPr>
            <a:r>
              <a:rPr lang="es-ES_tradnl"/>
              <a:t>¿La imagen final es real o virtual?</a:t>
            </a:r>
          </a:p>
          <a:p>
            <a:pPr marL="342900" indent="-342900">
              <a:buFontTx/>
              <a:buAutoNum type="alphaLcParenR"/>
            </a:pPr>
            <a:endParaRPr lang="es-ES_tradnl"/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2195513" y="4221163"/>
            <a:ext cx="5203825" cy="1512887"/>
            <a:chOff x="1383" y="2659"/>
            <a:chExt cx="3278" cy="953"/>
          </a:xfrm>
        </p:grpSpPr>
        <p:sp>
          <p:nvSpPr>
            <p:cNvPr id="21523" name="AutoShape 10"/>
            <p:cNvSpPr>
              <a:spLocks noChangeArrowheads="1"/>
            </p:cNvSpPr>
            <p:nvPr/>
          </p:nvSpPr>
          <p:spPr bwMode="auto">
            <a:xfrm>
              <a:off x="1383" y="2659"/>
              <a:ext cx="2635" cy="95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1524" name="AutoShape 12"/>
            <p:cNvSpPr>
              <a:spLocks noChangeArrowheads="1"/>
            </p:cNvSpPr>
            <p:nvPr/>
          </p:nvSpPr>
          <p:spPr bwMode="auto">
            <a:xfrm>
              <a:off x="2802" y="2659"/>
              <a:ext cx="1859" cy="953"/>
            </a:xfrm>
            <a:prstGeom prst="roundRect">
              <a:avLst>
                <a:gd name="adj" fmla="val 26444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22543" name="Line 15"/>
          <p:cNvSpPr>
            <a:spLocks noChangeShapeType="1"/>
          </p:cNvSpPr>
          <p:nvPr/>
        </p:nvSpPr>
        <p:spPr bwMode="auto">
          <a:xfrm flipV="1">
            <a:off x="1149350" y="4678363"/>
            <a:ext cx="0" cy="3349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>
            <a:off x="252413" y="5013325"/>
            <a:ext cx="8640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>
            <a:off x="2197100" y="3933825"/>
            <a:ext cx="51816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4481513" y="3592513"/>
            <a:ext cx="1193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L = 96 cm</a:t>
            </a:r>
          </a:p>
        </p:txBody>
      </p:sp>
      <p:sp>
        <p:nvSpPr>
          <p:cNvPr id="22552" name="Line 24"/>
          <p:cNvSpPr>
            <a:spLocks noChangeShapeType="1"/>
          </p:cNvSpPr>
          <p:nvPr/>
        </p:nvSpPr>
        <p:spPr bwMode="auto">
          <a:xfrm>
            <a:off x="2197100" y="3644900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2553" name="Line 25"/>
          <p:cNvSpPr>
            <a:spLocks noChangeShapeType="1"/>
          </p:cNvSpPr>
          <p:nvPr/>
        </p:nvSpPr>
        <p:spPr bwMode="auto">
          <a:xfrm>
            <a:off x="7410450" y="3644900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2554" name="Line 26"/>
          <p:cNvSpPr>
            <a:spLocks noChangeShapeType="1"/>
          </p:cNvSpPr>
          <p:nvPr/>
        </p:nvSpPr>
        <p:spPr bwMode="auto">
          <a:xfrm>
            <a:off x="1116013" y="5113338"/>
            <a:ext cx="10795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22555" name="Text Box 27"/>
          <p:cNvSpPr txBox="1">
            <a:spLocks noChangeArrowheads="1"/>
          </p:cNvSpPr>
          <p:nvPr/>
        </p:nvSpPr>
        <p:spPr bwMode="auto">
          <a:xfrm>
            <a:off x="1103313" y="5300663"/>
            <a:ext cx="806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20 cm</a:t>
            </a:r>
          </a:p>
        </p:txBody>
      </p:sp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3041650" y="5249863"/>
            <a:ext cx="838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</a:t>
            </a:r>
            <a:r>
              <a:rPr lang="es-ES_tradnl" baseline="-25000"/>
              <a:t>v</a:t>
            </a:r>
            <a:r>
              <a:rPr lang="es-ES_tradnl"/>
              <a:t>=1,6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>
            <a:off x="8675688" y="6381750"/>
            <a:ext cx="3540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16</a:t>
            </a:r>
          </a:p>
        </p:txBody>
      </p:sp>
      <p:sp>
        <p:nvSpPr>
          <p:cNvPr id="22560" name="Line 32"/>
          <p:cNvSpPr>
            <a:spLocks noChangeShapeType="1"/>
          </p:cNvSpPr>
          <p:nvPr/>
        </p:nvSpPr>
        <p:spPr bwMode="auto">
          <a:xfrm rot="-2825279">
            <a:off x="6577807" y="4701381"/>
            <a:ext cx="863600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2561" name="Line 33"/>
          <p:cNvSpPr>
            <a:spLocks noChangeShapeType="1"/>
          </p:cNvSpPr>
          <p:nvPr/>
        </p:nvSpPr>
        <p:spPr bwMode="auto">
          <a:xfrm rot="2542580">
            <a:off x="2216150" y="48466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1403350" y="4281488"/>
            <a:ext cx="56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aire</a:t>
            </a:r>
          </a:p>
        </p:txBody>
      </p:sp>
      <p:sp>
        <p:nvSpPr>
          <p:cNvPr id="22563" name="Text Box 35"/>
          <p:cNvSpPr txBox="1">
            <a:spLocks noChangeArrowheads="1"/>
          </p:cNvSpPr>
          <p:nvPr/>
        </p:nvSpPr>
        <p:spPr bwMode="auto">
          <a:xfrm>
            <a:off x="7669213" y="4354513"/>
            <a:ext cx="56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3" grpId="0" animBg="1"/>
      <p:bldP spid="22542" grpId="0" animBg="1"/>
      <p:bldP spid="22550" grpId="0" animBg="1"/>
      <p:bldP spid="22551" grpId="0"/>
      <p:bldP spid="22552" grpId="0" animBg="1"/>
      <p:bldP spid="22553" grpId="0" animBg="1"/>
      <p:bldP spid="22554" grpId="0" animBg="1"/>
      <p:bldP spid="22555" grpId="0"/>
      <p:bldP spid="22557" grpId="0"/>
      <p:bldP spid="22560" grpId="0" animBg="1"/>
      <p:bldP spid="22561" grpId="0" animBg="1"/>
      <p:bldP spid="22562" grpId="0"/>
      <p:bldP spid="2256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2" name="AutoShape 18"/>
          <p:cNvSpPr>
            <a:spLocks noChangeArrowheads="1"/>
          </p:cNvSpPr>
          <p:nvPr/>
        </p:nvSpPr>
        <p:spPr bwMode="auto">
          <a:xfrm>
            <a:off x="2195513" y="889000"/>
            <a:ext cx="4183062" cy="1512888"/>
          </a:xfrm>
          <a:prstGeom prst="roundRect">
            <a:avLst>
              <a:gd name="adj" fmla="val 26546"/>
            </a:avLst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s-ES"/>
          </a:p>
        </p:txBody>
      </p:sp>
      <p:sp>
        <p:nvSpPr>
          <p:cNvPr id="9233" name="AutoShape 19"/>
          <p:cNvSpPr>
            <a:spLocks noChangeArrowheads="1"/>
          </p:cNvSpPr>
          <p:nvPr/>
        </p:nvSpPr>
        <p:spPr bwMode="auto">
          <a:xfrm>
            <a:off x="4448175" y="889000"/>
            <a:ext cx="2951163" cy="1512888"/>
          </a:xfrm>
          <a:prstGeom prst="roundRect">
            <a:avLst>
              <a:gd name="adj" fmla="val 26444"/>
            </a:avLst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9234" name="Line 20"/>
          <p:cNvSpPr>
            <a:spLocks noChangeShapeType="1"/>
          </p:cNvSpPr>
          <p:nvPr/>
        </p:nvSpPr>
        <p:spPr bwMode="auto">
          <a:xfrm flipV="1">
            <a:off x="1149350" y="1346200"/>
            <a:ext cx="0" cy="3349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235" name="Line 21"/>
          <p:cNvSpPr>
            <a:spLocks noChangeShapeType="1"/>
          </p:cNvSpPr>
          <p:nvPr/>
        </p:nvSpPr>
        <p:spPr bwMode="auto">
          <a:xfrm>
            <a:off x="144463" y="1684338"/>
            <a:ext cx="8928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9236" name="Line 22"/>
          <p:cNvSpPr>
            <a:spLocks noChangeShapeType="1"/>
          </p:cNvSpPr>
          <p:nvPr/>
        </p:nvSpPr>
        <p:spPr bwMode="auto">
          <a:xfrm>
            <a:off x="2197100" y="601663"/>
            <a:ext cx="51816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9237" name="Text Box 23"/>
          <p:cNvSpPr txBox="1">
            <a:spLocks noChangeArrowheads="1"/>
          </p:cNvSpPr>
          <p:nvPr/>
        </p:nvSpPr>
        <p:spPr bwMode="auto">
          <a:xfrm>
            <a:off x="4481513" y="260350"/>
            <a:ext cx="1193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L = 96 cm</a:t>
            </a:r>
          </a:p>
        </p:txBody>
      </p:sp>
      <p:sp>
        <p:nvSpPr>
          <p:cNvPr id="9238" name="Line 24"/>
          <p:cNvSpPr>
            <a:spLocks noChangeShapeType="1"/>
          </p:cNvSpPr>
          <p:nvPr/>
        </p:nvSpPr>
        <p:spPr bwMode="auto">
          <a:xfrm>
            <a:off x="2197100" y="312738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9239" name="Line 25"/>
          <p:cNvSpPr>
            <a:spLocks noChangeShapeType="1"/>
          </p:cNvSpPr>
          <p:nvPr/>
        </p:nvSpPr>
        <p:spPr bwMode="auto">
          <a:xfrm>
            <a:off x="7410450" y="312738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3578" name="Line 26"/>
          <p:cNvSpPr>
            <a:spLocks noChangeShapeType="1"/>
          </p:cNvSpPr>
          <p:nvPr/>
        </p:nvSpPr>
        <p:spPr bwMode="auto">
          <a:xfrm>
            <a:off x="1116013" y="1989138"/>
            <a:ext cx="10795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3579" name="Text Box 27"/>
          <p:cNvSpPr txBox="1">
            <a:spLocks noChangeArrowheads="1"/>
          </p:cNvSpPr>
          <p:nvPr/>
        </p:nvSpPr>
        <p:spPr bwMode="auto">
          <a:xfrm>
            <a:off x="827088" y="2276475"/>
            <a:ext cx="132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</a:t>
            </a:r>
            <a:r>
              <a:rPr lang="es-ES_tradnl" baseline="-25000"/>
              <a:t>1</a:t>
            </a:r>
            <a:r>
              <a:rPr lang="es-ES_tradnl"/>
              <a:t>= </a:t>
            </a:r>
            <a:r>
              <a:rPr lang="es-ES_tradnl">
                <a:sym typeface="Symbol" pitchFamily="18" charset="2"/>
              </a:rPr>
              <a:t></a:t>
            </a:r>
            <a:r>
              <a:rPr lang="es-ES_tradnl"/>
              <a:t>20 cm</a:t>
            </a:r>
          </a:p>
        </p:txBody>
      </p:sp>
      <p:sp>
        <p:nvSpPr>
          <p:cNvPr id="23580" name="Text Box 28"/>
          <p:cNvSpPr txBox="1">
            <a:spLocks noChangeArrowheads="1"/>
          </p:cNvSpPr>
          <p:nvPr/>
        </p:nvSpPr>
        <p:spPr bwMode="auto">
          <a:xfrm>
            <a:off x="3041650" y="19177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</a:t>
            </a:r>
            <a:r>
              <a:rPr lang="es-ES_tradnl" baseline="-25000"/>
              <a:t>v</a:t>
            </a:r>
            <a:r>
              <a:rPr lang="es-ES_tradnl"/>
              <a:t>=1,6</a:t>
            </a:r>
          </a:p>
        </p:txBody>
      </p:sp>
      <p:sp>
        <p:nvSpPr>
          <p:cNvPr id="23583" name="Text Box 31"/>
          <p:cNvSpPr txBox="1">
            <a:spLocks noChangeArrowheads="1"/>
          </p:cNvSpPr>
          <p:nvPr/>
        </p:nvSpPr>
        <p:spPr bwMode="auto">
          <a:xfrm>
            <a:off x="1403350" y="1052513"/>
            <a:ext cx="7826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</a:t>
            </a:r>
            <a:r>
              <a:rPr lang="es-ES_tradnl" baseline="-25000"/>
              <a:t>1</a:t>
            </a:r>
            <a:r>
              <a:rPr lang="es-ES_tradnl"/>
              <a:t> = 1</a:t>
            </a:r>
          </a:p>
        </p:txBody>
      </p:sp>
      <p:sp>
        <p:nvSpPr>
          <p:cNvPr id="9244" name="Line 33"/>
          <p:cNvSpPr>
            <a:spLocks noChangeShapeType="1"/>
          </p:cNvSpPr>
          <p:nvPr/>
        </p:nvSpPr>
        <p:spPr bwMode="auto">
          <a:xfrm>
            <a:off x="2622550" y="15573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9245" name="Line 34"/>
          <p:cNvSpPr>
            <a:spLocks noChangeShapeType="1"/>
          </p:cNvSpPr>
          <p:nvPr/>
        </p:nvSpPr>
        <p:spPr bwMode="auto">
          <a:xfrm>
            <a:off x="6721475" y="15462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9246" name="Text Box 36"/>
          <p:cNvSpPr txBox="1">
            <a:spLocks noChangeArrowheads="1"/>
          </p:cNvSpPr>
          <p:nvPr/>
        </p:nvSpPr>
        <p:spPr bwMode="auto">
          <a:xfrm>
            <a:off x="2439988" y="1773238"/>
            <a:ext cx="633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C</a:t>
            </a:r>
            <a:r>
              <a:rPr lang="es-ES_tradnl" sz="1600" baseline="-25000"/>
              <a:t>1</a:t>
            </a:r>
          </a:p>
        </p:txBody>
      </p:sp>
      <p:sp>
        <p:nvSpPr>
          <p:cNvPr id="9247" name="Text Box 37"/>
          <p:cNvSpPr txBox="1">
            <a:spLocks noChangeArrowheads="1"/>
          </p:cNvSpPr>
          <p:nvPr/>
        </p:nvSpPr>
        <p:spPr bwMode="auto">
          <a:xfrm>
            <a:off x="6530975" y="1744663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C</a:t>
            </a:r>
            <a:r>
              <a:rPr lang="es-ES_tradnl" sz="1600" baseline="-25000"/>
              <a:t>2</a:t>
            </a:r>
          </a:p>
        </p:txBody>
      </p:sp>
      <p:sp>
        <p:nvSpPr>
          <p:cNvPr id="23590" name="Text Box 38"/>
          <p:cNvSpPr txBox="1">
            <a:spLocks noChangeArrowheads="1"/>
          </p:cNvSpPr>
          <p:nvPr/>
        </p:nvSpPr>
        <p:spPr bwMode="auto">
          <a:xfrm>
            <a:off x="2268538" y="1019175"/>
            <a:ext cx="10239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n’</a:t>
            </a:r>
            <a:r>
              <a:rPr lang="es-ES_tradnl" baseline="-25000"/>
              <a:t>1</a:t>
            </a:r>
            <a:r>
              <a:rPr lang="es-ES_tradnl"/>
              <a:t> = 1,6</a:t>
            </a:r>
          </a:p>
        </p:txBody>
      </p:sp>
      <p:sp>
        <p:nvSpPr>
          <p:cNvPr id="23591" name="Text Box 39"/>
          <p:cNvSpPr txBox="1">
            <a:spLocks noChangeArrowheads="1"/>
          </p:cNvSpPr>
          <p:nvPr/>
        </p:nvSpPr>
        <p:spPr bwMode="auto">
          <a:xfrm>
            <a:off x="6372225" y="1052513"/>
            <a:ext cx="9731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</a:t>
            </a:r>
            <a:r>
              <a:rPr lang="es-ES_tradnl" baseline="-25000"/>
              <a:t>2</a:t>
            </a:r>
            <a:r>
              <a:rPr lang="es-ES_tradnl"/>
              <a:t> = 1,6</a:t>
            </a:r>
          </a:p>
        </p:txBody>
      </p:sp>
      <p:sp>
        <p:nvSpPr>
          <p:cNvPr id="23592" name="Text Box 40"/>
          <p:cNvSpPr txBox="1">
            <a:spLocks noChangeArrowheads="1"/>
          </p:cNvSpPr>
          <p:nvPr/>
        </p:nvSpPr>
        <p:spPr bwMode="auto">
          <a:xfrm>
            <a:off x="7435850" y="1046163"/>
            <a:ext cx="8334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/>
              <a:t>n’</a:t>
            </a:r>
            <a:r>
              <a:rPr lang="es-ES_tradnl" baseline="-25000"/>
              <a:t>2</a:t>
            </a:r>
            <a:r>
              <a:rPr lang="es-ES_tradnl"/>
              <a:t> = 1</a:t>
            </a:r>
          </a:p>
        </p:txBody>
      </p:sp>
      <p:sp>
        <p:nvSpPr>
          <p:cNvPr id="9251" name="Text Box 41"/>
          <p:cNvSpPr txBox="1">
            <a:spLocks noChangeArrowheads="1"/>
          </p:cNvSpPr>
          <p:nvPr/>
        </p:nvSpPr>
        <p:spPr bwMode="auto">
          <a:xfrm>
            <a:off x="1908175" y="1652588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V</a:t>
            </a:r>
            <a:r>
              <a:rPr lang="es-ES_tradnl" sz="1600" baseline="-25000"/>
              <a:t>1</a:t>
            </a:r>
          </a:p>
        </p:txBody>
      </p:sp>
      <p:sp>
        <p:nvSpPr>
          <p:cNvPr id="9252" name="Text Box 42"/>
          <p:cNvSpPr txBox="1">
            <a:spLocks noChangeArrowheads="1"/>
          </p:cNvSpPr>
          <p:nvPr/>
        </p:nvSpPr>
        <p:spPr bwMode="auto">
          <a:xfrm>
            <a:off x="7092950" y="1628775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V</a:t>
            </a:r>
            <a:r>
              <a:rPr lang="es-ES_tradnl" sz="1600" baseline="-25000"/>
              <a:t>2</a:t>
            </a:r>
          </a:p>
        </p:txBody>
      </p:sp>
      <p:graphicFrame>
        <p:nvGraphicFramePr>
          <p:cNvPr id="9218" name="Object 43"/>
          <p:cNvGraphicFramePr>
            <a:graphicFrameLocks noChangeAspect="1"/>
          </p:cNvGraphicFramePr>
          <p:nvPr/>
        </p:nvGraphicFramePr>
        <p:xfrm>
          <a:off x="2222500" y="2554288"/>
          <a:ext cx="28670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Ecuación" r:id="rId3" imgW="1790640" imgH="419040" progId="Equation.3">
                  <p:embed/>
                </p:oleObj>
              </mc:Choice>
              <mc:Fallback>
                <p:oleObj name="Ecuación" r:id="rId3" imgW="1790640" imgH="41904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2554288"/>
                        <a:ext cx="2867025" cy="669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44"/>
          <p:cNvGraphicFramePr>
            <a:graphicFrameLocks noChangeAspect="1"/>
          </p:cNvGraphicFramePr>
          <p:nvPr/>
        </p:nvGraphicFramePr>
        <p:xfrm>
          <a:off x="5822950" y="2571750"/>
          <a:ext cx="12811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Ecuación" r:id="rId5" imgW="799920" imgH="393480" progId="Equation.3">
                  <p:embed/>
                </p:oleObj>
              </mc:Choice>
              <mc:Fallback>
                <p:oleObj name="Ecuación" r:id="rId5" imgW="799920" imgH="3934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2571750"/>
                        <a:ext cx="1281113" cy="6302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7" name="Text Box 45"/>
          <p:cNvSpPr txBox="1">
            <a:spLocks noChangeArrowheads="1"/>
          </p:cNvSpPr>
          <p:nvPr/>
        </p:nvSpPr>
        <p:spPr bwMode="auto">
          <a:xfrm>
            <a:off x="1017588" y="3302000"/>
            <a:ext cx="165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Primer Dioptra</a:t>
            </a:r>
          </a:p>
        </p:txBody>
      </p:sp>
      <p:graphicFrame>
        <p:nvGraphicFramePr>
          <p:cNvPr id="23598" name="Object 46"/>
          <p:cNvGraphicFramePr>
            <a:graphicFrameLocks noChangeAspect="1"/>
          </p:cNvGraphicFramePr>
          <p:nvPr/>
        </p:nvGraphicFramePr>
        <p:xfrm>
          <a:off x="590550" y="3698875"/>
          <a:ext cx="33337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Ecuación" r:id="rId7" imgW="2082600" imgH="431640" progId="Equation.3">
                  <p:embed/>
                </p:oleObj>
              </mc:Choice>
              <mc:Fallback>
                <p:oleObj name="Ecuación" r:id="rId7" imgW="2082600" imgH="43164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3698875"/>
                        <a:ext cx="33337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9" name="Object 47"/>
          <p:cNvGraphicFramePr>
            <a:graphicFrameLocks noChangeAspect="1"/>
          </p:cNvGraphicFramePr>
          <p:nvPr/>
        </p:nvGraphicFramePr>
        <p:xfrm>
          <a:off x="661988" y="4360863"/>
          <a:ext cx="23780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Ecuación" r:id="rId9" imgW="1485720" imgH="431640" progId="Equation.3">
                  <p:embed/>
                </p:oleObj>
              </mc:Choice>
              <mc:Fallback>
                <p:oleObj name="Ecuación" r:id="rId9" imgW="1485720" imgH="43164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4360863"/>
                        <a:ext cx="237807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01" name="Object 49"/>
          <p:cNvGraphicFramePr>
            <a:graphicFrameLocks noChangeAspect="1"/>
          </p:cNvGraphicFramePr>
          <p:nvPr/>
        </p:nvGraphicFramePr>
        <p:xfrm>
          <a:off x="661988" y="5108575"/>
          <a:ext cx="266223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Ecuación" r:id="rId11" imgW="1663560" imgH="215640" progId="Equation.3">
                  <p:embed/>
                </p:oleObj>
              </mc:Choice>
              <mc:Fallback>
                <p:oleObj name="Ecuación" r:id="rId11" imgW="1663560" imgH="21564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5108575"/>
                        <a:ext cx="266223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02" name="Object 50"/>
          <p:cNvGraphicFramePr>
            <a:graphicFrameLocks noChangeAspect="1"/>
          </p:cNvGraphicFramePr>
          <p:nvPr/>
        </p:nvGraphicFramePr>
        <p:xfrm>
          <a:off x="661988" y="5534025"/>
          <a:ext cx="286543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Ecuación" r:id="rId13" imgW="1790640" imgH="215640" progId="Equation.3">
                  <p:embed/>
                </p:oleObj>
              </mc:Choice>
              <mc:Fallback>
                <p:oleObj name="Ecuación" r:id="rId13" imgW="1790640" imgH="21564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5534025"/>
                        <a:ext cx="286543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03" name="Text Box 51"/>
          <p:cNvSpPr txBox="1">
            <a:spLocks noChangeArrowheads="1"/>
          </p:cNvSpPr>
          <p:nvPr/>
        </p:nvSpPr>
        <p:spPr bwMode="auto">
          <a:xfrm>
            <a:off x="3136900" y="1341438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F’</a:t>
            </a:r>
            <a:r>
              <a:rPr lang="es-ES_tradnl" sz="1600" baseline="-25000"/>
              <a:t>1</a:t>
            </a:r>
          </a:p>
        </p:txBody>
      </p:sp>
      <p:sp>
        <p:nvSpPr>
          <p:cNvPr id="23604" name="Text Box 52"/>
          <p:cNvSpPr txBox="1">
            <a:spLocks noChangeArrowheads="1"/>
          </p:cNvSpPr>
          <p:nvPr/>
        </p:nvSpPr>
        <p:spPr bwMode="auto">
          <a:xfrm>
            <a:off x="1303338" y="1308100"/>
            <a:ext cx="633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</a:t>
            </a:r>
            <a:r>
              <a:rPr lang="es-ES_tradnl" sz="1600" baseline="-25000"/>
              <a:t>1</a:t>
            </a:r>
          </a:p>
        </p:txBody>
      </p:sp>
      <p:sp>
        <p:nvSpPr>
          <p:cNvPr id="23605" name="Text Box 53"/>
          <p:cNvSpPr txBox="1">
            <a:spLocks noChangeArrowheads="1"/>
          </p:cNvSpPr>
          <p:nvPr/>
        </p:nvSpPr>
        <p:spPr bwMode="auto">
          <a:xfrm>
            <a:off x="8655050" y="1317625"/>
            <a:ext cx="4540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F’</a:t>
            </a:r>
            <a:r>
              <a:rPr lang="es-ES_tradnl" sz="1600" baseline="-25000"/>
              <a:t>2</a:t>
            </a:r>
          </a:p>
        </p:txBody>
      </p:sp>
      <p:sp>
        <p:nvSpPr>
          <p:cNvPr id="23606" name="Text Box 54"/>
          <p:cNvSpPr txBox="1">
            <a:spLocks noChangeArrowheads="1"/>
          </p:cNvSpPr>
          <p:nvPr/>
        </p:nvSpPr>
        <p:spPr bwMode="auto">
          <a:xfrm>
            <a:off x="4914900" y="1330325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</a:t>
            </a:r>
            <a:r>
              <a:rPr lang="es-ES_tradnl" sz="1600" baseline="-25000"/>
              <a:t>2</a:t>
            </a:r>
          </a:p>
        </p:txBody>
      </p:sp>
      <p:sp>
        <p:nvSpPr>
          <p:cNvPr id="23609" name="Oval 57"/>
          <p:cNvSpPr>
            <a:spLocks noChangeArrowheads="1"/>
          </p:cNvSpPr>
          <p:nvPr/>
        </p:nvSpPr>
        <p:spPr bwMode="auto">
          <a:xfrm>
            <a:off x="3287713" y="1649413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3610" name="Oval 58"/>
          <p:cNvSpPr>
            <a:spLocks noChangeArrowheads="1"/>
          </p:cNvSpPr>
          <p:nvPr/>
        </p:nvSpPr>
        <p:spPr bwMode="auto">
          <a:xfrm>
            <a:off x="1436688" y="1651000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3611" name="Text Box 59"/>
          <p:cNvSpPr txBox="1">
            <a:spLocks noChangeArrowheads="1"/>
          </p:cNvSpPr>
          <p:nvPr/>
        </p:nvSpPr>
        <p:spPr bwMode="auto">
          <a:xfrm>
            <a:off x="5913438" y="3302000"/>
            <a:ext cx="189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Segunda Dioptra</a:t>
            </a:r>
          </a:p>
        </p:txBody>
      </p:sp>
      <p:graphicFrame>
        <p:nvGraphicFramePr>
          <p:cNvPr id="23612" name="Object 60"/>
          <p:cNvGraphicFramePr>
            <a:graphicFrameLocks noChangeAspect="1"/>
          </p:cNvGraphicFramePr>
          <p:nvPr/>
        </p:nvGraphicFramePr>
        <p:xfrm>
          <a:off x="5292725" y="3697288"/>
          <a:ext cx="351790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Ecuación" r:id="rId15" imgW="2197080" imgH="431640" progId="Equation.3">
                  <p:embed/>
                </p:oleObj>
              </mc:Choice>
              <mc:Fallback>
                <p:oleObj name="Ecuación" r:id="rId15" imgW="2197080" imgH="43164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697288"/>
                        <a:ext cx="351790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13" name="Object 61"/>
          <p:cNvGraphicFramePr>
            <a:graphicFrameLocks noChangeAspect="1"/>
          </p:cNvGraphicFramePr>
          <p:nvPr/>
        </p:nvGraphicFramePr>
        <p:xfrm>
          <a:off x="5651500" y="4360863"/>
          <a:ext cx="2601913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cuación" r:id="rId17" imgW="1625400" imgH="431640" progId="Equation.3">
                  <p:embed/>
                </p:oleObj>
              </mc:Choice>
              <mc:Fallback>
                <p:oleObj name="Ecuación" r:id="rId17" imgW="1625400" imgH="43164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360863"/>
                        <a:ext cx="2601913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14" name="Object 62"/>
          <p:cNvGraphicFramePr>
            <a:graphicFrameLocks noChangeAspect="1"/>
          </p:cNvGraphicFramePr>
          <p:nvPr/>
        </p:nvGraphicFramePr>
        <p:xfrm>
          <a:off x="5435600" y="5110163"/>
          <a:ext cx="31083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Ecuación" r:id="rId19" imgW="1942920" imgH="215640" progId="Equation.3">
                  <p:embed/>
                </p:oleObj>
              </mc:Choice>
              <mc:Fallback>
                <p:oleObj name="Ecuación" r:id="rId19" imgW="1942920" imgH="21564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5110163"/>
                        <a:ext cx="31083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15" name="Object 63"/>
          <p:cNvGraphicFramePr>
            <a:graphicFrameLocks noChangeAspect="1"/>
          </p:cNvGraphicFramePr>
          <p:nvPr/>
        </p:nvGraphicFramePr>
        <p:xfrm>
          <a:off x="5435600" y="5534025"/>
          <a:ext cx="30480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Ecuación" r:id="rId21" imgW="1904760" imgH="215640" progId="Equation.3">
                  <p:embed/>
                </p:oleObj>
              </mc:Choice>
              <mc:Fallback>
                <p:oleObj name="Ecuación" r:id="rId21" imgW="1904760" imgH="21564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5534025"/>
                        <a:ext cx="30480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16" name="Object 64"/>
          <p:cNvGraphicFramePr>
            <a:graphicFrameLocks noChangeAspect="1"/>
          </p:cNvGraphicFramePr>
          <p:nvPr/>
        </p:nvGraphicFramePr>
        <p:xfrm>
          <a:off x="323850" y="5978525"/>
          <a:ext cx="18097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cuación" r:id="rId23" imgW="1130040" imgH="431640" progId="Equation.3">
                  <p:embed/>
                </p:oleObj>
              </mc:Choice>
              <mc:Fallback>
                <p:oleObj name="Ecuación" r:id="rId23" imgW="1130040" imgH="43164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978525"/>
                        <a:ext cx="18097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17" name="Object 65"/>
          <p:cNvGraphicFramePr>
            <a:graphicFrameLocks noChangeAspect="1"/>
          </p:cNvGraphicFramePr>
          <p:nvPr/>
        </p:nvGraphicFramePr>
        <p:xfrm>
          <a:off x="5148263" y="5978525"/>
          <a:ext cx="20129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Ecuación" r:id="rId25" imgW="1257120" imgH="431640" progId="Equation.3">
                  <p:embed/>
                </p:oleObj>
              </mc:Choice>
              <mc:Fallback>
                <p:oleObj name="Ecuación" r:id="rId25" imgW="1257120" imgH="43164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978525"/>
                        <a:ext cx="20129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18" name="Oval 66"/>
          <p:cNvSpPr>
            <a:spLocks noChangeArrowheads="1"/>
          </p:cNvSpPr>
          <p:nvPr/>
        </p:nvSpPr>
        <p:spPr bwMode="auto">
          <a:xfrm>
            <a:off x="8820150" y="1655763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3619" name="Oval 67"/>
          <p:cNvSpPr>
            <a:spLocks noChangeArrowheads="1"/>
          </p:cNvSpPr>
          <p:nvPr/>
        </p:nvSpPr>
        <p:spPr bwMode="auto">
          <a:xfrm>
            <a:off x="5049838" y="1651000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graphicFrame>
        <p:nvGraphicFramePr>
          <p:cNvPr id="23620" name="Object 68"/>
          <p:cNvGraphicFramePr>
            <a:graphicFrameLocks noChangeAspect="1"/>
          </p:cNvGraphicFramePr>
          <p:nvPr/>
        </p:nvGraphicFramePr>
        <p:xfrm>
          <a:off x="2411413" y="5978525"/>
          <a:ext cx="15462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Ecuación" r:id="rId27" imgW="965160" imgH="431640" progId="Equation.3">
                  <p:embed/>
                </p:oleObj>
              </mc:Choice>
              <mc:Fallback>
                <p:oleObj name="Ecuación" r:id="rId27" imgW="965160" imgH="43164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978525"/>
                        <a:ext cx="154622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21" name="Object 69"/>
          <p:cNvGraphicFramePr>
            <a:graphicFrameLocks noChangeAspect="1"/>
          </p:cNvGraphicFramePr>
          <p:nvPr/>
        </p:nvGraphicFramePr>
        <p:xfrm>
          <a:off x="7348538" y="5978525"/>
          <a:ext cx="1687512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Ecuación" r:id="rId29" imgW="1054080" imgH="431640" progId="Equation.3">
                  <p:embed/>
                </p:oleObj>
              </mc:Choice>
              <mc:Fallback>
                <p:oleObj name="Ecuación" r:id="rId29" imgW="1054080" imgH="43164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8538" y="5978525"/>
                        <a:ext cx="1687512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22" name="Text Box 70"/>
          <p:cNvSpPr txBox="1">
            <a:spLocks noChangeArrowheads="1"/>
          </p:cNvSpPr>
          <p:nvPr/>
        </p:nvSpPr>
        <p:spPr bwMode="auto">
          <a:xfrm>
            <a:off x="8789988" y="6583363"/>
            <a:ext cx="3540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8" grpId="0" animBg="1"/>
      <p:bldP spid="23579" grpId="0"/>
      <p:bldP spid="23580" grpId="0"/>
      <p:bldP spid="23583" grpId="0"/>
      <p:bldP spid="23590" grpId="0"/>
      <p:bldP spid="23591" grpId="0"/>
      <p:bldP spid="23592" grpId="0"/>
      <p:bldP spid="23597" grpId="0"/>
      <p:bldP spid="23603" grpId="0"/>
      <p:bldP spid="23604" grpId="0"/>
      <p:bldP spid="23605" grpId="0"/>
      <p:bldP spid="23606" grpId="0"/>
      <p:bldP spid="23609" grpId="0" animBg="1"/>
      <p:bldP spid="23610" grpId="0" animBg="1"/>
      <p:bldP spid="23611" grpId="0"/>
      <p:bldP spid="23618" grpId="0" animBg="1"/>
      <p:bldP spid="23619" grpId="0" animBg="1"/>
      <p:bldP spid="236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2" name="AutoShape 2"/>
          <p:cNvSpPr>
            <a:spLocks noChangeArrowheads="1"/>
          </p:cNvSpPr>
          <p:nvPr/>
        </p:nvSpPr>
        <p:spPr bwMode="auto">
          <a:xfrm>
            <a:off x="2195513" y="765175"/>
            <a:ext cx="4183062" cy="1800225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s-ES"/>
          </a:p>
        </p:txBody>
      </p:sp>
      <p:sp>
        <p:nvSpPr>
          <p:cNvPr id="10253" name="AutoShape 3"/>
          <p:cNvSpPr>
            <a:spLocks noChangeArrowheads="1"/>
          </p:cNvSpPr>
          <p:nvPr/>
        </p:nvSpPr>
        <p:spPr bwMode="auto">
          <a:xfrm>
            <a:off x="4448175" y="765175"/>
            <a:ext cx="2951163" cy="1800225"/>
          </a:xfrm>
          <a:prstGeom prst="roundRect">
            <a:avLst>
              <a:gd name="adj" fmla="val 13491"/>
            </a:avLst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254" name="Line 4"/>
          <p:cNvSpPr>
            <a:spLocks noChangeShapeType="1"/>
          </p:cNvSpPr>
          <p:nvPr/>
        </p:nvSpPr>
        <p:spPr bwMode="auto">
          <a:xfrm flipV="1">
            <a:off x="1149350" y="1346200"/>
            <a:ext cx="0" cy="3349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0255" name="Line 5"/>
          <p:cNvSpPr>
            <a:spLocks noChangeShapeType="1"/>
          </p:cNvSpPr>
          <p:nvPr/>
        </p:nvSpPr>
        <p:spPr bwMode="auto">
          <a:xfrm>
            <a:off x="144463" y="1684338"/>
            <a:ext cx="8928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0256" name="Line 6"/>
          <p:cNvSpPr>
            <a:spLocks noChangeShapeType="1"/>
          </p:cNvSpPr>
          <p:nvPr/>
        </p:nvSpPr>
        <p:spPr bwMode="auto">
          <a:xfrm>
            <a:off x="2197100" y="601663"/>
            <a:ext cx="51816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0257" name="Text Box 7"/>
          <p:cNvSpPr txBox="1">
            <a:spLocks noChangeArrowheads="1"/>
          </p:cNvSpPr>
          <p:nvPr/>
        </p:nvSpPr>
        <p:spPr bwMode="auto">
          <a:xfrm>
            <a:off x="4481513" y="260350"/>
            <a:ext cx="1193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L = 96 cm</a:t>
            </a:r>
          </a:p>
        </p:txBody>
      </p:sp>
      <p:sp>
        <p:nvSpPr>
          <p:cNvPr id="10258" name="Line 8"/>
          <p:cNvSpPr>
            <a:spLocks noChangeShapeType="1"/>
          </p:cNvSpPr>
          <p:nvPr/>
        </p:nvSpPr>
        <p:spPr bwMode="auto">
          <a:xfrm>
            <a:off x="2197100" y="312738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0259" name="Line 9"/>
          <p:cNvSpPr>
            <a:spLocks noChangeShapeType="1"/>
          </p:cNvSpPr>
          <p:nvPr/>
        </p:nvSpPr>
        <p:spPr bwMode="auto">
          <a:xfrm>
            <a:off x="7410450" y="312738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1116013" y="1989138"/>
            <a:ext cx="10795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684213" y="1982788"/>
            <a:ext cx="1327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</a:t>
            </a:r>
            <a:r>
              <a:rPr lang="es-ES_tradnl" baseline="-25000"/>
              <a:t>1</a:t>
            </a:r>
            <a:r>
              <a:rPr lang="es-ES_tradnl"/>
              <a:t>= </a:t>
            </a:r>
            <a:r>
              <a:rPr lang="es-ES_tradnl">
                <a:sym typeface="Symbol" pitchFamily="18" charset="2"/>
              </a:rPr>
              <a:t></a:t>
            </a:r>
            <a:r>
              <a:rPr lang="es-ES_tradnl"/>
              <a:t>20 cm</a:t>
            </a:r>
          </a:p>
        </p:txBody>
      </p:sp>
      <p:sp>
        <p:nvSpPr>
          <p:cNvPr id="10262" name="Text Box 13"/>
          <p:cNvSpPr txBox="1">
            <a:spLocks noChangeArrowheads="1"/>
          </p:cNvSpPr>
          <p:nvPr/>
        </p:nvSpPr>
        <p:spPr bwMode="auto">
          <a:xfrm>
            <a:off x="1476375" y="692150"/>
            <a:ext cx="7826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</a:t>
            </a:r>
            <a:r>
              <a:rPr lang="es-ES_tradnl" baseline="-25000"/>
              <a:t>1</a:t>
            </a:r>
            <a:r>
              <a:rPr lang="es-ES_tradnl"/>
              <a:t> = 1</a:t>
            </a:r>
          </a:p>
        </p:txBody>
      </p:sp>
      <p:sp>
        <p:nvSpPr>
          <p:cNvPr id="10263" name="Line 14"/>
          <p:cNvSpPr>
            <a:spLocks noChangeShapeType="1"/>
          </p:cNvSpPr>
          <p:nvPr/>
        </p:nvSpPr>
        <p:spPr bwMode="auto">
          <a:xfrm>
            <a:off x="2622550" y="15573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0264" name="Line 15"/>
          <p:cNvSpPr>
            <a:spLocks noChangeShapeType="1"/>
          </p:cNvSpPr>
          <p:nvPr/>
        </p:nvSpPr>
        <p:spPr bwMode="auto">
          <a:xfrm>
            <a:off x="6721475" y="15462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0265" name="Text Box 16"/>
          <p:cNvSpPr txBox="1">
            <a:spLocks noChangeArrowheads="1"/>
          </p:cNvSpPr>
          <p:nvPr/>
        </p:nvSpPr>
        <p:spPr bwMode="auto">
          <a:xfrm>
            <a:off x="2439988" y="1773238"/>
            <a:ext cx="633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C</a:t>
            </a:r>
            <a:r>
              <a:rPr lang="es-ES_tradnl" sz="1600" baseline="-25000"/>
              <a:t>1</a:t>
            </a:r>
          </a:p>
        </p:txBody>
      </p:sp>
      <p:sp>
        <p:nvSpPr>
          <p:cNvPr id="10266" name="Text Box 17"/>
          <p:cNvSpPr txBox="1">
            <a:spLocks noChangeArrowheads="1"/>
          </p:cNvSpPr>
          <p:nvPr/>
        </p:nvSpPr>
        <p:spPr bwMode="auto">
          <a:xfrm>
            <a:off x="6530975" y="1744663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C</a:t>
            </a:r>
            <a:r>
              <a:rPr lang="es-ES_tradnl" sz="1600" baseline="-25000"/>
              <a:t>2</a:t>
            </a:r>
          </a:p>
        </p:txBody>
      </p:sp>
      <p:sp>
        <p:nvSpPr>
          <p:cNvPr id="10267" name="Text Box 18"/>
          <p:cNvSpPr txBox="1">
            <a:spLocks noChangeArrowheads="1"/>
          </p:cNvSpPr>
          <p:nvPr/>
        </p:nvSpPr>
        <p:spPr bwMode="auto">
          <a:xfrm>
            <a:off x="2268538" y="692150"/>
            <a:ext cx="10239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n’</a:t>
            </a:r>
            <a:r>
              <a:rPr lang="es-ES_tradnl" baseline="-25000"/>
              <a:t>1</a:t>
            </a:r>
            <a:r>
              <a:rPr lang="es-ES_tradnl"/>
              <a:t> = 1,6</a:t>
            </a:r>
          </a:p>
        </p:txBody>
      </p:sp>
      <p:sp>
        <p:nvSpPr>
          <p:cNvPr id="10268" name="Text Box 19"/>
          <p:cNvSpPr txBox="1">
            <a:spLocks noChangeArrowheads="1"/>
          </p:cNvSpPr>
          <p:nvPr/>
        </p:nvSpPr>
        <p:spPr bwMode="auto">
          <a:xfrm>
            <a:off x="6300788" y="765175"/>
            <a:ext cx="9731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</a:t>
            </a:r>
            <a:r>
              <a:rPr lang="es-ES_tradnl" baseline="-25000"/>
              <a:t>2</a:t>
            </a:r>
            <a:r>
              <a:rPr lang="es-ES_tradnl"/>
              <a:t> = 1,6</a:t>
            </a:r>
          </a:p>
        </p:txBody>
      </p:sp>
      <p:sp>
        <p:nvSpPr>
          <p:cNvPr id="10269" name="Text Box 20"/>
          <p:cNvSpPr txBox="1">
            <a:spLocks noChangeArrowheads="1"/>
          </p:cNvSpPr>
          <p:nvPr/>
        </p:nvSpPr>
        <p:spPr bwMode="auto">
          <a:xfrm>
            <a:off x="7451725" y="765175"/>
            <a:ext cx="8334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/>
              <a:t>n’</a:t>
            </a:r>
            <a:r>
              <a:rPr lang="es-ES_tradnl" baseline="-25000"/>
              <a:t>2</a:t>
            </a:r>
            <a:r>
              <a:rPr lang="es-ES_tradnl"/>
              <a:t> = 1</a:t>
            </a:r>
          </a:p>
        </p:txBody>
      </p:sp>
      <p:sp>
        <p:nvSpPr>
          <p:cNvPr id="10270" name="Text Box 21"/>
          <p:cNvSpPr txBox="1">
            <a:spLocks noChangeArrowheads="1"/>
          </p:cNvSpPr>
          <p:nvPr/>
        </p:nvSpPr>
        <p:spPr bwMode="auto">
          <a:xfrm>
            <a:off x="1908175" y="1652588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V</a:t>
            </a:r>
            <a:r>
              <a:rPr lang="es-ES_tradnl" sz="1600" baseline="-25000"/>
              <a:t>1</a:t>
            </a:r>
          </a:p>
        </p:txBody>
      </p:sp>
      <p:sp>
        <p:nvSpPr>
          <p:cNvPr id="10271" name="Text Box 22"/>
          <p:cNvSpPr txBox="1">
            <a:spLocks noChangeArrowheads="1"/>
          </p:cNvSpPr>
          <p:nvPr/>
        </p:nvSpPr>
        <p:spPr bwMode="auto">
          <a:xfrm>
            <a:off x="7092950" y="1628775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V</a:t>
            </a:r>
            <a:r>
              <a:rPr lang="es-ES_tradnl" sz="1600" baseline="-25000"/>
              <a:t>2</a:t>
            </a:r>
          </a:p>
        </p:txBody>
      </p:sp>
      <p:sp>
        <p:nvSpPr>
          <p:cNvPr id="25625" name="Text Box 25"/>
          <p:cNvSpPr txBox="1">
            <a:spLocks noChangeArrowheads="1"/>
          </p:cNvSpPr>
          <p:nvPr/>
        </p:nvSpPr>
        <p:spPr bwMode="auto">
          <a:xfrm>
            <a:off x="395288" y="3141663"/>
            <a:ext cx="1657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Primer Dioptra</a:t>
            </a:r>
          </a:p>
        </p:txBody>
      </p:sp>
      <p:sp>
        <p:nvSpPr>
          <p:cNvPr id="10273" name="Text Box 30"/>
          <p:cNvSpPr txBox="1">
            <a:spLocks noChangeArrowheads="1"/>
          </p:cNvSpPr>
          <p:nvPr/>
        </p:nvSpPr>
        <p:spPr bwMode="auto">
          <a:xfrm>
            <a:off x="3136900" y="1341438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F’</a:t>
            </a:r>
            <a:r>
              <a:rPr lang="es-ES_tradnl" sz="1600" baseline="-25000"/>
              <a:t>1</a:t>
            </a:r>
          </a:p>
        </p:txBody>
      </p:sp>
      <p:sp>
        <p:nvSpPr>
          <p:cNvPr id="10274" name="Text Box 31"/>
          <p:cNvSpPr txBox="1">
            <a:spLocks noChangeArrowheads="1"/>
          </p:cNvSpPr>
          <p:nvPr/>
        </p:nvSpPr>
        <p:spPr bwMode="auto">
          <a:xfrm>
            <a:off x="1303338" y="1308100"/>
            <a:ext cx="633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</a:t>
            </a:r>
            <a:r>
              <a:rPr lang="es-ES_tradnl" sz="1600" baseline="-25000"/>
              <a:t>1</a:t>
            </a:r>
          </a:p>
        </p:txBody>
      </p:sp>
      <p:sp>
        <p:nvSpPr>
          <p:cNvPr id="10275" name="Text Box 32"/>
          <p:cNvSpPr txBox="1">
            <a:spLocks noChangeArrowheads="1"/>
          </p:cNvSpPr>
          <p:nvPr/>
        </p:nvSpPr>
        <p:spPr bwMode="auto">
          <a:xfrm>
            <a:off x="8655050" y="1317625"/>
            <a:ext cx="4540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F’</a:t>
            </a:r>
            <a:r>
              <a:rPr lang="es-ES_tradnl" sz="1600" baseline="-25000"/>
              <a:t>2</a:t>
            </a:r>
          </a:p>
        </p:txBody>
      </p:sp>
      <p:sp>
        <p:nvSpPr>
          <p:cNvPr id="10276" name="Text Box 33"/>
          <p:cNvSpPr txBox="1">
            <a:spLocks noChangeArrowheads="1"/>
          </p:cNvSpPr>
          <p:nvPr/>
        </p:nvSpPr>
        <p:spPr bwMode="auto">
          <a:xfrm>
            <a:off x="4914900" y="1330325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</a:t>
            </a:r>
            <a:r>
              <a:rPr lang="es-ES_tradnl" sz="1600" baseline="-25000"/>
              <a:t>2</a:t>
            </a:r>
          </a:p>
        </p:txBody>
      </p:sp>
      <p:sp>
        <p:nvSpPr>
          <p:cNvPr id="10277" name="Oval 34"/>
          <p:cNvSpPr>
            <a:spLocks noChangeArrowheads="1"/>
          </p:cNvSpPr>
          <p:nvPr/>
        </p:nvSpPr>
        <p:spPr bwMode="auto">
          <a:xfrm>
            <a:off x="3287713" y="1649413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278" name="Oval 35"/>
          <p:cNvSpPr>
            <a:spLocks noChangeArrowheads="1"/>
          </p:cNvSpPr>
          <p:nvPr/>
        </p:nvSpPr>
        <p:spPr bwMode="auto">
          <a:xfrm>
            <a:off x="1436688" y="1651000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5636" name="Text Box 36"/>
          <p:cNvSpPr txBox="1">
            <a:spLocks noChangeArrowheads="1"/>
          </p:cNvSpPr>
          <p:nvPr/>
        </p:nvSpPr>
        <p:spPr bwMode="auto">
          <a:xfrm>
            <a:off x="5913438" y="3302000"/>
            <a:ext cx="189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Segunda Dioptra</a:t>
            </a:r>
          </a:p>
        </p:txBody>
      </p:sp>
      <p:graphicFrame>
        <p:nvGraphicFramePr>
          <p:cNvPr id="25641" name="Object 41"/>
          <p:cNvGraphicFramePr>
            <a:graphicFrameLocks noChangeAspect="1"/>
          </p:cNvGraphicFramePr>
          <p:nvPr/>
        </p:nvGraphicFramePr>
        <p:xfrm>
          <a:off x="250825" y="3500438"/>
          <a:ext cx="18097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cuación" r:id="rId3" imgW="1130040" imgH="431640" progId="Equation.3">
                  <p:embed/>
                </p:oleObj>
              </mc:Choice>
              <mc:Fallback>
                <p:oleObj name="Ecuación" r:id="rId3" imgW="1130040" imgH="4316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500438"/>
                        <a:ext cx="180975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2" name="Object 42"/>
          <p:cNvGraphicFramePr>
            <a:graphicFrameLocks noChangeAspect="1"/>
          </p:cNvGraphicFramePr>
          <p:nvPr/>
        </p:nvGraphicFramePr>
        <p:xfrm>
          <a:off x="5867400" y="3716338"/>
          <a:ext cx="20129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cuación" r:id="rId5" imgW="1257120" imgH="431640" progId="Equation.3">
                  <p:embed/>
                </p:oleObj>
              </mc:Choice>
              <mc:Fallback>
                <p:oleObj name="Ecuación" r:id="rId5" imgW="1257120" imgH="43164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716338"/>
                        <a:ext cx="201295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0" name="Oval 43"/>
          <p:cNvSpPr>
            <a:spLocks noChangeArrowheads="1"/>
          </p:cNvSpPr>
          <p:nvPr/>
        </p:nvSpPr>
        <p:spPr bwMode="auto">
          <a:xfrm>
            <a:off x="8820150" y="1655763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281" name="Oval 44"/>
          <p:cNvSpPr>
            <a:spLocks noChangeArrowheads="1"/>
          </p:cNvSpPr>
          <p:nvPr/>
        </p:nvSpPr>
        <p:spPr bwMode="auto">
          <a:xfrm>
            <a:off x="5049838" y="1651000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graphicFrame>
        <p:nvGraphicFramePr>
          <p:cNvPr id="25645" name="Object 45"/>
          <p:cNvGraphicFramePr>
            <a:graphicFrameLocks noChangeAspect="1"/>
          </p:cNvGraphicFramePr>
          <p:nvPr/>
        </p:nvGraphicFramePr>
        <p:xfrm>
          <a:off x="250825" y="5300663"/>
          <a:ext cx="1871663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Ecuación" r:id="rId7" imgW="1168200" imgH="431640" progId="Equation.3">
                  <p:embed/>
                </p:oleObj>
              </mc:Choice>
              <mc:Fallback>
                <p:oleObj name="Ecuación" r:id="rId7" imgW="1168200" imgH="43164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300663"/>
                        <a:ext cx="1871663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7" name="Text Box 47"/>
          <p:cNvSpPr txBox="1">
            <a:spLocks noChangeArrowheads="1"/>
          </p:cNvSpPr>
          <p:nvPr/>
        </p:nvSpPr>
        <p:spPr bwMode="auto">
          <a:xfrm>
            <a:off x="8756650" y="6583363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18</a:t>
            </a:r>
          </a:p>
        </p:txBody>
      </p:sp>
      <p:graphicFrame>
        <p:nvGraphicFramePr>
          <p:cNvPr id="25648" name="Object 48"/>
          <p:cNvGraphicFramePr>
            <a:graphicFrameLocks noChangeAspect="1"/>
          </p:cNvGraphicFramePr>
          <p:nvPr/>
        </p:nvGraphicFramePr>
        <p:xfrm>
          <a:off x="66675" y="4176713"/>
          <a:ext cx="24796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Ecuación" r:id="rId9" imgW="1549080" imgH="431640" progId="Equation.3">
                  <p:embed/>
                </p:oleObj>
              </mc:Choice>
              <mc:Fallback>
                <p:oleObj name="Ecuación" r:id="rId9" imgW="1549080" imgH="43164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" y="4176713"/>
                        <a:ext cx="247967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9" name="Object 49"/>
          <p:cNvGraphicFramePr>
            <a:graphicFrameLocks noChangeAspect="1"/>
          </p:cNvGraphicFramePr>
          <p:nvPr/>
        </p:nvGraphicFramePr>
        <p:xfrm>
          <a:off x="611188" y="4941888"/>
          <a:ext cx="10572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Ecuación" r:id="rId11" imgW="660240" imgH="215640" progId="Equation.3">
                  <p:embed/>
                </p:oleObj>
              </mc:Choice>
              <mc:Fallback>
                <p:oleObj name="Ecuación" r:id="rId11" imgW="660240" imgH="21564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941888"/>
                        <a:ext cx="105727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50" name="Line 50"/>
          <p:cNvSpPr>
            <a:spLocks noChangeShapeType="1"/>
          </p:cNvSpPr>
          <p:nvPr/>
        </p:nvSpPr>
        <p:spPr bwMode="auto">
          <a:xfrm>
            <a:off x="700088" y="1352550"/>
            <a:ext cx="1512887" cy="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51" name="Freeform 51"/>
          <p:cNvSpPr>
            <a:spLocks/>
          </p:cNvSpPr>
          <p:nvPr/>
        </p:nvSpPr>
        <p:spPr bwMode="auto">
          <a:xfrm>
            <a:off x="2205038" y="1355725"/>
            <a:ext cx="3690937" cy="1065213"/>
          </a:xfrm>
          <a:custGeom>
            <a:avLst/>
            <a:gdLst>
              <a:gd name="T0" fmla="*/ 0 w 2325"/>
              <a:gd name="T1" fmla="*/ 0 h 671"/>
              <a:gd name="T2" fmla="*/ 2147483647 w 2325"/>
              <a:gd name="T3" fmla="*/ 2147483647 h 671"/>
              <a:gd name="T4" fmla="*/ 0 60000 65536"/>
              <a:gd name="T5" fmla="*/ 0 60000 65536"/>
              <a:gd name="T6" fmla="*/ 0 w 2325"/>
              <a:gd name="T7" fmla="*/ 0 h 671"/>
              <a:gd name="T8" fmla="*/ 2325 w 2325"/>
              <a:gd name="T9" fmla="*/ 671 h 67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325" h="671">
                <a:moveTo>
                  <a:pt x="0" y="0"/>
                </a:moveTo>
                <a:lnTo>
                  <a:pt x="2325" y="671"/>
                </a:lnTo>
              </a:path>
            </a:pathLst>
          </a:custGeom>
          <a:noFill/>
          <a:ln w="222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25652" name="Line 52"/>
          <p:cNvSpPr>
            <a:spLocks noChangeShapeType="1"/>
          </p:cNvSpPr>
          <p:nvPr/>
        </p:nvSpPr>
        <p:spPr bwMode="auto">
          <a:xfrm flipV="1">
            <a:off x="5629275" y="1689100"/>
            <a:ext cx="0" cy="6699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53" name="Line 53"/>
          <p:cNvSpPr>
            <a:spLocks noChangeShapeType="1"/>
          </p:cNvSpPr>
          <p:nvPr/>
        </p:nvSpPr>
        <p:spPr bwMode="auto">
          <a:xfrm>
            <a:off x="2195513" y="2708275"/>
            <a:ext cx="34544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25654" name="Freeform 54"/>
          <p:cNvSpPr>
            <a:spLocks/>
          </p:cNvSpPr>
          <p:nvPr/>
        </p:nvSpPr>
        <p:spPr bwMode="auto">
          <a:xfrm>
            <a:off x="1150938" y="1366838"/>
            <a:ext cx="1033462" cy="966787"/>
          </a:xfrm>
          <a:custGeom>
            <a:avLst/>
            <a:gdLst>
              <a:gd name="T0" fmla="*/ 0 w 651"/>
              <a:gd name="T1" fmla="*/ 0 h 609"/>
              <a:gd name="T2" fmla="*/ 2147483647 w 651"/>
              <a:gd name="T3" fmla="*/ 2147483647 h 609"/>
              <a:gd name="T4" fmla="*/ 0 60000 65536"/>
              <a:gd name="T5" fmla="*/ 0 60000 65536"/>
              <a:gd name="T6" fmla="*/ 0 w 651"/>
              <a:gd name="T7" fmla="*/ 0 h 609"/>
              <a:gd name="T8" fmla="*/ 651 w 651"/>
              <a:gd name="T9" fmla="*/ 609 h 60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1" h="609">
                <a:moveTo>
                  <a:pt x="0" y="0"/>
                </a:moveTo>
                <a:lnTo>
                  <a:pt x="651" y="609"/>
                </a:lnTo>
              </a:path>
            </a:pathLst>
          </a:custGeom>
          <a:noFill/>
          <a:ln w="222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25655" name="Line 55"/>
          <p:cNvSpPr>
            <a:spLocks noChangeShapeType="1"/>
          </p:cNvSpPr>
          <p:nvPr/>
        </p:nvSpPr>
        <p:spPr bwMode="auto">
          <a:xfrm>
            <a:off x="2195513" y="2349500"/>
            <a:ext cx="5184775" cy="0"/>
          </a:xfrm>
          <a:prstGeom prst="line">
            <a:avLst/>
          </a:prstGeom>
          <a:noFill/>
          <a:ln w="222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0289" name="Line 56"/>
          <p:cNvSpPr>
            <a:spLocks noChangeShapeType="1"/>
          </p:cNvSpPr>
          <p:nvPr/>
        </p:nvSpPr>
        <p:spPr bwMode="auto">
          <a:xfrm>
            <a:off x="2195513" y="1125538"/>
            <a:ext cx="1150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57" name="Freeform 57"/>
          <p:cNvSpPr>
            <a:spLocks/>
          </p:cNvSpPr>
          <p:nvPr/>
        </p:nvSpPr>
        <p:spPr bwMode="auto">
          <a:xfrm>
            <a:off x="795338" y="1290638"/>
            <a:ext cx="5143500" cy="1119187"/>
          </a:xfrm>
          <a:custGeom>
            <a:avLst/>
            <a:gdLst>
              <a:gd name="T0" fmla="*/ 0 w 3240"/>
              <a:gd name="T1" fmla="*/ 0 h 705"/>
              <a:gd name="T2" fmla="*/ 2147483647 w 3240"/>
              <a:gd name="T3" fmla="*/ 0 h 705"/>
              <a:gd name="T4" fmla="*/ 2147483647 w 3240"/>
              <a:gd name="T5" fmla="*/ 2147483647 h 705"/>
              <a:gd name="T6" fmla="*/ 0 60000 65536"/>
              <a:gd name="T7" fmla="*/ 0 60000 65536"/>
              <a:gd name="T8" fmla="*/ 0 60000 65536"/>
              <a:gd name="T9" fmla="*/ 0 w 3240"/>
              <a:gd name="T10" fmla="*/ 0 h 705"/>
              <a:gd name="T11" fmla="*/ 3240 w 3240"/>
              <a:gd name="T12" fmla="*/ 705 h 7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40" h="705">
                <a:moveTo>
                  <a:pt x="0" y="0"/>
                </a:moveTo>
                <a:lnTo>
                  <a:pt x="21" y="0"/>
                </a:lnTo>
                <a:lnTo>
                  <a:pt x="3240" y="705"/>
                </a:lnTo>
              </a:path>
            </a:pathLst>
          </a:custGeom>
          <a:noFill/>
          <a:ln w="9525">
            <a:solidFill>
              <a:srgbClr val="99CC00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0291" name="Text Box 58"/>
          <p:cNvSpPr txBox="1">
            <a:spLocks noChangeArrowheads="1"/>
          </p:cNvSpPr>
          <p:nvPr/>
        </p:nvSpPr>
        <p:spPr bwMode="auto">
          <a:xfrm>
            <a:off x="995363" y="1649413"/>
            <a:ext cx="303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B</a:t>
            </a:r>
          </a:p>
        </p:txBody>
      </p:sp>
      <p:sp>
        <p:nvSpPr>
          <p:cNvPr id="10292" name="Text Box 59"/>
          <p:cNvSpPr txBox="1">
            <a:spLocks noChangeArrowheads="1"/>
          </p:cNvSpPr>
          <p:nvPr/>
        </p:nvSpPr>
        <p:spPr bwMode="auto">
          <a:xfrm>
            <a:off x="1016000" y="1052513"/>
            <a:ext cx="312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D</a:t>
            </a:r>
          </a:p>
        </p:txBody>
      </p:sp>
      <p:sp>
        <p:nvSpPr>
          <p:cNvPr id="25660" name="Text Box 60"/>
          <p:cNvSpPr txBox="1">
            <a:spLocks noChangeArrowheads="1"/>
          </p:cNvSpPr>
          <p:nvPr/>
        </p:nvSpPr>
        <p:spPr bwMode="auto">
          <a:xfrm>
            <a:off x="5508625" y="2420938"/>
            <a:ext cx="352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D’</a:t>
            </a:r>
          </a:p>
        </p:txBody>
      </p:sp>
      <p:sp>
        <p:nvSpPr>
          <p:cNvPr id="25661" name="Text Box 61"/>
          <p:cNvSpPr txBox="1">
            <a:spLocks noChangeArrowheads="1"/>
          </p:cNvSpPr>
          <p:nvPr/>
        </p:nvSpPr>
        <p:spPr bwMode="auto">
          <a:xfrm>
            <a:off x="5508625" y="1412875"/>
            <a:ext cx="342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B’</a:t>
            </a:r>
          </a:p>
        </p:txBody>
      </p:sp>
      <p:sp>
        <p:nvSpPr>
          <p:cNvPr id="25662" name="Text Box 62"/>
          <p:cNvSpPr txBox="1">
            <a:spLocks noChangeArrowheads="1"/>
          </p:cNvSpPr>
          <p:nvPr/>
        </p:nvSpPr>
        <p:spPr bwMode="auto">
          <a:xfrm>
            <a:off x="3032125" y="2614613"/>
            <a:ext cx="1252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s’</a:t>
            </a:r>
            <a:r>
              <a:rPr lang="es-ES_tradnl" baseline="-25000"/>
              <a:t>1</a:t>
            </a:r>
            <a:r>
              <a:rPr lang="es-ES_tradnl"/>
              <a:t>= </a:t>
            </a:r>
            <a:r>
              <a:rPr lang="es-ES_tradnl">
                <a:sym typeface="Symbol" pitchFamily="18" charset="2"/>
              </a:rPr>
              <a:t>64</a:t>
            </a:r>
            <a:r>
              <a:rPr lang="es-ES_tradnl"/>
              <a:t> cm</a:t>
            </a:r>
          </a:p>
        </p:txBody>
      </p:sp>
      <p:sp>
        <p:nvSpPr>
          <p:cNvPr id="25663" name="Text Box 63"/>
          <p:cNvSpPr txBox="1">
            <a:spLocks noChangeArrowheads="1"/>
          </p:cNvSpPr>
          <p:nvPr/>
        </p:nvSpPr>
        <p:spPr bwMode="auto">
          <a:xfrm>
            <a:off x="107950" y="5949950"/>
            <a:ext cx="2813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Imagen real, invertida,</a:t>
            </a:r>
          </a:p>
          <a:p>
            <a:r>
              <a:rPr lang="es-ES_tradnl"/>
              <a:t>de tamaño doble al objeto</a:t>
            </a:r>
          </a:p>
        </p:txBody>
      </p:sp>
      <p:sp>
        <p:nvSpPr>
          <p:cNvPr id="25664" name="Line 64"/>
          <p:cNvSpPr>
            <a:spLocks noChangeShapeType="1"/>
          </p:cNvSpPr>
          <p:nvPr/>
        </p:nvSpPr>
        <p:spPr bwMode="auto">
          <a:xfrm>
            <a:off x="3348038" y="3357563"/>
            <a:ext cx="0" cy="35004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graphicFrame>
        <p:nvGraphicFramePr>
          <p:cNvPr id="25665" name="Object 65"/>
          <p:cNvGraphicFramePr>
            <a:graphicFrameLocks noChangeAspect="1"/>
          </p:cNvGraphicFramePr>
          <p:nvPr/>
        </p:nvGraphicFramePr>
        <p:xfrm>
          <a:off x="3492500" y="4400550"/>
          <a:ext cx="1687513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Ecuación" r:id="rId13" imgW="1054080" imgH="672840" progId="Equation.3">
                  <p:embed/>
                </p:oleObj>
              </mc:Choice>
              <mc:Fallback>
                <p:oleObj name="Ecuación" r:id="rId13" imgW="1054080" imgH="67284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400550"/>
                        <a:ext cx="1687513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66" name="Object 66"/>
          <p:cNvGraphicFramePr>
            <a:graphicFrameLocks noChangeAspect="1"/>
          </p:cNvGraphicFramePr>
          <p:nvPr/>
        </p:nvGraphicFramePr>
        <p:xfrm>
          <a:off x="3563938" y="5656263"/>
          <a:ext cx="138271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name="Ecuación" r:id="rId15" imgW="863280" imgH="215640" progId="Equation.3">
                  <p:embed/>
                </p:oleObj>
              </mc:Choice>
              <mc:Fallback>
                <p:oleObj name="Ecuación" r:id="rId15" imgW="863280" imgH="21564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656263"/>
                        <a:ext cx="1382712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68" name="Line 68"/>
          <p:cNvSpPr>
            <a:spLocks noChangeShapeType="1"/>
          </p:cNvSpPr>
          <p:nvPr/>
        </p:nvSpPr>
        <p:spPr bwMode="auto">
          <a:xfrm>
            <a:off x="5508625" y="3402013"/>
            <a:ext cx="0" cy="26638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graphicFrame>
        <p:nvGraphicFramePr>
          <p:cNvPr id="25669" name="Object 69"/>
          <p:cNvGraphicFramePr>
            <a:graphicFrameLocks noChangeAspect="1"/>
          </p:cNvGraphicFramePr>
          <p:nvPr/>
        </p:nvGraphicFramePr>
        <p:xfrm>
          <a:off x="5724525" y="4437063"/>
          <a:ext cx="2601913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Ecuación" r:id="rId17" imgW="1625400" imgH="431640" progId="Equation.3">
                  <p:embed/>
                </p:oleObj>
              </mc:Choice>
              <mc:Fallback>
                <p:oleObj name="Ecuación" r:id="rId17" imgW="1625400" imgH="43164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437063"/>
                        <a:ext cx="2601913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70" name="Object 70"/>
          <p:cNvGraphicFramePr>
            <a:graphicFrameLocks noChangeAspect="1"/>
          </p:cNvGraphicFramePr>
          <p:nvPr/>
        </p:nvGraphicFramePr>
        <p:xfrm>
          <a:off x="6362700" y="5229225"/>
          <a:ext cx="122078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Ecuación" r:id="rId19" imgW="761760" imgH="215640" progId="Equation.3">
                  <p:embed/>
                </p:oleObj>
              </mc:Choice>
              <mc:Fallback>
                <p:oleObj name="Ecuación" r:id="rId19" imgW="761760" imgH="21564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5229225"/>
                        <a:ext cx="1220788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71" name="Object 71"/>
          <p:cNvGraphicFramePr>
            <a:graphicFrameLocks noChangeAspect="1"/>
          </p:cNvGraphicFramePr>
          <p:nvPr/>
        </p:nvGraphicFramePr>
        <p:xfrm>
          <a:off x="5740400" y="5538788"/>
          <a:ext cx="290830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Ecuación" r:id="rId21" imgW="1815840" imgH="431640" progId="Equation.3">
                  <p:embed/>
                </p:oleObj>
              </mc:Choice>
              <mc:Fallback>
                <p:oleObj name="Ecuación" r:id="rId21" imgW="1815840" imgH="43164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0" y="5538788"/>
                        <a:ext cx="290830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72" name="Line 72"/>
          <p:cNvSpPr>
            <a:spLocks noChangeShapeType="1"/>
          </p:cNvSpPr>
          <p:nvPr/>
        </p:nvSpPr>
        <p:spPr bwMode="auto">
          <a:xfrm>
            <a:off x="5651500" y="2133600"/>
            <a:ext cx="17272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73" name="Text Box 73"/>
          <p:cNvSpPr txBox="1">
            <a:spLocks noChangeArrowheads="1"/>
          </p:cNvSpPr>
          <p:nvPr/>
        </p:nvSpPr>
        <p:spPr bwMode="auto">
          <a:xfrm>
            <a:off x="5940425" y="2027238"/>
            <a:ext cx="1327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</a:t>
            </a:r>
            <a:r>
              <a:rPr lang="es-ES_tradnl" baseline="-25000"/>
              <a:t>2</a:t>
            </a:r>
            <a:r>
              <a:rPr lang="es-ES_tradnl"/>
              <a:t>= </a:t>
            </a:r>
            <a:r>
              <a:rPr lang="es-ES_tradnl">
                <a:sym typeface="Symbol" pitchFamily="18" charset="2"/>
              </a:rPr>
              <a:t></a:t>
            </a:r>
            <a:r>
              <a:rPr lang="es-ES_tradnl"/>
              <a:t>32 cm</a:t>
            </a:r>
          </a:p>
        </p:txBody>
      </p:sp>
      <p:sp>
        <p:nvSpPr>
          <p:cNvPr id="25674" name="Line 74"/>
          <p:cNvSpPr>
            <a:spLocks noChangeShapeType="1"/>
          </p:cNvSpPr>
          <p:nvPr/>
        </p:nvSpPr>
        <p:spPr bwMode="auto">
          <a:xfrm flipV="1">
            <a:off x="7402513" y="1628775"/>
            <a:ext cx="1584325" cy="720725"/>
          </a:xfrm>
          <a:prstGeom prst="line">
            <a:avLst/>
          </a:prstGeom>
          <a:noFill/>
          <a:ln w="222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75" name="Line 75"/>
          <p:cNvSpPr>
            <a:spLocks noChangeShapeType="1"/>
          </p:cNvSpPr>
          <p:nvPr/>
        </p:nvSpPr>
        <p:spPr bwMode="auto">
          <a:xfrm>
            <a:off x="2987675" y="3068638"/>
            <a:ext cx="44450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76" name="Line 76"/>
          <p:cNvSpPr>
            <a:spLocks noChangeShapeType="1"/>
          </p:cNvSpPr>
          <p:nvPr/>
        </p:nvSpPr>
        <p:spPr bwMode="auto">
          <a:xfrm flipV="1">
            <a:off x="2992438" y="1677988"/>
            <a:ext cx="0" cy="26812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77" name="Line 77"/>
          <p:cNvSpPr>
            <a:spLocks noChangeShapeType="1"/>
          </p:cNvSpPr>
          <p:nvPr/>
        </p:nvSpPr>
        <p:spPr bwMode="auto">
          <a:xfrm flipV="1">
            <a:off x="2843213" y="2349500"/>
            <a:ext cx="4608512" cy="2087563"/>
          </a:xfrm>
          <a:prstGeom prst="line">
            <a:avLst/>
          </a:prstGeom>
          <a:noFill/>
          <a:ln w="22225">
            <a:solidFill>
              <a:srgbClr val="008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78" name="Freeform 78"/>
          <p:cNvSpPr>
            <a:spLocks/>
          </p:cNvSpPr>
          <p:nvPr/>
        </p:nvSpPr>
        <p:spPr bwMode="auto">
          <a:xfrm>
            <a:off x="4829175" y="1387475"/>
            <a:ext cx="2582863" cy="3001963"/>
          </a:xfrm>
          <a:custGeom>
            <a:avLst/>
            <a:gdLst>
              <a:gd name="T0" fmla="*/ 0 w 1627"/>
              <a:gd name="T1" fmla="*/ 0 h 1891"/>
              <a:gd name="T2" fmla="*/ 2147483647 w 1627"/>
              <a:gd name="T3" fmla="*/ 2147483647 h 1891"/>
              <a:gd name="T4" fmla="*/ 0 60000 65536"/>
              <a:gd name="T5" fmla="*/ 0 60000 65536"/>
              <a:gd name="T6" fmla="*/ 0 w 1627"/>
              <a:gd name="T7" fmla="*/ 0 h 1891"/>
              <a:gd name="T8" fmla="*/ 1627 w 1627"/>
              <a:gd name="T9" fmla="*/ 1891 h 189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27" h="1891">
                <a:moveTo>
                  <a:pt x="0" y="0"/>
                </a:moveTo>
                <a:lnTo>
                  <a:pt x="1627" y="1891"/>
                </a:lnTo>
              </a:path>
            </a:pathLst>
          </a:custGeom>
          <a:noFill/>
          <a:ln w="22225">
            <a:solidFill>
              <a:srgbClr val="CC99FF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0306" name="Line 79"/>
          <p:cNvSpPr>
            <a:spLocks noChangeShapeType="1"/>
          </p:cNvSpPr>
          <p:nvPr/>
        </p:nvSpPr>
        <p:spPr bwMode="auto">
          <a:xfrm>
            <a:off x="7402513" y="2293938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80" name="Line 80"/>
          <p:cNvSpPr>
            <a:spLocks noChangeShapeType="1"/>
          </p:cNvSpPr>
          <p:nvPr/>
        </p:nvSpPr>
        <p:spPr bwMode="auto">
          <a:xfrm>
            <a:off x="7418388" y="4376738"/>
            <a:ext cx="1692275" cy="0"/>
          </a:xfrm>
          <a:prstGeom prst="line">
            <a:avLst/>
          </a:prstGeom>
          <a:noFill/>
          <a:ln w="22225">
            <a:solidFill>
              <a:srgbClr val="CC99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81" name="Line 81"/>
          <p:cNvSpPr>
            <a:spLocks noChangeShapeType="1"/>
          </p:cNvSpPr>
          <p:nvPr/>
        </p:nvSpPr>
        <p:spPr bwMode="auto">
          <a:xfrm>
            <a:off x="2782888" y="4376738"/>
            <a:ext cx="4645025" cy="0"/>
          </a:xfrm>
          <a:prstGeom prst="line">
            <a:avLst/>
          </a:prstGeom>
          <a:noFill/>
          <a:ln w="22225">
            <a:solidFill>
              <a:srgbClr val="CC99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82" name="Text Box 82"/>
          <p:cNvSpPr txBox="1">
            <a:spLocks noChangeArrowheads="1"/>
          </p:cNvSpPr>
          <p:nvPr/>
        </p:nvSpPr>
        <p:spPr bwMode="auto">
          <a:xfrm>
            <a:off x="2843213" y="4365625"/>
            <a:ext cx="3921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D’’</a:t>
            </a:r>
          </a:p>
        </p:txBody>
      </p:sp>
      <p:sp>
        <p:nvSpPr>
          <p:cNvPr id="25683" name="Text Box 83"/>
          <p:cNvSpPr txBox="1">
            <a:spLocks noChangeArrowheads="1"/>
          </p:cNvSpPr>
          <p:nvPr/>
        </p:nvSpPr>
        <p:spPr bwMode="auto">
          <a:xfrm>
            <a:off x="2851150" y="1412875"/>
            <a:ext cx="3825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B’’</a:t>
            </a:r>
          </a:p>
        </p:txBody>
      </p:sp>
      <p:sp>
        <p:nvSpPr>
          <p:cNvPr id="25684" name="Line 84"/>
          <p:cNvSpPr>
            <a:spLocks noChangeShapeType="1"/>
          </p:cNvSpPr>
          <p:nvPr/>
        </p:nvSpPr>
        <p:spPr bwMode="auto">
          <a:xfrm>
            <a:off x="3779838" y="6210300"/>
            <a:ext cx="48244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85" name="Text Box 85"/>
          <p:cNvSpPr txBox="1">
            <a:spLocks noChangeArrowheads="1"/>
          </p:cNvSpPr>
          <p:nvPr/>
        </p:nvSpPr>
        <p:spPr bwMode="auto">
          <a:xfrm>
            <a:off x="3563938" y="6238875"/>
            <a:ext cx="5391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Imagen final virtual, invertida con respecto al objeto</a:t>
            </a:r>
          </a:p>
          <a:p>
            <a:r>
              <a:rPr lang="es-ES_tradnl"/>
              <a:t>y de tamaño ocho veces mayor que el mismo</a:t>
            </a:r>
          </a:p>
        </p:txBody>
      </p:sp>
      <p:sp>
        <p:nvSpPr>
          <p:cNvPr id="25686" name="Text Box 86"/>
          <p:cNvSpPr txBox="1">
            <a:spLocks noChangeArrowheads="1"/>
          </p:cNvSpPr>
          <p:nvPr/>
        </p:nvSpPr>
        <p:spPr bwMode="auto">
          <a:xfrm>
            <a:off x="3851275" y="3068638"/>
            <a:ext cx="1377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s’</a:t>
            </a:r>
            <a:r>
              <a:rPr lang="es-ES_tradnl" baseline="-25000"/>
              <a:t>2</a:t>
            </a:r>
            <a:r>
              <a:rPr lang="es-ES_tradnl"/>
              <a:t>= </a:t>
            </a:r>
            <a:r>
              <a:rPr lang="es-ES_tradnl">
                <a:sym typeface="Symbol" pitchFamily="18" charset="2"/>
              </a:rPr>
              <a:t></a:t>
            </a:r>
            <a:r>
              <a:rPr lang="es-ES_tradnl"/>
              <a:t>80 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5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5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25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4" dur="500"/>
                                        <p:tgtEl>
                                          <p:spTgt spid="25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0" grpId="0" animBg="1"/>
      <p:bldP spid="25611" grpId="0"/>
      <p:bldP spid="25625" grpId="0"/>
      <p:bldP spid="25636" grpId="0"/>
      <p:bldP spid="25647" grpId="0"/>
      <p:bldP spid="25650" grpId="0" animBg="1"/>
      <p:bldP spid="25651" grpId="0" animBg="1"/>
      <p:bldP spid="25652" grpId="0" animBg="1"/>
      <p:bldP spid="25653" grpId="0" animBg="1"/>
      <p:bldP spid="25654" grpId="0" animBg="1"/>
      <p:bldP spid="25655" grpId="0" animBg="1"/>
      <p:bldP spid="25657" grpId="0" animBg="1"/>
      <p:bldP spid="25660" grpId="0"/>
      <p:bldP spid="25661" grpId="0"/>
      <p:bldP spid="25662" grpId="0"/>
      <p:bldP spid="25663" grpId="0"/>
      <p:bldP spid="25664" grpId="0" animBg="1"/>
      <p:bldP spid="25668" grpId="0" animBg="1"/>
      <p:bldP spid="25672" grpId="0" animBg="1"/>
      <p:bldP spid="25673" grpId="0"/>
      <p:bldP spid="25674" grpId="0" animBg="1"/>
      <p:bldP spid="25675" grpId="0" animBg="1"/>
      <p:bldP spid="25676" grpId="0" animBg="1"/>
      <p:bldP spid="25677" grpId="0" animBg="1"/>
      <p:bldP spid="25678" grpId="0" animBg="1"/>
      <p:bldP spid="25680" grpId="0" animBg="1"/>
      <p:bldP spid="25681" grpId="0" animBg="1"/>
      <p:bldP spid="25682" grpId="0"/>
      <p:bldP spid="25683" grpId="0"/>
      <p:bldP spid="25684" grpId="0" animBg="1"/>
      <p:bldP spid="25685" grpId="0"/>
      <p:bldP spid="2568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4" name="Line 74"/>
          <p:cNvSpPr>
            <a:spLocks noChangeAspect="1" noChangeShapeType="1"/>
          </p:cNvSpPr>
          <p:nvPr/>
        </p:nvSpPr>
        <p:spPr bwMode="auto">
          <a:xfrm flipV="1">
            <a:off x="4357688" y="1285875"/>
            <a:ext cx="2328862" cy="1058863"/>
          </a:xfrm>
          <a:prstGeom prst="line">
            <a:avLst/>
          </a:prstGeom>
          <a:noFill/>
          <a:ln w="2222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1277" name="AutoShape 2"/>
          <p:cNvSpPr>
            <a:spLocks noChangeArrowheads="1"/>
          </p:cNvSpPr>
          <p:nvPr/>
        </p:nvSpPr>
        <p:spPr bwMode="auto">
          <a:xfrm>
            <a:off x="2195513" y="765175"/>
            <a:ext cx="2162175" cy="1800225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s-ES"/>
          </a:p>
        </p:txBody>
      </p:sp>
      <p:sp>
        <p:nvSpPr>
          <p:cNvPr id="11278" name="Line 4"/>
          <p:cNvSpPr>
            <a:spLocks noChangeShapeType="1"/>
          </p:cNvSpPr>
          <p:nvPr/>
        </p:nvSpPr>
        <p:spPr bwMode="auto">
          <a:xfrm flipV="1">
            <a:off x="1149350" y="1346200"/>
            <a:ext cx="0" cy="3349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1279" name="Line 5"/>
          <p:cNvSpPr>
            <a:spLocks noChangeShapeType="1"/>
          </p:cNvSpPr>
          <p:nvPr/>
        </p:nvSpPr>
        <p:spPr bwMode="auto">
          <a:xfrm>
            <a:off x="144463" y="1684338"/>
            <a:ext cx="8928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1280" name="Line 6"/>
          <p:cNvSpPr>
            <a:spLocks noChangeShapeType="1"/>
          </p:cNvSpPr>
          <p:nvPr/>
        </p:nvSpPr>
        <p:spPr bwMode="auto">
          <a:xfrm>
            <a:off x="2197100" y="601663"/>
            <a:ext cx="2160588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11281" name="Text Box 7"/>
          <p:cNvSpPr txBox="1">
            <a:spLocks noChangeArrowheads="1"/>
          </p:cNvSpPr>
          <p:nvPr/>
        </p:nvSpPr>
        <p:spPr bwMode="auto">
          <a:xfrm>
            <a:off x="2857500" y="214313"/>
            <a:ext cx="11953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L = 40 cm</a:t>
            </a:r>
          </a:p>
        </p:txBody>
      </p:sp>
      <p:sp>
        <p:nvSpPr>
          <p:cNvPr id="11282" name="Line 8"/>
          <p:cNvSpPr>
            <a:spLocks noChangeShapeType="1"/>
          </p:cNvSpPr>
          <p:nvPr/>
        </p:nvSpPr>
        <p:spPr bwMode="auto">
          <a:xfrm>
            <a:off x="2197100" y="312738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1283" name="Line 9"/>
          <p:cNvSpPr>
            <a:spLocks noChangeShapeType="1"/>
          </p:cNvSpPr>
          <p:nvPr/>
        </p:nvSpPr>
        <p:spPr bwMode="auto">
          <a:xfrm>
            <a:off x="4373563" y="312738"/>
            <a:ext cx="0" cy="2519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1116013" y="1989138"/>
            <a:ext cx="10795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684213" y="1982788"/>
            <a:ext cx="1327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</a:t>
            </a:r>
            <a:r>
              <a:rPr lang="es-ES_tradnl" baseline="-25000"/>
              <a:t>1</a:t>
            </a:r>
            <a:r>
              <a:rPr lang="es-ES_tradnl"/>
              <a:t>= </a:t>
            </a:r>
            <a:r>
              <a:rPr lang="es-ES_tradnl">
                <a:sym typeface="Symbol" pitchFamily="18" charset="2"/>
              </a:rPr>
              <a:t></a:t>
            </a:r>
            <a:r>
              <a:rPr lang="es-ES_tradnl"/>
              <a:t>20 cm</a:t>
            </a:r>
          </a:p>
        </p:txBody>
      </p:sp>
      <p:sp>
        <p:nvSpPr>
          <p:cNvPr id="11286" name="Text Box 13"/>
          <p:cNvSpPr txBox="1">
            <a:spLocks noChangeArrowheads="1"/>
          </p:cNvSpPr>
          <p:nvPr/>
        </p:nvSpPr>
        <p:spPr bwMode="auto">
          <a:xfrm>
            <a:off x="1476375" y="692150"/>
            <a:ext cx="7826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</a:t>
            </a:r>
            <a:r>
              <a:rPr lang="es-ES_tradnl" baseline="-25000"/>
              <a:t>1</a:t>
            </a:r>
            <a:r>
              <a:rPr lang="es-ES_tradnl"/>
              <a:t> = 1</a:t>
            </a:r>
          </a:p>
        </p:txBody>
      </p:sp>
      <p:sp>
        <p:nvSpPr>
          <p:cNvPr id="11287" name="Line 14"/>
          <p:cNvSpPr>
            <a:spLocks noChangeShapeType="1"/>
          </p:cNvSpPr>
          <p:nvPr/>
        </p:nvSpPr>
        <p:spPr bwMode="auto">
          <a:xfrm>
            <a:off x="2622550" y="15573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1288" name="Line 15"/>
          <p:cNvSpPr>
            <a:spLocks noChangeShapeType="1"/>
          </p:cNvSpPr>
          <p:nvPr/>
        </p:nvSpPr>
        <p:spPr bwMode="auto">
          <a:xfrm>
            <a:off x="3678238" y="15462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1289" name="Text Box 16"/>
          <p:cNvSpPr txBox="1">
            <a:spLocks noChangeArrowheads="1"/>
          </p:cNvSpPr>
          <p:nvPr/>
        </p:nvSpPr>
        <p:spPr bwMode="auto">
          <a:xfrm>
            <a:off x="2439988" y="1773238"/>
            <a:ext cx="633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C</a:t>
            </a:r>
            <a:r>
              <a:rPr lang="es-ES_tradnl" sz="1600" baseline="-25000"/>
              <a:t>1</a:t>
            </a:r>
          </a:p>
        </p:txBody>
      </p:sp>
      <p:sp>
        <p:nvSpPr>
          <p:cNvPr id="11290" name="Text Box 17"/>
          <p:cNvSpPr txBox="1">
            <a:spLocks noChangeArrowheads="1"/>
          </p:cNvSpPr>
          <p:nvPr/>
        </p:nvSpPr>
        <p:spPr bwMode="auto">
          <a:xfrm>
            <a:off x="3487738" y="1744663"/>
            <a:ext cx="633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C</a:t>
            </a:r>
            <a:r>
              <a:rPr lang="es-ES_tradnl" sz="1600" baseline="-25000"/>
              <a:t>2</a:t>
            </a:r>
          </a:p>
        </p:txBody>
      </p:sp>
      <p:sp>
        <p:nvSpPr>
          <p:cNvPr id="11291" name="Text Box 18"/>
          <p:cNvSpPr txBox="1">
            <a:spLocks noChangeArrowheads="1"/>
          </p:cNvSpPr>
          <p:nvPr/>
        </p:nvSpPr>
        <p:spPr bwMode="auto">
          <a:xfrm>
            <a:off x="2268538" y="692150"/>
            <a:ext cx="10239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n’</a:t>
            </a:r>
            <a:r>
              <a:rPr lang="es-ES_tradnl" baseline="-25000"/>
              <a:t>1</a:t>
            </a:r>
            <a:r>
              <a:rPr lang="es-ES_tradnl"/>
              <a:t> = 1,6</a:t>
            </a:r>
          </a:p>
        </p:txBody>
      </p:sp>
      <p:sp>
        <p:nvSpPr>
          <p:cNvPr id="11292" name="Text Box 19"/>
          <p:cNvSpPr txBox="1">
            <a:spLocks noChangeArrowheads="1"/>
          </p:cNvSpPr>
          <p:nvPr/>
        </p:nvSpPr>
        <p:spPr bwMode="auto">
          <a:xfrm>
            <a:off x="3313113" y="688975"/>
            <a:ext cx="9731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n</a:t>
            </a:r>
            <a:r>
              <a:rPr lang="es-ES_tradnl" baseline="-25000"/>
              <a:t>2</a:t>
            </a:r>
            <a:r>
              <a:rPr lang="es-ES_tradnl"/>
              <a:t> = 1,6</a:t>
            </a:r>
          </a:p>
        </p:txBody>
      </p:sp>
      <p:sp>
        <p:nvSpPr>
          <p:cNvPr id="11293" name="Text Box 20"/>
          <p:cNvSpPr txBox="1">
            <a:spLocks noChangeArrowheads="1"/>
          </p:cNvSpPr>
          <p:nvPr/>
        </p:nvSpPr>
        <p:spPr bwMode="auto">
          <a:xfrm>
            <a:off x="4452938" y="688975"/>
            <a:ext cx="8334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/>
              <a:t>n’</a:t>
            </a:r>
            <a:r>
              <a:rPr lang="es-ES_tradnl" baseline="-25000"/>
              <a:t>2</a:t>
            </a:r>
            <a:r>
              <a:rPr lang="es-ES_tradnl"/>
              <a:t> = 1</a:t>
            </a:r>
          </a:p>
        </p:txBody>
      </p:sp>
      <p:sp>
        <p:nvSpPr>
          <p:cNvPr id="11294" name="Text Box 21"/>
          <p:cNvSpPr txBox="1">
            <a:spLocks noChangeArrowheads="1"/>
          </p:cNvSpPr>
          <p:nvPr/>
        </p:nvSpPr>
        <p:spPr bwMode="auto">
          <a:xfrm>
            <a:off x="1908175" y="1652588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V</a:t>
            </a:r>
            <a:r>
              <a:rPr lang="es-ES_tradnl" sz="1600" baseline="-25000"/>
              <a:t>1</a:t>
            </a:r>
          </a:p>
        </p:txBody>
      </p:sp>
      <p:sp>
        <p:nvSpPr>
          <p:cNvPr id="11295" name="Text Box 22"/>
          <p:cNvSpPr txBox="1">
            <a:spLocks noChangeArrowheads="1"/>
          </p:cNvSpPr>
          <p:nvPr/>
        </p:nvSpPr>
        <p:spPr bwMode="auto">
          <a:xfrm>
            <a:off x="4000500" y="1357313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V</a:t>
            </a:r>
            <a:r>
              <a:rPr lang="es-ES_tradnl" sz="1600" baseline="-25000"/>
              <a:t>2</a:t>
            </a:r>
          </a:p>
        </p:txBody>
      </p:sp>
      <p:sp>
        <p:nvSpPr>
          <p:cNvPr id="25625" name="Text Box 25"/>
          <p:cNvSpPr txBox="1">
            <a:spLocks noChangeArrowheads="1"/>
          </p:cNvSpPr>
          <p:nvPr/>
        </p:nvSpPr>
        <p:spPr bwMode="auto">
          <a:xfrm>
            <a:off x="395288" y="3141663"/>
            <a:ext cx="1657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Primer Dioptra</a:t>
            </a:r>
          </a:p>
        </p:txBody>
      </p:sp>
      <p:sp>
        <p:nvSpPr>
          <p:cNvPr id="11297" name="Text Box 30"/>
          <p:cNvSpPr txBox="1">
            <a:spLocks noChangeArrowheads="1"/>
          </p:cNvSpPr>
          <p:nvPr/>
        </p:nvSpPr>
        <p:spPr bwMode="auto">
          <a:xfrm>
            <a:off x="3136900" y="1341438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F’</a:t>
            </a:r>
            <a:r>
              <a:rPr lang="es-ES_tradnl" sz="1600" baseline="-25000"/>
              <a:t>1</a:t>
            </a:r>
          </a:p>
        </p:txBody>
      </p:sp>
      <p:sp>
        <p:nvSpPr>
          <p:cNvPr id="11298" name="Text Box 31"/>
          <p:cNvSpPr txBox="1">
            <a:spLocks noChangeArrowheads="1"/>
          </p:cNvSpPr>
          <p:nvPr/>
        </p:nvSpPr>
        <p:spPr bwMode="auto">
          <a:xfrm>
            <a:off x="1303338" y="1308100"/>
            <a:ext cx="633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</a:t>
            </a:r>
            <a:r>
              <a:rPr lang="es-ES_tradnl" sz="1600" baseline="-25000"/>
              <a:t>1</a:t>
            </a:r>
          </a:p>
        </p:txBody>
      </p:sp>
      <p:sp>
        <p:nvSpPr>
          <p:cNvPr id="11299" name="Text Box 32"/>
          <p:cNvSpPr txBox="1">
            <a:spLocks noChangeArrowheads="1"/>
          </p:cNvSpPr>
          <p:nvPr/>
        </p:nvSpPr>
        <p:spPr bwMode="auto">
          <a:xfrm>
            <a:off x="5618163" y="1317625"/>
            <a:ext cx="4540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F’</a:t>
            </a:r>
            <a:r>
              <a:rPr lang="es-ES_tradnl" sz="1600" baseline="-25000"/>
              <a:t>2</a:t>
            </a:r>
          </a:p>
        </p:txBody>
      </p:sp>
      <p:sp>
        <p:nvSpPr>
          <p:cNvPr id="11300" name="Text Box 33"/>
          <p:cNvSpPr txBox="1">
            <a:spLocks noChangeArrowheads="1"/>
          </p:cNvSpPr>
          <p:nvPr/>
        </p:nvSpPr>
        <p:spPr bwMode="auto">
          <a:xfrm>
            <a:off x="1873250" y="1330325"/>
            <a:ext cx="633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/>
              <a:t>F</a:t>
            </a:r>
            <a:r>
              <a:rPr lang="es-ES_tradnl" sz="1600" baseline="-25000"/>
              <a:t>2</a:t>
            </a:r>
          </a:p>
        </p:txBody>
      </p:sp>
      <p:sp>
        <p:nvSpPr>
          <p:cNvPr id="11301" name="Oval 34"/>
          <p:cNvSpPr>
            <a:spLocks noChangeArrowheads="1"/>
          </p:cNvSpPr>
          <p:nvPr/>
        </p:nvSpPr>
        <p:spPr bwMode="auto">
          <a:xfrm>
            <a:off x="3287713" y="1649413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302" name="Oval 35"/>
          <p:cNvSpPr>
            <a:spLocks noChangeArrowheads="1"/>
          </p:cNvSpPr>
          <p:nvPr/>
        </p:nvSpPr>
        <p:spPr bwMode="auto">
          <a:xfrm>
            <a:off x="1436688" y="1651000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5636" name="Text Box 36"/>
          <p:cNvSpPr txBox="1">
            <a:spLocks noChangeArrowheads="1"/>
          </p:cNvSpPr>
          <p:nvPr/>
        </p:nvSpPr>
        <p:spPr bwMode="auto">
          <a:xfrm>
            <a:off x="5913438" y="3302000"/>
            <a:ext cx="189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Segunda Dioptra</a:t>
            </a:r>
          </a:p>
        </p:txBody>
      </p:sp>
      <p:graphicFrame>
        <p:nvGraphicFramePr>
          <p:cNvPr id="25641" name="Object 41"/>
          <p:cNvGraphicFramePr>
            <a:graphicFrameLocks noChangeAspect="1"/>
          </p:cNvGraphicFramePr>
          <p:nvPr/>
        </p:nvGraphicFramePr>
        <p:xfrm>
          <a:off x="250825" y="3500438"/>
          <a:ext cx="18097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cuación" r:id="rId3" imgW="1130040" imgH="431640" progId="Equation.3">
                  <p:embed/>
                </p:oleObj>
              </mc:Choice>
              <mc:Fallback>
                <p:oleObj name="Ecuación" r:id="rId3" imgW="1130040" imgH="4316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500438"/>
                        <a:ext cx="180975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2" name="Object 42"/>
          <p:cNvGraphicFramePr>
            <a:graphicFrameLocks noChangeAspect="1"/>
          </p:cNvGraphicFramePr>
          <p:nvPr/>
        </p:nvGraphicFramePr>
        <p:xfrm>
          <a:off x="5867400" y="3716338"/>
          <a:ext cx="20129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cuación" r:id="rId5" imgW="1257120" imgH="431640" progId="Equation.3">
                  <p:embed/>
                </p:oleObj>
              </mc:Choice>
              <mc:Fallback>
                <p:oleObj name="Ecuación" r:id="rId5" imgW="1257120" imgH="43164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716338"/>
                        <a:ext cx="201295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4" name="Oval 43"/>
          <p:cNvSpPr>
            <a:spLocks noChangeArrowheads="1"/>
          </p:cNvSpPr>
          <p:nvPr/>
        </p:nvSpPr>
        <p:spPr bwMode="auto">
          <a:xfrm>
            <a:off x="5778500" y="1655763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1305" name="Oval 44"/>
          <p:cNvSpPr>
            <a:spLocks noChangeArrowheads="1"/>
          </p:cNvSpPr>
          <p:nvPr/>
        </p:nvSpPr>
        <p:spPr bwMode="auto">
          <a:xfrm>
            <a:off x="2012950" y="1651000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graphicFrame>
        <p:nvGraphicFramePr>
          <p:cNvPr id="25645" name="Object 45"/>
          <p:cNvGraphicFramePr>
            <a:graphicFrameLocks noChangeAspect="1"/>
          </p:cNvGraphicFramePr>
          <p:nvPr/>
        </p:nvGraphicFramePr>
        <p:xfrm>
          <a:off x="250825" y="5300663"/>
          <a:ext cx="1871663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cuación" r:id="rId7" imgW="1168200" imgH="431640" progId="Equation.3">
                  <p:embed/>
                </p:oleObj>
              </mc:Choice>
              <mc:Fallback>
                <p:oleObj name="Ecuación" r:id="rId7" imgW="1168200" imgH="43164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300663"/>
                        <a:ext cx="1871663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7" name="Text Box 47"/>
          <p:cNvSpPr txBox="1">
            <a:spLocks noChangeArrowheads="1"/>
          </p:cNvSpPr>
          <p:nvPr/>
        </p:nvSpPr>
        <p:spPr bwMode="auto">
          <a:xfrm>
            <a:off x="8756650" y="6583363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19</a:t>
            </a:r>
          </a:p>
        </p:txBody>
      </p:sp>
      <p:graphicFrame>
        <p:nvGraphicFramePr>
          <p:cNvPr id="25648" name="Object 48"/>
          <p:cNvGraphicFramePr>
            <a:graphicFrameLocks noChangeAspect="1"/>
          </p:cNvGraphicFramePr>
          <p:nvPr/>
        </p:nvGraphicFramePr>
        <p:xfrm>
          <a:off x="66675" y="4176713"/>
          <a:ext cx="24796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cuación" r:id="rId9" imgW="1549080" imgH="431640" progId="Equation.3">
                  <p:embed/>
                </p:oleObj>
              </mc:Choice>
              <mc:Fallback>
                <p:oleObj name="Ecuación" r:id="rId9" imgW="1549080" imgH="43164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" y="4176713"/>
                        <a:ext cx="247967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9" name="Object 49"/>
          <p:cNvGraphicFramePr>
            <a:graphicFrameLocks noChangeAspect="1"/>
          </p:cNvGraphicFramePr>
          <p:nvPr/>
        </p:nvGraphicFramePr>
        <p:xfrm>
          <a:off x="611188" y="4941888"/>
          <a:ext cx="10572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Ecuación" r:id="rId11" imgW="660240" imgH="215640" progId="Equation.3">
                  <p:embed/>
                </p:oleObj>
              </mc:Choice>
              <mc:Fallback>
                <p:oleObj name="Ecuación" r:id="rId11" imgW="660240" imgH="21564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941888"/>
                        <a:ext cx="105727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50" name="Line 50"/>
          <p:cNvSpPr>
            <a:spLocks noChangeShapeType="1"/>
          </p:cNvSpPr>
          <p:nvPr/>
        </p:nvSpPr>
        <p:spPr bwMode="auto">
          <a:xfrm>
            <a:off x="700088" y="1352550"/>
            <a:ext cx="1512887" cy="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51" name="Freeform 51"/>
          <p:cNvSpPr>
            <a:spLocks noChangeAspect="1"/>
          </p:cNvSpPr>
          <p:nvPr/>
        </p:nvSpPr>
        <p:spPr bwMode="auto">
          <a:xfrm>
            <a:off x="2205038" y="1355725"/>
            <a:ext cx="2241550" cy="647700"/>
          </a:xfrm>
          <a:custGeom>
            <a:avLst/>
            <a:gdLst>
              <a:gd name="T0" fmla="*/ 0 w 2325"/>
              <a:gd name="T1" fmla="*/ 0 h 671"/>
              <a:gd name="T2" fmla="*/ 2147483647 w 2325"/>
              <a:gd name="T3" fmla="*/ 2147483647 h 671"/>
              <a:gd name="T4" fmla="*/ 0 60000 65536"/>
              <a:gd name="T5" fmla="*/ 0 60000 65536"/>
              <a:gd name="T6" fmla="*/ 0 w 2325"/>
              <a:gd name="T7" fmla="*/ 0 h 671"/>
              <a:gd name="T8" fmla="*/ 2325 w 2325"/>
              <a:gd name="T9" fmla="*/ 671 h 67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325" h="671">
                <a:moveTo>
                  <a:pt x="0" y="0"/>
                </a:moveTo>
                <a:lnTo>
                  <a:pt x="2325" y="671"/>
                </a:lnTo>
              </a:path>
            </a:pathLst>
          </a:custGeom>
          <a:noFill/>
          <a:ln w="222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25652" name="Line 52"/>
          <p:cNvSpPr>
            <a:spLocks noChangeShapeType="1"/>
          </p:cNvSpPr>
          <p:nvPr/>
        </p:nvSpPr>
        <p:spPr bwMode="auto">
          <a:xfrm flipV="1">
            <a:off x="5629275" y="1689100"/>
            <a:ext cx="0" cy="6699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53" name="Line 53"/>
          <p:cNvSpPr>
            <a:spLocks noChangeShapeType="1"/>
          </p:cNvSpPr>
          <p:nvPr/>
        </p:nvSpPr>
        <p:spPr bwMode="auto">
          <a:xfrm>
            <a:off x="2195513" y="2665413"/>
            <a:ext cx="34544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25654" name="Freeform 54"/>
          <p:cNvSpPr>
            <a:spLocks/>
          </p:cNvSpPr>
          <p:nvPr/>
        </p:nvSpPr>
        <p:spPr bwMode="auto">
          <a:xfrm>
            <a:off x="1150938" y="1366838"/>
            <a:ext cx="1033462" cy="966787"/>
          </a:xfrm>
          <a:custGeom>
            <a:avLst/>
            <a:gdLst>
              <a:gd name="T0" fmla="*/ 0 w 651"/>
              <a:gd name="T1" fmla="*/ 0 h 609"/>
              <a:gd name="T2" fmla="*/ 2147483647 w 651"/>
              <a:gd name="T3" fmla="*/ 2147483647 h 609"/>
              <a:gd name="T4" fmla="*/ 0 60000 65536"/>
              <a:gd name="T5" fmla="*/ 0 60000 65536"/>
              <a:gd name="T6" fmla="*/ 0 w 651"/>
              <a:gd name="T7" fmla="*/ 0 h 609"/>
              <a:gd name="T8" fmla="*/ 651 w 651"/>
              <a:gd name="T9" fmla="*/ 609 h 60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1" h="609">
                <a:moveTo>
                  <a:pt x="0" y="0"/>
                </a:moveTo>
                <a:lnTo>
                  <a:pt x="651" y="609"/>
                </a:lnTo>
              </a:path>
            </a:pathLst>
          </a:custGeom>
          <a:noFill/>
          <a:ln w="222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25655" name="Line 55"/>
          <p:cNvSpPr>
            <a:spLocks noChangeShapeType="1"/>
          </p:cNvSpPr>
          <p:nvPr/>
        </p:nvSpPr>
        <p:spPr bwMode="auto">
          <a:xfrm>
            <a:off x="2195513" y="2349500"/>
            <a:ext cx="2162175" cy="0"/>
          </a:xfrm>
          <a:prstGeom prst="line">
            <a:avLst/>
          </a:prstGeom>
          <a:noFill/>
          <a:ln w="222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57" name="Freeform 57"/>
          <p:cNvSpPr>
            <a:spLocks noChangeAspect="1"/>
          </p:cNvSpPr>
          <p:nvPr/>
        </p:nvSpPr>
        <p:spPr bwMode="auto">
          <a:xfrm>
            <a:off x="795338" y="1290638"/>
            <a:ext cx="3560762" cy="774700"/>
          </a:xfrm>
          <a:custGeom>
            <a:avLst/>
            <a:gdLst>
              <a:gd name="T0" fmla="*/ 0 w 3240"/>
              <a:gd name="T1" fmla="*/ 0 h 705"/>
              <a:gd name="T2" fmla="*/ 2147483647 w 3240"/>
              <a:gd name="T3" fmla="*/ 0 h 705"/>
              <a:gd name="T4" fmla="*/ 2147483647 w 3240"/>
              <a:gd name="T5" fmla="*/ 2147483647 h 705"/>
              <a:gd name="T6" fmla="*/ 0 60000 65536"/>
              <a:gd name="T7" fmla="*/ 0 60000 65536"/>
              <a:gd name="T8" fmla="*/ 0 60000 65536"/>
              <a:gd name="T9" fmla="*/ 0 w 3240"/>
              <a:gd name="T10" fmla="*/ 0 h 705"/>
              <a:gd name="T11" fmla="*/ 3240 w 3240"/>
              <a:gd name="T12" fmla="*/ 705 h 7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40" h="705">
                <a:moveTo>
                  <a:pt x="0" y="0"/>
                </a:moveTo>
                <a:lnTo>
                  <a:pt x="21" y="0"/>
                </a:lnTo>
                <a:lnTo>
                  <a:pt x="3240" y="705"/>
                </a:lnTo>
              </a:path>
            </a:pathLst>
          </a:custGeom>
          <a:noFill/>
          <a:ln w="9525">
            <a:solidFill>
              <a:srgbClr val="99CC00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1314" name="Text Box 58"/>
          <p:cNvSpPr txBox="1">
            <a:spLocks noChangeArrowheads="1"/>
          </p:cNvSpPr>
          <p:nvPr/>
        </p:nvSpPr>
        <p:spPr bwMode="auto">
          <a:xfrm>
            <a:off x="995363" y="1649413"/>
            <a:ext cx="303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B</a:t>
            </a:r>
          </a:p>
        </p:txBody>
      </p:sp>
      <p:sp>
        <p:nvSpPr>
          <p:cNvPr id="11315" name="Text Box 59"/>
          <p:cNvSpPr txBox="1">
            <a:spLocks noChangeArrowheads="1"/>
          </p:cNvSpPr>
          <p:nvPr/>
        </p:nvSpPr>
        <p:spPr bwMode="auto">
          <a:xfrm>
            <a:off x="1016000" y="1052513"/>
            <a:ext cx="312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D</a:t>
            </a:r>
          </a:p>
        </p:txBody>
      </p:sp>
      <p:sp>
        <p:nvSpPr>
          <p:cNvPr id="25660" name="Text Box 60"/>
          <p:cNvSpPr txBox="1">
            <a:spLocks noChangeArrowheads="1"/>
          </p:cNvSpPr>
          <p:nvPr/>
        </p:nvSpPr>
        <p:spPr bwMode="auto">
          <a:xfrm>
            <a:off x="5508625" y="2357438"/>
            <a:ext cx="352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D’</a:t>
            </a:r>
          </a:p>
        </p:txBody>
      </p:sp>
      <p:sp>
        <p:nvSpPr>
          <p:cNvPr id="25661" name="Text Box 61"/>
          <p:cNvSpPr txBox="1">
            <a:spLocks noChangeArrowheads="1"/>
          </p:cNvSpPr>
          <p:nvPr/>
        </p:nvSpPr>
        <p:spPr bwMode="auto">
          <a:xfrm>
            <a:off x="5478463" y="1412875"/>
            <a:ext cx="342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B’</a:t>
            </a:r>
          </a:p>
        </p:txBody>
      </p:sp>
      <p:sp>
        <p:nvSpPr>
          <p:cNvPr id="25662" name="Text Box 62"/>
          <p:cNvSpPr txBox="1">
            <a:spLocks noChangeArrowheads="1"/>
          </p:cNvSpPr>
          <p:nvPr/>
        </p:nvSpPr>
        <p:spPr bwMode="auto">
          <a:xfrm>
            <a:off x="2857500" y="2601913"/>
            <a:ext cx="1252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s’</a:t>
            </a:r>
            <a:r>
              <a:rPr lang="es-ES_tradnl" baseline="-25000"/>
              <a:t>1</a:t>
            </a:r>
            <a:r>
              <a:rPr lang="es-ES_tradnl"/>
              <a:t>= </a:t>
            </a:r>
            <a:r>
              <a:rPr lang="es-ES_tradnl">
                <a:sym typeface="Symbol" pitchFamily="18" charset="2"/>
              </a:rPr>
              <a:t>64</a:t>
            </a:r>
            <a:r>
              <a:rPr lang="es-ES_tradnl"/>
              <a:t> cm</a:t>
            </a:r>
          </a:p>
        </p:txBody>
      </p:sp>
      <p:sp>
        <p:nvSpPr>
          <p:cNvPr id="25663" name="Text Box 63"/>
          <p:cNvSpPr txBox="1">
            <a:spLocks noChangeArrowheads="1"/>
          </p:cNvSpPr>
          <p:nvPr/>
        </p:nvSpPr>
        <p:spPr bwMode="auto">
          <a:xfrm>
            <a:off x="107950" y="5949950"/>
            <a:ext cx="2813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Imagen real, invertida,</a:t>
            </a:r>
          </a:p>
          <a:p>
            <a:r>
              <a:rPr lang="es-ES_tradnl"/>
              <a:t>de tamaño doble al objeto</a:t>
            </a:r>
          </a:p>
        </p:txBody>
      </p:sp>
      <p:sp>
        <p:nvSpPr>
          <p:cNvPr id="25664" name="Line 64"/>
          <p:cNvSpPr>
            <a:spLocks noChangeShapeType="1"/>
          </p:cNvSpPr>
          <p:nvPr/>
        </p:nvSpPr>
        <p:spPr bwMode="auto">
          <a:xfrm>
            <a:off x="3348038" y="3357563"/>
            <a:ext cx="0" cy="35004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graphicFrame>
        <p:nvGraphicFramePr>
          <p:cNvPr id="25665" name="Object 65"/>
          <p:cNvGraphicFramePr>
            <a:graphicFrameLocks noChangeAspect="1"/>
          </p:cNvGraphicFramePr>
          <p:nvPr/>
        </p:nvGraphicFramePr>
        <p:xfrm>
          <a:off x="3398838" y="3594100"/>
          <a:ext cx="1890712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Ecuación" r:id="rId13" imgW="1180800" imgH="914400" progId="Equation.3">
                  <p:embed/>
                </p:oleObj>
              </mc:Choice>
              <mc:Fallback>
                <p:oleObj name="Ecuación" r:id="rId13" imgW="1180800" imgH="91440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38" y="3594100"/>
                        <a:ext cx="1890712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66" name="Object 66"/>
          <p:cNvGraphicFramePr>
            <a:graphicFrameLocks noChangeAspect="1"/>
          </p:cNvGraphicFramePr>
          <p:nvPr/>
        </p:nvGraphicFramePr>
        <p:xfrm>
          <a:off x="3563938" y="5656263"/>
          <a:ext cx="138271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Ecuación" r:id="rId15" imgW="863280" imgH="215640" progId="Equation.3">
                  <p:embed/>
                </p:oleObj>
              </mc:Choice>
              <mc:Fallback>
                <p:oleObj name="Ecuación" r:id="rId15" imgW="863280" imgH="21564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656263"/>
                        <a:ext cx="1382712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68" name="Line 68"/>
          <p:cNvSpPr>
            <a:spLocks noChangeShapeType="1"/>
          </p:cNvSpPr>
          <p:nvPr/>
        </p:nvSpPr>
        <p:spPr bwMode="auto">
          <a:xfrm>
            <a:off x="5508625" y="3402013"/>
            <a:ext cx="0" cy="26638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graphicFrame>
        <p:nvGraphicFramePr>
          <p:cNvPr id="25669" name="Object 69"/>
          <p:cNvGraphicFramePr>
            <a:graphicFrameLocks noChangeAspect="1"/>
          </p:cNvGraphicFramePr>
          <p:nvPr/>
        </p:nvGraphicFramePr>
        <p:xfrm>
          <a:off x="5876925" y="4437063"/>
          <a:ext cx="2297113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Ecuación" r:id="rId17" imgW="1434960" imgH="431640" progId="Equation.3">
                  <p:embed/>
                </p:oleObj>
              </mc:Choice>
              <mc:Fallback>
                <p:oleObj name="Ecuación" r:id="rId17" imgW="1434960" imgH="43164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4437063"/>
                        <a:ext cx="2297113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70" name="Object 70"/>
          <p:cNvGraphicFramePr>
            <a:graphicFrameLocks noChangeAspect="1"/>
          </p:cNvGraphicFramePr>
          <p:nvPr/>
        </p:nvGraphicFramePr>
        <p:xfrm>
          <a:off x="6402388" y="5229225"/>
          <a:ext cx="11398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Ecuación" r:id="rId19" imgW="711000" imgH="215640" progId="Equation.3">
                  <p:embed/>
                </p:oleObj>
              </mc:Choice>
              <mc:Fallback>
                <p:oleObj name="Ecuación" r:id="rId19" imgW="711000" imgH="21564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88" y="5229225"/>
                        <a:ext cx="1139825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71" name="Object 71"/>
          <p:cNvGraphicFramePr>
            <a:graphicFrameLocks noChangeAspect="1"/>
          </p:cNvGraphicFramePr>
          <p:nvPr/>
        </p:nvGraphicFramePr>
        <p:xfrm>
          <a:off x="5573713" y="5538788"/>
          <a:ext cx="34988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Ecuación" r:id="rId21" imgW="2184120" imgH="431640" progId="Equation.3">
                  <p:embed/>
                </p:oleObj>
              </mc:Choice>
              <mc:Fallback>
                <p:oleObj name="Ecuación" r:id="rId21" imgW="2184120" imgH="43164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13" y="5538788"/>
                        <a:ext cx="349885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72" name="Line 72"/>
          <p:cNvSpPr>
            <a:spLocks noChangeShapeType="1"/>
          </p:cNvSpPr>
          <p:nvPr/>
        </p:nvSpPr>
        <p:spPr bwMode="auto">
          <a:xfrm>
            <a:off x="4357688" y="1357313"/>
            <a:ext cx="1223962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25673" name="Text Box 73"/>
          <p:cNvSpPr txBox="1">
            <a:spLocks noChangeArrowheads="1"/>
          </p:cNvSpPr>
          <p:nvPr/>
        </p:nvSpPr>
        <p:spPr bwMode="auto">
          <a:xfrm>
            <a:off x="4429125" y="928688"/>
            <a:ext cx="12128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</a:t>
            </a:r>
            <a:r>
              <a:rPr lang="es-ES_tradnl" baseline="-25000"/>
              <a:t>2</a:t>
            </a:r>
            <a:r>
              <a:rPr lang="es-ES_tradnl"/>
              <a:t>= </a:t>
            </a:r>
            <a:r>
              <a:rPr lang="es-ES_tradnl">
                <a:sym typeface="Symbol" pitchFamily="18" charset="2"/>
              </a:rPr>
              <a:t>24 </a:t>
            </a:r>
            <a:r>
              <a:rPr lang="es-ES_tradnl"/>
              <a:t>cm</a:t>
            </a:r>
          </a:p>
        </p:txBody>
      </p:sp>
      <p:sp>
        <p:nvSpPr>
          <p:cNvPr id="25675" name="Line 75"/>
          <p:cNvSpPr>
            <a:spLocks noChangeShapeType="1"/>
          </p:cNvSpPr>
          <p:nvPr/>
        </p:nvSpPr>
        <p:spPr bwMode="auto">
          <a:xfrm>
            <a:off x="4357688" y="2886075"/>
            <a:ext cx="522287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AR"/>
          </a:p>
        </p:txBody>
      </p:sp>
      <p:sp>
        <p:nvSpPr>
          <p:cNvPr id="25678" name="Freeform 78"/>
          <p:cNvSpPr>
            <a:spLocks/>
          </p:cNvSpPr>
          <p:nvPr/>
        </p:nvSpPr>
        <p:spPr bwMode="auto">
          <a:xfrm>
            <a:off x="2928938" y="1428750"/>
            <a:ext cx="4143375" cy="1428750"/>
          </a:xfrm>
          <a:custGeom>
            <a:avLst/>
            <a:gdLst>
              <a:gd name="T0" fmla="*/ 0 w 1627"/>
              <a:gd name="T1" fmla="*/ 0 h 1891"/>
              <a:gd name="T2" fmla="*/ 2147483647 w 1627"/>
              <a:gd name="T3" fmla="*/ 2147483647 h 1891"/>
              <a:gd name="T4" fmla="*/ 0 60000 65536"/>
              <a:gd name="T5" fmla="*/ 0 60000 65536"/>
              <a:gd name="T6" fmla="*/ 0 w 1627"/>
              <a:gd name="T7" fmla="*/ 0 h 1891"/>
              <a:gd name="T8" fmla="*/ 1627 w 1627"/>
              <a:gd name="T9" fmla="*/ 1891 h 189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27" h="1891">
                <a:moveTo>
                  <a:pt x="0" y="0"/>
                </a:moveTo>
                <a:lnTo>
                  <a:pt x="1627" y="1891"/>
                </a:lnTo>
              </a:path>
            </a:pathLst>
          </a:custGeom>
          <a:noFill/>
          <a:ln w="22225">
            <a:solidFill>
              <a:srgbClr val="CC99FF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25680" name="Line 80"/>
          <p:cNvSpPr>
            <a:spLocks noChangeShapeType="1"/>
          </p:cNvSpPr>
          <p:nvPr/>
        </p:nvSpPr>
        <p:spPr bwMode="auto">
          <a:xfrm>
            <a:off x="7418388" y="4376738"/>
            <a:ext cx="1692275" cy="0"/>
          </a:xfrm>
          <a:prstGeom prst="line">
            <a:avLst/>
          </a:prstGeom>
          <a:noFill/>
          <a:ln w="22225">
            <a:solidFill>
              <a:srgbClr val="CC99FF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82" name="Text Box 82"/>
          <p:cNvSpPr txBox="1">
            <a:spLocks noChangeArrowheads="1"/>
          </p:cNvSpPr>
          <p:nvPr/>
        </p:nvSpPr>
        <p:spPr bwMode="auto">
          <a:xfrm>
            <a:off x="4710113" y="2165350"/>
            <a:ext cx="3921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D’’</a:t>
            </a:r>
          </a:p>
        </p:txBody>
      </p:sp>
      <p:sp>
        <p:nvSpPr>
          <p:cNvPr id="25683" name="Text Box 83"/>
          <p:cNvSpPr txBox="1">
            <a:spLocks noChangeArrowheads="1"/>
          </p:cNvSpPr>
          <p:nvPr/>
        </p:nvSpPr>
        <p:spPr bwMode="auto">
          <a:xfrm>
            <a:off x="4714875" y="1428750"/>
            <a:ext cx="3825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/>
              <a:t>B’’</a:t>
            </a:r>
          </a:p>
        </p:txBody>
      </p:sp>
      <p:sp>
        <p:nvSpPr>
          <p:cNvPr id="25684" name="Line 84"/>
          <p:cNvSpPr>
            <a:spLocks noChangeShapeType="1"/>
          </p:cNvSpPr>
          <p:nvPr/>
        </p:nvSpPr>
        <p:spPr bwMode="auto">
          <a:xfrm>
            <a:off x="3779838" y="6210300"/>
            <a:ext cx="48244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5685" name="Text Box 85"/>
          <p:cNvSpPr txBox="1">
            <a:spLocks noChangeArrowheads="1"/>
          </p:cNvSpPr>
          <p:nvPr/>
        </p:nvSpPr>
        <p:spPr bwMode="auto">
          <a:xfrm>
            <a:off x="3563938" y="6238875"/>
            <a:ext cx="5211762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Imagen final real, invertida con respecto al objeto</a:t>
            </a:r>
          </a:p>
          <a:p>
            <a:r>
              <a:rPr lang="es-ES_tradnl"/>
              <a:t>y de tamaño 1,28 veces mayor que el mismo</a:t>
            </a:r>
          </a:p>
        </p:txBody>
      </p:sp>
      <p:sp>
        <p:nvSpPr>
          <p:cNvPr id="25686" name="Text Box 86"/>
          <p:cNvSpPr txBox="1">
            <a:spLocks noChangeArrowheads="1"/>
          </p:cNvSpPr>
          <p:nvPr/>
        </p:nvSpPr>
        <p:spPr bwMode="auto">
          <a:xfrm>
            <a:off x="4071938" y="2857500"/>
            <a:ext cx="12636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s’</a:t>
            </a:r>
            <a:r>
              <a:rPr lang="es-ES_tradnl" baseline="-25000"/>
              <a:t>2</a:t>
            </a:r>
            <a:r>
              <a:rPr lang="es-ES_tradnl"/>
              <a:t>= </a:t>
            </a:r>
            <a:r>
              <a:rPr lang="es-ES_tradnl">
                <a:sym typeface="Symbol" pitchFamily="18" charset="2"/>
              </a:rPr>
              <a:t>9,6</a:t>
            </a:r>
            <a:r>
              <a:rPr lang="es-ES_tradnl"/>
              <a:t>cm</a:t>
            </a:r>
          </a:p>
        </p:txBody>
      </p:sp>
      <p:sp>
        <p:nvSpPr>
          <p:cNvPr id="74" name="Line 55"/>
          <p:cNvSpPr>
            <a:spLocks noChangeShapeType="1"/>
          </p:cNvSpPr>
          <p:nvPr/>
        </p:nvSpPr>
        <p:spPr bwMode="auto">
          <a:xfrm>
            <a:off x="4433888" y="2349500"/>
            <a:ext cx="1409700" cy="0"/>
          </a:xfrm>
          <a:prstGeom prst="line">
            <a:avLst/>
          </a:prstGeom>
          <a:noFill/>
          <a:ln w="22225">
            <a:solidFill>
              <a:srgbClr val="008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78" name="Freeform 57"/>
          <p:cNvSpPr>
            <a:spLocks noChangeAspect="1"/>
          </p:cNvSpPr>
          <p:nvPr/>
        </p:nvSpPr>
        <p:spPr bwMode="auto">
          <a:xfrm>
            <a:off x="4429125" y="2112963"/>
            <a:ext cx="2006600" cy="436562"/>
          </a:xfrm>
          <a:custGeom>
            <a:avLst/>
            <a:gdLst>
              <a:gd name="T0" fmla="*/ 0 w 3240"/>
              <a:gd name="T1" fmla="*/ 0 h 705"/>
              <a:gd name="T2" fmla="*/ 2147483647 w 3240"/>
              <a:gd name="T3" fmla="*/ 0 h 705"/>
              <a:gd name="T4" fmla="*/ 2147483647 w 3240"/>
              <a:gd name="T5" fmla="*/ 2147483647 h 705"/>
              <a:gd name="T6" fmla="*/ 0 60000 65536"/>
              <a:gd name="T7" fmla="*/ 0 60000 65536"/>
              <a:gd name="T8" fmla="*/ 0 60000 65536"/>
              <a:gd name="T9" fmla="*/ 0 w 3240"/>
              <a:gd name="T10" fmla="*/ 0 h 705"/>
              <a:gd name="T11" fmla="*/ 3240 w 3240"/>
              <a:gd name="T12" fmla="*/ 705 h 7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40" h="705">
                <a:moveTo>
                  <a:pt x="0" y="0"/>
                </a:moveTo>
                <a:lnTo>
                  <a:pt x="21" y="0"/>
                </a:lnTo>
                <a:lnTo>
                  <a:pt x="3240" y="705"/>
                </a:lnTo>
              </a:path>
            </a:pathLst>
          </a:custGeom>
          <a:noFill/>
          <a:ln w="9525">
            <a:solidFill>
              <a:srgbClr val="99CC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79" name="Freeform 51"/>
          <p:cNvSpPr>
            <a:spLocks noChangeAspect="1"/>
          </p:cNvSpPr>
          <p:nvPr/>
        </p:nvSpPr>
        <p:spPr bwMode="auto">
          <a:xfrm>
            <a:off x="4429125" y="2000250"/>
            <a:ext cx="1173163" cy="338138"/>
          </a:xfrm>
          <a:custGeom>
            <a:avLst/>
            <a:gdLst>
              <a:gd name="T0" fmla="*/ 0 w 2325"/>
              <a:gd name="T1" fmla="*/ 0 h 671"/>
              <a:gd name="T2" fmla="*/ 2147483647 w 2325"/>
              <a:gd name="T3" fmla="*/ 2147483647 h 671"/>
              <a:gd name="T4" fmla="*/ 0 60000 65536"/>
              <a:gd name="T5" fmla="*/ 0 60000 65536"/>
              <a:gd name="T6" fmla="*/ 0 w 2325"/>
              <a:gd name="T7" fmla="*/ 0 h 671"/>
              <a:gd name="T8" fmla="*/ 2325 w 2325"/>
              <a:gd name="T9" fmla="*/ 671 h 67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325" h="671">
                <a:moveTo>
                  <a:pt x="0" y="0"/>
                </a:moveTo>
                <a:lnTo>
                  <a:pt x="2325" y="671"/>
                </a:lnTo>
              </a:path>
            </a:pathLst>
          </a:custGeom>
          <a:noFill/>
          <a:ln w="22225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25676" name="Line 76"/>
          <p:cNvSpPr>
            <a:spLocks noChangeShapeType="1"/>
          </p:cNvSpPr>
          <p:nvPr/>
        </p:nvSpPr>
        <p:spPr bwMode="auto">
          <a:xfrm flipV="1">
            <a:off x="4872038" y="1714500"/>
            <a:ext cx="0" cy="431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1336" name="79 CuadroTexto"/>
          <p:cNvSpPr txBox="1">
            <a:spLocks noChangeArrowheads="1"/>
          </p:cNvSpPr>
          <p:nvPr/>
        </p:nvSpPr>
        <p:spPr bwMode="auto">
          <a:xfrm>
            <a:off x="4500563" y="214313"/>
            <a:ext cx="42878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Supongamos que la varilla es más corta</a:t>
            </a:r>
          </a:p>
        </p:txBody>
      </p:sp>
      <p:sp>
        <p:nvSpPr>
          <p:cNvPr id="82" name="81 Elipse"/>
          <p:cNvSpPr/>
          <p:nvPr/>
        </p:nvSpPr>
        <p:spPr>
          <a:xfrm>
            <a:off x="3082925" y="4244975"/>
            <a:ext cx="2500313" cy="8429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5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5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2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74" grpId="0" animBg="1"/>
      <p:bldP spid="25610" grpId="0" animBg="1"/>
      <p:bldP spid="25611" grpId="0"/>
      <p:bldP spid="25625" grpId="0"/>
      <p:bldP spid="25636" grpId="0"/>
      <p:bldP spid="25647" grpId="0"/>
      <p:bldP spid="25650" grpId="0" animBg="1"/>
      <p:bldP spid="25651" grpId="0" animBg="1"/>
      <p:bldP spid="25652" grpId="0" animBg="1"/>
      <p:bldP spid="25653" grpId="0" animBg="1"/>
      <p:bldP spid="25654" grpId="0" animBg="1"/>
      <p:bldP spid="25655" grpId="0" animBg="1"/>
      <p:bldP spid="25657" grpId="0" animBg="1"/>
      <p:bldP spid="25660" grpId="0"/>
      <p:bldP spid="25661" grpId="0"/>
      <p:bldP spid="25662" grpId="0"/>
      <p:bldP spid="25663" grpId="0"/>
      <p:bldP spid="25664" grpId="0" animBg="1"/>
      <p:bldP spid="25668" grpId="0" animBg="1"/>
      <p:bldP spid="25672" grpId="0" animBg="1"/>
      <p:bldP spid="25673" grpId="0"/>
      <p:bldP spid="25675" grpId="0" animBg="1"/>
      <p:bldP spid="25678" grpId="0" animBg="1"/>
      <p:bldP spid="25680" grpId="0" animBg="1"/>
      <p:bldP spid="25682" grpId="0"/>
      <p:bldP spid="25683" grpId="0"/>
      <p:bldP spid="25684" grpId="0" animBg="1"/>
      <p:bldP spid="25685" grpId="0"/>
      <p:bldP spid="25686" grpId="0"/>
      <p:bldP spid="74" grpId="0" animBg="1"/>
      <p:bldP spid="78" grpId="0" animBg="1"/>
      <p:bldP spid="79" grpId="0" animBg="1"/>
      <p:bldP spid="25676" grpId="0" animBg="1"/>
      <p:bldP spid="8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1331913" y="857250"/>
          <a:ext cx="28670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cuación" r:id="rId3" imgW="1790640" imgH="419040" progId="Equation.3">
                  <p:embed/>
                </p:oleObj>
              </mc:Choice>
              <mc:Fallback>
                <p:oleObj name="Ecuación" r:id="rId3" imgW="179064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857250"/>
                        <a:ext cx="2867025" cy="669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5"/>
          <p:cNvGraphicFramePr>
            <a:graphicFrameLocks noChangeAspect="1"/>
          </p:cNvGraphicFramePr>
          <p:nvPr/>
        </p:nvGraphicFramePr>
        <p:xfrm>
          <a:off x="5292725" y="876300"/>
          <a:ext cx="12811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cuación" r:id="rId5" imgW="799920" imgH="393480" progId="Equation.3">
                  <p:embed/>
                </p:oleObj>
              </mc:Choice>
              <mc:Fallback>
                <p:oleObj name="Ecuación" r:id="rId5" imgW="79992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876300"/>
                        <a:ext cx="1281113" cy="6302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AutoShape 6"/>
          <p:cNvSpPr>
            <a:spLocks noChangeArrowheads="1"/>
          </p:cNvSpPr>
          <p:nvPr/>
        </p:nvSpPr>
        <p:spPr bwMode="auto">
          <a:xfrm>
            <a:off x="4618038" y="1633538"/>
            <a:ext cx="215900" cy="1081087"/>
          </a:xfrm>
          <a:prstGeom prst="downArrow">
            <a:avLst>
              <a:gd name="adj1" fmla="val 39704"/>
              <a:gd name="adj2" fmla="val 119852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5102225" y="1717675"/>
            <a:ext cx="1193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800" i="1">
                <a:latin typeface="Times New Roman" pitchFamily="18" charset="0"/>
              </a:rPr>
              <a:t>R </a:t>
            </a:r>
            <a:r>
              <a:rPr lang="es-ES_tradnl" sz="2800">
                <a:latin typeface="Times New Roman" pitchFamily="18" charset="0"/>
                <a:sym typeface="Symbol" pitchFamily="18" charset="2"/>
              </a:rPr>
              <a:t> 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539750" y="2997200"/>
            <a:ext cx="23653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800"/>
              <a:t>Dioptra Plana</a:t>
            </a:r>
          </a:p>
        </p:txBody>
      </p:sp>
      <p:graphicFrame>
        <p:nvGraphicFramePr>
          <p:cNvPr id="12292" name="Object 9"/>
          <p:cNvGraphicFramePr>
            <a:graphicFrameLocks noChangeAspect="1"/>
          </p:cNvGraphicFramePr>
          <p:nvPr/>
        </p:nvGraphicFramePr>
        <p:xfrm>
          <a:off x="3498850" y="2924175"/>
          <a:ext cx="69215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cuación" r:id="rId7" imgW="431640" imgH="393480" progId="Equation.3">
                  <p:embed/>
                </p:oleObj>
              </mc:Choice>
              <mc:Fallback>
                <p:oleObj name="Ecuación" r:id="rId7" imgW="43164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850" y="2924175"/>
                        <a:ext cx="692150" cy="6302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0"/>
          <p:cNvGraphicFramePr>
            <a:graphicFrameLocks noChangeAspect="1"/>
          </p:cNvGraphicFramePr>
          <p:nvPr/>
        </p:nvGraphicFramePr>
        <p:xfrm>
          <a:off x="5283200" y="2924175"/>
          <a:ext cx="1017588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cuación" r:id="rId9" imgW="634680" imgH="393480" progId="Equation.3">
                  <p:embed/>
                </p:oleObj>
              </mc:Choice>
              <mc:Fallback>
                <p:oleObj name="Ecuación" r:id="rId9" imgW="63468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2924175"/>
                        <a:ext cx="1017588" cy="6302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Line 11"/>
          <p:cNvSpPr>
            <a:spLocks noChangeShapeType="1"/>
          </p:cNvSpPr>
          <p:nvPr/>
        </p:nvSpPr>
        <p:spPr bwMode="auto">
          <a:xfrm>
            <a:off x="4683125" y="4076700"/>
            <a:ext cx="0" cy="2305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2298" name="Rectangle 12" descr="Cuadrícula grande"/>
          <p:cNvSpPr>
            <a:spLocks noChangeArrowheads="1"/>
          </p:cNvSpPr>
          <p:nvPr/>
        </p:nvSpPr>
        <p:spPr bwMode="auto">
          <a:xfrm>
            <a:off x="4710113" y="4076700"/>
            <a:ext cx="3533775" cy="2232025"/>
          </a:xfrm>
          <a:prstGeom prst="rect">
            <a:avLst/>
          </a:prstGeom>
          <a:pattFill prst="lgGrid">
            <a:fgClr>
              <a:srgbClr val="FFCC99">
                <a:alpha val="54117"/>
              </a:srgbClr>
            </a:fgClr>
            <a:bgClr>
              <a:schemeClr val="bg1">
                <a:alpha val="54117"/>
              </a:schemeClr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2299" name="Rectangle 13" descr="Zigzag"/>
          <p:cNvSpPr>
            <a:spLocks noChangeArrowheads="1"/>
          </p:cNvSpPr>
          <p:nvPr/>
        </p:nvSpPr>
        <p:spPr bwMode="auto">
          <a:xfrm>
            <a:off x="1331913" y="4105275"/>
            <a:ext cx="3311525" cy="2232025"/>
          </a:xfrm>
          <a:prstGeom prst="rect">
            <a:avLst/>
          </a:prstGeom>
          <a:pattFill prst="zigZag">
            <a:fgClr>
              <a:schemeClr val="accent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2300" name="Text Box 14"/>
          <p:cNvSpPr txBox="1">
            <a:spLocks noChangeArrowheads="1"/>
          </p:cNvSpPr>
          <p:nvPr/>
        </p:nvSpPr>
        <p:spPr bwMode="auto">
          <a:xfrm>
            <a:off x="2555875" y="60213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2301" name="Text Box 15"/>
          <p:cNvSpPr txBox="1">
            <a:spLocks noChangeArrowheads="1"/>
          </p:cNvSpPr>
          <p:nvPr/>
        </p:nvSpPr>
        <p:spPr bwMode="auto">
          <a:xfrm>
            <a:off x="7019925" y="59499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2302" name="Text Box 16"/>
          <p:cNvSpPr txBox="1">
            <a:spLocks noChangeArrowheads="1"/>
          </p:cNvSpPr>
          <p:nvPr/>
        </p:nvSpPr>
        <p:spPr bwMode="auto">
          <a:xfrm>
            <a:off x="4356100" y="6381750"/>
            <a:ext cx="731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 &lt; </a:t>
            </a:r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2303" name="Line 17"/>
          <p:cNvSpPr>
            <a:spLocks noChangeShapeType="1"/>
          </p:cNvSpPr>
          <p:nvPr/>
        </p:nvSpPr>
        <p:spPr bwMode="auto">
          <a:xfrm flipV="1">
            <a:off x="3402013" y="4735513"/>
            <a:ext cx="0" cy="10080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12304" name="Text Box 18"/>
          <p:cNvSpPr txBox="1">
            <a:spLocks noChangeArrowheads="1"/>
          </p:cNvSpPr>
          <p:nvPr/>
        </p:nvSpPr>
        <p:spPr bwMode="auto">
          <a:xfrm>
            <a:off x="3222625" y="569277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2305" name="Text Box 19"/>
          <p:cNvSpPr txBox="1">
            <a:spLocks noChangeArrowheads="1"/>
          </p:cNvSpPr>
          <p:nvPr/>
        </p:nvSpPr>
        <p:spPr bwMode="auto">
          <a:xfrm>
            <a:off x="3259138" y="4376738"/>
            <a:ext cx="376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2306" name="Text Box 20"/>
          <p:cNvSpPr txBox="1">
            <a:spLocks noChangeArrowheads="1"/>
          </p:cNvSpPr>
          <p:nvPr/>
        </p:nvSpPr>
        <p:spPr bwMode="auto">
          <a:xfrm>
            <a:off x="3114675" y="50244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</a:p>
        </p:txBody>
      </p:sp>
      <p:sp>
        <p:nvSpPr>
          <p:cNvPr id="12307" name="Line 21"/>
          <p:cNvSpPr>
            <a:spLocks noChangeShapeType="1"/>
          </p:cNvSpPr>
          <p:nvPr/>
        </p:nvSpPr>
        <p:spPr bwMode="auto">
          <a:xfrm>
            <a:off x="3348038" y="4724400"/>
            <a:ext cx="345598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AR"/>
          </a:p>
        </p:txBody>
      </p:sp>
      <p:sp>
        <p:nvSpPr>
          <p:cNvPr id="12308" name="Freeform 22"/>
          <p:cNvSpPr>
            <a:spLocks/>
          </p:cNvSpPr>
          <p:nvPr/>
        </p:nvSpPr>
        <p:spPr bwMode="auto">
          <a:xfrm>
            <a:off x="3419475" y="4356100"/>
            <a:ext cx="1260475" cy="368300"/>
          </a:xfrm>
          <a:custGeom>
            <a:avLst/>
            <a:gdLst>
              <a:gd name="T0" fmla="*/ 0 w 794"/>
              <a:gd name="T1" fmla="*/ 2147483647 h 232"/>
              <a:gd name="T2" fmla="*/ 2147483647 w 794"/>
              <a:gd name="T3" fmla="*/ 0 h 232"/>
              <a:gd name="T4" fmla="*/ 0 60000 65536"/>
              <a:gd name="T5" fmla="*/ 0 60000 65536"/>
              <a:gd name="T6" fmla="*/ 0 w 794"/>
              <a:gd name="T7" fmla="*/ 0 h 232"/>
              <a:gd name="T8" fmla="*/ 794 w 794"/>
              <a:gd name="T9" fmla="*/ 232 h 2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94" h="232">
                <a:moveTo>
                  <a:pt x="0" y="232"/>
                </a:moveTo>
                <a:lnTo>
                  <a:pt x="794" y="0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2309" name="Line 23"/>
          <p:cNvSpPr>
            <a:spLocks noChangeShapeType="1"/>
          </p:cNvSpPr>
          <p:nvPr/>
        </p:nvSpPr>
        <p:spPr bwMode="auto">
          <a:xfrm>
            <a:off x="4140200" y="6165850"/>
            <a:ext cx="1008063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2310" name="Freeform 25"/>
          <p:cNvSpPr>
            <a:spLocks/>
          </p:cNvSpPr>
          <p:nvPr/>
        </p:nvSpPr>
        <p:spPr bwMode="auto">
          <a:xfrm>
            <a:off x="4643438" y="4162425"/>
            <a:ext cx="1531937" cy="195263"/>
          </a:xfrm>
          <a:custGeom>
            <a:avLst/>
            <a:gdLst>
              <a:gd name="T0" fmla="*/ 0 w 965"/>
              <a:gd name="T1" fmla="*/ 2147483647 h 123"/>
              <a:gd name="T2" fmla="*/ 2147483647 w 965"/>
              <a:gd name="T3" fmla="*/ 0 h 123"/>
              <a:gd name="T4" fmla="*/ 0 60000 65536"/>
              <a:gd name="T5" fmla="*/ 0 60000 65536"/>
              <a:gd name="T6" fmla="*/ 0 w 965"/>
              <a:gd name="T7" fmla="*/ 0 h 123"/>
              <a:gd name="T8" fmla="*/ 965 w 965"/>
              <a:gd name="T9" fmla="*/ 123 h 12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65" h="123">
                <a:moveTo>
                  <a:pt x="0" y="123"/>
                </a:moveTo>
                <a:lnTo>
                  <a:pt x="965" y="0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2311" name="Freeform 26"/>
          <p:cNvSpPr>
            <a:spLocks/>
          </p:cNvSpPr>
          <p:nvPr/>
        </p:nvSpPr>
        <p:spPr bwMode="auto">
          <a:xfrm>
            <a:off x="1323975" y="4365625"/>
            <a:ext cx="3267075" cy="442913"/>
          </a:xfrm>
          <a:custGeom>
            <a:avLst/>
            <a:gdLst>
              <a:gd name="T0" fmla="*/ 0 w 2058"/>
              <a:gd name="T1" fmla="*/ 2147483647 h 279"/>
              <a:gd name="T2" fmla="*/ 2147483647 w 2058"/>
              <a:gd name="T3" fmla="*/ 0 h 279"/>
              <a:gd name="T4" fmla="*/ 0 60000 65536"/>
              <a:gd name="T5" fmla="*/ 0 60000 65536"/>
              <a:gd name="T6" fmla="*/ 0 w 2058"/>
              <a:gd name="T7" fmla="*/ 0 h 279"/>
              <a:gd name="T8" fmla="*/ 2058 w 2058"/>
              <a:gd name="T9" fmla="*/ 279 h 27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58" h="279">
                <a:moveTo>
                  <a:pt x="0" y="279"/>
                </a:moveTo>
                <a:lnTo>
                  <a:pt x="2058" y="0"/>
                </a:lnTo>
              </a:path>
            </a:pathLst>
          </a:custGeom>
          <a:noFill/>
          <a:ln w="25400">
            <a:solidFill>
              <a:srgbClr val="993366"/>
            </a:solidFill>
            <a:prstDash val="lgDashDot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2312" name="Freeform 28"/>
          <p:cNvSpPr>
            <a:spLocks/>
          </p:cNvSpPr>
          <p:nvPr/>
        </p:nvSpPr>
        <p:spPr bwMode="auto">
          <a:xfrm>
            <a:off x="1258888" y="4700588"/>
            <a:ext cx="2266950" cy="25400"/>
          </a:xfrm>
          <a:custGeom>
            <a:avLst/>
            <a:gdLst>
              <a:gd name="T0" fmla="*/ 0 w 1428"/>
              <a:gd name="T1" fmla="*/ 0 h 16"/>
              <a:gd name="T2" fmla="*/ 2147483647 w 1428"/>
              <a:gd name="T3" fmla="*/ 2147483647 h 16"/>
              <a:gd name="T4" fmla="*/ 0 60000 65536"/>
              <a:gd name="T5" fmla="*/ 0 60000 65536"/>
              <a:gd name="T6" fmla="*/ 0 w 1428"/>
              <a:gd name="T7" fmla="*/ 0 h 16"/>
              <a:gd name="T8" fmla="*/ 1428 w 1428"/>
              <a:gd name="T9" fmla="*/ 16 h 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28" h="16">
                <a:moveTo>
                  <a:pt x="0" y="0"/>
                </a:moveTo>
                <a:lnTo>
                  <a:pt x="1428" y="16"/>
                </a:lnTo>
              </a:path>
            </a:pathLst>
          </a:custGeom>
          <a:noFill/>
          <a:ln w="25400">
            <a:solidFill>
              <a:srgbClr val="0000FF"/>
            </a:solidFill>
            <a:prstDash val="lgDashDot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2313" name="Line 29"/>
          <p:cNvSpPr>
            <a:spLocks noChangeShapeType="1"/>
          </p:cNvSpPr>
          <p:nvPr/>
        </p:nvSpPr>
        <p:spPr bwMode="auto">
          <a:xfrm flipH="1">
            <a:off x="3276600" y="5770563"/>
            <a:ext cx="3455988" cy="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 type="triangle" w="lg" len="med"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2314" name="Freeform 30"/>
          <p:cNvSpPr>
            <a:spLocks/>
          </p:cNvSpPr>
          <p:nvPr/>
        </p:nvSpPr>
        <p:spPr bwMode="auto">
          <a:xfrm flipH="1">
            <a:off x="3403600" y="5786438"/>
            <a:ext cx="1260475" cy="368300"/>
          </a:xfrm>
          <a:custGeom>
            <a:avLst/>
            <a:gdLst>
              <a:gd name="T0" fmla="*/ 0 w 794"/>
              <a:gd name="T1" fmla="*/ 2147483647 h 232"/>
              <a:gd name="T2" fmla="*/ 2147483647 w 794"/>
              <a:gd name="T3" fmla="*/ 0 h 232"/>
              <a:gd name="T4" fmla="*/ 0 60000 65536"/>
              <a:gd name="T5" fmla="*/ 0 60000 65536"/>
              <a:gd name="T6" fmla="*/ 0 w 794"/>
              <a:gd name="T7" fmla="*/ 0 h 232"/>
              <a:gd name="T8" fmla="*/ 794 w 794"/>
              <a:gd name="T9" fmla="*/ 232 h 2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94" h="232">
                <a:moveTo>
                  <a:pt x="0" y="232"/>
                </a:moveTo>
                <a:lnTo>
                  <a:pt x="794" y="0"/>
                </a:lnTo>
              </a:path>
            </a:pathLst>
          </a:cu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2315" name="Freeform 31"/>
          <p:cNvSpPr>
            <a:spLocks/>
          </p:cNvSpPr>
          <p:nvPr/>
        </p:nvSpPr>
        <p:spPr bwMode="auto">
          <a:xfrm flipH="1">
            <a:off x="4643438" y="6165850"/>
            <a:ext cx="1531937" cy="195263"/>
          </a:xfrm>
          <a:custGeom>
            <a:avLst/>
            <a:gdLst>
              <a:gd name="T0" fmla="*/ 0 w 965"/>
              <a:gd name="T1" fmla="*/ 2147483647 h 123"/>
              <a:gd name="T2" fmla="*/ 2147483647 w 965"/>
              <a:gd name="T3" fmla="*/ 0 h 123"/>
              <a:gd name="T4" fmla="*/ 0 60000 65536"/>
              <a:gd name="T5" fmla="*/ 0 60000 65536"/>
              <a:gd name="T6" fmla="*/ 0 w 965"/>
              <a:gd name="T7" fmla="*/ 0 h 123"/>
              <a:gd name="T8" fmla="*/ 965 w 965"/>
              <a:gd name="T9" fmla="*/ 123 h 12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65" h="123">
                <a:moveTo>
                  <a:pt x="0" y="123"/>
                </a:moveTo>
                <a:lnTo>
                  <a:pt x="965" y="0"/>
                </a:lnTo>
              </a:path>
            </a:pathLst>
          </a:custGeom>
          <a:noFill/>
          <a:ln w="25400">
            <a:solidFill>
              <a:srgbClr val="FF9900"/>
            </a:solidFill>
            <a:round/>
            <a:headEnd type="triangle" w="lg" len="med"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2316" name="Freeform 32"/>
          <p:cNvSpPr>
            <a:spLocks/>
          </p:cNvSpPr>
          <p:nvPr/>
        </p:nvSpPr>
        <p:spPr bwMode="auto">
          <a:xfrm flipH="1">
            <a:off x="1520825" y="5734050"/>
            <a:ext cx="3267075" cy="442913"/>
          </a:xfrm>
          <a:custGeom>
            <a:avLst/>
            <a:gdLst>
              <a:gd name="T0" fmla="*/ 0 w 2058"/>
              <a:gd name="T1" fmla="*/ 2147483647 h 279"/>
              <a:gd name="T2" fmla="*/ 2147483647 w 2058"/>
              <a:gd name="T3" fmla="*/ 0 h 279"/>
              <a:gd name="T4" fmla="*/ 0 60000 65536"/>
              <a:gd name="T5" fmla="*/ 0 60000 65536"/>
              <a:gd name="T6" fmla="*/ 0 w 2058"/>
              <a:gd name="T7" fmla="*/ 0 h 279"/>
              <a:gd name="T8" fmla="*/ 2058 w 2058"/>
              <a:gd name="T9" fmla="*/ 279 h 27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58" h="279">
                <a:moveTo>
                  <a:pt x="0" y="279"/>
                </a:moveTo>
                <a:lnTo>
                  <a:pt x="2058" y="0"/>
                </a:lnTo>
              </a:path>
            </a:pathLst>
          </a:custGeom>
          <a:noFill/>
          <a:ln w="25400">
            <a:solidFill>
              <a:srgbClr val="FF9900"/>
            </a:solidFill>
            <a:prstDash val="lgDashDot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2317" name="Freeform 33"/>
          <p:cNvSpPr>
            <a:spLocks/>
          </p:cNvSpPr>
          <p:nvPr/>
        </p:nvSpPr>
        <p:spPr bwMode="auto">
          <a:xfrm flipH="1">
            <a:off x="1187450" y="5768975"/>
            <a:ext cx="2266950" cy="25400"/>
          </a:xfrm>
          <a:custGeom>
            <a:avLst/>
            <a:gdLst>
              <a:gd name="T0" fmla="*/ 0 w 1428"/>
              <a:gd name="T1" fmla="*/ 0 h 16"/>
              <a:gd name="T2" fmla="*/ 2147483647 w 1428"/>
              <a:gd name="T3" fmla="*/ 2147483647 h 16"/>
              <a:gd name="T4" fmla="*/ 0 60000 65536"/>
              <a:gd name="T5" fmla="*/ 0 60000 65536"/>
              <a:gd name="T6" fmla="*/ 0 w 1428"/>
              <a:gd name="T7" fmla="*/ 0 h 16"/>
              <a:gd name="T8" fmla="*/ 1428 w 1428"/>
              <a:gd name="T9" fmla="*/ 16 h 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28" h="16">
                <a:moveTo>
                  <a:pt x="0" y="0"/>
                </a:moveTo>
                <a:lnTo>
                  <a:pt x="1428" y="16"/>
                </a:lnTo>
              </a:path>
            </a:pathLst>
          </a:custGeom>
          <a:noFill/>
          <a:ln w="25400">
            <a:solidFill>
              <a:srgbClr val="00CCFF"/>
            </a:solidFill>
            <a:prstDash val="lgDashDot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2318" name="Line 34"/>
          <p:cNvSpPr>
            <a:spLocks noChangeShapeType="1"/>
          </p:cNvSpPr>
          <p:nvPr/>
        </p:nvSpPr>
        <p:spPr bwMode="auto">
          <a:xfrm>
            <a:off x="4124325" y="4365625"/>
            <a:ext cx="1008063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2319" name="Line 35"/>
          <p:cNvSpPr>
            <a:spLocks noChangeShapeType="1"/>
          </p:cNvSpPr>
          <p:nvPr/>
        </p:nvSpPr>
        <p:spPr bwMode="auto">
          <a:xfrm flipV="1">
            <a:off x="1962150" y="4724400"/>
            <a:ext cx="0" cy="1008063"/>
          </a:xfrm>
          <a:prstGeom prst="line">
            <a:avLst/>
          </a:prstGeom>
          <a:noFill/>
          <a:ln w="19050">
            <a:solidFill>
              <a:srgbClr val="339966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12320" name="Text Box 36"/>
          <p:cNvSpPr txBox="1">
            <a:spLocks noChangeArrowheads="1"/>
          </p:cNvSpPr>
          <p:nvPr/>
        </p:nvSpPr>
        <p:spPr bwMode="auto">
          <a:xfrm>
            <a:off x="1782763" y="5799138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2321" name="Text Box 37"/>
          <p:cNvSpPr txBox="1">
            <a:spLocks noChangeArrowheads="1"/>
          </p:cNvSpPr>
          <p:nvPr/>
        </p:nvSpPr>
        <p:spPr bwMode="auto">
          <a:xfrm>
            <a:off x="1819275" y="4365625"/>
            <a:ext cx="4492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2322" name="Text Box 38"/>
          <p:cNvSpPr txBox="1">
            <a:spLocks noChangeArrowheads="1"/>
          </p:cNvSpPr>
          <p:nvPr/>
        </p:nvSpPr>
        <p:spPr bwMode="auto">
          <a:xfrm>
            <a:off x="1674813" y="50133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2323" name="Text Box 41"/>
          <p:cNvSpPr txBox="1">
            <a:spLocks noChangeArrowheads="1"/>
          </p:cNvSpPr>
          <p:nvPr/>
        </p:nvSpPr>
        <p:spPr bwMode="auto">
          <a:xfrm>
            <a:off x="8296275" y="6473825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20</a:t>
            </a:r>
          </a:p>
        </p:txBody>
      </p:sp>
      <p:sp>
        <p:nvSpPr>
          <p:cNvPr id="12324" name="35 CuadroTexto"/>
          <p:cNvSpPr txBox="1">
            <a:spLocks noChangeArrowheads="1"/>
          </p:cNvSpPr>
          <p:nvPr/>
        </p:nvSpPr>
        <p:spPr bwMode="auto">
          <a:xfrm>
            <a:off x="2286000" y="285750"/>
            <a:ext cx="4365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/>
              <a:t>Dioptra Esférica – Aproximación Paraxial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1372</TotalTime>
  <Words>1749</Words>
  <Application>Microsoft Office PowerPoint</Application>
  <PresentationFormat>Presentación en pantalla (4:3)</PresentationFormat>
  <Paragraphs>496</Paragraphs>
  <Slides>20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Symbol</vt:lpstr>
      <vt:lpstr>Tahoma</vt:lpstr>
      <vt:lpstr>Times New Roman</vt:lpstr>
      <vt:lpstr>Diseño predeterminado</vt:lpstr>
      <vt:lpstr>Ecuación</vt:lpstr>
      <vt:lpstr>Dioptras esféricas</vt:lpstr>
      <vt:lpstr>Dioptra esférica – Deducción de un modelo analítico </vt:lpstr>
      <vt:lpstr>Dioptra esférica - Deducción de un modelo analítico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The houze!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Dioptras esféricas</dc:title>
  <dc:creator>Administrador</dc:creator>
  <cp:lastModifiedBy>Pablo Konig</cp:lastModifiedBy>
  <cp:revision>112</cp:revision>
  <dcterms:created xsi:type="dcterms:W3CDTF">2008-03-17T00:23:37Z</dcterms:created>
  <dcterms:modified xsi:type="dcterms:W3CDTF">2018-10-18T14:29:29Z</dcterms:modified>
</cp:coreProperties>
</file>